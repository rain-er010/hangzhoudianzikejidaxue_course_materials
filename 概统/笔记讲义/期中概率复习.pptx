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2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spc="6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KSO_TEMPLATE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KSO_TEMPLATE" hidden="1"/>
          <p:cNvSpPr/>
          <p:nvPr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KSO_TEMPLATE" hidden="1"/>
          <p:cNvSpPr/>
          <p:nvPr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KSO_TEMPLATE" hidden="1"/>
          <p:cNvSpPr/>
          <p:nvPr>
            <p:custDataLst>
              <p:tags r:id="rId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KSO_TEMPLATE" hidden="1"/>
          <p:cNvSpPr/>
          <p:nvPr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1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KSO_TEMPLATE" hidden="1"/>
          <p:cNvSpPr/>
          <p:nvPr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85.xml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98.xml"/><Relationship Id="rId13" Type="http://schemas.openxmlformats.org/officeDocument/2006/relationships/image" Target="../media/image3.png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111.xml"/><Relationship Id="rId14" Type="http://schemas.openxmlformats.org/officeDocument/2006/relationships/image" Target="../media/image5.png"/><Relationship Id="rId13" Type="http://schemas.openxmlformats.org/officeDocument/2006/relationships/image" Target="../media/image4.png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9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124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tags" Target="../tags/tag11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137.xml"/><Relationship Id="rId14" Type="http://schemas.openxmlformats.org/officeDocument/2006/relationships/image" Target="../media/image9.png"/><Relationship Id="rId13" Type="http://schemas.openxmlformats.org/officeDocument/2006/relationships/image" Target="../media/image8.png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tags" Target="../tags/tag12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150.xml"/><Relationship Id="rId14" Type="http://schemas.openxmlformats.org/officeDocument/2006/relationships/image" Target="../media/image11.png"/><Relationship Id="rId13" Type="http://schemas.openxmlformats.org/officeDocument/2006/relationships/image" Target="../media/image10.png"/><Relationship Id="rId12" Type="http://schemas.openxmlformats.org/officeDocument/2006/relationships/tags" Target="../tags/tag149.xml"/><Relationship Id="rId11" Type="http://schemas.openxmlformats.org/officeDocument/2006/relationships/tags" Target="../tags/tag148.xml"/><Relationship Id="rId10" Type="http://schemas.openxmlformats.org/officeDocument/2006/relationships/tags" Target="../tags/tag147.xml"/><Relationship Id="rId1" Type="http://schemas.openxmlformats.org/officeDocument/2006/relationships/tags" Target="../tags/tag13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163.xml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tags" Target="../tags/tag160.xml"/><Relationship Id="rId1" Type="http://schemas.openxmlformats.org/officeDocument/2006/relationships/tags" Target="../tags/tag15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176.xml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tags" Target="../tags/tag173.xml"/><Relationship Id="rId1" Type="http://schemas.openxmlformats.org/officeDocument/2006/relationships/tags" Target="../tags/tag16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189.xml"/><Relationship Id="rId13" Type="http://schemas.openxmlformats.org/officeDocument/2006/relationships/image" Target="../media/image16.png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tags" Target="../tags/tag17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202.xml"/><Relationship Id="rId13" Type="http://schemas.openxmlformats.org/officeDocument/2006/relationships/image" Target="../media/image17.png"/><Relationship Id="rId12" Type="http://schemas.openxmlformats.org/officeDocument/2006/relationships/tags" Target="../tags/tag201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tags" Target="../tags/tag19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215.xml"/><Relationship Id="rId12" Type="http://schemas.openxmlformats.org/officeDocument/2006/relationships/tags" Target="../tags/tag214.xml"/><Relationship Id="rId11" Type="http://schemas.openxmlformats.org/officeDocument/2006/relationships/tags" Target="../tags/tag213.xml"/><Relationship Id="rId10" Type="http://schemas.openxmlformats.org/officeDocument/2006/relationships/tags" Target="../tags/tag212.xml"/><Relationship Id="rId1" Type="http://schemas.openxmlformats.org/officeDocument/2006/relationships/tags" Target="../tags/tag2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期中概率</a:t>
            </a:r>
            <a:r>
              <a:rPr lang="zh-CN" altLang="en-US"/>
              <a:t>复习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                                                      band                                          ---</a:t>
            </a:r>
            <a:r>
              <a:rPr lang="zh-CN" altLang="en-US"/>
              <a:t>主讲</a:t>
            </a:r>
            <a:r>
              <a:rPr lang="en-US" altLang="zh-CN"/>
              <a:t>-</a:t>
            </a:r>
            <a:r>
              <a:rPr lang="zh-CN" altLang="en-US"/>
              <a:t>王赛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622040" y="586105"/>
            <a:ext cx="58293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solidFill>
                  <a:srgbClr val="00B0F0"/>
                </a:solidFill>
              </a:rPr>
              <a:t>一般的概率计算</a:t>
            </a:r>
            <a:endParaRPr lang="zh-CN" altLang="en-US" sz="4400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951990" y="1464945"/>
                <a:ext cx="8873490" cy="2426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1.</a:t>
                </a:r>
                <a:r>
                  <a:rPr lang="zh-CN" altLang="en-US" sz="2400"/>
                  <a:t>给你一堆概率，让你求组合概率</a:t>
                </a:r>
                <a:endParaRPr lang="zh-CN" altLang="en-US" sz="2400"/>
              </a:p>
              <a:p>
                <a:r>
                  <a:rPr lang="en-US" altLang="zh-CN"/>
                  <a:t>1.</a:t>
                </a:r>
                <a:r>
                  <a:rPr lang="zh-CN" altLang="en-US"/>
                  <a:t>用好四个</a:t>
                </a:r>
                <a:r>
                  <a:rPr lang="zh-CN" altLang="en-US"/>
                  <a:t>公式：</a:t>
                </a:r>
                <a:endParaRPr lang="zh-CN" altLang="en-US"/>
              </a:p>
              <a:p>
                <a:r>
                  <a:rPr lang="en-US" altLang="zh-CN"/>
                  <a:t>P(AUB)=P(A)+P(B)-P(AB)</a:t>
                </a:r>
                <a:endParaRPr lang="en-US" altLang="zh-CN"/>
              </a:p>
              <a:p>
                <a:r>
                  <a:rPr lang="en-US" altLang="zh-CN"/>
                  <a:t>P(A-B)=P(A)-P(AB)</a:t>
                </a:r>
                <a:endParaRPr lang="en-US" altLang="zh-CN"/>
              </a:p>
              <a:p>
                <a:r>
                  <a:rPr lang="en-US" altLang="zh-CN"/>
                  <a:t>P(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bar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</m:bar>
                  </m:oMath>
                </a14:m>
                <a:r>
                  <a:rPr lang="en-US" altLang="zh-CN"/>
                  <a:t>)=1-P(A)</a:t>
                </a:r>
                <a:endParaRPr lang="en-US" altLang="zh-CN"/>
              </a:p>
              <a:p>
                <a:r>
                  <a:rPr lang="en-US" altLang="zh-CN"/>
                  <a:t>P(A|B)=P(AB)/P(B)</a:t>
                </a:r>
                <a:endParaRPr lang="en-US" altLang="zh-CN"/>
              </a:p>
              <a:p>
                <a:r>
                  <a:rPr lang="zh-CN" altLang="en-US"/>
                  <a:t>另当</a:t>
                </a:r>
                <a:r>
                  <a:rPr lang="en-US" altLang="zh-CN"/>
                  <a:t>A,B</a:t>
                </a:r>
                <a:r>
                  <a:rPr lang="zh-CN" altLang="en-US"/>
                  <a:t>相互独立，</a:t>
                </a:r>
                <a:r>
                  <a:rPr lang="en-US" altLang="zh-CN"/>
                  <a:t>P(AB)=P(A)P(B)</a:t>
                </a:r>
                <a:endParaRPr lang="en-US" altLang="zh-CN"/>
              </a:p>
              <a:p>
                <a:r>
                  <a:rPr lang="en-US" altLang="zh-CN"/>
                  <a:t>2.</a:t>
                </a:r>
                <a:r>
                  <a:rPr lang="zh-CN" altLang="en-US"/>
                  <a:t>或者化身维恩图大神，丁真</a:t>
                </a:r>
                <a:r>
                  <a:rPr lang="zh-CN" altLang="en-US"/>
                  <a:t>一下</a:t>
                </a:r>
                <a:endParaRPr lang="zh-CN" altLang="en-US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990" y="1464945"/>
                <a:ext cx="8873490" cy="242633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3435" y="4084955"/>
            <a:ext cx="10610850" cy="1685925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569720" y="998855"/>
            <a:ext cx="92589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rgbClr val="FF0000"/>
                </a:solidFill>
              </a:rPr>
              <a:t>题型</a:t>
            </a:r>
            <a:r>
              <a:rPr lang="en-US" altLang="zh-CN" sz="3600">
                <a:solidFill>
                  <a:srgbClr val="FF0000"/>
                </a:solidFill>
              </a:rPr>
              <a:t>2.</a:t>
            </a:r>
            <a:r>
              <a:rPr lang="zh-CN" altLang="en-US" sz="3600"/>
              <a:t>古典概型求概率</a:t>
            </a:r>
            <a:endParaRPr lang="zh-CN" altLang="en-US" sz="3600"/>
          </a:p>
          <a:p>
            <a:r>
              <a:rPr lang="zh-CN" altLang="en-US" sz="2800"/>
              <a:t>事件</a:t>
            </a:r>
            <a:r>
              <a:rPr lang="en-US" altLang="zh-CN" sz="2800"/>
              <a:t>A</a:t>
            </a:r>
            <a:r>
              <a:rPr lang="zh-CN" altLang="en-US" sz="2800"/>
              <a:t>发生的概率：</a:t>
            </a:r>
            <a:r>
              <a:rPr lang="en-US" altLang="zh-CN" sz="2800"/>
              <a:t>A</a:t>
            </a:r>
            <a:r>
              <a:rPr lang="zh-CN" altLang="en-US" sz="2800"/>
              <a:t>中可能的点数</a:t>
            </a:r>
            <a:r>
              <a:rPr lang="en-US" altLang="zh-CN" sz="2800"/>
              <a:t>/</a:t>
            </a:r>
            <a:r>
              <a:rPr lang="zh-CN" altLang="en-US" sz="2800"/>
              <a:t>所有可能的</a:t>
            </a:r>
            <a:r>
              <a:rPr lang="zh-CN" altLang="en-US" sz="2800"/>
              <a:t>点数</a:t>
            </a:r>
            <a:endParaRPr lang="zh-CN" altLang="en-US" sz="2800"/>
          </a:p>
          <a:p>
            <a:r>
              <a:rPr lang="zh-CN" altLang="en-US" sz="2800"/>
              <a:t>计算这些点数，我们可能会用到排列</a:t>
            </a:r>
            <a:r>
              <a:rPr lang="zh-CN" altLang="en-US" sz="2800"/>
              <a:t>组合</a:t>
            </a:r>
            <a:endParaRPr lang="zh-CN" altLang="en-US" sz="2800"/>
          </a:p>
          <a:p>
            <a:r>
              <a:rPr lang="zh-CN" altLang="en-US" sz="2800"/>
              <a:t>或者遇到简单的情况可以直接计算概率乘</a:t>
            </a:r>
            <a:r>
              <a:rPr lang="zh-CN" altLang="en-US" sz="2800"/>
              <a:t>积</a:t>
            </a:r>
            <a:endParaRPr lang="zh-CN" altLang="en-US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7505" y="3532505"/>
            <a:ext cx="11728450" cy="1410335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236345" y="768985"/>
                <a:ext cx="10271125" cy="1691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32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3200">
                    <a:solidFill>
                      <a:srgbClr val="FF0000"/>
                    </a:solidFill>
                  </a:rPr>
                  <a:t>3.</a:t>
                </a:r>
                <a:r>
                  <a:rPr lang="zh-CN" altLang="en-US" sz="3200"/>
                  <a:t>全概率公式和贝叶斯</a:t>
                </a:r>
                <a:r>
                  <a:rPr lang="zh-CN" altLang="en-US" sz="3200"/>
                  <a:t>公式</a:t>
                </a:r>
                <a:endParaRPr lang="zh-CN" altLang="en-US" sz="3200"/>
              </a:p>
              <a:p>
                <a:r>
                  <a:rPr lang="en-US" altLang="zh-CN" sz="2400"/>
                  <a:t>1.</a:t>
                </a:r>
                <a:r>
                  <a:rPr lang="zh-CN" altLang="en-US" sz="2400"/>
                  <a:t>在应用题中，如果试验分为两个阶段完成，则用全概率公式和贝叶斯</a:t>
                </a:r>
                <a:r>
                  <a:rPr lang="zh-CN" altLang="en-US" sz="2400"/>
                  <a:t>公式</a:t>
                </a:r>
                <a:endParaRPr lang="zh-CN" altLang="en-US" sz="2400"/>
              </a:p>
              <a:p>
                <a:r>
                  <a:rPr lang="zh-CN" altLang="en-US" sz="2400"/>
                  <a:t>全概率公式：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P(A)=P(AB1 U AB2 U AB3)=P(A|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>
                    <a:solidFill>
                      <a:srgbClr val="FF0000"/>
                    </a:solidFill>
                  </a:rPr>
                  <a:t>)+P(A|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>
                    <a:solidFill>
                      <a:srgbClr val="FF0000"/>
                    </a:solidFill>
                  </a:rPr>
                  <a:t>)+P(A|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>
                    <a:solidFill>
                      <a:srgbClr val="FF0000"/>
                    </a:solidFill>
                  </a:rPr>
                  <a:t>)</a:t>
                </a:r>
                <a:endParaRPr lang="en-US" altLang="zh-CN" sz="2400">
                  <a:solidFill>
                    <a:srgbClr val="FF0000"/>
                  </a:solidFill>
                </a:endParaRPr>
              </a:p>
              <a:p>
                <a:r>
                  <a:rPr lang="zh-CN" altLang="en-US" sz="2400"/>
                  <a:t>贝叶斯公式：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P(B1|A)=P(AB1)/P(A)</a:t>
                </a:r>
                <a:endParaRPr lang="en-US" altLang="zh-CN" sz="24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345" y="768985"/>
                <a:ext cx="10271125" cy="169164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7665" y="3105785"/>
            <a:ext cx="11384915" cy="195834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88590" y="628650"/>
            <a:ext cx="81845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solidFill>
                  <a:srgbClr val="00B0F0"/>
                </a:solidFill>
              </a:rPr>
              <a:t>一维随机变量及其分布</a:t>
            </a:r>
            <a:endParaRPr lang="zh-CN" altLang="en-US" sz="4400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636395" y="1457960"/>
                <a:ext cx="8851900" cy="2493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8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2800">
                    <a:solidFill>
                      <a:srgbClr val="FF0000"/>
                    </a:solidFill>
                  </a:rPr>
                  <a:t>1.</a:t>
                </a:r>
                <a:r>
                  <a:rPr lang="zh-CN" altLang="en-US" sz="2800"/>
                  <a:t>离散型随机变量求概率</a:t>
                </a:r>
                <a:r>
                  <a:rPr lang="zh-CN" altLang="en-US" sz="2800"/>
                  <a:t>分布</a:t>
                </a:r>
                <a:endParaRPr lang="zh-CN" altLang="en-US" sz="2800"/>
              </a:p>
              <a:p>
                <a:r>
                  <a:rPr lang="en-US" altLang="zh-CN">
                    <a:solidFill>
                      <a:srgbClr val="FF0000"/>
                    </a:solidFill>
                  </a:rPr>
                  <a:t>1.</a:t>
                </a:r>
                <a:r>
                  <a:rPr lang="zh-CN" altLang="en-US">
                    <a:solidFill>
                      <a:srgbClr val="FF0000"/>
                    </a:solidFill>
                  </a:rPr>
                  <a:t>基本公式：先求取值，再求概率</a:t>
                </a:r>
                <a:endParaRPr lang="zh-CN" altLang="en-US">
                  <a:solidFill>
                    <a:srgbClr val="FF0000"/>
                  </a:solidFill>
                </a:endParaRPr>
              </a:p>
              <a:p>
                <a:r>
                  <a:rPr lang="en-US" altLang="zh-CN"/>
                  <a:t>2.</a:t>
                </a:r>
                <a:r>
                  <a:rPr lang="zh-CN" altLang="en-US"/>
                  <a:t>看清楚题目特殊性，看看是不是对一个两个结果的试验反复做，那就是</a:t>
                </a:r>
                <a:r>
                  <a:rPr lang="zh-CN" altLang="en-US"/>
                  <a:t>二项分布</a:t>
                </a:r>
                <a:endParaRPr lang="zh-CN" altLang="en-US"/>
              </a:p>
              <a:p>
                <a:r>
                  <a:rPr lang="zh-CN" altLang="en-US"/>
                  <a:t>要用好二项分布的公式</a:t>
                </a:r>
                <a:r>
                  <a:rPr lang="en-US" altLang="zh-CN"/>
                  <a:t>B(n,p)-&gt;P{X=k}=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p>
                    </m:sSubSup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/>
                  <a:t>3.</a:t>
                </a:r>
                <a:r>
                  <a:rPr lang="zh-CN" altLang="en-US"/>
                  <a:t>如果试验没有一般的规律性，那就老老实实用之前的概率公式做，必要时可以将情况全列</a:t>
                </a:r>
                <a:r>
                  <a:rPr lang="zh-CN" altLang="en-US"/>
                  <a:t>出来</a:t>
                </a:r>
                <a:endParaRPr lang="zh-CN" altLang="en-US"/>
              </a:p>
              <a:p>
                <a:r>
                  <a:rPr lang="en-US" altLang="zh-CN"/>
                  <a:t>4.</a:t>
                </a:r>
                <a:r>
                  <a:rPr lang="zh-CN" altLang="en-US"/>
                  <a:t>计算出每一个</a:t>
                </a:r>
                <a:r>
                  <a:rPr lang="en-US" altLang="zh-CN"/>
                  <a:t>X</a:t>
                </a:r>
                <a:r>
                  <a:rPr lang="zh-CN" altLang="en-US"/>
                  <a:t>取值对应的</a:t>
                </a:r>
                <a:r>
                  <a:rPr lang="en-US" altLang="zh-CN"/>
                  <a:t>P</a:t>
                </a:r>
                <a:r>
                  <a:rPr lang="zh-CN" altLang="en-US"/>
                  <a:t>，列表</a:t>
                </a:r>
                <a:r>
                  <a:rPr lang="zh-CN" altLang="en-US"/>
                  <a:t>即可</a:t>
                </a:r>
                <a:endParaRPr lang="zh-CN" altLang="en-US"/>
              </a:p>
              <a:p>
                <a:r>
                  <a:rPr lang="en-US" altLang="zh-CN"/>
                  <a:t>5.</a:t>
                </a:r>
                <a:r>
                  <a:rPr lang="zh-CN" altLang="en-US"/>
                  <a:t>加问：求</a:t>
                </a:r>
                <a:r>
                  <a:rPr lang="en-US" altLang="zh-CN"/>
                  <a:t>Y=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zh-CN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的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分布，依旧先取值，再求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概率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395" y="1457960"/>
                <a:ext cx="8851900" cy="249301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2090" y="4095115"/>
            <a:ext cx="11643995" cy="142367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303020" y="584200"/>
                <a:ext cx="9695815" cy="2846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2.</a:t>
                </a:r>
                <a:r>
                  <a:rPr lang="zh-CN" altLang="en-US" sz="2400"/>
                  <a:t>连续型随机变量概率函数求密度、区间</a:t>
                </a:r>
                <a:r>
                  <a:rPr lang="zh-CN" altLang="en-US" sz="2400"/>
                  <a:t>密度</a:t>
                </a:r>
                <a:endParaRPr lang="zh-CN" altLang="en-US" sz="2400"/>
              </a:p>
              <a:p>
                <a:r>
                  <a:rPr lang="en-US" altLang="zh-CN"/>
                  <a:t>1.</a:t>
                </a:r>
                <a:r>
                  <a:rPr lang="zh-CN" altLang="en-US"/>
                  <a:t>已知分布函数</a:t>
                </a:r>
                <a:r>
                  <a:rPr lang="en-US" altLang="zh-CN"/>
                  <a:t>F(X)</a:t>
                </a:r>
                <a:r>
                  <a:rPr lang="zh-CN" altLang="en-US"/>
                  <a:t>，求概率密度，很简单，分区间求导</a:t>
                </a:r>
                <a:r>
                  <a:rPr lang="zh-CN" altLang="en-US"/>
                  <a:t>即可</a:t>
                </a:r>
                <a:endParaRPr lang="zh-CN" altLang="en-US"/>
              </a:p>
              <a:p>
                <a:r>
                  <a:rPr lang="en-US" altLang="zh-CN"/>
                  <a:t>2.</a:t>
                </a:r>
                <a:r>
                  <a:rPr lang="zh-CN" altLang="en-US"/>
                  <a:t>区间概率</a:t>
                </a:r>
                <a:r>
                  <a:rPr lang="en-US" altLang="zh-CN"/>
                  <a:t>P(a&lt;x&lt;=b)=F(b)-F(a)=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/>
                  <a:t>3.P{X=a}=0</a:t>
                </a:r>
                <a:endParaRPr lang="en-US" altLang="zh-CN"/>
              </a:p>
              <a:p>
                <a:r>
                  <a:rPr lang="en-US" altLang="zh-CN"/>
                  <a:t>4.p{x&lt;=a}=F(a)=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/>
                  <a:t>1.</a:t>
                </a:r>
                <a:r>
                  <a:rPr lang="zh-CN" altLang="en-US"/>
                  <a:t>已知分布规律求区间</a:t>
                </a:r>
                <a:r>
                  <a:rPr lang="zh-CN" altLang="en-US"/>
                  <a:t>概率</a:t>
                </a:r>
                <a:endParaRPr lang="zh-CN" altLang="en-US"/>
              </a:p>
              <a:p>
                <a:r>
                  <a:rPr lang="en-US" altLang="zh-CN"/>
                  <a:t>X~U(0,5) </a:t>
                </a:r>
                <a:r>
                  <a:rPr lang="zh-CN" altLang="en-US"/>
                  <a:t>均匀</a:t>
                </a:r>
                <a:r>
                  <a:rPr lang="zh-CN" altLang="en-US"/>
                  <a:t>分布</a:t>
                </a:r>
                <a:endParaRPr lang="zh-CN" altLang="en-US"/>
              </a:p>
              <a:p>
                <a:r>
                  <a:rPr lang="en-US" altLang="zh-CN"/>
                  <a:t>X~N(0,6)</a:t>
                </a:r>
                <a:r>
                  <a:rPr lang="zh-CN" altLang="en-US"/>
                  <a:t>正态分布</a:t>
                </a:r>
                <a:endParaRPr lang="zh-CN" altLang="en-US"/>
              </a:p>
              <a:p>
                <a:r>
                  <a:rPr lang="en-US" altLang="zh-CN"/>
                  <a:t>X~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松柏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分布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020" y="584200"/>
                <a:ext cx="9695815" cy="284607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5455" y="3860800"/>
            <a:ext cx="10814685" cy="146812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248410" y="655320"/>
                <a:ext cx="9154795" cy="2270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8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2800">
                    <a:solidFill>
                      <a:srgbClr val="FF0000"/>
                    </a:solidFill>
                  </a:rPr>
                  <a:t>3.</a:t>
                </a:r>
                <a:r>
                  <a:rPr lang="zh-CN" altLang="en-US" sz="2800"/>
                  <a:t>连续概率密度函数反求分布</a:t>
                </a:r>
                <a:r>
                  <a:rPr lang="zh-CN" altLang="en-US" sz="2800"/>
                  <a:t>函数</a:t>
                </a:r>
                <a:endParaRPr lang="zh-CN" altLang="en-US" sz="2800"/>
              </a:p>
              <a:p>
                <a:r>
                  <a:rPr lang="en-US" altLang="zh-CN"/>
                  <a:t>1.</a:t>
                </a:r>
                <a:r>
                  <a:rPr lang="zh-CN" altLang="en-US"/>
                  <a:t>已知</a:t>
                </a:r>
                <a:r>
                  <a:rPr lang="en-US" altLang="zh-CN"/>
                  <a:t>f(X)</a:t>
                </a:r>
                <a:r>
                  <a:rPr lang="zh-CN" altLang="en-US"/>
                  <a:t>，但是又不完全知道，有个参数</a:t>
                </a:r>
                <a:r>
                  <a:rPr lang="en-US" altLang="zh-CN"/>
                  <a:t>K</a:t>
                </a:r>
                <a:r>
                  <a:rPr lang="zh-CN" altLang="en-US"/>
                  <a:t>要你</a:t>
                </a:r>
                <a:r>
                  <a:rPr lang="zh-CN" altLang="en-US"/>
                  <a:t>求</a:t>
                </a:r>
                <a:endParaRPr lang="zh-CN" altLang="en-US"/>
              </a:p>
              <a:p>
                <a:r>
                  <a:rPr lang="en-US" altLang="zh-CN"/>
                  <a:t>2.</a:t>
                </a:r>
                <a:r>
                  <a:rPr lang="zh-CN" altLang="en-US"/>
                  <a:t>用好规范性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𝑑𝑥</m:t>
                        </m:r>
                      </m:e>
                    </m:nary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endParaRPr lang="en-US" altLang="zh-CN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/>
                  <a:t>3.</a:t>
                </a:r>
                <a:r>
                  <a:rPr lang="zh-CN" altLang="en-US"/>
                  <a:t>有了参数</a:t>
                </a:r>
                <a:r>
                  <a:rPr lang="en-US" altLang="zh-CN"/>
                  <a:t>k</a:t>
                </a:r>
                <a:r>
                  <a:rPr lang="zh-CN" altLang="en-US"/>
                  <a:t>，再去求</a:t>
                </a:r>
                <a:r>
                  <a:rPr lang="en-US" altLang="zh-CN"/>
                  <a:t>F(X)</a:t>
                </a:r>
                <a:endParaRPr lang="en-US" altLang="zh-CN"/>
              </a:p>
              <a:p>
                <a:r>
                  <a:rPr lang="en-US" altLang="zh-CN"/>
                  <a:t>4.</a:t>
                </a:r>
                <a:r>
                  <a:rPr lang="zh-CN" altLang="en-US"/>
                  <a:t>（秒杀</a:t>
                </a:r>
                <a:r>
                  <a:rPr lang="zh-CN" altLang="en-US"/>
                  <a:t>方法）对于简单的函数，一眼就能看出它的积分结果，记得加上常数</a:t>
                </a:r>
                <a:r>
                  <a:rPr lang="en-US" altLang="zh-CN"/>
                  <a:t>C1,C2…</a:t>
                </a:r>
                <a:endParaRPr lang="en-US" altLang="zh-CN"/>
              </a:p>
              <a:p>
                <a:r>
                  <a:rPr lang="en-US" altLang="zh-CN"/>
                  <a:t>5.</a:t>
                </a:r>
                <a:r>
                  <a:rPr lang="zh-CN" altLang="en-US"/>
                  <a:t>利用规范性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∞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;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(+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∞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，或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F(X)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连续性，也很快能求出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常数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4.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（课本方法）直接从负无穷到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x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对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f(x)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分段积分，不熟悉积分的同学可能会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踩坑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410" y="655320"/>
                <a:ext cx="9154795" cy="227076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9275" y="3302635"/>
            <a:ext cx="10489565" cy="200152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303020" y="561975"/>
                <a:ext cx="9147810" cy="2287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8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2800">
                    <a:solidFill>
                      <a:srgbClr val="FF0000"/>
                    </a:solidFill>
                  </a:rPr>
                  <a:t>4.</a:t>
                </a:r>
                <a:r>
                  <a:rPr lang="zh-CN" altLang="en-US" sz="2800"/>
                  <a:t>连续型概率密度函数的二元变换</a:t>
                </a:r>
                <a:endParaRPr lang="zh-CN" altLang="en-US" sz="2800"/>
              </a:p>
              <a:p>
                <a:r>
                  <a:rPr lang="en-US" altLang="zh-CN"/>
                  <a:t>1.</a:t>
                </a:r>
                <a:r>
                  <a:rPr lang="zh-CN" altLang="en-US"/>
                  <a:t>已知关于</a:t>
                </a:r>
                <a:r>
                  <a:rPr lang="en-US" altLang="zh-CN"/>
                  <a:t>X</a:t>
                </a:r>
                <a:r>
                  <a:rPr lang="zh-CN" altLang="en-US"/>
                  <a:t>的概率密度函数，求</a:t>
                </a:r>
                <a:r>
                  <a:rPr lang="en-US" altLang="zh-CN"/>
                  <a:t>Y=f(X)</a:t>
                </a:r>
                <a:r>
                  <a:rPr lang="zh-CN" altLang="en-US"/>
                  <a:t>的概率密度及其</a:t>
                </a:r>
                <a:r>
                  <a:rPr lang="zh-CN" altLang="en-US"/>
                  <a:t>分布</a:t>
                </a:r>
                <a:endParaRPr lang="zh-CN" altLang="en-US"/>
              </a:p>
              <a:p>
                <a:r>
                  <a:rPr lang="en-US" altLang="zh-CN"/>
                  <a:t>2.</a:t>
                </a:r>
                <a:r>
                  <a:rPr lang="zh-CN" altLang="en-US"/>
                  <a:t>找到</a:t>
                </a:r>
                <a:r>
                  <a:rPr lang="en-US" altLang="zh-CN"/>
                  <a:t>X</a:t>
                </a:r>
                <a:r>
                  <a:rPr lang="zh-CN" altLang="en-US"/>
                  <a:t>的分段点，进行变换，找到</a:t>
                </a:r>
                <a:r>
                  <a:rPr lang="en-US" altLang="zh-CN"/>
                  <a:t>Y</a:t>
                </a:r>
                <a:r>
                  <a:rPr lang="zh-CN" altLang="en-US"/>
                  <a:t>的分段点，以便进行分段</a:t>
                </a:r>
                <a:r>
                  <a:rPr lang="zh-CN" altLang="en-US"/>
                  <a:t>讨论</a:t>
                </a:r>
                <a:endParaRPr lang="zh-CN" altLang="en-US"/>
              </a:p>
              <a:p>
                <a:r>
                  <a:rPr lang="en-US" altLang="zh-CN"/>
                  <a:t>3.</a:t>
                </a:r>
                <a:r>
                  <a:rPr lang="zh-CN" altLang="en-US"/>
                  <a:t>对于每一个分段，我们一定是先去求</a:t>
                </a:r>
                <a:r>
                  <a:rPr lang="en-US" altLang="zh-CN"/>
                  <a:t>F(Y)</a:t>
                </a:r>
                <a:r>
                  <a:rPr lang="zh-CN" altLang="en-US"/>
                  <a:t>，再去求</a:t>
                </a:r>
                <a:r>
                  <a:rPr lang="en-US" altLang="zh-CN"/>
                  <a:t>f(y)</a:t>
                </a:r>
                <a:r>
                  <a:rPr lang="zh-CN" altLang="en-US"/>
                  <a:t>的，别搞错</a:t>
                </a:r>
                <a:r>
                  <a:rPr lang="zh-CN" altLang="en-US"/>
                  <a:t>顺序</a:t>
                </a:r>
                <a:endParaRPr lang="zh-CN" altLang="en-US"/>
              </a:p>
              <a:p>
                <a:r>
                  <a:rPr lang="en-US" altLang="zh-CN"/>
                  <a:t>4.</a:t>
                </a:r>
                <a:r>
                  <a:rPr lang="zh-CN" altLang="en-US"/>
                  <a:t>利用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)}=</m:t>
                    </m:r>
                    <m:nary>
                      <m:naryPr>
                        <m:limLoc m:val="subSup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𝑔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将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X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的概率密度巧妙的为我们所用，求出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F(Y)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4.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分段求导即可得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f(y)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020" y="561975"/>
                <a:ext cx="9147810" cy="228790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5285" y="3549015"/>
            <a:ext cx="11480800" cy="1415415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921635" y="495300"/>
            <a:ext cx="65627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solidFill>
                  <a:srgbClr val="00B0F0"/>
                </a:solidFill>
              </a:rPr>
              <a:t>二维随机变量及其分布</a:t>
            </a:r>
            <a:endParaRPr lang="zh-CN" altLang="en-US" sz="4400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327150" y="1295400"/>
                <a:ext cx="9170035" cy="193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1.</a:t>
                </a:r>
                <a:r>
                  <a:rPr lang="zh-CN" altLang="en-US" sz="2400"/>
                  <a:t>离散型，比较简单，四问：联合概率分布、边缘分布、条件分布、</a:t>
                </a:r>
                <a:r>
                  <a:rPr lang="en-US" altLang="zh-CN" sz="2400"/>
                  <a:t>XY</a:t>
                </a:r>
                <a:r>
                  <a:rPr lang="zh-CN" altLang="en-US" sz="2400"/>
                  <a:t>独立吗？</a:t>
                </a:r>
                <a:endParaRPr lang="zh-CN" altLang="en-US"/>
              </a:p>
              <a:p>
                <a:r>
                  <a:rPr lang="en-US" altLang="zh-CN"/>
                  <a:t>1.</a:t>
                </a:r>
                <a:r>
                  <a:rPr lang="zh-CN" altLang="en-US"/>
                  <a:t>列表！</a:t>
                </a:r>
                <a:endParaRPr lang="zh-CN" altLang="en-US"/>
              </a:p>
              <a:p>
                <a:r>
                  <a:rPr lang="en-US" altLang="zh-CN"/>
                  <a:t>2.</a:t>
                </a:r>
                <a:r>
                  <a:rPr lang="zh-CN" altLang="en-US"/>
                  <a:t>行行相加，列列</a:t>
                </a:r>
                <a:r>
                  <a:rPr lang="zh-CN" altLang="en-US"/>
                  <a:t>相加！</a:t>
                </a:r>
                <a:endParaRPr lang="zh-CN" altLang="en-US"/>
              </a:p>
              <a:p>
                <a:r>
                  <a:rPr lang="en-US" altLang="zh-CN"/>
                  <a:t>3.</a:t>
                </a:r>
                <a:r>
                  <a:rPr lang="zh-CN" altLang="en-US"/>
                  <a:t>直接用条件概率</a:t>
                </a:r>
                <a:r>
                  <a:rPr lang="zh-CN" altLang="en-US"/>
                  <a:t>公式</a:t>
                </a:r>
                <a:endParaRPr lang="zh-CN" altLang="en-US"/>
              </a:p>
              <a:p>
                <a:r>
                  <a:rPr lang="en-US" altLang="zh-CN"/>
                  <a:t>4.</a:t>
                </a:r>
                <a:r>
                  <a:rPr lang="zh-CN" altLang="en-US"/>
                  <a:t>每行成比例（</a:t>
                </a:r>
                <a:r>
                  <a:rPr lang="zh-CN" altLang="en-US"/>
                  <a:t>丁真）</a:t>
                </a:r>
                <a:r>
                  <a:rPr lang="en-US" altLang="zh-CN"/>
                  <a:t>/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每一个都要满足，注意是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每一个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150" y="1295400"/>
                <a:ext cx="9170035" cy="193802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" y="3631565"/>
            <a:ext cx="11490325" cy="218567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216660" y="701675"/>
                <a:ext cx="9910445" cy="4338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32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3200">
                    <a:solidFill>
                      <a:srgbClr val="FF0000"/>
                    </a:solidFill>
                  </a:rPr>
                  <a:t>2.</a:t>
                </a:r>
                <a:r>
                  <a:rPr lang="zh-CN" altLang="en-US" sz="3200"/>
                  <a:t>二维连续概率密度相关计算</a:t>
                </a:r>
                <a:endParaRPr lang="zh-CN" altLang="en-US" sz="3200"/>
              </a:p>
              <a:p>
                <a:r>
                  <a:rPr lang="zh-CN" altLang="en-US" sz="2000">
                    <a:solidFill>
                      <a:srgbClr val="FF0000"/>
                    </a:solidFill>
                  </a:rPr>
                  <a:t>依旧四问</a:t>
                </a:r>
                <a:r>
                  <a:rPr lang="zh-CN" altLang="en-US" sz="2000">
                    <a:solidFill>
                      <a:srgbClr val="FF0000"/>
                    </a:solidFill>
                    <a:sym typeface="+mn-ea"/>
                  </a:rPr>
                  <a:t>：联合概率分布、边缘分布、条件分布、</a:t>
                </a:r>
                <a:r>
                  <a:rPr lang="en-US" altLang="zh-CN" sz="2000">
                    <a:solidFill>
                      <a:srgbClr val="FF0000"/>
                    </a:solidFill>
                    <a:sym typeface="+mn-ea"/>
                  </a:rPr>
                  <a:t>XY</a:t>
                </a:r>
                <a:r>
                  <a:rPr lang="zh-CN" altLang="en-US" sz="2000">
                    <a:solidFill>
                      <a:srgbClr val="FF0000"/>
                    </a:solidFill>
                    <a:sym typeface="+mn-ea"/>
                  </a:rPr>
                  <a:t>独立吗？</a:t>
                </a:r>
                <a:endParaRPr lang="zh-CN" altLang="en-US" sz="2000"/>
              </a:p>
              <a:p>
                <a:r>
                  <a:rPr lang="zh-CN" altLang="en-US" sz="2000"/>
                  <a:t>一般会给出联合的概率密度，但是加个参数</a:t>
                </a:r>
                <a:r>
                  <a:rPr lang="en-US" altLang="zh-CN" sz="2000"/>
                  <a:t>k</a:t>
                </a:r>
                <a:endParaRPr lang="en-US" altLang="zh-CN" sz="2000"/>
              </a:p>
              <a:p>
                <a:r>
                  <a:rPr lang="en-US" altLang="zh-CN" sz="2000"/>
                  <a:t>1.</a:t>
                </a:r>
                <a:r>
                  <a:rPr lang="zh-CN" altLang="en-US" sz="2000"/>
                  <a:t>求</a:t>
                </a:r>
                <a:r>
                  <a:rPr lang="en-US" altLang="zh-CN" sz="2000"/>
                  <a:t>k</a:t>
                </a:r>
                <a:r>
                  <a:rPr lang="zh-CN" altLang="en-US" sz="2000"/>
                  <a:t>，依旧规范性这一块</a:t>
                </a:r>
                <a:r>
                  <a:rPr lang="en-US" altLang="zh-CN" sz="2000"/>
                  <a:t>/.</a:t>
                </a:r>
                <a:r>
                  <a:rPr lang="zh-CN" altLang="en-US" sz="2000"/>
                  <a:t>，但是这里是二维的，所以肯定要二重积分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limLoc m:val="subSup"/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𝑦</m:t>
                            </m:r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𝑑𝑥</m:t>
                            </m:r>
                          </m:e>
                        </m:nary>
                      </m:e>
                    </m:nary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𝑑𝑦</m:t>
                    </m:r>
                  </m:oMath>
                </a14:m>
                <a:endParaRPr lang="en-US" altLang="zh-CN" sz="2000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zh-CN" altLang="en-US" sz="2000"/>
                  <a:t>我们意识到，对概率密度为</a:t>
                </a:r>
                <a:r>
                  <a:rPr lang="en-US" altLang="zh-CN" sz="2000"/>
                  <a:t>0</a:t>
                </a:r>
                <a:r>
                  <a:rPr lang="zh-CN" altLang="en-US" sz="2000"/>
                  <a:t>的区域求积分没有意义，所以我们</a:t>
                </a:r>
                <a:r>
                  <a:rPr lang="zh-CN" altLang="en-US" sz="2000">
                    <a:solidFill>
                      <a:srgbClr val="FF0000"/>
                    </a:solidFill>
                  </a:rPr>
                  <a:t>只对</a:t>
                </a:r>
                <a:r>
                  <a:rPr lang="en-US" altLang="zh-CN" sz="2000">
                    <a:solidFill>
                      <a:srgbClr val="FF0000"/>
                    </a:solidFill>
                  </a:rPr>
                  <a:t>XY</a:t>
                </a:r>
                <a:r>
                  <a:rPr lang="zh-CN" altLang="en-US" sz="2000">
                    <a:solidFill>
                      <a:srgbClr val="FF0000"/>
                    </a:solidFill>
                  </a:rPr>
                  <a:t>有效的地方求二重积分</a:t>
                </a:r>
                <a:r>
                  <a:rPr lang="zh-CN" altLang="en-US" sz="2000"/>
                  <a:t>，</a:t>
                </a:r>
                <a:r>
                  <a:rPr lang="zh-CN" altLang="en-US" sz="2000" u="sng"/>
                  <a:t>根据给出的</a:t>
                </a:r>
                <a:r>
                  <a:rPr lang="en-US" altLang="zh-CN" sz="2000" u="sng"/>
                  <a:t>x</a:t>
                </a:r>
                <a:r>
                  <a:rPr lang="zh-CN" altLang="en-US" sz="2000" u="sng"/>
                  <a:t>，</a:t>
                </a:r>
                <a:r>
                  <a:rPr lang="en-US" altLang="zh-CN" sz="2000" u="sng"/>
                  <a:t>y</a:t>
                </a:r>
                <a:r>
                  <a:rPr lang="zh-CN" altLang="en-US" sz="2000" u="sng"/>
                  <a:t>关系，我们需要在直角坐标系上画出满足的图像</a:t>
                </a:r>
                <a:r>
                  <a:rPr lang="en-US" altLang="zh-CN" sz="2000" u="sng"/>
                  <a:t>D</a:t>
                </a:r>
                <a:r>
                  <a:rPr lang="zh-CN" altLang="en-US" sz="2000" u="sng"/>
                  <a:t>（较难）</a:t>
                </a:r>
                <a:endParaRPr lang="zh-CN" altLang="en-US" sz="2000" u="sng"/>
              </a:p>
              <a:p>
                <a:r>
                  <a:rPr lang="en-US" altLang="zh-CN" sz="2000"/>
                  <a:t>2.</a:t>
                </a:r>
                <a:r>
                  <a:rPr lang="zh-CN" altLang="en-US" sz="2000"/>
                  <a:t>求例如</a:t>
                </a:r>
                <a:r>
                  <a:rPr lang="en-US" altLang="zh-CN" sz="2000"/>
                  <a:t>P(X+Y&lt;=1)</a:t>
                </a:r>
                <a:r>
                  <a:rPr lang="zh-CN" altLang="en-US" sz="2000"/>
                  <a:t>的概率，加了个限定条件，一样的道理，</a:t>
                </a:r>
                <a:r>
                  <a:rPr lang="zh-CN" altLang="en-US" sz="2000" u="sng"/>
                  <a:t>我们要在图像中画出</a:t>
                </a:r>
                <a:r>
                  <a:rPr lang="en-US" altLang="zh-CN" sz="2000" u="sng"/>
                  <a:t>D</a:t>
                </a:r>
                <a:r>
                  <a:rPr lang="zh-CN" altLang="en-US" sz="2000" u="sng"/>
                  <a:t>与其的交集区域，再去求区域积分（更难一点）</a:t>
                </a:r>
                <a:endParaRPr lang="zh-CN" altLang="en-US" sz="2000"/>
              </a:p>
              <a:p>
                <a:r>
                  <a:rPr lang="en-US" altLang="zh-CN" sz="2000"/>
                  <a:t>3.</a:t>
                </a:r>
                <a:r>
                  <a:rPr lang="zh-CN" altLang="en-US" sz="2000"/>
                  <a:t>求边缘概率密度，记两公式：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nary>
                      <m:naryPr>
                        <m:limLoc m:val="subSup"/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∞</m:t>
                        </m:r>
                      </m:sup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00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nary>
                      <m:naryPr>
                        <m:limLoc m:val="subSup"/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+∞</m:t>
                        </m:r>
                      </m:sup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𝑑𝑦</m:t>
                        </m:r>
                      </m:e>
                    </m:nary>
                  </m:oMath>
                </a14:m>
                <a:endParaRPr lang="en-US" altLang="zh-CN" sz="2000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2000"/>
                  <a:t>4.</a:t>
                </a:r>
                <a:r>
                  <a:rPr lang="zh-CN" altLang="en-US" sz="2000"/>
                  <a:t>条件概率：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|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|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2000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2000"/>
                  <a:t>5.</a:t>
                </a:r>
                <a:r>
                  <a:rPr lang="zh-CN" altLang="en-US" sz="2000"/>
                  <a:t>独立吗？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2000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？</a:t>
                </a:r>
                <a:endParaRPr lang="zh-CN" altLang="en-US" sz="2000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660" y="701675"/>
                <a:ext cx="9910445" cy="433895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5925" y="1088390"/>
            <a:ext cx="11093450" cy="1340485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670050" y="2045970"/>
            <a:ext cx="90932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0"/>
              <a:t>             </a:t>
            </a:r>
            <a:r>
              <a:rPr lang="zh-CN" altLang="en-US" sz="6000">
                <a:latin typeface="华文行楷" panose="02010800040101010101" charset="-122"/>
                <a:ea typeface="华文行楷" panose="02010800040101010101" charset="-122"/>
              </a:rPr>
              <a:t>感谢聆听</a:t>
            </a:r>
            <a:endParaRPr lang="zh-CN" altLang="en-US" sz="6000">
              <a:latin typeface="华文行楷" panose="02010800040101010101" charset="-122"/>
              <a:ea typeface="华文行楷" panose="02010800040101010101" charset="-122"/>
            </a:endParaRPr>
          </a:p>
          <a:p>
            <a:r>
              <a:rPr lang="zh-CN" altLang="en-US" sz="6000">
                <a:solidFill>
                  <a:srgbClr val="FF0000"/>
                </a:solidFill>
                <a:latin typeface="华文行楷" panose="02010800040101010101" charset="-122"/>
                <a:ea typeface="华文行楷" panose="02010800040101010101" charset="-122"/>
              </a:rPr>
              <a:t>祝大家期中考取得好成绩</a:t>
            </a:r>
            <a:endParaRPr lang="zh-CN" altLang="en-US" sz="6000">
              <a:solidFill>
                <a:srgbClr val="FF0000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UNIT_COLOR_SCHEME_SHAPE_ID" val="2"/>
  <p:tag name="KSO_WM_UNIT_COLOR_SCHEME_PARENT_PAGE" val="2_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UNIT_COLOR_SCHEME_SHAPE_ID" val="3"/>
  <p:tag name="KSO_WM_UNIT_COLOR_SCHEME_PARENT_PAGE" val="2_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UNIT_COLOR_SCHEME_SHAPE_ID" val="16"/>
  <p:tag name="KSO_WM_UNIT_COLOR_SCHEME_PARENT_PAGE" val="2_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UNIT_COLOR_SCHEME_SHAPE_ID" val="17"/>
  <p:tag name="KSO_WM_UNIT_COLOR_SCHEME_PARENT_PAGE" val="2_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UNIT_COLOR_SCHEME_SHAPE_ID" val="18"/>
  <p:tag name="KSO_WM_UNIT_COLOR_SCHEME_PARENT_PAGE" val="2_1"/>
</p:tagLst>
</file>

<file path=ppt/tags/tag6.xml><?xml version="1.0" encoding="utf-8"?>
<p:tagLst xmlns:p="http://schemas.openxmlformats.org/presentationml/2006/main">
  <p:tag name="KSO_WM_SLIDE_COLORSCHEME_VERSION" val="3.2"/>
  <p:tag name="KSO_WM_UNIT_COLOR_SCHEME_SHAPE_ID" val="4"/>
  <p:tag name="KSO_WM_UNIT_COLOR_SCHEME_PARENT_PAGE" val="2_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KSO_WM_UNIT_COLOR_SCHEME_SHAPE_ID" val="2"/>
  <p:tag name="KSO_WM_UNIT_COLOR_SCHEME_PARENT_PAGE" val="2_2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KSO_WM_UNIT_COLOR_SCHEME_SHAPE_ID" val="3"/>
  <p:tag name="KSO_WM_UNIT_COLOR_SCHEME_PARENT_PAGE" val="2_2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KSO_WM_UNIT_COLOR_SCHEME_SHAPE_ID" val="4"/>
  <p:tag name="KSO_WM_UNIT_COLOR_SCHEME_PARENT_PAGE" val="2_2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KSO_WM_UNIT_COLOR_SCHEME_SHAPE_ID" val="5"/>
  <p:tag name="KSO_WM_UNIT_COLOR_SCHEME_PARENT_PAGE" val="2_2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KSO_WM_UNIT_COLOR_SCHEME_SHAPE_ID" val="6"/>
  <p:tag name="KSO_WM_UNIT_COLOR_SCHEME_PARENT_PAGE" val="2_2"/>
</p:tagLst>
</file>

<file path=ppt/tags/tag12.xml><?xml version="1.0" encoding="utf-8"?>
<p:tagLst xmlns:p="http://schemas.openxmlformats.org/presentationml/2006/main">
  <p:tag name="KSO_WM_SLIDE_COLORSCHEME_VERSION" val="3.2"/>
  <p:tag name="KSO_WM_UNIT_COLOR_SCHEME_SHAPE_ID" val="7"/>
  <p:tag name="KSO_WM_UNIT_COLOR_SCHEME_PARENT_PAGE" val="2_2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COLOR_SCHEME_SHAPE_ID" val="2"/>
  <p:tag name="KSO_WM_UNIT_COLOR_SCHEME_PARENT_PAGE" val="2_3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COLOR_SCHEME_SHAPE_ID" val="3"/>
  <p:tag name="KSO_WM_UNIT_COLOR_SCHEME_PARENT_PAGE" val="2_3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COLOR_SCHEME_SHAPE_ID" val="4"/>
  <p:tag name="KSO_WM_UNIT_COLOR_SCHEME_PARENT_PAGE" val="2_3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COLOR_SCHEME_SHAPE_ID" val="5"/>
  <p:tag name="KSO_WM_UNIT_COLOR_SCHEME_PARENT_PAGE" val="2_3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COLOR_SCHEME_SHAPE_ID" val="6"/>
  <p:tag name="KSO_WM_UNIT_COLOR_SCHEME_PARENT_PAGE" val="2_3"/>
</p:tagLst>
</file>

<file path=ppt/tags/tag18.xml><?xml version="1.0" encoding="utf-8"?>
<p:tagLst xmlns:p="http://schemas.openxmlformats.org/presentationml/2006/main">
  <p:tag name="KSO_WM_SLIDE_COLORSCHEME_VERSION" val="3.2"/>
  <p:tag name="KSO_WM_UNIT_COLOR_SCHEME_SHAPE_ID" val="7"/>
  <p:tag name="KSO_WM_UNIT_COLOR_SCHEME_PARENT_PAGE" val="2_3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UNIT_COLOR_SCHEME_SHAPE_ID" val="2"/>
  <p:tag name="KSO_WM_UNIT_COLOR_SCHEME_PARENT_PAGE" val="2_4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UNIT_COLOR_SCHEME_SHAPE_ID" val="3"/>
  <p:tag name="KSO_WM_UNIT_COLOR_SCHEME_PARENT_PAGE" val="2_4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UNIT_COLOR_SCHEME_SHAPE_ID" val="4"/>
  <p:tag name="KSO_WM_UNIT_COLOR_SCHEME_PARENT_PAGE" val="2_4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UNIT_COLOR_SCHEME_SHAPE_ID" val="5"/>
  <p:tag name="KSO_WM_UNIT_COLOR_SCHEME_PARENT_PAGE" val="2_4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UNIT_COLOR_SCHEME_SHAPE_ID" val="6"/>
  <p:tag name="KSO_WM_UNIT_COLOR_SCHEME_PARENT_PAGE" val="2_4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UNIT_COLOR_SCHEME_SHAPE_ID" val="7"/>
  <p:tag name="KSO_WM_UNIT_COLOR_SCHEME_PARENT_PAGE" val="2_4"/>
</p:tagLst>
</file>

<file path=ppt/tags/tag25.xml><?xml version="1.0" encoding="utf-8"?>
<p:tagLst xmlns:p="http://schemas.openxmlformats.org/presentationml/2006/main">
  <p:tag name="KSO_WM_SLIDE_COLORSCHEME_VERSION" val="3.2"/>
  <p:tag name="KSO_WM_UNIT_COLOR_SCHEME_SHAPE_ID" val="8"/>
  <p:tag name="KSO_WM_UNIT_COLOR_SCHEME_PARENT_PAGE" val="2_4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2"/>
  <p:tag name="KSO_WM_UNIT_COLOR_SCHEME_PARENT_PAGE" val="2_5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3"/>
  <p:tag name="KSO_WM_UNIT_COLOR_SCHEME_PARENT_PAGE" val="2_5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4"/>
  <p:tag name="KSO_WM_UNIT_COLOR_SCHEME_PARENT_PAGE" val="2_5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5"/>
  <p:tag name="KSO_WM_UNIT_COLOR_SCHEME_PARENT_PAGE" val="2_5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6"/>
  <p:tag name="KSO_WM_UNIT_COLOR_SCHEME_PARENT_PAGE" val="2_5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7"/>
  <p:tag name="KSO_WM_UNIT_COLOR_SCHEME_PARENT_PAGE" val="2_5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8"/>
  <p:tag name="KSO_WM_UNIT_COLOR_SCHEME_PARENT_PAGE" val="2_5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9"/>
  <p:tag name="KSO_WM_UNIT_COLOR_SCHEME_PARENT_PAGE" val="2_5"/>
</p:tagLst>
</file>

<file path=ppt/tags/tag34.xml><?xml version="1.0" encoding="utf-8"?>
<p:tagLst xmlns:p="http://schemas.openxmlformats.org/presentationml/2006/main">
  <p:tag name="KSO_WM_SLIDE_COLORSCHEME_VERSION" val="3.2"/>
  <p:tag name="KSO_WM_UNIT_COLOR_SCHEME_SHAPE_ID" val="10"/>
  <p:tag name="KSO_WM_UNIT_COLOR_SCHEME_PARENT_PAGE" val="2_5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COLOR_SCHEME_SHAPE_ID" val="2"/>
  <p:tag name="KSO_WM_UNIT_COLOR_SCHEME_PARENT_PAGE" val="2_6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COLOR_SCHEME_SHAPE_ID" val="3"/>
  <p:tag name="KSO_WM_UNIT_COLOR_SCHEME_PARENT_PAGE" val="2_6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COLOR_SCHEME_SHAPE_ID" val="4"/>
  <p:tag name="KSO_WM_UNIT_COLOR_SCHEME_PARENT_PAGE" val="2_6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COLOR_SCHEME_SHAPE_ID" val="5"/>
  <p:tag name="KSO_WM_UNIT_COLOR_SCHEME_PARENT_PAGE" val="2_6"/>
</p:tagLst>
</file>

<file path=ppt/tags/tag39.xml><?xml version="1.0" encoding="utf-8"?>
<p:tagLst xmlns:p="http://schemas.openxmlformats.org/presentationml/2006/main">
  <p:tag name="KSO_WM_SLIDE_COLORSCHEME_VERSION" val="3.2"/>
  <p:tag name="KSO_WM_UNIT_COLOR_SCHEME_SHAPE_ID" val="6"/>
  <p:tag name="KSO_WM_UNIT_COLOR_SCHEME_PARENT_PAGE" val="2_6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  <p:tag name="KSO_WM_UNIT_COLOR_SCHEME_SHAPE_ID" val="2"/>
  <p:tag name="KSO_WM_UNIT_COLOR_SCHEME_PARENT_PAGE" val="2_7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  <p:tag name="KSO_WM_UNIT_COLOR_SCHEME_SHAPE_ID" val="3"/>
  <p:tag name="KSO_WM_UNIT_COLOR_SCHEME_PARENT_PAGE" val="2_7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  <p:tag name="KSO_WM_UNIT_COLOR_SCHEME_SHAPE_ID" val="4"/>
  <p:tag name="KSO_WM_UNIT_COLOR_SCHEME_PARENT_PAGE" val="2_7"/>
</p:tagLst>
</file>

<file path=ppt/tags/tag43.xml><?xml version="1.0" encoding="utf-8"?>
<p:tagLst xmlns:p="http://schemas.openxmlformats.org/presentationml/2006/main">
  <p:tag name="KSO_WM_SLIDE_COLORSCHEME_VERSION" val="3.2"/>
  <p:tag name="KSO_WM_UNIT_COLOR_SCHEME_SHAPE_ID" val="5"/>
  <p:tag name="KSO_WM_UNIT_COLOR_SCHEME_PARENT_PAGE" val="2_7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KSO_WM_UNIT_COLOR_SCHEME_SHAPE_ID" val="2"/>
  <p:tag name="KSO_WM_UNIT_COLOR_SCHEME_PARENT_PAGE" val="2_8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KSO_WM_UNIT_COLOR_SCHEME_SHAPE_ID" val="3"/>
  <p:tag name="KSO_WM_UNIT_COLOR_SCHEME_PARENT_PAGE" val="2_8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KSO_WM_UNIT_COLOR_SCHEME_SHAPE_ID" val="4"/>
  <p:tag name="KSO_WM_UNIT_COLOR_SCHEME_PARENT_PAGE" val="2_8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KSO_WM_UNIT_COLOR_SCHEME_SHAPE_ID" val="5"/>
  <p:tag name="KSO_WM_UNIT_COLOR_SCHEME_PARENT_PAGE" val="2_8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KSO_WM_UNIT_COLOR_SCHEME_SHAPE_ID" val="6"/>
  <p:tag name="KSO_WM_UNIT_COLOR_SCHEME_PARENT_PAGE" val="2_8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KSO_WM_UNIT_COLOR_SCHEME_SHAPE_ID" val="7"/>
  <p:tag name="KSO_WM_UNIT_COLOR_SCHEME_PARENT_PAGE" val="2_8"/>
</p:tagLst>
</file>

<file path=ppt/tags/tag50.xml><?xml version="1.0" encoding="utf-8"?>
<p:tagLst xmlns:p="http://schemas.openxmlformats.org/presentationml/2006/main">
  <p:tag name="KSO_WM_SLIDE_COLORSCHEME_VERSION" val="3.2"/>
  <p:tag name="KSO_WM_UNIT_COLOR_SCHEME_SHAPE_ID" val="8"/>
  <p:tag name="KSO_WM_UNIT_COLOR_SCHEME_PARENT_PAGE" val="2_8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UNIT_COLOR_SCHEME_SHAPE_ID" val="2"/>
  <p:tag name="KSO_WM_UNIT_COLOR_SCHEME_PARENT_PAGE" val="2_9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UNIT_COLOR_SCHEME_SHAPE_ID" val="3"/>
  <p:tag name="KSO_WM_UNIT_COLOR_SCHEME_PARENT_PAGE" val="2_9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UNIT_COLOR_SCHEME_SHAPE_ID" val="4"/>
  <p:tag name="KSO_WM_UNIT_COLOR_SCHEME_PARENT_PAGE" val="2_9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UNIT_COLOR_SCHEME_SHAPE_ID" val="5"/>
  <p:tag name="KSO_WM_UNIT_COLOR_SCHEME_PARENT_PAGE" val="2_9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UNIT_COLOR_SCHEME_SHAPE_ID" val="6"/>
  <p:tag name="KSO_WM_UNIT_COLOR_SCHEME_PARENT_PAGE" val="2_9"/>
</p:tagLst>
</file>

<file path=ppt/tags/tag56.xml><?xml version="1.0" encoding="utf-8"?>
<p:tagLst xmlns:p="http://schemas.openxmlformats.org/presentationml/2006/main">
  <p:tag name="KSO_WM_SLIDE_COLORSCHEME_VERSION" val="3.2"/>
  <p:tag name="KSO_WM_UNIT_COLOR_SCHEME_SHAPE_ID" val="7"/>
  <p:tag name="KSO_WM_UNIT_COLOR_SCHEME_PARENT_PAGE" val="2_9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UNIT_COLOR_SCHEME_SHAPE_ID" val="3"/>
  <p:tag name="KSO_WM_UNIT_COLOR_SCHEME_PARENT_PAGE" val="2_10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UNIT_COLOR_SCHEME_SHAPE_ID" val="4"/>
  <p:tag name="KSO_WM_UNIT_COLOR_SCHEME_PARENT_PAGE" val="2_10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UNIT_COLOR_SCHEME_SHAPE_ID" val="5"/>
  <p:tag name="KSO_WM_UNIT_COLOR_SCHEME_PARENT_PAGE" val="2_1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UNIT_COLOR_SCHEME_SHAPE_ID" val="7"/>
  <p:tag name="KSO_WM_UNIT_COLOR_SCHEME_PARENT_PAGE" val="2_10"/>
</p:tagLst>
</file>

<file path=ppt/tags/tag61.xml><?xml version="1.0" encoding="utf-8"?>
<p:tagLst xmlns:p="http://schemas.openxmlformats.org/presentationml/2006/main">
  <p:tag name="KSO_WM_SLIDE_COLORSCHEME_VERSION" val="3.2"/>
  <p:tag name="KSO_WM_UNIT_COLOR_SCHEME_SHAPE_ID" val="2"/>
  <p:tag name="KSO_WM_UNIT_COLOR_SCHEME_PARENT_PAGE" val="2_1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COLOR_SCHEME_SHAPE_ID" val="2"/>
  <p:tag name="KSO_WM_UNIT_COLOR_SCHEME_PARENT_PAGE" val="2_1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COLOR_SCHEME_SHAPE_ID" val="3"/>
  <p:tag name="KSO_WM_UNIT_COLOR_SCHEME_PARENT_PAGE" val="2_1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COLOR_SCHEME_SHAPE_ID" val="4"/>
  <p:tag name="KSO_WM_UNIT_COLOR_SCHEME_PARENT_PAGE" val="2_1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COLOR_SCHEME_SHAPE_ID" val="5"/>
  <p:tag name="KSO_WM_UNIT_COLOR_SCHEME_PARENT_PAGE" val="2_11"/>
</p:tagLst>
</file>

<file path=ppt/tags/tag66.xml><?xml version="1.0" encoding="utf-8"?>
<p:tagLst xmlns:p="http://schemas.openxmlformats.org/presentationml/2006/main">
  <p:tag name="KSO_WM_SLIDE_COLORSCHEME_VERSION" val="3.2"/>
  <p:tag name="KSO_WM_UNIT_COLOR_SCHEME_SHAPE_ID" val="6"/>
  <p:tag name="KSO_WM_UNIT_COLOR_SCHEME_PARENT_PAGE" val="2_11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COLOR_SCHEME_SHAPE_ID" val="2"/>
  <p:tag name="KSO_WM_UNIT_COLOR_SCHEME_PARENT_PAGE" val="1_1"/>
  <p:tag name="KSO_WM_TEMPLATE_CATEGORY" val="diagram"/>
  <p:tag name="KSO_WM_TEMPLATE_INDEX" val="20194814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COLOR_SCHEME_SHAPE_ID" val="3"/>
  <p:tag name="KSO_WM_UNIT_COLOR_SCHEME_PARENT_PAGE" val="1_1"/>
  <p:tag name="KSO_WM_TEMPLATE_CATEGORY" val="diagram"/>
  <p:tag name="KSO_WM_TEMPLATE_INDEX" val="20194814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COLOR_SCHEME_SHAPE_ID" val="4"/>
  <p:tag name="KSO_WM_UNIT_COLOR_SCHEME_PARENT_PAGE" val="1_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COLOR_SCHEME_SHAPE_ID" val="5"/>
  <p:tag name="KSO_WM_UNIT_COLOR_SCHEME_PARENT_PAGE" val="1_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COLOR_SCHEME_SHAPE_ID" val="6"/>
  <p:tag name="KSO_WM_UNIT_COLOR_SCHEME_PARENT_PAGE" val="1_1"/>
</p:tagLst>
</file>

<file path=ppt/tags/tag7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94814"/>
  <p:tag name="KSO_WM_SLIDE_COLORSCHEME_VERSION" val="3.2"/>
  <p:tag name="KSO_WM_UNIT_COLOR_SCHEME_SHAPE_ID" val="7"/>
  <p:tag name="KSO_WM_UNIT_COLOR_SCHEME_PARENT_PAGE" val="1_1"/>
  <p:tag name="KSO_WM_TEMPLATE_SUBCATEGORY" val="0"/>
  <p:tag name="KSO_WM_TEMPLATE_MASTER_TYPE" val="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nhrz4lls">
      <a:dk1>
        <a:srgbClr val="000000"/>
      </a:dk1>
      <a:lt1>
        <a:srgbClr val="FFFFFF"/>
      </a:lt1>
      <a:dk2>
        <a:srgbClr val="808080"/>
      </a:dk2>
      <a:lt2>
        <a:srgbClr val="FFFFFF"/>
      </a:lt2>
      <a:accent1>
        <a:srgbClr val="FFBD00"/>
      </a:accent1>
      <a:accent2>
        <a:srgbClr val="B5715B"/>
      </a:accent2>
      <a:accent3>
        <a:srgbClr val="6C26B6"/>
      </a:accent3>
      <a:accent4>
        <a:srgbClr val="4700E4"/>
      </a:accent4>
      <a:accent5>
        <a:srgbClr val="1C99CD"/>
      </a:accent5>
      <a:accent6>
        <a:srgbClr val="00FFBD"/>
      </a:accent6>
      <a:hlink>
        <a:srgbClr val="3B3F42"/>
      </a:hlink>
      <a:folHlink>
        <a:srgbClr val="43343C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1930</Words>
  <Application>WPS 演示</Application>
  <PresentationFormat>宽屏</PresentationFormat>
  <Paragraphs>81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Cambria Math</vt:lpstr>
      <vt:lpstr>Calibri</vt:lpstr>
      <vt:lpstr>Arial Unicode MS</vt:lpstr>
      <vt:lpstr>华文行楷</vt:lpstr>
      <vt:lpstr>WPS</vt:lpstr>
      <vt:lpstr>1_Office 主题​​</vt:lpstr>
      <vt:lpstr>期中概率复习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HS</dc:creator>
  <cp:lastModifiedBy>Miss</cp:lastModifiedBy>
  <cp:revision>14</cp:revision>
  <dcterms:created xsi:type="dcterms:W3CDTF">2023-08-09T12:44:00Z</dcterms:created>
  <dcterms:modified xsi:type="dcterms:W3CDTF">2025-11-09T02:56:14Z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40AFB193DD7F440BA1AD8A908BA0B2C1_12</vt:lpwstr>
  </property>
</Properties>
</file>