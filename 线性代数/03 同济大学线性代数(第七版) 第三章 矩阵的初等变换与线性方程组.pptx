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923" r:id="rId2"/>
    <p:sldMasterId id="2147483935" r:id="rId3"/>
    <p:sldMasterId id="2147483947" r:id="rId4"/>
    <p:sldMasterId id="2147483959" r:id="rId5"/>
    <p:sldMasterId id="2147483971" r:id="rId6"/>
    <p:sldMasterId id="2147483995" r:id="rId7"/>
    <p:sldMasterId id="2147484043" r:id="rId8"/>
    <p:sldMasterId id="2147484067" r:id="rId9"/>
    <p:sldMasterId id="2147484091" r:id="rId10"/>
    <p:sldMasterId id="2147484115" r:id="rId11"/>
  </p:sldMasterIdLst>
  <p:notesMasterIdLst>
    <p:notesMasterId r:id="rId136"/>
  </p:notesMasterIdLst>
  <p:sldIdLst>
    <p:sldId id="918" r:id="rId12"/>
    <p:sldId id="464" r:id="rId13"/>
    <p:sldId id="1263" r:id="rId14"/>
    <p:sldId id="1264" r:id="rId15"/>
    <p:sldId id="1265" r:id="rId16"/>
    <p:sldId id="1266" r:id="rId17"/>
    <p:sldId id="1267" r:id="rId18"/>
    <p:sldId id="1268" r:id="rId19"/>
    <p:sldId id="1270" r:id="rId20"/>
    <p:sldId id="1269" r:id="rId21"/>
    <p:sldId id="1271" r:id="rId22"/>
    <p:sldId id="1234" r:id="rId23"/>
    <p:sldId id="804" r:id="rId24"/>
    <p:sldId id="473" r:id="rId25"/>
    <p:sldId id="474" r:id="rId26"/>
    <p:sldId id="475" r:id="rId27"/>
    <p:sldId id="476" r:id="rId28"/>
    <p:sldId id="477" r:id="rId29"/>
    <p:sldId id="478" r:id="rId30"/>
    <p:sldId id="479" r:id="rId31"/>
    <p:sldId id="1255" r:id="rId32"/>
    <p:sldId id="1256" r:id="rId33"/>
    <p:sldId id="1257" r:id="rId34"/>
    <p:sldId id="1258" r:id="rId35"/>
    <p:sldId id="1259" r:id="rId36"/>
    <p:sldId id="1235" r:id="rId37"/>
    <p:sldId id="1236" r:id="rId38"/>
    <p:sldId id="484" r:id="rId39"/>
    <p:sldId id="486" r:id="rId40"/>
    <p:sldId id="1205" r:id="rId41"/>
    <p:sldId id="1206" r:id="rId42"/>
    <p:sldId id="1208" r:id="rId43"/>
    <p:sldId id="816" r:id="rId44"/>
    <p:sldId id="1222" r:id="rId45"/>
    <p:sldId id="1223" r:id="rId46"/>
    <p:sldId id="1216" r:id="rId47"/>
    <p:sldId id="1221" r:id="rId48"/>
    <p:sldId id="1212" r:id="rId49"/>
    <p:sldId id="1213" r:id="rId50"/>
    <p:sldId id="1214" r:id="rId51"/>
    <p:sldId id="501" r:id="rId52"/>
    <p:sldId id="819" r:id="rId53"/>
    <p:sldId id="1239" r:id="rId54"/>
    <p:sldId id="921" r:id="rId55"/>
    <p:sldId id="922" r:id="rId56"/>
    <p:sldId id="923" r:id="rId57"/>
    <p:sldId id="924" r:id="rId58"/>
    <p:sldId id="832" r:id="rId59"/>
    <p:sldId id="825" r:id="rId60"/>
    <p:sldId id="826" r:id="rId61"/>
    <p:sldId id="505" r:id="rId62"/>
    <p:sldId id="506" r:id="rId63"/>
    <p:sldId id="507" r:id="rId64"/>
    <p:sldId id="508" r:id="rId65"/>
    <p:sldId id="831" r:id="rId66"/>
    <p:sldId id="833" r:id="rId67"/>
    <p:sldId id="510" r:id="rId68"/>
    <p:sldId id="926" r:id="rId69"/>
    <p:sldId id="511" r:id="rId70"/>
    <p:sldId id="1241" r:id="rId71"/>
    <p:sldId id="929" r:id="rId72"/>
    <p:sldId id="927" r:id="rId73"/>
    <p:sldId id="516" r:id="rId74"/>
    <p:sldId id="517" r:id="rId75"/>
    <p:sldId id="522" r:id="rId76"/>
    <p:sldId id="1242" r:id="rId77"/>
    <p:sldId id="524" r:id="rId78"/>
    <p:sldId id="1240" r:id="rId79"/>
    <p:sldId id="529" r:id="rId80"/>
    <p:sldId id="1243" r:id="rId81"/>
    <p:sldId id="1244" r:id="rId82"/>
    <p:sldId id="532" r:id="rId83"/>
    <p:sldId id="1230" r:id="rId84"/>
    <p:sldId id="533" r:id="rId85"/>
    <p:sldId id="930" r:id="rId86"/>
    <p:sldId id="931" r:id="rId87"/>
    <p:sldId id="535" r:id="rId88"/>
    <p:sldId id="538" r:id="rId89"/>
    <p:sldId id="536" r:id="rId90"/>
    <p:sldId id="539" r:id="rId91"/>
    <p:sldId id="932" r:id="rId92"/>
    <p:sldId id="933" r:id="rId93"/>
    <p:sldId id="936" r:id="rId94"/>
    <p:sldId id="541" r:id="rId95"/>
    <p:sldId id="542" r:id="rId96"/>
    <p:sldId id="543" r:id="rId97"/>
    <p:sldId id="544" r:id="rId98"/>
    <p:sldId id="545" r:id="rId99"/>
    <p:sldId id="547" r:id="rId100"/>
    <p:sldId id="548" r:id="rId101"/>
    <p:sldId id="939" r:id="rId102"/>
    <p:sldId id="549" r:id="rId103"/>
    <p:sldId id="552" r:id="rId104"/>
    <p:sldId id="553" r:id="rId105"/>
    <p:sldId id="554" r:id="rId106"/>
    <p:sldId id="838" r:id="rId107"/>
    <p:sldId id="841" r:id="rId108"/>
    <p:sldId id="1254" r:id="rId109"/>
    <p:sldId id="1261" r:id="rId110"/>
    <p:sldId id="555" r:id="rId111"/>
    <p:sldId id="556" r:id="rId112"/>
    <p:sldId id="559" r:id="rId113"/>
    <p:sldId id="1224" r:id="rId114"/>
    <p:sldId id="560" r:id="rId115"/>
    <p:sldId id="561" r:id="rId116"/>
    <p:sldId id="1260" r:id="rId117"/>
    <p:sldId id="562" r:id="rId118"/>
    <p:sldId id="563" r:id="rId119"/>
    <p:sldId id="564" r:id="rId120"/>
    <p:sldId id="565" r:id="rId121"/>
    <p:sldId id="1227" r:id="rId122"/>
    <p:sldId id="1228" r:id="rId123"/>
    <p:sldId id="566" r:id="rId124"/>
    <p:sldId id="937" r:id="rId125"/>
    <p:sldId id="1262" r:id="rId126"/>
    <p:sldId id="1253" r:id="rId127"/>
    <p:sldId id="1247" r:id="rId128"/>
    <p:sldId id="1248" r:id="rId129"/>
    <p:sldId id="1245" r:id="rId130"/>
    <p:sldId id="1246" r:id="rId131"/>
    <p:sldId id="1249" r:id="rId132"/>
    <p:sldId id="1250" r:id="rId133"/>
    <p:sldId id="1272" r:id="rId134"/>
    <p:sldId id="1273" r:id="rId13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0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8" autoAdjust="0"/>
    <p:restoredTop sz="94707"/>
  </p:normalViewPr>
  <p:slideViewPr>
    <p:cSldViewPr>
      <p:cViewPr varScale="1">
        <p:scale>
          <a:sx n="110" d="100"/>
          <a:sy n="110" d="100"/>
        </p:scale>
        <p:origin x="11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6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63" Type="http://schemas.openxmlformats.org/officeDocument/2006/relationships/slide" Target="slides/slide52.xml"/><Relationship Id="rId84" Type="http://schemas.openxmlformats.org/officeDocument/2006/relationships/slide" Target="slides/slide73.xml"/><Relationship Id="rId138" Type="http://schemas.openxmlformats.org/officeDocument/2006/relationships/viewProps" Target="viewProps.xml"/><Relationship Id="rId16" Type="http://schemas.openxmlformats.org/officeDocument/2006/relationships/slide" Target="slides/slide5.xml"/><Relationship Id="rId107" Type="http://schemas.openxmlformats.org/officeDocument/2006/relationships/slide" Target="slides/slide9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slide" Target="slides/slide68.xml"/><Relationship Id="rId102" Type="http://schemas.openxmlformats.org/officeDocument/2006/relationships/slide" Target="slides/slide91.xml"/><Relationship Id="rId123" Type="http://schemas.openxmlformats.org/officeDocument/2006/relationships/slide" Target="slides/slide112.xml"/><Relationship Id="rId128" Type="http://schemas.openxmlformats.org/officeDocument/2006/relationships/slide" Target="slides/slide117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9.xml"/><Relationship Id="rId95" Type="http://schemas.openxmlformats.org/officeDocument/2006/relationships/slide" Target="slides/slide84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113" Type="http://schemas.openxmlformats.org/officeDocument/2006/relationships/slide" Target="slides/slide102.xml"/><Relationship Id="rId118" Type="http://schemas.openxmlformats.org/officeDocument/2006/relationships/slide" Target="slides/slide107.xml"/><Relationship Id="rId134" Type="http://schemas.openxmlformats.org/officeDocument/2006/relationships/slide" Target="slides/slide123.xml"/><Relationship Id="rId139" Type="http://schemas.openxmlformats.org/officeDocument/2006/relationships/theme" Target="theme/theme1.xml"/><Relationship Id="rId80" Type="http://schemas.openxmlformats.org/officeDocument/2006/relationships/slide" Target="slides/slide69.xml"/><Relationship Id="rId85" Type="http://schemas.openxmlformats.org/officeDocument/2006/relationships/slide" Target="slides/slide7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59" Type="http://schemas.openxmlformats.org/officeDocument/2006/relationships/slide" Target="slides/slide48.xml"/><Relationship Id="rId103" Type="http://schemas.openxmlformats.org/officeDocument/2006/relationships/slide" Target="slides/slide92.xml"/><Relationship Id="rId108" Type="http://schemas.openxmlformats.org/officeDocument/2006/relationships/slide" Target="slides/slide97.xml"/><Relationship Id="rId124" Type="http://schemas.openxmlformats.org/officeDocument/2006/relationships/slide" Target="slides/slide113.xml"/><Relationship Id="rId129" Type="http://schemas.openxmlformats.org/officeDocument/2006/relationships/slide" Target="slides/slide118.xml"/><Relationship Id="rId54" Type="http://schemas.openxmlformats.org/officeDocument/2006/relationships/slide" Target="slides/slide43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91" Type="http://schemas.openxmlformats.org/officeDocument/2006/relationships/slide" Target="slides/slide80.xml"/><Relationship Id="rId96" Type="http://schemas.openxmlformats.org/officeDocument/2006/relationships/slide" Target="slides/slide85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49" Type="http://schemas.openxmlformats.org/officeDocument/2006/relationships/slide" Target="slides/slide38.xml"/><Relationship Id="rId114" Type="http://schemas.openxmlformats.org/officeDocument/2006/relationships/slide" Target="slides/slide103.xml"/><Relationship Id="rId119" Type="http://schemas.openxmlformats.org/officeDocument/2006/relationships/slide" Target="slides/slide108.xml"/><Relationship Id="rId44" Type="http://schemas.openxmlformats.org/officeDocument/2006/relationships/slide" Target="slides/slide33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81" Type="http://schemas.openxmlformats.org/officeDocument/2006/relationships/slide" Target="slides/slide70.xml"/><Relationship Id="rId86" Type="http://schemas.openxmlformats.org/officeDocument/2006/relationships/slide" Target="slides/slide75.xml"/><Relationship Id="rId130" Type="http://schemas.openxmlformats.org/officeDocument/2006/relationships/slide" Target="slides/slide119.xml"/><Relationship Id="rId135" Type="http://schemas.openxmlformats.org/officeDocument/2006/relationships/slide" Target="slides/slide124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109" Type="http://schemas.openxmlformats.org/officeDocument/2006/relationships/slide" Target="slides/slide9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97" Type="http://schemas.openxmlformats.org/officeDocument/2006/relationships/slide" Target="slides/slide86.xml"/><Relationship Id="rId104" Type="http://schemas.openxmlformats.org/officeDocument/2006/relationships/slide" Target="slides/slide93.xml"/><Relationship Id="rId120" Type="http://schemas.openxmlformats.org/officeDocument/2006/relationships/slide" Target="slides/slide109.xml"/><Relationship Id="rId125" Type="http://schemas.openxmlformats.org/officeDocument/2006/relationships/slide" Target="slides/slide114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0.xml"/><Relationship Id="rId92" Type="http://schemas.openxmlformats.org/officeDocument/2006/relationships/slide" Target="slides/slide8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slide" Target="slides/slide76.xml"/><Relationship Id="rId110" Type="http://schemas.openxmlformats.org/officeDocument/2006/relationships/slide" Target="slides/slide99.xml"/><Relationship Id="rId115" Type="http://schemas.openxmlformats.org/officeDocument/2006/relationships/slide" Target="slides/slide104.xml"/><Relationship Id="rId131" Type="http://schemas.openxmlformats.org/officeDocument/2006/relationships/slide" Target="slides/slide120.xml"/><Relationship Id="rId136" Type="http://schemas.openxmlformats.org/officeDocument/2006/relationships/notesMaster" Target="notesMasters/notesMaster1.xml"/><Relationship Id="rId61" Type="http://schemas.openxmlformats.org/officeDocument/2006/relationships/slide" Target="slides/slide50.xml"/><Relationship Id="rId82" Type="http://schemas.openxmlformats.org/officeDocument/2006/relationships/slide" Target="slides/slide7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Relationship Id="rId100" Type="http://schemas.openxmlformats.org/officeDocument/2006/relationships/slide" Target="slides/slide89.xml"/><Relationship Id="rId105" Type="http://schemas.openxmlformats.org/officeDocument/2006/relationships/slide" Target="slides/slide94.xml"/><Relationship Id="rId126" Type="http://schemas.openxmlformats.org/officeDocument/2006/relationships/slide" Target="slides/slide115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93" Type="http://schemas.openxmlformats.org/officeDocument/2006/relationships/slide" Target="slides/slide82.xml"/><Relationship Id="rId98" Type="http://schemas.openxmlformats.org/officeDocument/2006/relationships/slide" Target="slides/slide87.xml"/><Relationship Id="rId121" Type="http://schemas.openxmlformats.org/officeDocument/2006/relationships/slide" Target="slides/slide110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4.xml"/><Relationship Id="rId46" Type="http://schemas.openxmlformats.org/officeDocument/2006/relationships/slide" Target="slides/slide35.xml"/><Relationship Id="rId67" Type="http://schemas.openxmlformats.org/officeDocument/2006/relationships/slide" Target="slides/slide56.xml"/><Relationship Id="rId116" Type="http://schemas.openxmlformats.org/officeDocument/2006/relationships/slide" Target="slides/slide105.xml"/><Relationship Id="rId137" Type="http://schemas.openxmlformats.org/officeDocument/2006/relationships/presProps" Target="presProps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62" Type="http://schemas.openxmlformats.org/officeDocument/2006/relationships/slide" Target="slides/slide51.xml"/><Relationship Id="rId83" Type="http://schemas.openxmlformats.org/officeDocument/2006/relationships/slide" Target="slides/slide72.xml"/><Relationship Id="rId88" Type="http://schemas.openxmlformats.org/officeDocument/2006/relationships/slide" Target="slides/slide77.xml"/><Relationship Id="rId111" Type="http://schemas.openxmlformats.org/officeDocument/2006/relationships/slide" Target="slides/slide100.xml"/><Relationship Id="rId132" Type="http://schemas.openxmlformats.org/officeDocument/2006/relationships/slide" Target="slides/slide121.xml"/><Relationship Id="rId15" Type="http://schemas.openxmlformats.org/officeDocument/2006/relationships/slide" Target="slides/slide4.xml"/><Relationship Id="rId36" Type="http://schemas.openxmlformats.org/officeDocument/2006/relationships/slide" Target="slides/slide25.xml"/><Relationship Id="rId57" Type="http://schemas.openxmlformats.org/officeDocument/2006/relationships/slide" Target="slides/slide46.xml"/><Relationship Id="rId106" Type="http://schemas.openxmlformats.org/officeDocument/2006/relationships/slide" Target="slides/slide95.xml"/><Relationship Id="rId127" Type="http://schemas.openxmlformats.org/officeDocument/2006/relationships/slide" Target="slides/slide116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52" Type="http://schemas.openxmlformats.org/officeDocument/2006/relationships/slide" Target="slides/slide41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94" Type="http://schemas.openxmlformats.org/officeDocument/2006/relationships/slide" Target="slides/slide83.xml"/><Relationship Id="rId99" Type="http://schemas.openxmlformats.org/officeDocument/2006/relationships/slide" Target="slides/slide88.xml"/><Relationship Id="rId101" Type="http://schemas.openxmlformats.org/officeDocument/2006/relationships/slide" Target="slides/slide90.xml"/><Relationship Id="rId122" Type="http://schemas.openxmlformats.org/officeDocument/2006/relationships/slide" Target="slides/slide11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6" Type="http://schemas.openxmlformats.org/officeDocument/2006/relationships/slide" Target="slides/slide15.xml"/><Relationship Id="rId47" Type="http://schemas.openxmlformats.org/officeDocument/2006/relationships/slide" Target="slides/slide36.xml"/><Relationship Id="rId68" Type="http://schemas.openxmlformats.org/officeDocument/2006/relationships/slide" Target="slides/slide57.xml"/><Relationship Id="rId89" Type="http://schemas.openxmlformats.org/officeDocument/2006/relationships/slide" Target="slides/slide78.xml"/><Relationship Id="rId112" Type="http://schemas.openxmlformats.org/officeDocument/2006/relationships/slide" Target="slides/slide101.xml"/><Relationship Id="rId133" Type="http://schemas.openxmlformats.org/officeDocument/2006/relationships/slide" Target="slides/slide1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B2F0165-AC87-4C48-AEDE-5F9B2A237928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3DCB7A4-9689-449B-9294-39C2774026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728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86A67-D959-412D-9B0D-768682C0D506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5F476-1843-48BF-B665-8494B457BA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44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B8CC1-1CC4-4882-9CC4-AB49CC0681B4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F0BC0-D8EF-4BD3-9985-BDA9C6F1D6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26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9735E-685E-4FA9-9A9D-0A020155D79F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D51049-E546-42CA-9425-301ECBFEC3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879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277DB2-0FDC-4539-ADA3-2F3A813F6C04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06840-9D65-44F6-8BA3-6F928362CB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0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9F3CA-6B3E-4528-B15D-96BA288C5102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414CF-8637-4C97-A435-C90A4F2384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99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ED89C-1874-4241-BAB1-82CEC4B62E8B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E48D5-5814-4E81-9191-A002A0DD11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15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01C17-35C0-469B-A7E3-8E458AFB0D77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89403-65A0-4DDC-97A2-B57CC360E43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00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4223B-64CD-4CFE-A770-176D1DE84665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5E29A-7747-4B02-9C1B-2A288AF056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74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655C6-F4AA-4D21-89B5-EAD76EE6321B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F52D-F7F0-4BE1-82E3-099734A935F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3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A2D1F-1F67-4667-B33E-CDD8B1BCDE6D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F37C6E-F77F-4FDF-884F-1ACB09B262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23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0D54F-5B6A-4637-80CE-1A65A881E70B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D59FF-585C-459D-972F-940FF280B2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952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B23DAF7-78C6-43A0-BAF9-1EFCA3CE01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4882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B57131A9-5C5C-40E2-B889-7BF4055F5D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0748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424A3882-4F00-4EE7-8E35-5233573C00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2646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39888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39888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C3459BE1-4E3F-4E7E-8697-9F0C04D3F2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773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D1EB0FE3-CCF7-4D62-9056-1C84F54FD4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1548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3386B1A1-D012-402B-B84D-3BDA5F143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7520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6380AD9A-78C8-4290-9593-8C59D3FC21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34771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727D0A7-C3DB-427F-9757-A54799D6E2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22967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5F226E48-5040-4342-A40E-975DED36AD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94441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5CB1F86A-E7A3-45AE-82AD-724029770B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88298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5D34E387-9FCC-406A-BAC8-30004A4660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033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94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FEB58-6A50-427F-BFF4-7E6F1787A8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65641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8C55F-1C82-49A8-8ED6-6276D4687E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71497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83E1C-9643-4B66-ABC3-8C3B384FCE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0236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A38B4-440D-41E6-A577-A65FC946BE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4785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CB768-FDDD-4210-BE01-759E3A989D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7316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3010B-9112-4295-A551-FACCEB8BF0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99001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D8D68-8EBA-4AA7-A5AE-1559012D00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91503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47D7D-C5D3-48EB-BE5C-986F391185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29195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F39A7-8984-46DE-B6F2-8554429130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9069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B28DC-ECC7-40A3-8AA4-ABE8294A95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32612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24CEE7-7138-4F86-855B-27C5B36929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97857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1800" b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1800" b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1800" b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1800" b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2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127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FD7AA77E-013B-44DC-A1E8-59D68BEF22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0245344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794AD-4AE9-48FE-BE7B-73E38E3F41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97095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208285-1B7F-46DE-A6F3-BA58B470D6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20826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818A3-C7F3-4B2B-990B-BA93B86F1C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82446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1BC05-20D3-4B8F-81B1-928F4DBC44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75986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2AF53-06A6-4A84-96A7-8AE165CCCF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3626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4B829-5361-4DF9-A6AC-801C79F7F4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28964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8054E-0B62-46CF-AF29-C2E73DCF40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782975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1CA0A-0460-47C3-A532-6295C07950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82688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6BAEC-4CE1-43A2-A391-12E3137BCD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73767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A55537-A135-4F02-9745-471050467C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3536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18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1800" b="1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18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1800" b="1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1">
                <a:solidFill>
                  <a:srgbClr val="000000"/>
                </a:solidFill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1">
                <a:solidFill>
                  <a:srgbClr val="000000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 b="1">
                <a:solidFill>
                  <a:srgbClr val="000000"/>
                </a:solidFill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2E6859A7-C148-4BE2-A07F-80EC29570A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1750690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A4160-D655-4BD0-91DB-CD9507F8DE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03862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208C6-6DB5-419F-BFCE-3DFD9486CD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87763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683A0F-19AA-4565-98A7-2757E7A86D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92701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57632-5530-492C-887D-6541E54881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15984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773E74-265F-4642-9E72-4CC527BC46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67320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DC202-8EE6-4C81-89FC-F4529F74C5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10335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20829-348A-47A2-A262-FF1E39731F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10716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6C5C4-ACA0-46F9-A8C0-B19F3AAC12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35641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0B348-5BD0-407D-AF69-57B44B28AF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34991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41B64-3062-4001-A6CE-2A67867559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620519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33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3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9D837-7EEB-48F7-BD08-B409C38D7F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3358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8E6A5-1B4E-4E1E-BFB8-36D2395F0E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11512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F3891-0FB8-453D-A9F4-A0344EE144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39023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DAA50-5C2A-4C43-BE9F-73772A9CE1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92273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241DD-E84E-46C3-A044-F24FAD32C8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10246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E9C40-C20B-4C7A-969F-440DB3E5BA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09436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C2D05-6181-47E1-82EE-A2C4AC7516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45717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C5731-2AD8-4181-858F-77EEEFE40D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9647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6A6FD1-4EA9-47A7-A1A2-62FF3372DC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22028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5C501-55EE-46CE-8B41-DC25A88DD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19523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6200"/>
            <a:ext cx="2057400" cy="5334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6200"/>
            <a:ext cx="6019800" cy="5334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6559C-3F26-42D5-B1A7-160CFB8E9B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536005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F2386-4DDA-4FCF-BB51-934123D533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08313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47A7D8-2F4D-4619-AADF-8936992156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64635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D1EC6-BCCD-4615-9C9F-722055CEAF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703086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47945-C9DB-47ED-BE64-EEE1DEA0F2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35876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8BC67-0BCB-4429-93D1-EED21745FE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6494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51122-718C-412E-BE4C-614054CE64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194922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10401-7F59-4D49-81AE-92126293BF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161222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5174A-1C7F-4A8C-A3F5-2D8B22BA71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86980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412D4-A495-4691-8050-E8F24FBE4C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17412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69183-6E43-45A7-84F5-DA04594323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95078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5751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5751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F2F77-92A7-44C0-AC01-CE710836EB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39846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FD42A-A898-4998-B426-A7CDE266BE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04650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60C98-5740-49A3-865F-08C638DE46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798069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5780F-E907-4EFC-9A59-7D952E6CFD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227988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1565D-D54E-4DEA-ABBC-3DD08F44A3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885115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F1822-93BA-4BE0-8415-741EB29101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119590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F2407-F79A-4551-9251-85356EC1A4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146476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CB006-8DB9-435D-9D5F-320240682D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829452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DD3A9-C9E7-4757-A06C-ABBC84C9F5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29435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17CE0-361C-4A42-910D-F24967414C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023217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F1CE7-B65D-4B49-9AC5-0B83FB45B4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624781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FF5151-34D4-4C5D-97CC-CA55F13C89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020954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99E50-05BA-440E-BB3C-E231F94741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412328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D1163-575E-4620-947E-2E75834A3C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3902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AD192-74BE-4D82-AE04-F86026F57F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26900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FC3C5-6BA2-40D0-AA35-5432FAD81B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751961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D0B19-7CCC-4B67-B462-27E49A37D8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46404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5CBCF-9DF0-4EC7-849F-A9CAFBC466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847826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2FA06-68B3-48C5-B04B-F5941398AD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574466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B3969-66CC-478B-96CC-F57E03923B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239803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B240B-61CA-419E-8F92-367770BE23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185753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1B9DA-B535-4D5B-8677-D0F90A79C1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619373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B6105-5134-4241-A63A-FF6E71BFC3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37353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FE3E4-1BE9-4453-8249-D4A0C6A4D3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975254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062AD-95F3-475F-BA75-8FE7D9220E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515083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77EF1-DD76-4027-8C2A-E248CCCF87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544273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A8A35-C6AA-4104-AB02-C23633B9B8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978465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157E2-5F95-4481-A6C6-FB3081E85D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757372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F58FA-05D2-4578-864A-AE89EC32E2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190443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6BFB0-2F15-448A-8A32-3FA48BDFA1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981334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2C5AD-BAA2-4EE1-8573-C954BDC948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763307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D34B0-B3EC-4EA4-B019-86FAB908E3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141040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3EA78-BD70-4955-B034-1A08CA1F2E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824572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D71C5-7645-4593-88C5-639C023673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25967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866D8-912D-45B6-AC4C-77403B68EC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712702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62C72-730B-4A54-B29D-91BD54BB06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67549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FE40E-206C-4B41-A399-7B69FA2815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426648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6393D-E090-4ECE-AD6D-70F7315BCC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183372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CCE49-28D4-4944-AC01-CB537C2977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132677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2AA08-5BDD-437E-A755-1EDB13C318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399164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0F6F-322C-4A57-962C-96E138FC5C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931789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9916B-B620-41A2-A99B-4BC58AB09B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655534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B17B7-862D-40C8-8EBA-8A960D11D9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769372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91197-E818-43F9-9DE8-6350F3A595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765398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9FAE7-C6C7-4B8D-8969-1A5F3D8EE4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569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DE20E1-0AB8-496B-A6B9-5CA53FC8F22F}" type="datetimeFigureOut">
              <a:rPr lang="zh-CN" altLang="en-US"/>
              <a:pPr>
                <a:defRPr/>
              </a:pPr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115BAA6-AC47-428F-AF0E-5472E44291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294" r:id="rId1"/>
    <p:sldLayoutId id="2147556295" r:id="rId2"/>
    <p:sldLayoutId id="2147556296" r:id="rId3"/>
    <p:sldLayoutId id="2147556297" r:id="rId4"/>
    <p:sldLayoutId id="2147556298" r:id="rId5"/>
    <p:sldLayoutId id="2147556299" r:id="rId6"/>
    <p:sldLayoutId id="2147556300" r:id="rId7"/>
    <p:sldLayoutId id="2147556301" r:id="rId8"/>
    <p:sldLayoutId id="2147556302" r:id="rId9"/>
    <p:sldLayoutId id="2147556303" r:id="rId10"/>
    <p:sldLayoutId id="214755630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271F4EAE-BE88-4903-AB55-FC95D1380D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4679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79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79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79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79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80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39888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305" r:id="rId1"/>
    <p:sldLayoutId id="2147556306" r:id="rId2"/>
    <p:sldLayoutId id="2147556307" r:id="rId3"/>
    <p:sldLayoutId id="2147556308" r:id="rId4"/>
    <p:sldLayoutId id="2147556309" r:id="rId5"/>
    <p:sldLayoutId id="2147556310" r:id="rId6"/>
    <p:sldLayoutId id="2147556311" r:id="rId7"/>
    <p:sldLayoutId id="2147556312" r:id="rId8"/>
    <p:sldLayoutId id="2147556313" r:id="rId9"/>
    <p:sldLayoutId id="2147556314" r:id="rId10"/>
    <p:sldLayoutId id="214755631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B57289B8-ACD9-4FC0-BDB3-42B8F1D2EE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07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5908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84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85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86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87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88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89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90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91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7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9080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9081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9082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316" r:id="rId1"/>
    <p:sldLayoutId id="2147556317" r:id="rId2"/>
    <p:sldLayoutId id="2147556318" r:id="rId3"/>
    <p:sldLayoutId id="2147556319" r:id="rId4"/>
    <p:sldLayoutId id="2147556320" r:id="rId5"/>
    <p:sldLayoutId id="2147556321" r:id="rId6"/>
    <p:sldLayoutId id="2147556322" r:id="rId7"/>
    <p:sldLayoutId id="2147556323" r:id="rId8"/>
    <p:sldLayoutId id="2147556324" r:id="rId9"/>
    <p:sldLayoutId id="2147556325" r:id="rId10"/>
    <p:sldLayoutId id="214755632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63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64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65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66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67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68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5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CE00618E-D1D1-46B8-8F32-CE422204C9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327" r:id="rId1"/>
    <p:sldLayoutId id="2147556328" r:id="rId2"/>
    <p:sldLayoutId id="2147556329" r:id="rId3"/>
    <p:sldLayoutId id="2147556330" r:id="rId4"/>
    <p:sldLayoutId id="2147556331" r:id="rId5"/>
    <p:sldLayoutId id="2147556332" r:id="rId6"/>
    <p:sldLayoutId id="2147556333" r:id="rId7"/>
    <p:sldLayoutId id="2147556334" r:id="rId8"/>
    <p:sldLayoutId id="2147556335" r:id="rId9"/>
    <p:sldLayoutId id="2147556336" r:id="rId10"/>
    <p:sldLayoutId id="214755633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3651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3652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3653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3654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3655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3656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E05456E-5475-405D-83CB-D8DD3F5DDE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338" r:id="rId1"/>
    <p:sldLayoutId id="2147556339" r:id="rId2"/>
    <p:sldLayoutId id="2147556340" r:id="rId3"/>
    <p:sldLayoutId id="2147556341" r:id="rId4"/>
    <p:sldLayoutId id="2147556342" r:id="rId5"/>
    <p:sldLayoutId id="2147556343" r:id="rId6"/>
    <p:sldLayoutId id="2147556344" r:id="rId7"/>
    <p:sldLayoutId id="2147556345" r:id="rId8"/>
    <p:sldLayoutId id="2147556346" r:id="rId9"/>
    <p:sldLayoutId id="2147556347" r:id="rId10"/>
    <p:sldLayoutId id="214755634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7FE61374-BEDE-4EA3-A2A0-1D20DC2BA1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614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9594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5945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5946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</a:endParaRPr>
            </a:p>
          </p:txBody>
        </p:sp>
        <p:sp>
          <p:nvSpPr>
            <p:cNvPr id="295947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</a:endParaRPr>
            </a:p>
          </p:txBody>
        </p:sp>
        <p:sp>
          <p:nvSpPr>
            <p:cNvPr id="295948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</a:endParaRPr>
            </a:p>
          </p:txBody>
        </p:sp>
        <p:sp>
          <p:nvSpPr>
            <p:cNvPr id="295949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</a:endParaRPr>
            </a:p>
          </p:txBody>
        </p:sp>
        <p:sp>
          <p:nvSpPr>
            <p:cNvPr id="295950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5951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</a:endParaRPr>
            </a:p>
          </p:txBody>
        </p:sp>
        <p:sp>
          <p:nvSpPr>
            <p:cNvPr id="295952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</a:endParaRPr>
            </a:p>
          </p:txBody>
        </p:sp>
      </p:grpSp>
      <p:sp>
        <p:nvSpPr>
          <p:cNvPr id="614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5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30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349" r:id="rId1"/>
    <p:sldLayoutId id="2147556350" r:id="rId2"/>
    <p:sldLayoutId id="2147556351" r:id="rId3"/>
    <p:sldLayoutId id="2147556352" r:id="rId4"/>
    <p:sldLayoutId id="2147556353" r:id="rId5"/>
    <p:sldLayoutId id="2147556354" r:id="rId6"/>
    <p:sldLayoutId id="2147556355" r:id="rId7"/>
    <p:sldLayoutId id="2147556356" r:id="rId8"/>
    <p:sldLayoutId id="2147556357" r:id="rId9"/>
    <p:sldLayoutId id="2147556358" r:id="rId10"/>
    <p:sldLayoutId id="21475563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Arial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CDE80401-A250-4D5E-A498-F8535AD21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20520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0521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0522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0523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0524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0525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0526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0527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0528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17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17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Arial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360" r:id="rId1"/>
    <p:sldLayoutId id="2147556361" r:id="rId2"/>
    <p:sldLayoutId id="2147556362" r:id="rId3"/>
    <p:sldLayoutId id="2147556363" r:id="rId4"/>
    <p:sldLayoutId id="2147556364" r:id="rId5"/>
    <p:sldLayoutId id="2147556365" r:id="rId6"/>
    <p:sldLayoutId id="2147556366" r:id="rId7"/>
    <p:sldLayoutId id="2147556367" r:id="rId8"/>
    <p:sldLayoutId id="2147556368" r:id="rId9"/>
    <p:sldLayoutId id="2147556369" r:id="rId10"/>
    <p:sldLayoutId id="214755637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E132A2ED-5890-4EB0-8CC0-A11B47016C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6967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7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68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19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19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9672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69673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69674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371" r:id="rId1"/>
    <p:sldLayoutId id="2147556372" r:id="rId2"/>
    <p:sldLayoutId id="2147556373" r:id="rId3"/>
    <p:sldLayoutId id="2147556374" r:id="rId4"/>
    <p:sldLayoutId id="2147556375" r:id="rId5"/>
    <p:sldLayoutId id="2147556376" r:id="rId6"/>
    <p:sldLayoutId id="2147556377" r:id="rId7"/>
    <p:sldLayoutId id="2147556378" r:id="rId8"/>
    <p:sldLayoutId id="2147556379" r:id="rId9"/>
    <p:sldLayoutId id="2147556380" r:id="rId10"/>
    <p:sldLayoutId id="214755638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28DCAEFF-A2E8-4E77-B6EE-0164DC6CF4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922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9425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425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22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22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4248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94249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94250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382" r:id="rId1"/>
    <p:sldLayoutId id="2147556383" r:id="rId2"/>
    <p:sldLayoutId id="2147556384" r:id="rId3"/>
    <p:sldLayoutId id="2147556385" r:id="rId4"/>
    <p:sldLayoutId id="2147556386" r:id="rId5"/>
    <p:sldLayoutId id="2147556387" r:id="rId6"/>
    <p:sldLayoutId id="2147556388" r:id="rId7"/>
    <p:sldLayoutId id="2147556389" r:id="rId8"/>
    <p:sldLayoutId id="2147556390" r:id="rId9"/>
    <p:sldLayoutId id="2147556391" r:id="rId10"/>
    <p:sldLayoutId id="214755639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83267813-762B-4090-A0CB-3830CAAF2A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41882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2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2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883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24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4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8824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18825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18826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393" r:id="rId1"/>
    <p:sldLayoutId id="2147556394" r:id="rId2"/>
    <p:sldLayoutId id="2147556395" r:id="rId3"/>
    <p:sldLayoutId id="2147556396" r:id="rId4"/>
    <p:sldLayoutId id="2147556397" r:id="rId5"/>
    <p:sldLayoutId id="2147556398" r:id="rId6"/>
    <p:sldLayoutId id="2147556399" r:id="rId7"/>
    <p:sldLayoutId id="2147556400" r:id="rId8"/>
    <p:sldLayoutId id="2147556401" r:id="rId9"/>
    <p:sldLayoutId id="2147556402" r:id="rId10"/>
    <p:sldLayoutId id="214755640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8CA54228-D0E1-4E9C-82C9-DAB6CD1E39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44340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4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5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6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7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8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6666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09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10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3411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1800">
                <a:solidFill>
                  <a:srgbClr val="9999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26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7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3400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3401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3402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56404" r:id="rId1"/>
    <p:sldLayoutId id="2147556405" r:id="rId2"/>
    <p:sldLayoutId id="2147556406" r:id="rId3"/>
    <p:sldLayoutId id="2147556407" r:id="rId4"/>
    <p:sldLayoutId id="2147556408" r:id="rId5"/>
    <p:sldLayoutId id="2147556409" r:id="rId6"/>
    <p:sldLayoutId id="2147556410" r:id="rId7"/>
    <p:sldLayoutId id="2147556411" r:id="rId8"/>
    <p:sldLayoutId id="2147556412" r:id="rId9"/>
    <p:sldLayoutId id="2147556413" r:id="rId10"/>
    <p:sldLayoutId id="214755641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wmf"/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emf"/><Relationship Id="rId15" Type="http://schemas.openxmlformats.org/officeDocument/2006/relationships/image" Target="../media/image22.png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Relationship Id="rId1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40.png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0.wmf"/><Relationship Id="rId3" Type="http://schemas.openxmlformats.org/officeDocument/2006/relationships/image" Target="../media/image1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32.bin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29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2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4.wmf"/><Relationship Id="rId3" Type="http://schemas.openxmlformats.org/officeDocument/2006/relationships/image" Target="../media/image3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8.bin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3.wmf"/><Relationship Id="rId5" Type="http://schemas.openxmlformats.org/officeDocument/2006/relationships/image" Target="../media/image4.wmf"/><Relationship Id="rId15" Type="http://schemas.openxmlformats.org/officeDocument/2006/relationships/image" Target="../media/image35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3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39.wmf"/><Relationship Id="rId3" Type="http://schemas.openxmlformats.org/officeDocument/2006/relationships/image" Target="../media/image5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45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38.wmf"/><Relationship Id="rId5" Type="http://schemas.openxmlformats.org/officeDocument/2006/relationships/image" Target="../media/image6.wmf"/><Relationship Id="rId15" Type="http://schemas.openxmlformats.org/officeDocument/2006/relationships/image" Target="../media/image40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4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44.wmf"/><Relationship Id="rId3" Type="http://schemas.openxmlformats.org/officeDocument/2006/relationships/image" Target="../media/image7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52.bin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43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4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10.wmf"/><Relationship Id="rId3" Type="http://schemas.openxmlformats.org/officeDocument/2006/relationships/image" Target="../media/image9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58.bin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4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4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68.bin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3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73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3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4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10.wmf"/><Relationship Id="rId5" Type="http://schemas.openxmlformats.org/officeDocument/2006/relationships/image" Target="../media/image46.wmf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48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8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92.bin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93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102.bin"/><Relationship Id="rId3" Type="http://schemas.openxmlformats.org/officeDocument/2006/relationships/image" Target="../media/image58.wmf"/><Relationship Id="rId21" Type="http://schemas.openxmlformats.org/officeDocument/2006/relationships/image" Target="../media/image55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65.e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66.e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100.bin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wmf"/><Relationship Id="rId18" Type="http://schemas.openxmlformats.org/officeDocument/2006/relationships/oleObject" Target="../embeddings/oleObject112.bin"/><Relationship Id="rId26" Type="http://schemas.openxmlformats.org/officeDocument/2006/relationships/oleObject" Target="../embeddings/oleObject116.bin"/><Relationship Id="rId39" Type="http://schemas.openxmlformats.org/officeDocument/2006/relationships/image" Target="../media/image85.wmf"/><Relationship Id="rId21" Type="http://schemas.openxmlformats.org/officeDocument/2006/relationships/image" Target="../media/image76.emf"/><Relationship Id="rId34" Type="http://schemas.openxmlformats.org/officeDocument/2006/relationships/oleObject" Target="../embeddings/oleObject120.bin"/><Relationship Id="rId42" Type="http://schemas.openxmlformats.org/officeDocument/2006/relationships/oleObject" Target="../embeddings/oleObject124.bin"/><Relationship Id="rId47" Type="http://schemas.openxmlformats.org/officeDocument/2006/relationships/image" Target="../media/image89.wmf"/><Relationship Id="rId50" Type="http://schemas.openxmlformats.org/officeDocument/2006/relationships/oleObject" Target="../embeddings/oleObject128.bin"/><Relationship Id="rId55" Type="http://schemas.openxmlformats.org/officeDocument/2006/relationships/image" Target="../media/image93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104.bin"/><Relationship Id="rId16" Type="http://schemas.openxmlformats.org/officeDocument/2006/relationships/oleObject" Target="../embeddings/oleObject111.bin"/><Relationship Id="rId29" Type="http://schemas.openxmlformats.org/officeDocument/2006/relationships/image" Target="../media/image80.wmf"/><Relationship Id="rId11" Type="http://schemas.openxmlformats.org/officeDocument/2006/relationships/image" Target="../media/image71.wmf"/><Relationship Id="rId24" Type="http://schemas.openxmlformats.org/officeDocument/2006/relationships/oleObject" Target="../embeddings/oleObject115.bin"/><Relationship Id="rId32" Type="http://schemas.openxmlformats.org/officeDocument/2006/relationships/oleObject" Target="../embeddings/oleObject119.bin"/><Relationship Id="rId37" Type="http://schemas.openxmlformats.org/officeDocument/2006/relationships/image" Target="../media/image84.wmf"/><Relationship Id="rId40" Type="http://schemas.openxmlformats.org/officeDocument/2006/relationships/oleObject" Target="../embeddings/oleObject123.bin"/><Relationship Id="rId45" Type="http://schemas.openxmlformats.org/officeDocument/2006/relationships/image" Target="../media/image88.wmf"/><Relationship Id="rId53" Type="http://schemas.openxmlformats.org/officeDocument/2006/relationships/image" Target="../media/image92.emf"/><Relationship Id="rId5" Type="http://schemas.openxmlformats.org/officeDocument/2006/relationships/image" Target="../media/image68.wmf"/><Relationship Id="rId19" Type="http://schemas.openxmlformats.org/officeDocument/2006/relationships/image" Target="../media/image75.e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110.bin"/><Relationship Id="rId22" Type="http://schemas.openxmlformats.org/officeDocument/2006/relationships/oleObject" Target="../embeddings/oleObject114.bin"/><Relationship Id="rId27" Type="http://schemas.openxmlformats.org/officeDocument/2006/relationships/image" Target="../media/image79.emf"/><Relationship Id="rId30" Type="http://schemas.openxmlformats.org/officeDocument/2006/relationships/oleObject" Target="../embeddings/oleObject118.bin"/><Relationship Id="rId35" Type="http://schemas.openxmlformats.org/officeDocument/2006/relationships/image" Target="../media/image83.wmf"/><Relationship Id="rId43" Type="http://schemas.openxmlformats.org/officeDocument/2006/relationships/image" Target="../media/image87.wmf"/><Relationship Id="rId48" Type="http://schemas.openxmlformats.org/officeDocument/2006/relationships/oleObject" Target="../embeddings/oleObject127.bin"/><Relationship Id="rId56" Type="http://schemas.openxmlformats.org/officeDocument/2006/relationships/oleObject" Target="../embeddings/oleObject131.bin"/><Relationship Id="rId8" Type="http://schemas.openxmlformats.org/officeDocument/2006/relationships/oleObject" Target="../embeddings/oleObject107.bin"/><Relationship Id="rId51" Type="http://schemas.openxmlformats.org/officeDocument/2006/relationships/image" Target="../media/image91.wmf"/><Relationship Id="rId3" Type="http://schemas.openxmlformats.org/officeDocument/2006/relationships/image" Target="../media/image67.w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74.emf"/><Relationship Id="rId25" Type="http://schemas.openxmlformats.org/officeDocument/2006/relationships/image" Target="../media/image78.emf"/><Relationship Id="rId33" Type="http://schemas.openxmlformats.org/officeDocument/2006/relationships/image" Target="../media/image82.wmf"/><Relationship Id="rId38" Type="http://schemas.openxmlformats.org/officeDocument/2006/relationships/oleObject" Target="../embeddings/oleObject122.bin"/><Relationship Id="rId46" Type="http://schemas.openxmlformats.org/officeDocument/2006/relationships/oleObject" Target="../embeddings/oleObject126.bin"/><Relationship Id="rId20" Type="http://schemas.openxmlformats.org/officeDocument/2006/relationships/oleObject" Target="../embeddings/oleObject113.bin"/><Relationship Id="rId41" Type="http://schemas.openxmlformats.org/officeDocument/2006/relationships/image" Target="../media/image86.wmf"/><Relationship Id="rId54" Type="http://schemas.openxmlformats.org/officeDocument/2006/relationships/oleObject" Target="../embeddings/oleObject130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06.bin"/><Relationship Id="rId15" Type="http://schemas.openxmlformats.org/officeDocument/2006/relationships/image" Target="../media/image73.wmf"/><Relationship Id="rId23" Type="http://schemas.openxmlformats.org/officeDocument/2006/relationships/image" Target="../media/image77.wmf"/><Relationship Id="rId28" Type="http://schemas.openxmlformats.org/officeDocument/2006/relationships/oleObject" Target="../embeddings/oleObject117.bin"/><Relationship Id="rId36" Type="http://schemas.openxmlformats.org/officeDocument/2006/relationships/oleObject" Target="../embeddings/oleObject121.bin"/><Relationship Id="rId49" Type="http://schemas.openxmlformats.org/officeDocument/2006/relationships/image" Target="../media/image90.emf"/><Relationship Id="rId57" Type="http://schemas.openxmlformats.org/officeDocument/2006/relationships/image" Target="../media/image94.emf"/><Relationship Id="rId10" Type="http://schemas.openxmlformats.org/officeDocument/2006/relationships/oleObject" Target="../embeddings/oleObject108.bin"/><Relationship Id="rId31" Type="http://schemas.openxmlformats.org/officeDocument/2006/relationships/image" Target="../media/image81.wmf"/><Relationship Id="rId44" Type="http://schemas.openxmlformats.org/officeDocument/2006/relationships/oleObject" Target="../embeddings/oleObject125.bin"/><Relationship Id="rId52" Type="http://schemas.openxmlformats.org/officeDocument/2006/relationships/oleObject" Target="../embeddings/oleObject12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32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34.bin"/><Relationship Id="rId5" Type="http://schemas.openxmlformats.org/officeDocument/2006/relationships/image" Target="../media/image17.wmf"/><Relationship Id="rId10" Type="http://schemas.openxmlformats.org/officeDocument/2006/relationships/image" Target="../media/image118.png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1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0.bin"/><Relationship Id="rId3" Type="http://schemas.openxmlformats.org/officeDocument/2006/relationships/image" Target="../media/image96.png"/><Relationship Id="rId7" Type="http://schemas.openxmlformats.org/officeDocument/2006/relationships/image" Target="../media/image95.wmf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35.bin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95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oleObject" Target="../embeddings/oleObject137.bin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7" Type="http://schemas.openxmlformats.org/officeDocument/2006/relationships/image" Target="../media/image100.wmf"/><Relationship Id="rId2" Type="http://schemas.openxmlformats.org/officeDocument/2006/relationships/oleObject" Target="../embeddings/oleObject138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40.bin"/><Relationship Id="rId5" Type="http://schemas.openxmlformats.org/officeDocument/2006/relationships/image" Target="../media/image99.wmf"/><Relationship Id="rId4" Type="http://schemas.openxmlformats.org/officeDocument/2006/relationships/oleObject" Target="../embeddings/oleObject139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05.wm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4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10.wmf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09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4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16.wmf"/><Relationship Id="rId18" Type="http://schemas.openxmlformats.org/officeDocument/2006/relationships/oleObject" Target="../embeddings/oleObject159.bin"/><Relationship Id="rId26" Type="http://schemas.openxmlformats.org/officeDocument/2006/relationships/image" Target="../media/image121.emf"/><Relationship Id="rId3" Type="http://schemas.openxmlformats.org/officeDocument/2006/relationships/image" Target="../media/image111.emf"/><Relationship Id="rId21" Type="http://schemas.openxmlformats.org/officeDocument/2006/relationships/image" Target="../media/image120.wmf"/><Relationship Id="rId7" Type="http://schemas.openxmlformats.org/officeDocument/2006/relationships/image" Target="../media/image113.emf"/><Relationship Id="rId12" Type="http://schemas.openxmlformats.org/officeDocument/2006/relationships/oleObject" Target="../embeddings/oleObject156.bin"/><Relationship Id="rId17" Type="http://schemas.openxmlformats.org/officeDocument/2006/relationships/image" Target="../media/image118.wmf"/><Relationship Id="rId25" Type="http://schemas.openxmlformats.org/officeDocument/2006/relationships/oleObject" Target="../embeddings/oleObject1260.bin"/><Relationship Id="rId2" Type="http://schemas.openxmlformats.org/officeDocument/2006/relationships/oleObject" Target="../embeddings/oleObject151.bin"/><Relationship Id="rId16" Type="http://schemas.openxmlformats.org/officeDocument/2006/relationships/oleObject" Target="../embeddings/oleObject158.bin"/><Relationship Id="rId20" Type="http://schemas.openxmlformats.org/officeDocument/2006/relationships/oleObject" Target="../embeddings/oleObject160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15.emf"/><Relationship Id="rId5" Type="http://schemas.openxmlformats.org/officeDocument/2006/relationships/image" Target="../media/image112.wmf"/><Relationship Id="rId15" Type="http://schemas.openxmlformats.org/officeDocument/2006/relationships/image" Target="../media/image117.emf"/><Relationship Id="rId23" Type="http://schemas.openxmlformats.org/officeDocument/2006/relationships/image" Target="../media/image121.emf"/><Relationship Id="rId10" Type="http://schemas.openxmlformats.org/officeDocument/2006/relationships/oleObject" Target="../embeddings/oleObject155.bin"/><Relationship Id="rId19" Type="http://schemas.openxmlformats.org/officeDocument/2006/relationships/image" Target="../media/image119.emf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157.bin"/><Relationship Id="rId22" Type="http://schemas.openxmlformats.org/officeDocument/2006/relationships/oleObject" Target="../embeddings/oleObject161.bin"/><Relationship Id="rId27" Type="http://schemas.openxmlformats.org/officeDocument/2006/relationships/image" Target="../media/image1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2" Type="http://schemas.openxmlformats.org/officeDocument/2006/relationships/oleObject" Target="../embeddings/oleObject162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53.png"/><Relationship Id="rId5" Type="http://schemas.openxmlformats.org/officeDocument/2006/relationships/image" Target="../media/image123.wmf"/><Relationship Id="rId10" Type="http://schemas.openxmlformats.org/officeDocument/2006/relationships/image" Target="../media/image152.png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5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oleObject" Target="../embeddings/oleObject172.bin"/><Relationship Id="rId3" Type="http://schemas.openxmlformats.org/officeDocument/2006/relationships/image" Target="../media/image125.wmf"/><Relationship Id="rId7" Type="http://schemas.openxmlformats.org/officeDocument/2006/relationships/image" Target="../media/image127.wmf"/><Relationship Id="rId12" Type="http://schemas.openxmlformats.org/officeDocument/2006/relationships/oleObject" Target="../embeddings/oleObject171.bin"/><Relationship Id="rId2" Type="http://schemas.openxmlformats.org/officeDocument/2006/relationships/oleObject" Target="../embeddings/oleObject166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68.bin"/><Relationship Id="rId11" Type="http://schemas.openxmlformats.org/officeDocument/2006/relationships/oleObject" Target="../embeddings/oleObject170.bin"/><Relationship Id="rId5" Type="http://schemas.openxmlformats.org/officeDocument/2006/relationships/image" Target="../media/image126.wmf"/><Relationship Id="rId10" Type="http://schemas.openxmlformats.org/officeDocument/2006/relationships/image" Target="../media/image123.wmf"/><Relationship Id="rId4" Type="http://schemas.openxmlformats.org/officeDocument/2006/relationships/oleObject" Target="../embeddings/oleObject167.bin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2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oleObject" Target="../embeddings/oleObject179.bin"/><Relationship Id="rId3" Type="http://schemas.openxmlformats.org/officeDocument/2006/relationships/image" Target="../media/image129.wmf"/><Relationship Id="rId7" Type="http://schemas.openxmlformats.org/officeDocument/2006/relationships/image" Target="../media/image131.wmf"/><Relationship Id="rId12" Type="http://schemas.openxmlformats.org/officeDocument/2006/relationships/oleObject" Target="../embeddings/oleObject178.bin"/><Relationship Id="rId2" Type="http://schemas.openxmlformats.org/officeDocument/2006/relationships/oleObject" Target="../embeddings/oleObject173.bin"/><Relationship Id="rId16" Type="http://schemas.openxmlformats.org/officeDocument/2006/relationships/image" Target="../media/image134.wmf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32.wmf"/><Relationship Id="rId5" Type="http://schemas.openxmlformats.org/officeDocument/2006/relationships/image" Target="../media/image130.wmf"/><Relationship Id="rId15" Type="http://schemas.openxmlformats.org/officeDocument/2006/relationships/oleObject" Target="../embeddings/oleObject180.bin"/><Relationship Id="rId10" Type="http://schemas.openxmlformats.org/officeDocument/2006/relationships/oleObject" Target="../embeddings/oleObject177.bin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27.wmf"/><Relationship Id="rId14" Type="http://schemas.openxmlformats.org/officeDocument/2006/relationships/image" Target="../media/image133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1.bin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67.png"/><Relationship Id="rId4" Type="http://schemas.openxmlformats.org/officeDocument/2006/relationships/image" Target="../media/image135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2.bin"/><Relationship Id="rId7" Type="http://schemas.openxmlformats.org/officeDocument/2006/relationships/image" Target="../media/image171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83.bin"/><Relationship Id="rId4" Type="http://schemas.openxmlformats.org/officeDocument/2006/relationships/image" Target="../media/image136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132.wmf"/><Relationship Id="rId3" Type="http://schemas.openxmlformats.org/officeDocument/2006/relationships/image" Target="../media/image138.wmf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42.wmf"/><Relationship Id="rId17" Type="http://schemas.openxmlformats.org/officeDocument/2006/relationships/oleObject" Target="../embeddings/oleObject191.bin"/><Relationship Id="rId2" Type="http://schemas.openxmlformats.org/officeDocument/2006/relationships/oleObject" Target="../embeddings/oleObject184.bin"/><Relationship Id="rId16" Type="http://schemas.openxmlformats.org/officeDocument/2006/relationships/image" Target="../media/image127.wmf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10" Type="http://schemas.openxmlformats.org/officeDocument/2006/relationships/image" Target="../media/image141.wmf"/><Relationship Id="rId19" Type="http://schemas.openxmlformats.org/officeDocument/2006/relationships/oleObject" Target="../embeddings/oleObject192.bin"/><Relationship Id="rId4" Type="http://schemas.openxmlformats.org/officeDocument/2006/relationships/image" Target="../media/image173.png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43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13" Type="http://schemas.openxmlformats.org/officeDocument/2006/relationships/image" Target="../media/image149.wmf"/><Relationship Id="rId18" Type="http://schemas.openxmlformats.org/officeDocument/2006/relationships/oleObject" Target="../embeddings/oleObject201.bin"/><Relationship Id="rId26" Type="http://schemas.openxmlformats.org/officeDocument/2006/relationships/oleObject" Target="../embeddings/oleObject205.bin"/><Relationship Id="rId3" Type="http://schemas.openxmlformats.org/officeDocument/2006/relationships/image" Target="../media/image144.wmf"/><Relationship Id="rId21" Type="http://schemas.openxmlformats.org/officeDocument/2006/relationships/image" Target="../media/image153.emf"/><Relationship Id="rId7" Type="http://schemas.openxmlformats.org/officeDocument/2006/relationships/image" Target="../media/image146.wmf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151.emf"/><Relationship Id="rId25" Type="http://schemas.openxmlformats.org/officeDocument/2006/relationships/image" Target="../media/image155.emf"/><Relationship Id="rId2" Type="http://schemas.openxmlformats.org/officeDocument/2006/relationships/oleObject" Target="../embeddings/oleObject193.bin"/><Relationship Id="rId16" Type="http://schemas.openxmlformats.org/officeDocument/2006/relationships/oleObject" Target="../embeddings/oleObject200.bin"/><Relationship Id="rId20" Type="http://schemas.openxmlformats.org/officeDocument/2006/relationships/oleObject" Target="../embeddings/oleObject202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148.wmf"/><Relationship Id="rId24" Type="http://schemas.openxmlformats.org/officeDocument/2006/relationships/oleObject" Target="../embeddings/oleObject204.bin"/><Relationship Id="rId5" Type="http://schemas.openxmlformats.org/officeDocument/2006/relationships/image" Target="../media/image145.wmf"/><Relationship Id="rId15" Type="http://schemas.openxmlformats.org/officeDocument/2006/relationships/image" Target="../media/image150.wmf"/><Relationship Id="rId23" Type="http://schemas.openxmlformats.org/officeDocument/2006/relationships/image" Target="../media/image154.emf"/><Relationship Id="rId10" Type="http://schemas.openxmlformats.org/officeDocument/2006/relationships/oleObject" Target="../embeddings/oleObject197.bin"/><Relationship Id="rId19" Type="http://schemas.openxmlformats.org/officeDocument/2006/relationships/image" Target="../media/image152.emf"/><Relationship Id="rId4" Type="http://schemas.openxmlformats.org/officeDocument/2006/relationships/oleObject" Target="../embeddings/oleObject194.bin"/><Relationship Id="rId9" Type="http://schemas.openxmlformats.org/officeDocument/2006/relationships/image" Target="../media/image147.wmf"/><Relationship Id="rId14" Type="http://schemas.openxmlformats.org/officeDocument/2006/relationships/oleObject" Target="../embeddings/oleObject199.bin"/><Relationship Id="rId22" Type="http://schemas.openxmlformats.org/officeDocument/2006/relationships/oleObject" Target="../embeddings/oleObject203.bin"/><Relationship Id="rId27" Type="http://schemas.openxmlformats.org/officeDocument/2006/relationships/image" Target="../media/image156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9.bin"/><Relationship Id="rId13" Type="http://schemas.openxmlformats.org/officeDocument/2006/relationships/image" Target="../media/image162.emf"/><Relationship Id="rId18" Type="http://schemas.openxmlformats.org/officeDocument/2006/relationships/oleObject" Target="../embeddings/oleObject214.bin"/><Relationship Id="rId26" Type="http://schemas.openxmlformats.org/officeDocument/2006/relationships/oleObject" Target="../embeddings/oleObject218.bin"/><Relationship Id="rId3" Type="http://schemas.openxmlformats.org/officeDocument/2006/relationships/image" Target="../media/image157.wmf"/><Relationship Id="rId21" Type="http://schemas.openxmlformats.org/officeDocument/2006/relationships/image" Target="../media/image166.wmf"/><Relationship Id="rId7" Type="http://schemas.openxmlformats.org/officeDocument/2006/relationships/image" Target="../media/image159.emf"/><Relationship Id="rId12" Type="http://schemas.openxmlformats.org/officeDocument/2006/relationships/oleObject" Target="../embeddings/oleObject211.bin"/><Relationship Id="rId17" Type="http://schemas.openxmlformats.org/officeDocument/2006/relationships/image" Target="../media/image164.emf"/><Relationship Id="rId25" Type="http://schemas.openxmlformats.org/officeDocument/2006/relationships/image" Target="../media/image168.wmf"/><Relationship Id="rId2" Type="http://schemas.openxmlformats.org/officeDocument/2006/relationships/oleObject" Target="../embeddings/oleObject206.bin"/><Relationship Id="rId16" Type="http://schemas.openxmlformats.org/officeDocument/2006/relationships/oleObject" Target="../embeddings/oleObject213.bin"/><Relationship Id="rId20" Type="http://schemas.openxmlformats.org/officeDocument/2006/relationships/oleObject" Target="../embeddings/oleObject215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08.bin"/><Relationship Id="rId11" Type="http://schemas.openxmlformats.org/officeDocument/2006/relationships/image" Target="../media/image161.emf"/><Relationship Id="rId24" Type="http://schemas.openxmlformats.org/officeDocument/2006/relationships/oleObject" Target="../embeddings/oleObject217.bin"/><Relationship Id="rId5" Type="http://schemas.openxmlformats.org/officeDocument/2006/relationships/image" Target="../media/image158.emf"/><Relationship Id="rId15" Type="http://schemas.openxmlformats.org/officeDocument/2006/relationships/image" Target="../media/image163.wmf"/><Relationship Id="rId23" Type="http://schemas.openxmlformats.org/officeDocument/2006/relationships/image" Target="../media/image167.wmf"/><Relationship Id="rId10" Type="http://schemas.openxmlformats.org/officeDocument/2006/relationships/oleObject" Target="../embeddings/oleObject210.bin"/><Relationship Id="rId19" Type="http://schemas.openxmlformats.org/officeDocument/2006/relationships/image" Target="../media/image165.emf"/><Relationship Id="rId4" Type="http://schemas.openxmlformats.org/officeDocument/2006/relationships/oleObject" Target="../embeddings/oleObject207.bin"/><Relationship Id="rId9" Type="http://schemas.openxmlformats.org/officeDocument/2006/relationships/image" Target="../media/image160.wmf"/><Relationship Id="rId14" Type="http://schemas.openxmlformats.org/officeDocument/2006/relationships/oleObject" Target="../embeddings/oleObject212.bin"/><Relationship Id="rId22" Type="http://schemas.openxmlformats.org/officeDocument/2006/relationships/oleObject" Target="../embeddings/oleObject216.bin"/><Relationship Id="rId27" Type="http://schemas.openxmlformats.org/officeDocument/2006/relationships/image" Target="../media/image169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2.bin"/><Relationship Id="rId3" Type="http://schemas.openxmlformats.org/officeDocument/2006/relationships/image" Target="../media/image170.wmf"/><Relationship Id="rId7" Type="http://schemas.openxmlformats.org/officeDocument/2006/relationships/image" Target="../media/image172.wmf"/><Relationship Id="rId2" Type="http://schemas.openxmlformats.org/officeDocument/2006/relationships/oleObject" Target="../embeddings/oleObject219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21.bin"/><Relationship Id="rId5" Type="http://schemas.openxmlformats.org/officeDocument/2006/relationships/image" Target="../media/image171.wmf"/><Relationship Id="rId4" Type="http://schemas.openxmlformats.org/officeDocument/2006/relationships/oleObject" Target="../embeddings/oleObject220.bin"/><Relationship Id="rId9" Type="http://schemas.openxmlformats.org/officeDocument/2006/relationships/image" Target="../media/image173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7" Type="http://schemas.openxmlformats.org/officeDocument/2006/relationships/image" Target="../media/image176.wmf"/><Relationship Id="rId2" Type="http://schemas.openxmlformats.org/officeDocument/2006/relationships/oleObject" Target="../embeddings/oleObject223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25.bin"/><Relationship Id="rId5" Type="http://schemas.openxmlformats.org/officeDocument/2006/relationships/image" Target="../media/image175.wmf"/><Relationship Id="rId4" Type="http://schemas.openxmlformats.org/officeDocument/2006/relationships/oleObject" Target="../embeddings/oleObject224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9.bin"/><Relationship Id="rId13" Type="http://schemas.openxmlformats.org/officeDocument/2006/relationships/image" Target="../media/image180.wmf"/><Relationship Id="rId18" Type="http://schemas.openxmlformats.org/officeDocument/2006/relationships/oleObject" Target="../embeddings/oleObject234.bin"/><Relationship Id="rId3" Type="http://schemas.openxmlformats.org/officeDocument/2006/relationships/image" Target="../media/image177.wmf"/><Relationship Id="rId7" Type="http://schemas.openxmlformats.org/officeDocument/2006/relationships/image" Target="../media/image179.wmf"/><Relationship Id="rId12" Type="http://schemas.openxmlformats.org/officeDocument/2006/relationships/oleObject" Target="../embeddings/oleObject231.bin"/><Relationship Id="rId17" Type="http://schemas.openxmlformats.org/officeDocument/2006/relationships/image" Target="../media/image181.wmf"/><Relationship Id="rId2" Type="http://schemas.openxmlformats.org/officeDocument/2006/relationships/oleObject" Target="../embeddings/oleObject226.bin"/><Relationship Id="rId16" Type="http://schemas.openxmlformats.org/officeDocument/2006/relationships/oleObject" Target="../embeddings/oleObject233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28.bin"/><Relationship Id="rId11" Type="http://schemas.openxmlformats.org/officeDocument/2006/relationships/image" Target="../media/image148.wmf"/><Relationship Id="rId5" Type="http://schemas.openxmlformats.org/officeDocument/2006/relationships/image" Target="../media/image178.wmf"/><Relationship Id="rId15" Type="http://schemas.openxmlformats.org/officeDocument/2006/relationships/image" Target="../media/image149.wmf"/><Relationship Id="rId10" Type="http://schemas.openxmlformats.org/officeDocument/2006/relationships/oleObject" Target="../embeddings/oleObject230.bin"/><Relationship Id="rId19" Type="http://schemas.openxmlformats.org/officeDocument/2006/relationships/image" Target="../media/image182.wmf"/><Relationship Id="rId4" Type="http://schemas.openxmlformats.org/officeDocument/2006/relationships/oleObject" Target="../embeddings/oleObject227.bin"/><Relationship Id="rId9" Type="http://schemas.openxmlformats.org/officeDocument/2006/relationships/image" Target="../media/image147.wmf"/><Relationship Id="rId14" Type="http://schemas.openxmlformats.org/officeDocument/2006/relationships/oleObject" Target="../embeddings/oleObject232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8.bin"/><Relationship Id="rId13" Type="http://schemas.openxmlformats.org/officeDocument/2006/relationships/image" Target="../media/image181.wmf"/><Relationship Id="rId3" Type="http://schemas.openxmlformats.org/officeDocument/2006/relationships/image" Target="../media/image183.wmf"/><Relationship Id="rId7" Type="http://schemas.openxmlformats.org/officeDocument/2006/relationships/image" Target="../media/image185.wmf"/><Relationship Id="rId12" Type="http://schemas.openxmlformats.org/officeDocument/2006/relationships/oleObject" Target="../embeddings/oleObject240.bin"/><Relationship Id="rId2" Type="http://schemas.openxmlformats.org/officeDocument/2006/relationships/oleObject" Target="../embeddings/oleObject235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179.wmf"/><Relationship Id="rId5" Type="http://schemas.openxmlformats.org/officeDocument/2006/relationships/image" Target="../media/image184.wmf"/><Relationship Id="rId15" Type="http://schemas.openxmlformats.org/officeDocument/2006/relationships/image" Target="../media/image182.wmf"/><Relationship Id="rId10" Type="http://schemas.openxmlformats.org/officeDocument/2006/relationships/oleObject" Target="../embeddings/oleObject239.bin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186.wmf"/><Relationship Id="rId14" Type="http://schemas.openxmlformats.org/officeDocument/2006/relationships/oleObject" Target="../embeddings/oleObject241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image" Target="../media/image188.wmf"/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247.bin"/><Relationship Id="rId2" Type="http://schemas.openxmlformats.org/officeDocument/2006/relationships/oleObject" Target="../embeddings/oleObject242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44.bin"/><Relationship Id="rId11" Type="http://schemas.openxmlformats.org/officeDocument/2006/relationships/image" Target="../media/image187.wmf"/><Relationship Id="rId5" Type="http://schemas.openxmlformats.org/officeDocument/2006/relationships/image" Target="../media/image123.wmf"/><Relationship Id="rId10" Type="http://schemas.openxmlformats.org/officeDocument/2006/relationships/oleObject" Target="../embeddings/oleObject246.bin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126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1.bin"/><Relationship Id="rId3" Type="http://schemas.openxmlformats.org/officeDocument/2006/relationships/image" Target="../media/image138.wmf"/><Relationship Id="rId7" Type="http://schemas.openxmlformats.org/officeDocument/2006/relationships/image" Target="../media/image189.wmf"/><Relationship Id="rId2" Type="http://schemas.openxmlformats.org/officeDocument/2006/relationships/oleObject" Target="../embeddings/oleObject248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250.bin"/><Relationship Id="rId11" Type="http://schemas.openxmlformats.org/officeDocument/2006/relationships/image" Target="../media/image172.wmf"/><Relationship Id="rId5" Type="http://schemas.openxmlformats.org/officeDocument/2006/relationships/image" Target="../media/image139.wmf"/><Relationship Id="rId10" Type="http://schemas.openxmlformats.org/officeDocument/2006/relationships/oleObject" Target="../embeddings/oleObject252.bin"/><Relationship Id="rId4" Type="http://schemas.openxmlformats.org/officeDocument/2006/relationships/oleObject" Target="../embeddings/oleObject249.bin"/><Relationship Id="rId9" Type="http://schemas.openxmlformats.org/officeDocument/2006/relationships/image" Target="../media/image171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.xml"/><Relationship Id="rId1" Type="http://schemas.openxmlformats.org/officeDocument/2006/relationships/themeOverride" Target="../theme/themeOverride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wmf"/><Relationship Id="rId7" Type="http://schemas.openxmlformats.org/officeDocument/2006/relationships/image" Target="../media/image192.wmf"/><Relationship Id="rId2" Type="http://schemas.openxmlformats.org/officeDocument/2006/relationships/oleObject" Target="../embeddings/oleObject253.bin"/><Relationship Id="rId1" Type="http://schemas.openxmlformats.org/officeDocument/2006/relationships/slideLayout" Target="../slideLayouts/slideLayout46.xml"/><Relationship Id="rId6" Type="http://schemas.openxmlformats.org/officeDocument/2006/relationships/oleObject" Target="../embeddings/oleObject255.bin"/><Relationship Id="rId5" Type="http://schemas.openxmlformats.org/officeDocument/2006/relationships/image" Target="../media/image191.wmf"/><Relationship Id="rId4" Type="http://schemas.openxmlformats.org/officeDocument/2006/relationships/oleObject" Target="../embeddings/oleObject254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wmf"/><Relationship Id="rId7" Type="http://schemas.openxmlformats.org/officeDocument/2006/relationships/image" Target="../media/image195.wmf"/><Relationship Id="rId2" Type="http://schemas.openxmlformats.org/officeDocument/2006/relationships/oleObject" Target="../embeddings/oleObject256.bin"/><Relationship Id="rId1" Type="http://schemas.openxmlformats.org/officeDocument/2006/relationships/slideLayout" Target="../slideLayouts/slideLayout57.xml"/><Relationship Id="rId6" Type="http://schemas.openxmlformats.org/officeDocument/2006/relationships/oleObject" Target="../embeddings/oleObject258.bin"/><Relationship Id="rId5" Type="http://schemas.openxmlformats.org/officeDocument/2006/relationships/image" Target="../media/image194.wmf"/><Relationship Id="rId4" Type="http://schemas.openxmlformats.org/officeDocument/2006/relationships/oleObject" Target="../embeddings/oleObject257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57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wmf"/><Relationship Id="rId2" Type="http://schemas.openxmlformats.org/officeDocument/2006/relationships/oleObject" Target="../embeddings/oleObject259.bin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197.wmf"/><Relationship Id="rId4" Type="http://schemas.openxmlformats.org/officeDocument/2006/relationships/oleObject" Target="../embeddings/oleObject260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1.bin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262.bin"/><Relationship Id="rId4" Type="http://schemas.openxmlformats.org/officeDocument/2006/relationships/image" Target="../media/image198.w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6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6.bin"/><Relationship Id="rId13" Type="http://schemas.openxmlformats.org/officeDocument/2006/relationships/image" Target="../media/image204.wmf"/><Relationship Id="rId3" Type="http://schemas.openxmlformats.org/officeDocument/2006/relationships/image" Target="../media/image200.wmf"/><Relationship Id="rId7" Type="http://schemas.openxmlformats.org/officeDocument/2006/relationships/image" Target="../media/image194.wmf"/><Relationship Id="rId12" Type="http://schemas.openxmlformats.org/officeDocument/2006/relationships/oleObject" Target="../embeddings/oleObject268.bin"/><Relationship Id="rId2" Type="http://schemas.openxmlformats.org/officeDocument/2006/relationships/oleObject" Target="../embeddings/oleObject263.bin"/><Relationship Id="rId1" Type="http://schemas.openxmlformats.org/officeDocument/2006/relationships/slideLayout" Target="../slideLayouts/slideLayout62.xml"/><Relationship Id="rId6" Type="http://schemas.openxmlformats.org/officeDocument/2006/relationships/oleObject" Target="../embeddings/oleObject265.bin"/><Relationship Id="rId11" Type="http://schemas.openxmlformats.org/officeDocument/2006/relationships/image" Target="../media/image203.wmf"/><Relationship Id="rId5" Type="http://schemas.openxmlformats.org/officeDocument/2006/relationships/image" Target="../media/image201.wmf"/><Relationship Id="rId10" Type="http://schemas.openxmlformats.org/officeDocument/2006/relationships/oleObject" Target="../embeddings/oleObject267.bin"/><Relationship Id="rId4" Type="http://schemas.openxmlformats.org/officeDocument/2006/relationships/oleObject" Target="../embeddings/oleObject264.bin"/><Relationship Id="rId9" Type="http://schemas.openxmlformats.org/officeDocument/2006/relationships/image" Target="../media/image202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oleObject" Target="../embeddings/oleObject274.bin"/><Relationship Id="rId18" Type="http://schemas.openxmlformats.org/officeDocument/2006/relationships/image" Target="../media/image212.wmf"/><Relationship Id="rId3" Type="http://schemas.openxmlformats.org/officeDocument/2006/relationships/oleObject" Target="../embeddings/oleObject269.bin"/><Relationship Id="rId21" Type="http://schemas.openxmlformats.org/officeDocument/2006/relationships/oleObject" Target="../embeddings/oleObject278.bin"/><Relationship Id="rId7" Type="http://schemas.openxmlformats.org/officeDocument/2006/relationships/oleObject" Target="../embeddings/oleObject271.bin"/><Relationship Id="rId12" Type="http://schemas.openxmlformats.org/officeDocument/2006/relationships/image" Target="../media/image209.wmf"/><Relationship Id="rId17" Type="http://schemas.openxmlformats.org/officeDocument/2006/relationships/oleObject" Target="../embeddings/oleObject276.bin"/><Relationship Id="rId2" Type="http://schemas.openxmlformats.org/officeDocument/2006/relationships/image" Target="../media/image211.png"/><Relationship Id="rId16" Type="http://schemas.openxmlformats.org/officeDocument/2006/relationships/image" Target="../media/image211.wmf"/><Relationship Id="rId20" Type="http://schemas.openxmlformats.org/officeDocument/2006/relationships/image" Target="../media/image213.wmf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206.wmf"/><Relationship Id="rId11" Type="http://schemas.openxmlformats.org/officeDocument/2006/relationships/oleObject" Target="../embeddings/oleObject273.bin"/><Relationship Id="rId5" Type="http://schemas.openxmlformats.org/officeDocument/2006/relationships/oleObject" Target="../embeddings/oleObject270.bin"/><Relationship Id="rId15" Type="http://schemas.openxmlformats.org/officeDocument/2006/relationships/oleObject" Target="../embeddings/oleObject275.bin"/><Relationship Id="rId10" Type="http://schemas.openxmlformats.org/officeDocument/2006/relationships/image" Target="../media/image208.wmf"/><Relationship Id="rId19" Type="http://schemas.openxmlformats.org/officeDocument/2006/relationships/oleObject" Target="../embeddings/oleObject277.bin"/><Relationship Id="rId4" Type="http://schemas.openxmlformats.org/officeDocument/2006/relationships/image" Target="../media/image205.wmf"/><Relationship Id="rId9" Type="http://schemas.openxmlformats.org/officeDocument/2006/relationships/oleObject" Target="../embeddings/oleObject272.bin"/><Relationship Id="rId14" Type="http://schemas.openxmlformats.org/officeDocument/2006/relationships/image" Target="../media/image210.wmf"/><Relationship Id="rId22" Type="http://schemas.openxmlformats.org/officeDocument/2006/relationships/image" Target="../media/image214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2.bin"/><Relationship Id="rId3" Type="http://schemas.openxmlformats.org/officeDocument/2006/relationships/image" Target="../media/image215.wmf"/><Relationship Id="rId7" Type="http://schemas.openxmlformats.org/officeDocument/2006/relationships/image" Target="../media/image217.wmf"/><Relationship Id="rId2" Type="http://schemas.openxmlformats.org/officeDocument/2006/relationships/oleObject" Target="../embeddings/oleObject279.bin"/><Relationship Id="rId1" Type="http://schemas.openxmlformats.org/officeDocument/2006/relationships/slideLayout" Target="../slideLayouts/slideLayout62.xml"/><Relationship Id="rId6" Type="http://schemas.openxmlformats.org/officeDocument/2006/relationships/oleObject" Target="../embeddings/oleObject281.bin"/><Relationship Id="rId5" Type="http://schemas.openxmlformats.org/officeDocument/2006/relationships/image" Target="../media/image216.wmf"/><Relationship Id="rId4" Type="http://schemas.openxmlformats.org/officeDocument/2006/relationships/oleObject" Target="../embeddings/oleObject280.bin"/><Relationship Id="rId9" Type="http://schemas.openxmlformats.org/officeDocument/2006/relationships/image" Target="../media/image208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wmf"/><Relationship Id="rId2" Type="http://schemas.openxmlformats.org/officeDocument/2006/relationships/oleObject" Target="../embeddings/oleObject283.bin"/><Relationship Id="rId1" Type="http://schemas.openxmlformats.org/officeDocument/2006/relationships/slideLayout" Target="../slideLayouts/slideLayout6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wmf"/><Relationship Id="rId7" Type="http://schemas.openxmlformats.org/officeDocument/2006/relationships/image" Target="../media/image221.wmf"/><Relationship Id="rId2" Type="http://schemas.openxmlformats.org/officeDocument/2006/relationships/oleObject" Target="../embeddings/oleObject284.bin"/><Relationship Id="rId1" Type="http://schemas.openxmlformats.org/officeDocument/2006/relationships/slideLayout" Target="../slideLayouts/slideLayout62.xml"/><Relationship Id="rId6" Type="http://schemas.openxmlformats.org/officeDocument/2006/relationships/oleObject" Target="../embeddings/oleObject286.bin"/><Relationship Id="rId5" Type="http://schemas.openxmlformats.org/officeDocument/2006/relationships/image" Target="../media/image220.wmf"/><Relationship Id="rId4" Type="http://schemas.openxmlformats.org/officeDocument/2006/relationships/oleObject" Target="../embeddings/oleObject285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wmf"/><Relationship Id="rId2" Type="http://schemas.openxmlformats.org/officeDocument/2006/relationships/oleObject" Target="../embeddings/oleObject287.bin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223.wmf"/><Relationship Id="rId4" Type="http://schemas.openxmlformats.org/officeDocument/2006/relationships/oleObject" Target="../embeddings/oleObject288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2.bin"/><Relationship Id="rId3" Type="http://schemas.openxmlformats.org/officeDocument/2006/relationships/image" Target="../media/image224.wmf"/><Relationship Id="rId7" Type="http://schemas.openxmlformats.org/officeDocument/2006/relationships/image" Target="../media/image226.wmf"/><Relationship Id="rId2" Type="http://schemas.openxmlformats.org/officeDocument/2006/relationships/oleObject" Target="../embeddings/oleObject289.bin"/><Relationship Id="rId1" Type="http://schemas.openxmlformats.org/officeDocument/2006/relationships/slideLayout" Target="../slideLayouts/slideLayout62.xml"/><Relationship Id="rId6" Type="http://schemas.openxmlformats.org/officeDocument/2006/relationships/oleObject" Target="../embeddings/oleObject291.bin"/><Relationship Id="rId5" Type="http://schemas.openxmlformats.org/officeDocument/2006/relationships/image" Target="../media/image225.wmf"/><Relationship Id="rId4" Type="http://schemas.openxmlformats.org/officeDocument/2006/relationships/oleObject" Target="../embeddings/oleObject290.bin"/><Relationship Id="rId9" Type="http://schemas.openxmlformats.org/officeDocument/2006/relationships/image" Target="../media/image227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5.bin"/><Relationship Id="rId3" Type="http://schemas.openxmlformats.org/officeDocument/2006/relationships/oleObject" Target="../embeddings/oleObject293.bin"/><Relationship Id="rId7" Type="http://schemas.openxmlformats.org/officeDocument/2006/relationships/image" Target="../media/image233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229.wmf"/><Relationship Id="rId11" Type="http://schemas.openxmlformats.org/officeDocument/2006/relationships/image" Target="../media/image231.wmf"/><Relationship Id="rId5" Type="http://schemas.openxmlformats.org/officeDocument/2006/relationships/oleObject" Target="../embeddings/oleObject294.bin"/><Relationship Id="rId10" Type="http://schemas.openxmlformats.org/officeDocument/2006/relationships/oleObject" Target="../embeddings/oleObject296.bin"/><Relationship Id="rId4" Type="http://schemas.openxmlformats.org/officeDocument/2006/relationships/image" Target="../media/image228.wmf"/><Relationship Id="rId9" Type="http://schemas.openxmlformats.org/officeDocument/2006/relationships/image" Target="../media/image230.w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6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13" Type="http://schemas.openxmlformats.org/officeDocument/2006/relationships/oleObject" Target="../embeddings/oleObject302.bin"/><Relationship Id="rId3" Type="http://schemas.openxmlformats.org/officeDocument/2006/relationships/oleObject" Target="../embeddings/oleObject297.bin"/><Relationship Id="rId7" Type="http://schemas.openxmlformats.org/officeDocument/2006/relationships/oleObject" Target="../embeddings/oleObject299.bin"/><Relationship Id="rId12" Type="http://schemas.openxmlformats.org/officeDocument/2006/relationships/image" Target="../media/image236.wmf"/><Relationship Id="rId2" Type="http://schemas.openxmlformats.org/officeDocument/2006/relationships/image" Target="../media/image237.png"/><Relationship Id="rId16" Type="http://schemas.openxmlformats.org/officeDocument/2006/relationships/image" Target="../media/image238.wmf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233.wmf"/><Relationship Id="rId11" Type="http://schemas.openxmlformats.org/officeDocument/2006/relationships/oleObject" Target="../embeddings/oleObject301.bin"/><Relationship Id="rId5" Type="http://schemas.openxmlformats.org/officeDocument/2006/relationships/oleObject" Target="../embeddings/oleObject298.bin"/><Relationship Id="rId15" Type="http://schemas.openxmlformats.org/officeDocument/2006/relationships/oleObject" Target="../embeddings/oleObject303.bin"/><Relationship Id="rId10" Type="http://schemas.openxmlformats.org/officeDocument/2006/relationships/image" Target="../media/image235.wmf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300.bin"/><Relationship Id="rId14" Type="http://schemas.openxmlformats.org/officeDocument/2006/relationships/image" Target="../media/image237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54.png"/><Relationship Id="rId3" Type="http://schemas.openxmlformats.org/officeDocument/2006/relationships/image" Target="../media/image239.wmf"/><Relationship Id="rId7" Type="http://schemas.openxmlformats.org/officeDocument/2006/relationships/image" Target="../media/image248.png"/><Relationship Id="rId12" Type="http://schemas.openxmlformats.org/officeDocument/2006/relationships/image" Target="../media/image253.png"/><Relationship Id="rId2" Type="http://schemas.openxmlformats.org/officeDocument/2006/relationships/oleObject" Target="../embeddings/oleObject304.bin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247.png"/><Relationship Id="rId11" Type="http://schemas.openxmlformats.org/officeDocument/2006/relationships/image" Target="../media/image252.png"/><Relationship Id="rId5" Type="http://schemas.openxmlformats.org/officeDocument/2006/relationships/image" Target="../media/image240.wmf"/><Relationship Id="rId10" Type="http://schemas.openxmlformats.org/officeDocument/2006/relationships/image" Target="../media/image251.png"/><Relationship Id="rId4" Type="http://schemas.openxmlformats.org/officeDocument/2006/relationships/oleObject" Target="../embeddings/oleObject305.bin"/><Relationship Id="rId9" Type="http://schemas.openxmlformats.org/officeDocument/2006/relationships/image" Target="../media/image250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2" Type="http://schemas.openxmlformats.org/officeDocument/2006/relationships/oleObject" Target="../embeddings/oleObject306.bin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242.wmf"/><Relationship Id="rId4" Type="http://schemas.openxmlformats.org/officeDocument/2006/relationships/oleObject" Target="../embeddings/oleObject307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1.bin"/><Relationship Id="rId3" Type="http://schemas.openxmlformats.org/officeDocument/2006/relationships/image" Target="../media/image243.wmf"/><Relationship Id="rId7" Type="http://schemas.openxmlformats.org/officeDocument/2006/relationships/image" Target="../media/image245.wmf"/><Relationship Id="rId2" Type="http://schemas.openxmlformats.org/officeDocument/2006/relationships/oleObject" Target="../embeddings/oleObject308.bin"/><Relationship Id="rId1" Type="http://schemas.openxmlformats.org/officeDocument/2006/relationships/slideLayout" Target="../slideLayouts/slideLayout62.xml"/><Relationship Id="rId6" Type="http://schemas.openxmlformats.org/officeDocument/2006/relationships/oleObject" Target="../embeddings/oleObject310.bin"/><Relationship Id="rId11" Type="http://schemas.openxmlformats.org/officeDocument/2006/relationships/image" Target="../media/image247.wmf"/><Relationship Id="rId5" Type="http://schemas.openxmlformats.org/officeDocument/2006/relationships/image" Target="../media/image244.wmf"/><Relationship Id="rId10" Type="http://schemas.openxmlformats.org/officeDocument/2006/relationships/oleObject" Target="../embeddings/oleObject312.bin"/><Relationship Id="rId4" Type="http://schemas.openxmlformats.org/officeDocument/2006/relationships/oleObject" Target="../embeddings/oleObject309.bin"/><Relationship Id="rId9" Type="http://schemas.openxmlformats.org/officeDocument/2006/relationships/image" Target="../media/image246.w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wmf"/><Relationship Id="rId7" Type="http://schemas.openxmlformats.org/officeDocument/2006/relationships/image" Target="../media/image250.wmf"/><Relationship Id="rId2" Type="http://schemas.openxmlformats.org/officeDocument/2006/relationships/oleObject" Target="../embeddings/oleObject313.bin"/><Relationship Id="rId1" Type="http://schemas.openxmlformats.org/officeDocument/2006/relationships/slideLayout" Target="../slideLayouts/slideLayout70.xml"/><Relationship Id="rId6" Type="http://schemas.openxmlformats.org/officeDocument/2006/relationships/oleObject" Target="../embeddings/oleObject315.bin"/><Relationship Id="rId5" Type="http://schemas.openxmlformats.org/officeDocument/2006/relationships/image" Target="../media/image249.wmf"/><Relationship Id="rId4" Type="http://schemas.openxmlformats.org/officeDocument/2006/relationships/oleObject" Target="../embeddings/oleObject314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6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51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2.bin"/><Relationship Id="rId3" Type="http://schemas.openxmlformats.org/officeDocument/2006/relationships/image" Target="../media/image252.wmf"/><Relationship Id="rId7" Type="http://schemas.openxmlformats.org/officeDocument/2006/relationships/oleObject" Target="../embeddings/oleObject321.bin"/><Relationship Id="rId2" Type="http://schemas.openxmlformats.org/officeDocument/2006/relationships/oleObject" Target="../embeddings/oleObject317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20.bin"/><Relationship Id="rId5" Type="http://schemas.openxmlformats.org/officeDocument/2006/relationships/oleObject" Target="../embeddings/oleObject319.bin"/><Relationship Id="rId4" Type="http://schemas.openxmlformats.org/officeDocument/2006/relationships/oleObject" Target="../embeddings/oleObject318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wmf"/><Relationship Id="rId2" Type="http://schemas.openxmlformats.org/officeDocument/2006/relationships/oleObject" Target="../embeddings/oleObject323.bin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252.wmf"/><Relationship Id="rId4" Type="http://schemas.openxmlformats.org/officeDocument/2006/relationships/oleObject" Target="../embeddings/oleObject324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8.bin"/><Relationship Id="rId13" Type="http://schemas.openxmlformats.org/officeDocument/2006/relationships/image" Target="../media/image258.wmf"/><Relationship Id="rId3" Type="http://schemas.openxmlformats.org/officeDocument/2006/relationships/image" Target="../media/image254.wmf"/><Relationship Id="rId7" Type="http://schemas.openxmlformats.org/officeDocument/2006/relationships/image" Target="../media/image252.wmf"/><Relationship Id="rId12" Type="http://schemas.openxmlformats.org/officeDocument/2006/relationships/oleObject" Target="../embeddings/oleObject330.bin"/><Relationship Id="rId2" Type="http://schemas.openxmlformats.org/officeDocument/2006/relationships/oleObject" Target="../embeddings/oleObject325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27.bin"/><Relationship Id="rId11" Type="http://schemas.openxmlformats.org/officeDocument/2006/relationships/image" Target="../media/image257.wmf"/><Relationship Id="rId5" Type="http://schemas.openxmlformats.org/officeDocument/2006/relationships/image" Target="../media/image255.wmf"/><Relationship Id="rId15" Type="http://schemas.openxmlformats.org/officeDocument/2006/relationships/image" Target="../media/image259.wmf"/><Relationship Id="rId10" Type="http://schemas.openxmlformats.org/officeDocument/2006/relationships/oleObject" Target="../embeddings/oleObject329.bin"/><Relationship Id="rId4" Type="http://schemas.openxmlformats.org/officeDocument/2006/relationships/oleObject" Target="../embeddings/oleObject326.bin"/><Relationship Id="rId9" Type="http://schemas.openxmlformats.org/officeDocument/2006/relationships/image" Target="../media/image256.wmf"/><Relationship Id="rId14" Type="http://schemas.openxmlformats.org/officeDocument/2006/relationships/oleObject" Target="../embeddings/oleObject331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5.bin"/><Relationship Id="rId3" Type="http://schemas.openxmlformats.org/officeDocument/2006/relationships/image" Target="../media/image252.wmf"/><Relationship Id="rId7" Type="http://schemas.openxmlformats.org/officeDocument/2006/relationships/image" Target="../media/image260.wmf"/><Relationship Id="rId2" Type="http://schemas.openxmlformats.org/officeDocument/2006/relationships/oleObject" Target="../embeddings/oleObject332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34.bin"/><Relationship Id="rId5" Type="http://schemas.openxmlformats.org/officeDocument/2006/relationships/image" Target="../media/image253.wmf"/><Relationship Id="rId4" Type="http://schemas.openxmlformats.org/officeDocument/2006/relationships/oleObject" Target="../embeddings/oleObject333.bin"/><Relationship Id="rId9" Type="http://schemas.openxmlformats.org/officeDocument/2006/relationships/image" Target="../media/image257.w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9.bin"/><Relationship Id="rId3" Type="http://schemas.openxmlformats.org/officeDocument/2006/relationships/image" Target="../media/image261.wmf"/><Relationship Id="rId7" Type="http://schemas.openxmlformats.org/officeDocument/2006/relationships/image" Target="../media/image263.wmf"/><Relationship Id="rId2" Type="http://schemas.openxmlformats.org/officeDocument/2006/relationships/oleObject" Target="../embeddings/oleObject336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38.bin"/><Relationship Id="rId5" Type="http://schemas.openxmlformats.org/officeDocument/2006/relationships/image" Target="../media/image262.wmf"/><Relationship Id="rId4" Type="http://schemas.openxmlformats.org/officeDocument/2006/relationships/oleObject" Target="../embeddings/oleObject337.bin"/><Relationship Id="rId9" Type="http://schemas.openxmlformats.org/officeDocument/2006/relationships/image" Target="../media/image264.w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wmf"/><Relationship Id="rId2" Type="http://schemas.openxmlformats.org/officeDocument/2006/relationships/oleObject" Target="../embeddings/oleObject340.bin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266.wmf"/><Relationship Id="rId4" Type="http://schemas.openxmlformats.org/officeDocument/2006/relationships/oleObject" Target="../embeddings/oleObject341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wmf"/><Relationship Id="rId2" Type="http://schemas.openxmlformats.org/officeDocument/2006/relationships/oleObject" Target="../embeddings/oleObject342.bin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268.wmf"/><Relationship Id="rId4" Type="http://schemas.openxmlformats.org/officeDocument/2006/relationships/oleObject" Target="../embeddings/oleObject343.bin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7.bin"/><Relationship Id="rId13" Type="http://schemas.openxmlformats.org/officeDocument/2006/relationships/image" Target="../media/image288.png"/><Relationship Id="rId3" Type="http://schemas.openxmlformats.org/officeDocument/2006/relationships/image" Target="../media/image268.wmf"/><Relationship Id="rId7" Type="http://schemas.openxmlformats.org/officeDocument/2006/relationships/image" Target="../media/image270.wmf"/><Relationship Id="rId12" Type="http://schemas.openxmlformats.org/officeDocument/2006/relationships/image" Target="../media/image272.wmf"/><Relationship Id="rId2" Type="http://schemas.openxmlformats.org/officeDocument/2006/relationships/oleObject" Target="../embeddings/oleObject344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46.bin"/><Relationship Id="rId11" Type="http://schemas.openxmlformats.org/officeDocument/2006/relationships/oleObject" Target="../embeddings/oleObject348.bin"/><Relationship Id="rId5" Type="http://schemas.openxmlformats.org/officeDocument/2006/relationships/image" Target="../media/image269.wmf"/><Relationship Id="rId10" Type="http://schemas.openxmlformats.org/officeDocument/2006/relationships/image" Target="../media/image286.png"/><Relationship Id="rId4" Type="http://schemas.openxmlformats.org/officeDocument/2006/relationships/oleObject" Target="../embeddings/oleObject345.bin"/><Relationship Id="rId9" Type="http://schemas.openxmlformats.org/officeDocument/2006/relationships/image" Target="../media/image271.w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wmf"/><Relationship Id="rId2" Type="http://schemas.openxmlformats.org/officeDocument/2006/relationships/oleObject" Target="../embeddings/oleObject349.bin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274.wmf"/><Relationship Id="rId4" Type="http://schemas.openxmlformats.org/officeDocument/2006/relationships/oleObject" Target="../embeddings/oleObject350.bin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wmf"/><Relationship Id="rId2" Type="http://schemas.openxmlformats.org/officeDocument/2006/relationships/oleObject" Target="../embeddings/oleObject351.bin"/><Relationship Id="rId1" Type="http://schemas.openxmlformats.org/officeDocument/2006/relationships/slideLayout" Target="../slideLayouts/slideLayout73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5.bin"/><Relationship Id="rId13" Type="http://schemas.openxmlformats.org/officeDocument/2006/relationships/image" Target="../media/image281.wmf"/><Relationship Id="rId3" Type="http://schemas.openxmlformats.org/officeDocument/2006/relationships/image" Target="../media/image276.wmf"/><Relationship Id="rId7" Type="http://schemas.openxmlformats.org/officeDocument/2006/relationships/image" Target="../media/image278.wmf"/><Relationship Id="rId12" Type="http://schemas.openxmlformats.org/officeDocument/2006/relationships/oleObject" Target="../embeddings/oleObject357.bin"/><Relationship Id="rId2" Type="http://schemas.openxmlformats.org/officeDocument/2006/relationships/oleObject" Target="../embeddings/oleObject352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54.bin"/><Relationship Id="rId11" Type="http://schemas.openxmlformats.org/officeDocument/2006/relationships/image" Target="../media/image280.wmf"/><Relationship Id="rId5" Type="http://schemas.openxmlformats.org/officeDocument/2006/relationships/image" Target="../media/image277.wmf"/><Relationship Id="rId10" Type="http://schemas.openxmlformats.org/officeDocument/2006/relationships/oleObject" Target="../embeddings/oleObject356.bin"/><Relationship Id="rId4" Type="http://schemas.openxmlformats.org/officeDocument/2006/relationships/oleObject" Target="../embeddings/oleObject353.bin"/><Relationship Id="rId9" Type="http://schemas.openxmlformats.org/officeDocument/2006/relationships/image" Target="../media/image279.wmf"/><Relationship Id="rId14" Type="http://schemas.openxmlformats.org/officeDocument/2006/relationships/image" Target="../media/image298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3" Type="http://schemas.openxmlformats.org/officeDocument/2006/relationships/image" Target="../media/image282.wmf"/><Relationship Id="rId7" Type="http://schemas.openxmlformats.org/officeDocument/2006/relationships/image" Target="../media/image284.wmf"/><Relationship Id="rId2" Type="http://schemas.openxmlformats.org/officeDocument/2006/relationships/oleObject" Target="../embeddings/oleObject358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60.bin"/><Relationship Id="rId5" Type="http://schemas.openxmlformats.org/officeDocument/2006/relationships/image" Target="../media/image283.wmf"/><Relationship Id="rId4" Type="http://schemas.openxmlformats.org/officeDocument/2006/relationships/oleObject" Target="../embeddings/oleObject359.bin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wmf"/><Relationship Id="rId2" Type="http://schemas.openxmlformats.org/officeDocument/2006/relationships/oleObject" Target="../embeddings/oleObject361.bin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266.wmf"/><Relationship Id="rId4" Type="http://schemas.openxmlformats.org/officeDocument/2006/relationships/oleObject" Target="../embeddings/oleObject362.bin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wmf"/><Relationship Id="rId2" Type="http://schemas.openxmlformats.org/officeDocument/2006/relationships/oleObject" Target="../embeddings/oleObject363.bin"/><Relationship Id="rId1" Type="http://schemas.openxmlformats.org/officeDocument/2006/relationships/slideLayout" Target="../slideLayouts/slideLayout7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4.bin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285.w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8.bin"/><Relationship Id="rId3" Type="http://schemas.openxmlformats.org/officeDocument/2006/relationships/image" Target="../media/image286.wmf"/><Relationship Id="rId7" Type="http://schemas.openxmlformats.org/officeDocument/2006/relationships/image" Target="../media/image288.wmf"/><Relationship Id="rId2" Type="http://schemas.openxmlformats.org/officeDocument/2006/relationships/oleObject" Target="../embeddings/oleObject365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67.bin"/><Relationship Id="rId11" Type="http://schemas.openxmlformats.org/officeDocument/2006/relationships/image" Target="../media/image290.wmf"/><Relationship Id="rId5" Type="http://schemas.openxmlformats.org/officeDocument/2006/relationships/image" Target="../media/image287.wmf"/><Relationship Id="rId10" Type="http://schemas.openxmlformats.org/officeDocument/2006/relationships/oleObject" Target="../embeddings/oleObject369.bin"/><Relationship Id="rId4" Type="http://schemas.openxmlformats.org/officeDocument/2006/relationships/oleObject" Target="../embeddings/oleObject366.bin"/><Relationship Id="rId9" Type="http://schemas.openxmlformats.org/officeDocument/2006/relationships/image" Target="../media/image289.wmf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wmf"/><Relationship Id="rId7" Type="http://schemas.openxmlformats.org/officeDocument/2006/relationships/image" Target="../media/image292.wmf"/><Relationship Id="rId2" Type="http://schemas.openxmlformats.org/officeDocument/2006/relationships/oleObject" Target="../embeddings/oleObject370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71.bin"/><Relationship Id="rId5" Type="http://schemas.openxmlformats.org/officeDocument/2006/relationships/image" Target="../media/image294.png"/><Relationship Id="rId4" Type="http://schemas.openxmlformats.org/officeDocument/2006/relationships/image" Target="../media/image29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2.bin"/><Relationship Id="rId7" Type="http://schemas.openxmlformats.org/officeDocument/2006/relationships/image" Target="../media/image299.png"/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294.wmf"/><Relationship Id="rId5" Type="http://schemas.openxmlformats.org/officeDocument/2006/relationships/oleObject" Target="../embeddings/oleObject373.bin"/><Relationship Id="rId4" Type="http://schemas.openxmlformats.org/officeDocument/2006/relationships/image" Target="../media/image293.w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wmf"/><Relationship Id="rId2" Type="http://schemas.openxmlformats.org/officeDocument/2006/relationships/oleObject" Target="../embeddings/oleObject374.bin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321.png"/><Relationship Id="rId5" Type="http://schemas.openxmlformats.org/officeDocument/2006/relationships/image" Target="../media/image296.wmf"/><Relationship Id="rId4" Type="http://schemas.openxmlformats.org/officeDocument/2006/relationships/oleObject" Target="../embeddings/oleObject375.bin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8.bin"/><Relationship Id="rId3" Type="http://schemas.openxmlformats.org/officeDocument/2006/relationships/oleObject" Target="../embeddings/oleObject376.bin"/><Relationship Id="rId7" Type="http://schemas.openxmlformats.org/officeDocument/2006/relationships/image" Target="../media/image293.wmf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77.bin"/><Relationship Id="rId5" Type="http://schemas.openxmlformats.org/officeDocument/2006/relationships/image" Target="../media/image323.png"/><Relationship Id="rId10" Type="http://schemas.openxmlformats.org/officeDocument/2006/relationships/image" Target="../media/image324.png"/><Relationship Id="rId4" Type="http://schemas.openxmlformats.org/officeDocument/2006/relationships/image" Target="../media/image292.wmf"/><Relationship Id="rId9" Type="http://schemas.openxmlformats.org/officeDocument/2006/relationships/image" Target="../media/image294.wmf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3" Type="http://schemas.openxmlformats.org/officeDocument/2006/relationships/oleObject" Target="../embeddings/oleObject379.bin"/><Relationship Id="rId7" Type="http://schemas.openxmlformats.org/officeDocument/2006/relationships/oleObject" Target="../embeddings/oleObject381.bin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298.wmf"/><Relationship Id="rId5" Type="http://schemas.openxmlformats.org/officeDocument/2006/relationships/oleObject" Target="../embeddings/oleObject380.bin"/><Relationship Id="rId4" Type="http://schemas.openxmlformats.org/officeDocument/2006/relationships/image" Target="../media/image297.wmf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5.bin"/><Relationship Id="rId3" Type="http://schemas.openxmlformats.org/officeDocument/2006/relationships/image" Target="../media/image300.wmf"/><Relationship Id="rId7" Type="http://schemas.openxmlformats.org/officeDocument/2006/relationships/image" Target="../media/image302.wmf"/><Relationship Id="rId2" Type="http://schemas.openxmlformats.org/officeDocument/2006/relationships/oleObject" Target="../embeddings/oleObject382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84.bin"/><Relationship Id="rId5" Type="http://schemas.openxmlformats.org/officeDocument/2006/relationships/image" Target="../media/image301.wmf"/><Relationship Id="rId10" Type="http://schemas.openxmlformats.org/officeDocument/2006/relationships/oleObject" Target="../embeddings/oleObject386.bin"/><Relationship Id="rId4" Type="http://schemas.openxmlformats.org/officeDocument/2006/relationships/oleObject" Target="../embeddings/oleObject383.bin"/><Relationship Id="rId9" Type="http://schemas.openxmlformats.org/officeDocument/2006/relationships/image" Target="../media/image303.wmf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1.bin"/><Relationship Id="rId13" Type="http://schemas.openxmlformats.org/officeDocument/2006/relationships/image" Target="../media/image303.wmf"/><Relationship Id="rId18" Type="http://schemas.openxmlformats.org/officeDocument/2006/relationships/image" Target="../media/image308.wmf"/><Relationship Id="rId3" Type="http://schemas.openxmlformats.org/officeDocument/2006/relationships/image" Target="../media/image304.wmf"/><Relationship Id="rId7" Type="http://schemas.openxmlformats.org/officeDocument/2006/relationships/image" Target="../media/image305.wmf"/><Relationship Id="rId12" Type="http://schemas.openxmlformats.org/officeDocument/2006/relationships/oleObject" Target="../embeddings/oleObject393.bin"/><Relationship Id="rId17" Type="http://schemas.openxmlformats.org/officeDocument/2006/relationships/oleObject" Target="../embeddings/oleObject397.bin"/><Relationship Id="rId2" Type="http://schemas.openxmlformats.org/officeDocument/2006/relationships/oleObject" Target="../embeddings/oleObject387.bin"/><Relationship Id="rId16" Type="http://schemas.openxmlformats.org/officeDocument/2006/relationships/oleObject" Target="../embeddings/oleObject396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390.bin"/><Relationship Id="rId11" Type="http://schemas.openxmlformats.org/officeDocument/2006/relationships/image" Target="../media/image307.wmf"/><Relationship Id="rId5" Type="http://schemas.openxmlformats.org/officeDocument/2006/relationships/oleObject" Target="../embeddings/oleObject389.bin"/><Relationship Id="rId15" Type="http://schemas.openxmlformats.org/officeDocument/2006/relationships/oleObject" Target="../embeddings/oleObject395.bin"/><Relationship Id="rId10" Type="http://schemas.openxmlformats.org/officeDocument/2006/relationships/oleObject" Target="../embeddings/oleObject392.bin"/><Relationship Id="rId19" Type="http://schemas.openxmlformats.org/officeDocument/2006/relationships/oleObject" Target="../embeddings/oleObject398.bin"/><Relationship Id="rId4" Type="http://schemas.openxmlformats.org/officeDocument/2006/relationships/oleObject" Target="../embeddings/oleObject388.bin"/><Relationship Id="rId9" Type="http://schemas.openxmlformats.org/officeDocument/2006/relationships/image" Target="../media/image306.wmf"/><Relationship Id="rId14" Type="http://schemas.openxmlformats.org/officeDocument/2006/relationships/oleObject" Target="../embeddings/oleObject394.bin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wmf"/><Relationship Id="rId2" Type="http://schemas.openxmlformats.org/officeDocument/2006/relationships/oleObject" Target="../embeddings/oleObject399.bin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266.wmf"/><Relationship Id="rId4" Type="http://schemas.openxmlformats.org/officeDocument/2006/relationships/oleObject" Target="../embeddings/oleObject400.bin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wmf"/><Relationship Id="rId2" Type="http://schemas.openxmlformats.org/officeDocument/2006/relationships/oleObject" Target="../embeddings/oleObject401.bin"/><Relationship Id="rId1" Type="http://schemas.openxmlformats.org/officeDocument/2006/relationships/slideLayout" Target="../slideLayouts/slideLayout7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5.bin"/><Relationship Id="rId13" Type="http://schemas.openxmlformats.org/officeDocument/2006/relationships/image" Target="../media/image188.wmf"/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407.bin"/><Relationship Id="rId2" Type="http://schemas.openxmlformats.org/officeDocument/2006/relationships/oleObject" Target="../embeddings/oleObject402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404.bin"/><Relationship Id="rId11" Type="http://schemas.openxmlformats.org/officeDocument/2006/relationships/image" Target="../media/image187.wmf"/><Relationship Id="rId5" Type="http://schemas.openxmlformats.org/officeDocument/2006/relationships/image" Target="../media/image123.wmf"/><Relationship Id="rId10" Type="http://schemas.openxmlformats.org/officeDocument/2006/relationships/oleObject" Target="../embeddings/oleObject406.bin"/><Relationship Id="rId4" Type="http://schemas.openxmlformats.org/officeDocument/2006/relationships/oleObject" Target="../embeddings/oleObject403.bin"/><Relationship Id="rId9" Type="http://schemas.openxmlformats.org/officeDocument/2006/relationships/image" Target="../media/image126.wmf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1.bin"/><Relationship Id="rId3" Type="http://schemas.openxmlformats.org/officeDocument/2006/relationships/image" Target="../media/image138.wmf"/><Relationship Id="rId7" Type="http://schemas.openxmlformats.org/officeDocument/2006/relationships/image" Target="../media/image189.wmf"/><Relationship Id="rId2" Type="http://schemas.openxmlformats.org/officeDocument/2006/relationships/oleObject" Target="../embeddings/oleObject408.bin"/><Relationship Id="rId1" Type="http://schemas.openxmlformats.org/officeDocument/2006/relationships/slideLayout" Target="../slideLayouts/slideLayout73.xml"/><Relationship Id="rId6" Type="http://schemas.openxmlformats.org/officeDocument/2006/relationships/oleObject" Target="../embeddings/oleObject410.bin"/><Relationship Id="rId11" Type="http://schemas.openxmlformats.org/officeDocument/2006/relationships/image" Target="../media/image172.wmf"/><Relationship Id="rId5" Type="http://schemas.openxmlformats.org/officeDocument/2006/relationships/image" Target="../media/image139.wmf"/><Relationship Id="rId10" Type="http://schemas.openxmlformats.org/officeDocument/2006/relationships/oleObject" Target="../embeddings/oleObject412.bin"/><Relationship Id="rId4" Type="http://schemas.openxmlformats.org/officeDocument/2006/relationships/oleObject" Target="../embeddings/oleObject409.bin"/><Relationship Id="rId9" Type="http://schemas.openxmlformats.org/officeDocument/2006/relationships/image" Target="../media/image171.wmf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wmf"/><Relationship Id="rId2" Type="http://schemas.openxmlformats.org/officeDocument/2006/relationships/oleObject" Target="../embeddings/oleObject399.bin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266.wmf"/><Relationship Id="rId4" Type="http://schemas.openxmlformats.org/officeDocument/2006/relationships/oleObject" Target="../embeddings/oleObject400.bin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wmf"/><Relationship Id="rId2" Type="http://schemas.openxmlformats.org/officeDocument/2006/relationships/oleObject" Target="../embeddings/oleObject401.bin"/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 txBox="1">
            <a:spLocks noChangeArrowheads="1"/>
          </p:cNvSpPr>
          <p:nvPr/>
        </p:nvSpPr>
        <p:spPr bwMode="auto">
          <a:xfrm>
            <a:off x="611188" y="1124744"/>
            <a:ext cx="7772400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4800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第三章</a:t>
            </a:r>
            <a:r>
              <a:rPr kumimoji="1" lang="en-US" altLang="zh-CN" sz="4800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4800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矩阵的初等变换</a:t>
            </a:r>
            <a:endParaRPr kumimoji="1" lang="en-US" altLang="zh-CN" sz="4800" dirty="0">
              <a:solidFill>
                <a:srgbClr val="3103F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4800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与线性方程组</a:t>
            </a:r>
            <a:br>
              <a:rPr kumimoji="1" lang="en-US" altLang="zh-CN" sz="4800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kumimoji="1" lang="zh-CN" altLang="en-US" sz="4800" dirty="0">
              <a:solidFill>
                <a:srgbClr val="3103F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55" name="Rectangle 2"/>
          <p:cNvSpPr txBox="1">
            <a:spLocks noChangeArrowheads="1"/>
          </p:cNvSpPr>
          <p:nvPr/>
        </p:nvSpPr>
        <p:spPr bwMode="auto">
          <a:xfrm>
            <a:off x="1042988" y="2924969"/>
            <a:ext cx="77724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zh-CN" altLang="en-US" sz="4800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1" lang="zh-CN" altLang="en-US" sz="36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一、矩阵的初等变换</a:t>
            </a:r>
            <a:endParaRPr kumimoji="1" lang="en-US" altLang="zh-CN" sz="36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zh-CN" altLang="en-US" sz="36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二、矩阵的秩</a:t>
            </a:r>
            <a:endParaRPr kumimoji="1" lang="en-US" altLang="zh-CN" sz="36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zh-CN" altLang="en-US" sz="36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36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1" lang="zh-CN" altLang="en-US" sz="36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三、线性方程组的解</a:t>
            </a:r>
            <a:endParaRPr kumimoji="1" lang="en-US" altLang="zh-CN" sz="36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br>
              <a:rPr kumimoji="1" lang="en-US" altLang="zh-CN" sz="3600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kumimoji="1" lang="zh-CN" altLang="en-US" sz="3600" dirty="0">
              <a:solidFill>
                <a:srgbClr val="CC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kumimoji="1" lang="zh-CN" altLang="en-US" sz="4800" b="1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第一节</a:t>
            </a:r>
            <a:r>
              <a:rPr kumimoji="1" lang="en-US" altLang="zh-CN" sz="4800" b="1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4800" b="1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矩阵的初等变换</a:t>
            </a:r>
            <a:br>
              <a:rPr kumimoji="1" lang="en-US" altLang="zh-CN" sz="4800" b="1" dirty="0">
                <a:solidFill>
                  <a:srgbClr val="CC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kumimoji="1" lang="zh-CN" altLang="en-US" sz="4800" b="1" dirty="0">
              <a:solidFill>
                <a:srgbClr val="CC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116013" y="2720152"/>
            <a:ext cx="6913562" cy="2862322"/>
          </a:xfrm>
          <a:prstGeom prst="rect">
            <a:avLst/>
          </a:prstGeom>
          <a:solidFill>
            <a:srgbClr val="2A00DC">
              <a:alpha val="56078"/>
            </a:srgbClr>
          </a:solidFill>
          <a:ln w="76200">
            <a:solidFill>
              <a:srgbClr val="33CC33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一、初等变换的概念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二、矩阵之间的等价关系</a:t>
            </a:r>
            <a:endParaRPr lang="en-US" altLang="zh-CN" sz="28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三、行阶梯形矩阵与行最简形矩阵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四、初等矩阵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五、初等变换的应用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46" name="Object 14"/>
          <p:cNvGraphicFramePr>
            <a:graphicFrameLocks noChangeAspect="1"/>
          </p:cNvGraphicFramePr>
          <p:nvPr/>
        </p:nvGraphicFramePr>
        <p:xfrm>
          <a:off x="2123157" y="845889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555200" progId="">
                  <p:embed/>
                </p:oleObj>
              </mc:Choice>
              <mc:Fallback>
                <p:oleObj name="Equation" r:id="rId2" imgW="42367200" imgH="22555200" progId="">
                  <p:embed/>
                  <p:pic>
                    <p:nvPicPr>
                      <p:cNvPr id="13414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157" y="845889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7" name="Object 15"/>
          <p:cNvGraphicFramePr>
            <a:graphicFrameLocks noChangeAspect="1"/>
          </p:cNvGraphicFramePr>
          <p:nvPr/>
        </p:nvGraphicFramePr>
        <p:xfrm>
          <a:off x="2123157" y="4014241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367200" imgH="22555200" progId="">
                  <p:embed/>
                </p:oleObj>
              </mc:Choice>
              <mc:Fallback>
                <p:oleObj name="Equation" r:id="rId4" imgW="42367200" imgH="22555200" progId="">
                  <p:embed/>
                  <p:pic>
                    <p:nvPicPr>
                      <p:cNvPr id="8399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157" y="4014241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/>
          <p:nvPr/>
        </p:nvGrpSpPr>
        <p:grpSpPr bwMode="auto">
          <a:xfrm>
            <a:off x="3129781" y="3066504"/>
            <a:ext cx="1873250" cy="762000"/>
            <a:chOff x="158" y="1907"/>
            <a:chExt cx="1180" cy="480"/>
          </a:xfrm>
        </p:grpSpPr>
        <p:grpSp>
          <p:nvGrpSpPr>
            <p:cNvPr id="134166" name="Group 49"/>
            <p:cNvGrpSpPr/>
            <p:nvPr/>
          </p:nvGrpSpPr>
          <p:grpSpPr bwMode="auto">
            <a:xfrm>
              <a:off x="362" y="1907"/>
              <a:ext cx="771" cy="250"/>
              <a:chOff x="2835" y="1979"/>
              <a:chExt cx="771" cy="250"/>
            </a:xfrm>
          </p:grpSpPr>
          <p:sp>
            <p:nvSpPr>
              <p:cNvPr id="134169" name="Text Box 50"/>
              <p:cNvSpPr txBox="1">
                <a:spLocks noChangeArrowheads="1"/>
              </p:cNvSpPr>
              <p:nvPr/>
            </p:nvSpPr>
            <p:spPr bwMode="auto">
              <a:xfrm>
                <a:off x="2835" y="1979"/>
                <a:ext cx="3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solidFill>
                      <a:srgbClr val="0000FF"/>
                    </a:solidFill>
                  </a:rPr>
                  <a:t>①</a:t>
                </a:r>
              </a:p>
            </p:txBody>
          </p:sp>
          <p:sp>
            <p:nvSpPr>
              <p:cNvPr id="134170" name="Text Box 51"/>
              <p:cNvSpPr txBox="1">
                <a:spLocks noChangeArrowheads="1"/>
              </p:cNvSpPr>
              <p:nvPr/>
            </p:nvSpPr>
            <p:spPr bwMode="auto">
              <a:xfrm>
                <a:off x="3288" y="1979"/>
                <a:ext cx="3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solidFill>
                      <a:srgbClr val="0000FF"/>
                    </a:solidFill>
                  </a:rPr>
                  <a:t>②</a:t>
                </a:r>
              </a:p>
            </p:txBody>
          </p:sp>
          <p:sp>
            <p:nvSpPr>
              <p:cNvPr id="134171" name="Line 52"/>
              <p:cNvSpPr>
                <a:spLocks noChangeShapeType="1"/>
              </p:cNvSpPr>
              <p:nvPr/>
            </p:nvSpPr>
            <p:spPr bwMode="auto">
              <a:xfrm>
                <a:off x="3061" y="2115"/>
                <a:ext cx="27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4167" name="Line 53"/>
            <p:cNvSpPr>
              <a:spLocks noChangeShapeType="1"/>
            </p:cNvSpPr>
            <p:nvPr/>
          </p:nvSpPr>
          <p:spPr bwMode="auto">
            <a:xfrm>
              <a:off x="158" y="2157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8" name="Text Box 54"/>
            <p:cNvSpPr txBox="1">
              <a:spLocks noChangeArrowheads="1"/>
            </p:cNvSpPr>
            <p:nvPr/>
          </p:nvSpPr>
          <p:spPr bwMode="auto">
            <a:xfrm>
              <a:off x="505" y="2156"/>
              <a:ext cx="4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</a:rPr>
                <a:t>③÷2  </a:t>
              </a:r>
            </a:p>
          </p:txBody>
        </p:sp>
      </p:grpSp>
      <p:grpSp>
        <p:nvGrpSpPr>
          <p:cNvPr id="5" name="Group 58"/>
          <p:cNvGrpSpPr/>
          <p:nvPr/>
        </p:nvGrpSpPr>
        <p:grpSpPr bwMode="auto">
          <a:xfrm>
            <a:off x="6155407" y="4065041"/>
            <a:ext cx="504825" cy="1995488"/>
            <a:chOff x="4240" y="1509"/>
            <a:chExt cx="318" cy="1257"/>
          </a:xfrm>
        </p:grpSpPr>
        <p:sp>
          <p:nvSpPr>
            <p:cNvPr id="134159" name="Text Box 59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4160" name="Text Box 60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4161" name="Text Box 61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4162" name="Text Box 62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grpSp>
        <p:nvGrpSpPr>
          <p:cNvPr id="134153" name="Group 63"/>
          <p:cNvGrpSpPr/>
          <p:nvPr/>
        </p:nvGrpSpPr>
        <p:grpSpPr bwMode="auto">
          <a:xfrm>
            <a:off x="6155407" y="887164"/>
            <a:ext cx="504825" cy="1995488"/>
            <a:chOff x="4240" y="1509"/>
            <a:chExt cx="318" cy="1257"/>
          </a:xfrm>
        </p:grpSpPr>
        <p:sp>
          <p:nvSpPr>
            <p:cNvPr id="134155" name="Text Box 64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4156" name="Text Box 65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4157" name="Text Box 66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4158" name="Text Box 67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sp>
        <p:nvSpPr>
          <p:cNvPr id="29" name="Rectangle 26"/>
          <p:cNvSpPr txBox="1">
            <a:spLocks noChangeArrowheads="1"/>
          </p:cNvSpPr>
          <p:nvPr/>
        </p:nvSpPr>
        <p:spPr>
          <a:xfrm>
            <a:off x="1187624" y="278482"/>
            <a:ext cx="4608636" cy="6302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消元法解线性方程组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0" name="Object 16"/>
          <p:cNvGraphicFramePr>
            <a:graphicFrameLocks noChangeAspect="1"/>
          </p:cNvGraphicFramePr>
          <p:nvPr/>
        </p:nvGraphicFramePr>
        <p:xfrm>
          <a:off x="2195165" y="548680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555200" progId="">
                  <p:embed/>
                </p:oleObj>
              </mc:Choice>
              <mc:Fallback>
                <p:oleObj name="Equation" r:id="rId2" imgW="42367200" imgH="22555200" progId="">
                  <p:embed/>
                  <p:pic>
                    <p:nvPicPr>
                      <p:cNvPr id="13517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165" y="548680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0" name="Object 17"/>
          <p:cNvGraphicFramePr>
            <a:graphicFrameLocks noChangeAspect="1"/>
          </p:cNvGraphicFramePr>
          <p:nvPr/>
        </p:nvGraphicFramePr>
        <p:xfrm>
          <a:off x="2195165" y="3831630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367200" imgH="22555200" progId="">
                  <p:embed/>
                </p:oleObj>
              </mc:Choice>
              <mc:Fallback>
                <p:oleObj name="Equation" r:id="rId4" imgW="42367200" imgH="22555200" progId="">
                  <p:embed/>
                  <p:pic>
                    <p:nvPicPr>
                      <p:cNvPr id="8500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165" y="3831630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3"/>
          <p:cNvGrpSpPr/>
          <p:nvPr/>
        </p:nvGrpSpPr>
        <p:grpSpPr bwMode="auto">
          <a:xfrm>
            <a:off x="3345805" y="2712443"/>
            <a:ext cx="1873250" cy="1106487"/>
            <a:chOff x="158" y="1741"/>
            <a:chExt cx="1180" cy="697"/>
          </a:xfrm>
        </p:grpSpPr>
        <p:sp>
          <p:nvSpPr>
            <p:cNvPr id="135191" name="Text Box 27"/>
            <p:cNvSpPr txBox="1">
              <a:spLocks noChangeArrowheads="1"/>
            </p:cNvSpPr>
            <p:nvPr/>
          </p:nvSpPr>
          <p:spPr bwMode="auto">
            <a:xfrm>
              <a:off x="435" y="1741"/>
              <a:ext cx="6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</a:rPr>
                <a:t>②</a:t>
              </a:r>
              <a:r>
                <a:rPr lang="zh-CN" altLang="en-US" sz="1800">
                  <a:solidFill>
                    <a:srgbClr val="0000FF"/>
                  </a:solidFill>
                </a:rPr>
                <a:t>－</a:t>
              </a:r>
              <a:r>
                <a:rPr lang="zh-CN" altLang="en-US" sz="20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5192" name="Line 28"/>
            <p:cNvSpPr>
              <a:spLocks noChangeShapeType="1"/>
            </p:cNvSpPr>
            <p:nvPr/>
          </p:nvSpPr>
          <p:spPr bwMode="auto">
            <a:xfrm>
              <a:off x="158" y="1991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93" name="Text Box 29"/>
            <p:cNvSpPr txBox="1">
              <a:spLocks noChangeArrowheads="1"/>
            </p:cNvSpPr>
            <p:nvPr/>
          </p:nvSpPr>
          <p:spPr bwMode="auto">
            <a:xfrm>
              <a:off x="335" y="2001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</a:rPr>
                <a:t>③</a:t>
              </a:r>
              <a:r>
                <a:rPr lang="en-US" altLang="en-US" sz="1800" b="1">
                  <a:solidFill>
                    <a:srgbClr val="0000FF"/>
                  </a:solidFill>
                </a:rPr>
                <a:t>－</a:t>
              </a:r>
              <a:r>
                <a:rPr lang="en-US" altLang="zh-CN" sz="1800" b="1">
                  <a:solidFill>
                    <a:srgbClr val="0000FF"/>
                  </a:solidFill>
                </a:rPr>
                <a:t>2×①  </a:t>
              </a:r>
            </a:p>
          </p:txBody>
        </p:sp>
        <p:sp>
          <p:nvSpPr>
            <p:cNvPr id="135194" name="Text Box 30"/>
            <p:cNvSpPr txBox="1">
              <a:spLocks noChangeArrowheads="1"/>
            </p:cNvSpPr>
            <p:nvPr/>
          </p:nvSpPr>
          <p:spPr bwMode="auto">
            <a:xfrm>
              <a:off x="335" y="2207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</a:rPr>
                <a:t>④</a:t>
              </a:r>
              <a:r>
                <a:rPr lang="en-US" altLang="en-US" sz="1800" b="1">
                  <a:solidFill>
                    <a:srgbClr val="0000FF"/>
                  </a:solidFill>
                </a:rPr>
                <a:t>－</a:t>
              </a:r>
              <a:r>
                <a:rPr lang="en-US" altLang="zh-CN" sz="1800" b="1">
                  <a:solidFill>
                    <a:srgbClr val="0000FF"/>
                  </a:solidFill>
                </a:rPr>
                <a:t>3×①</a:t>
              </a:r>
            </a:p>
          </p:txBody>
        </p:sp>
      </p:grpSp>
      <p:grpSp>
        <p:nvGrpSpPr>
          <p:cNvPr id="4" name="Group 32"/>
          <p:cNvGrpSpPr/>
          <p:nvPr/>
        </p:nvGrpSpPr>
        <p:grpSpPr bwMode="auto">
          <a:xfrm>
            <a:off x="6227415" y="3882430"/>
            <a:ext cx="504825" cy="1995488"/>
            <a:chOff x="4240" y="1509"/>
            <a:chExt cx="318" cy="1257"/>
          </a:xfrm>
        </p:grpSpPr>
        <p:sp>
          <p:nvSpPr>
            <p:cNvPr id="135183" name="Text Box 33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5184" name="Text Box 34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5185" name="Text Box 35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5186" name="Text Box 36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grpSp>
        <p:nvGrpSpPr>
          <p:cNvPr id="135177" name="Group 37"/>
          <p:cNvGrpSpPr/>
          <p:nvPr/>
        </p:nvGrpSpPr>
        <p:grpSpPr bwMode="auto">
          <a:xfrm>
            <a:off x="6227415" y="589955"/>
            <a:ext cx="504825" cy="1995488"/>
            <a:chOff x="4240" y="1509"/>
            <a:chExt cx="318" cy="1257"/>
          </a:xfrm>
        </p:grpSpPr>
        <p:sp>
          <p:nvSpPr>
            <p:cNvPr id="135179" name="Text Box 38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5180" name="Text Box 39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5181" name="Text Box 40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5182" name="Text Box 41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194" name="Object 16"/>
          <p:cNvGraphicFramePr>
            <a:graphicFrameLocks noChangeAspect="1"/>
          </p:cNvGraphicFramePr>
          <p:nvPr/>
        </p:nvGraphicFramePr>
        <p:xfrm>
          <a:off x="2339181" y="692696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555200" progId="">
                  <p:embed/>
                </p:oleObj>
              </mc:Choice>
              <mc:Fallback>
                <p:oleObj name="Equation" r:id="rId2" imgW="42367200" imgH="22555200" progId="">
                  <p:embed/>
                  <p:pic>
                    <p:nvPicPr>
                      <p:cNvPr id="13619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181" y="692696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17"/>
          <p:cNvGraphicFramePr>
            <a:graphicFrameLocks noChangeAspect="1"/>
          </p:cNvGraphicFramePr>
          <p:nvPr/>
        </p:nvGraphicFramePr>
        <p:xfrm>
          <a:off x="2339181" y="3975646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367200" imgH="22555200" progId="">
                  <p:embed/>
                </p:oleObj>
              </mc:Choice>
              <mc:Fallback>
                <p:oleObj name="Equation" r:id="rId4" imgW="42367200" imgH="22555200" progId="">
                  <p:embed/>
                  <p:pic>
                    <p:nvPicPr>
                      <p:cNvPr id="8602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181" y="3975646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5"/>
          <p:cNvGrpSpPr/>
          <p:nvPr/>
        </p:nvGrpSpPr>
        <p:grpSpPr bwMode="auto">
          <a:xfrm>
            <a:off x="3777853" y="2856459"/>
            <a:ext cx="1873250" cy="1106487"/>
            <a:chOff x="1292" y="1861"/>
            <a:chExt cx="1180" cy="697"/>
          </a:xfrm>
        </p:grpSpPr>
        <p:sp>
          <p:nvSpPr>
            <p:cNvPr id="136211" name="Text Box 26"/>
            <p:cNvSpPr txBox="1">
              <a:spLocks noChangeArrowheads="1"/>
            </p:cNvSpPr>
            <p:nvPr/>
          </p:nvSpPr>
          <p:spPr bwMode="auto">
            <a:xfrm>
              <a:off x="1564" y="1861"/>
              <a:ext cx="6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</a:rPr>
                <a:t>② </a:t>
              </a:r>
              <a:r>
                <a:rPr lang="en-US" altLang="zh-CN" sz="1800" b="1">
                  <a:solidFill>
                    <a:srgbClr val="0000FF"/>
                  </a:solidFill>
                </a:rPr>
                <a:t>÷2</a:t>
              </a:r>
            </a:p>
          </p:txBody>
        </p:sp>
        <p:sp>
          <p:nvSpPr>
            <p:cNvPr id="136212" name="Line 27"/>
            <p:cNvSpPr>
              <a:spLocks noChangeShapeType="1"/>
            </p:cNvSpPr>
            <p:nvPr/>
          </p:nvSpPr>
          <p:spPr bwMode="auto">
            <a:xfrm>
              <a:off x="1292" y="2111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3" name="Text Box 28"/>
            <p:cNvSpPr txBox="1">
              <a:spLocks noChangeArrowheads="1"/>
            </p:cNvSpPr>
            <p:nvPr/>
          </p:nvSpPr>
          <p:spPr bwMode="auto">
            <a:xfrm>
              <a:off x="1464" y="2121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</a:rPr>
                <a:t>③</a:t>
              </a:r>
              <a:r>
                <a:rPr lang="en-US" altLang="en-US" sz="1800" b="1" dirty="0">
                  <a:solidFill>
                    <a:srgbClr val="0000FF"/>
                  </a:solidFill>
                </a:rPr>
                <a:t>＋</a:t>
              </a:r>
              <a:r>
                <a:rPr lang="en-US" altLang="zh-CN" sz="1800" b="1" dirty="0">
                  <a:solidFill>
                    <a:srgbClr val="0000FF"/>
                  </a:solidFill>
                </a:rPr>
                <a:t>5×② </a:t>
              </a:r>
            </a:p>
          </p:txBody>
        </p:sp>
        <p:sp>
          <p:nvSpPr>
            <p:cNvPr id="136214" name="Text Box 29"/>
            <p:cNvSpPr txBox="1">
              <a:spLocks noChangeArrowheads="1"/>
            </p:cNvSpPr>
            <p:nvPr/>
          </p:nvSpPr>
          <p:spPr bwMode="auto">
            <a:xfrm>
              <a:off x="1474" y="2327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</a:rPr>
                <a:t>④</a:t>
              </a:r>
              <a:r>
                <a:rPr lang="en-US" altLang="en-US" sz="1800" b="1" dirty="0">
                  <a:solidFill>
                    <a:srgbClr val="0000FF"/>
                  </a:solidFill>
                </a:rPr>
                <a:t>－</a:t>
              </a:r>
              <a:r>
                <a:rPr lang="en-US" altLang="zh-CN" sz="1800" b="1" dirty="0">
                  <a:solidFill>
                    <a:srgbClr val="0000FF"/>
                  </a:solidFill>
                </a:rPr>
                <a:t>3×② </a:t>
              </a:r>
            </a:p>
          </p:txBody>
        </p:sp>
      </p:grpSp>
      <p:grpSp>
        <p:nvGrpSpPr>
          <p:cNvPr id="4" name="Group 30"/>
          <p:cNvGrpSpPr/>
          <p:nvPr/>
        </p:nvGrpSpPr>
        <p:grpSpPr bwMode="auto">
          <a:xfrm>
            <a:off x="6371431" y="4026446"/>
            <a:ext cx="504825" cy="1995488"/>
            <a:chOff x="4240" y="1509"/>
            <a:chExt cx="318" cy="1257"/>
          </a:xfrm>
        </p:grpSpPr>
        <p:sp>
          <p:nvSpPr>
            <p:cNvPr id="136207" name="Text Box 31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6208" name="Text Box 32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6209" name="Text Box 33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6210" name="Text Box 34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grpSp>
        <p:nvGrpSpPr>
          <p:cNvPr id="136201" name="Group 35"/>
          <p:cNvGrpSpPr/>
          <p:nvPr/>
        </p:nvGrpSpPr>
        <p:grpSpPr bwMode="auto">
          <a:xfrm>
            <a:off x="6371431" y="733971"/>
            <a:ext cx="504825" cy="1995488"/>
            <a:chOff x="4240" y="1509"/>
            <a:chExt cx="318" cy="1257"/>
          </a:xfrm>
        </p:grpSpPr>
        <p:sp>
          <p:nvSpPr>
            <p:cNvPr id="136203" name="Text Box 36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6204" name="Text Box 37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6205" name="Text Box 38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6206" name="Text Box 39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218" name="Object 14"/>
          <p:cNvGraphicFramePr>
            <a:graphicFrameLocks noChangeAspect="1"/>
          </p:cNvGraphicFramePr>
          <p:nvPr/>
        </p:nvGraphicFramePr>
        <p:xfrm>
          <a:off x="2123157" y="620688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555200" progId="">
                  <p:embed/>
                </p:oleObj>
              </mc:Choice>
              <mc:Fallback>
                <p:oleObj name="Equation" r:id="rId2" imgW="42367200" imgH="22555200" progId="">
                  <p:embed/>
                  <p:pic>
                    <p:nvPicPr>
                      <p:cNvPr id="1372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157" y="620688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8" name="Object 15"/>
          <p:cNvGraphicFramePr>
            <a:graphicFrameLocks noChangeAspect="1"/>
          </p:cNvGraphicFramePr>
          <p:nvPr/>
        </p:nvGraphicFramePr>
        <p:xfrm>
          <a:off x="2121570" y="3917926"/>
          <a:ext cx="4041775" cy="212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367200" imgH="22250400" progId="">
                  <p:embed/>
                </p:oleObj>
              </mc:Choice>
              <mc:Fallback>
                <p:oleObj name="Equation" r:id="rId4" imgW="42367200" imgH="22250400" progId="">
                  <p:embed/>
                  <p:pic>
                    <p:nvPicPr>
                      <p:cNvPr id="8704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1570" y="3917926"/>
                        <a:ext cx="4041775" cy="212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5"/>
          <p:cNvGrpSpPr/>
          <p:nvPr/>
        </p:nvGrpSpPr>
        <p:grpSpPr bwMode="auto">
          <a:xfrm>
            <a:off x="3345805" y="2947963"/>
            <a:ext cx="1873250" cy="779463"/>
            <a:chOff x="1292" y="1861"/>
            <a:chExt cx="1180" cy="491"/>
          </a:xfrm>
        </p:grpSpPr>
        <p:sp>
          <p:nvSpPr>
            <p:cNvPr id="137235" name="Line 26"/>
            <p:cNvSpPr>
              <a:spLocks noChangeShapeType="1"/>
            </p:cNvSpPr>
            <p:nvPr/>
          </p:nvSpPr>
          <p:spPr bwMode="auto">
            <a:xfrm>
              <a:off x="1292" y="2111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36" name="Text Box 27"/>
            <p:cNvSpPr txBox="1">
              <a:spLocks noChangeArrowheads="1"/>
            </p:cNvSpPr>
            <p:nvPr/>
          </p:nvSpPr>
          <p:spPr bwMode="auto">
            <a:xfrm>
              <a:off x="1464" y="2121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</a:rPr>
                <a:t>④</a:t>
              </a:r>
              <a:r>
                <a:rPr lang="en-US" altLang="en-US" sz="1800" b="1">
                  <a:solidFill>
                    <a:srgbClr val="000000"/>
                  </a:solidFill>
                </a:rPr>
                <a:t>－</a:t>
              </a:r>
              <a:r>
                <a:rPr lang="en-US" altLang="zh-CN" sz="1800" b="1">
                  <a:solidFill>
                    <a:srgbClr val="0000FF"/>
                  </a:solidFill>
                </a:rPr>
                <a:t>2×③</a:t>
              </a:r>
            </a:p>
          </p:txBody>
        </p:sp>
        <p:grpSp>
          <p:nvGrpSpPr>
            <p:cNvPr id="137237" name="Group 28"/>
            <p:cNvGrpSpPr/>
            <p:nvPr/>
          </p:nvGrpSpPr>
          <p:grpSpPr bwMode="auto">
            <a:xfrm>
              <a:off x="1496" y="1861"/>
              <a:ext cx="771" cy="250"/>
              <a:chOff x="2835" y="1979"/>
              <a:chExt cx="771" cy="250"/>
            </a:xfrm>
          </p:grpSpPr>
          <p:sp>
            <p:nvSpPr>
              <p:cNvPr id="137238" name="Text Box 29"/>
              <p:cNvSpPr txBox="1">
                <a:spLocks noChangeArrowheads="1"/>
              </p:cNvSpPr>
              <p:nvPr/>
            </p:nvSpPr>
            <p:spPr bwMode="auto">
              <a:xfrm>
                <a:off x="2835" y="1979"/>
                <a:ext cx="3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solidFill>
                      <a:srgbClr val="0000FF"/>
                    </a:solidFill>
                  </a:rPr>
                  <a:t>③</a:t>
                </a:r>
              </a:p>
            </p:txBody>
          </p:sp>
          <p:sp>
            <p:nvSpPr>
              <p:cNvPr id="137239" name="Text Box 30"/>
              <p:cNvSpPr txBox="1">
                <a:spLocks noChangeArrowheads="1"/>
              </p:cNvSpPr>
              <p:nvPr/>
            </p:nvSpPr>
            <p:spPr bwMode="auto">
              <a:xfrm>
                <a:off x="3288" y="1979"/>
                <a:ext cx="3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rgbClr val="0000FF"/>
                    </a:solidFill>
                  </a:rPr>
                  <a:t>④</a:t>
                </a:r>
              </a:p>
            </p:txBody>
          </p:sp>
          <p:sp>
            <p:nvSpPr>
              <p:cNvPr id="137240" name="Line 31"/>
              <p:cNvSpPr>
                <a:spLocks noChangeShapeType="1"/>
              </p:cNvSpPr>
              <p:nvPr/>
            </p:nvSpPr>
            <p:spPr bwMode="auto">
              <a:xfrm>
                <a:off x="3061" y="2115"/>
                <a:ext cx="27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32"/>
          <p:cNvGrpSpPr/>
          <p:nvPr/>
        </p:nvGrpSpPr>
        <p:grpSpPr bwMode="auto">
          <a:xfrm>
            <a:off x="6155407" y="3954438"/>
            <a:ext cx="504825" cy="1995488"/>
            <a:chOff x="4240" y="1509"/>
            <a:chExt cx="318" cy="1257"/>
          </a:xfrm>
        </p:grpSpPr>
        <p:sp>
          <p:nvSpPr>
            <p:cNvPr id="137231" name="Text Box 33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7232" name="Text Box 34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7233" name="Text Box 35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7234" name="Text Box 36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grpSp>
        <p:nvGrpSpPr>
          <p:cNvPr id="137225" name="Group 37"/>
          <p:cNvGrpSpPr/>
          <p:nvPr/>
        </p:nvGrpSpPr>
        <p:grpSpPr bwMode="auto">
          <a:xfrm>
            <a:off x="6155407" y="661963"/>
            <a:ext cx="504825" cy="1995488"/>
            <a:chOff x="4240" y="1509"/>
            <a:chExt cx="318" cy="1257"/>
          </a:xfrm>
        </p:grpSpPr>
        <p:sp>
          <p:nvSpPr>
            <p:cNvPr id="137227" name="Text Box 38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7228" name="Text Box 39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7229" name="Text Box 40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7230" name="Text Box 41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242" name="Object 12"/>
          <p:cNvGraphicFramePr>
            <a:graphicFrameLocks noChangeAspect="1"/>
          </p:cNvGraphicFramePr>
          <p:nvPr/>
        </p:nvGraphicFramePr>
        <p:xfrm>
          <a:off x="2411760" y="817587"/>
          <a:ext cx="4040188" cy="212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250400" progId="">
                  <p:embed/>
                </p:oleObj>
              </mc:Choice>
              <mc:Fallback>
                <p:oleObj name="Equation" r:id="rId2" imgW="42367200" imgH="22250400" progId="">
                  <p:embed/>
                  <p:pic>
                    <p:nvPicPr>
                      <p:cNvPr id="13824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817587"/>
                        <a:ext cx="4040188" cy="212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48" name="Group 24"/>
          <p:cNvGrpSpPr/>
          <p:nvPr/>
        </p:nvGrpSpPr>
        <p:grpSpPr bwMode="auto">
          <a:xfrm>
            <a:off x="6444010" y="844574"/>
            <a:ext cx="504825" cy="1995488"/>
            <a:chOff x="4240" y="1509"/>
            <a:chExt cx="318" cy="1257"/>
          </a:xfrm>
        </p:grpSpPr>
        <p:sp>
          <p:nvSpPr>
            <p:cNvPr id="138257" name="Text Box 25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8258" name="Text Box 26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8259" name="Text Box 27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8260" name="Text Box 28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graphicFrame>
        <p:nvGraphicFramePr>
          <p:cNvPr id="19" name="Object 11"/>
          <p:cNvGraphicFramePr>
            <a:graphicFrameLocks noChangeAspect="1"/>
          </p:cNvGraphicFramePr>
          <p:nvPr/>
        </p:nvGraphicFramePr>
        <p:xfrm>
          <a:off x="3095464" y="4271986"/>
          <a:ext cx="21209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50400" imgH="17068800" progId="">
                  <p:embed/>
                </p:oleObj>
              </mc:Choice>
              <mc:Fallback>
                <p:oleObj name="Equation" r:id="rId4" imgW="22250400" imgH="17068800" progId="">
                  <p:embed/>
                  <p:pic>
                    <p:nvPicPr>
                      <p:cNvPr id="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464" y="4271986"/>
                        <a:ext cx="212090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5"/>
          <p:cNvGrpSpPr/>
          <p:nvPr/>
        </p:nvGrpSpPr>
        <p:grpSpPr bwMode="auto">
          <a:xfrm>
            <a:off x="3202360" y="3064878"/>
            <a:ext cx="1873250" cy="887984"/>
            <a:chOff x="1292" y="1839"/>
            <a:chExt cx="1180" cy="531"/>
          </a:xfrm>
        </p:grpSpPr>
        <p:sp>
          <p:nvSpPr>
            <p:cNvPr id="23" name="Line 26"/>
            <p:cNvSpPr>
              <a:spLocks noChangeShapeType="1"/>
            </p:cNvSpPr>
            <p:nvPr/>
          </p:nvSpPr>
          <p:spPr bwMode="auto">
            <a:xfrm>
              <a:off x="1292" y="2111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1497" y="2139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</a:rPr>
                <a:t>②</a:t>
              </a:r>
              <a:r>
                <a:rPr lang="en-US" altLang="en-US" sz="1800" b="1" dirty="0">
                  <a:solidFill>
                    <a:srgbClr val="0000FF"/>
                  </a:solidFill>
                </a:rPr>
                <a:t> － </a:t>
              </a:r>
              <a:r>
                <a:rPr lang="en-US" altLang="zh-CN" sz="1800" b="1" dirty="0">
                  <a:solidFill>
                    <a:srgbClr val="0000FF"/>
                  </a:solidFill>
                </a:rPr>
                <a:t>③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None/>
              </a:pPr>
              <a:endParaRPr lang="en-US" altLang="zh-CN" sz="1800" b="1" dirty="0">
                <a:solidFill>
                  <a:srgbClr val="0000FF"/>
                </a:solidFill>
              </a:endParaRPr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1488" y="1839"/>
              <a:ext cx="726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solidFill>
                    <a:srgbClr val="0000FF"/>
                  </a:solidFill>
                </a:rPr>
                <a:t>①</a:t>
              </a:r>
              <a:r>
                <a:rPr lang="en-US" altLang="en-US" sz="2000" b="1" dirty="0">
                  <a:solidFill>
                    <a:srgbClr val="0000FF"/>
                  </a:solidFill>
                </a:rPr>
                <a:t>－ </a:t>
              </a:r>
              <a:r>
                <a:rPr lang="en-US" altLang="zh-CN" sz="2000" b="1" dirty="0">
                  <a:solidFill>
                    <a:srgbClr val="0000FF"/>
                  </a:solidFill>
                </a:rPr>
                <a:t>②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b="1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9267" name="Object 11"/>
              <p:cNvSpPr txBox="1"/>
              <p:nvPr/>
            </p:nvSpPr>
            <p:spPr bwMode="auto">
              <a:xfrm>
                <a:off x="3059112" y="765176"/>
                <a:ext cx="3169071" cy="1727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=−3.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926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112" y="765176"/>
                <a:ext cx="3169071" cy="1727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755650" y="3028776"/>
            <a:ext cx="2339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令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3  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   </a:t>
            </a:r>
          </a:p>
        </p:txBody>
      </p:sp>
      <p:graphicFrame>
        <p:nvGraphicFramePr>
          <p:cNvPr id="6554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551869"/>
              </p:ext>
            </p:extLst>
          </p:nvPr>
        </p:nvGraphicFramePr>
        <p:xfrm>
          <a:off x="2693988" y="2204864"/>
          <a:ext cx="2849562" cy="215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870400" imgH="22555200" progId="">
                  <p:embed/>
                </p:oleObj>
              </mc:Choice>
              <mc:Fallback>
                <p:oleObj name="Equation" r:id="rId3" imgW="29870400" imgH="22555200" progId="">
                  <p:embed/>
                  <p:pic>
                    <p:nvPicPr>
                      <p:cNvPr id="6554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2204864"/>
                        <a:ext cx="2849562" cy="215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886641"/>
              </p:ext>
            </p:extLst>
          </p:nvPr>
        </p:nvGraphicFramePr>
        <p:xfrm>
          <a:off x="5580112" y="2270868"/>
          <a:ext cx="2882587" cy="2066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079200" imgH="22250400" progId="Equation.DSMT4">
                  <p:embed/>
                </p:oleObj>
              </mc:Choice>
              <mc:Fallback>
                <p:oleObj name="Equation" r:id="rId5" imgW="24079200" imgH="22250400" progId="Equation.DSMT4">
                  <p:embed/>
                  <p:pic>
                    <p:nvPicPr>
                      <p:cNvPr id="6554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2270868"/>
                        <a:ext cx="2882587" cy="20666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827584" y="4575125"/>
            <a:ext cx="313680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其中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为任意常数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51920" y="4555961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6" grpId="0"/>
      <p:bldP spid="9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08" name="Rectangle 64"/>
          <p:cNvSpPr>
            <a:spLocks noChangeArrowheads="1"/>
          </p:cNvSpPr>
          <p:nvPr/>
        </p:nvSpPr>
        <p:spPr bwMode="auto">
          <a:xfrm>
            <a:off x="4284663" y="2924646"/>
            <a:ext cx="4679950" cy="3168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2099" name="Text Box 2"/>
          <p:cNvSpPr txBox="1">
            <a:spLocks noChangeArrowheads="1"/>
          </p:cNvSpPr>
          <p:nvPr/>
        </p:nvSpPr>
        <p:spPr bwMode="auto">
          <a:xfrm>
            <a:off x="433624" y="536668"/>
            <a:ext cx="62266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240BD9"/>
                </a:solidFill>
                <a:latin typeface="+mn-lt"/>
                <a:ea typeface="黑体" panose="02010609060101010101" pitchFamily="49" charset="-122"/>
              </a:rPr>
              <a:t>线性方程组消元过程中的三种变换： 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762000" y="1243608"/>
            <a:ext cx="539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交换方程的次序，记作                 ；    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762000" y="1772816"/>
            <a:ext cx="661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以非零常数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乘某个方程，记作              ； 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763588" y="2276872"/>
            <a:ext cx="7539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一个方程加上另一个方程的 </a:t>
            </a:r>
            <a:r>
              <a:rPr lang="en-US" altLang="zh-CN" sz="2400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 </a:t>
            </a: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倍，记作                   </a:t>
            </a:r>
            <a:r>
              <a:rPr lang="en-US" altLang="zh-CN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  </a:t>
            </a:r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461293" y="2941393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其逆变换是：</a:t>
            </a:r>
          </a:p>
        </p:txBody>
      </p:sp>
      <p:sp>
        <p:nvSpPr>
          <p:cNvPr id="57360" name="Text Box 16"/>
          <p:cNvSpPr txBox="1">
            <a:spLocks noChangeArrowheads="1"/>
          </p:cNvSpPr>
          <p:nvPr/>
        </p:nvSpPr>
        <p:spPr bwMode="auto">
          <a:xfrm>
            <a:off x="4356099" y="2933873"/>
            <a:ext cx="4608513" cy="312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240BD9"/>
                </a:solidFill>
                <a:latin typeface="+mn-lt"/>
                <a:ea typeface="黑体" panose="02010609060101010101" pitchFamily="49" charset="-122"/>
              </a:rPr>
              <a:t>结论：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400" b="1" dirty="0">
                <a:solidFill>
                  <a:srgbClr val="240BD9"/>
                </a:solidFill>
                <a:latin typeface="+mn-lt"/>
                <a:ea typeface="黑体" panose="02010609060101010101" pitchFamily="49" charset="-122"/>
              </a:rPr>
              <a:t>由于对原线性方程组施行的变换是可逆变换，因此变换前后的方程组同解</a:t>
            </a:r>
            <a:r>
              <a:rPr lang="en-US" altLang="zh-CN" sz="2400" b="1" dirty="0">
                <a:solidFill>
                  <a:srgbClr val="240BD9"/>
                </a:solidFill>
                <a:latin typeface="+mn-lt"/>
                <a:ea typeface="黑体" panose="02010609060101010101" pitchFamily="49" charset="-122"/>
              </a:rPr>
              <a:t>.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400" b="1" dirty="0">
                <a:solidFill>
                  <a:srgbClr val="240BD9"/>
                </a:solidFill>
                <a:latin typeface="+mn-lt"/>
                <a:ea typeface="黑体" panose="02010609060101010101" pitchFamily="49" charset="-122"/>
              </a:rPr>
              <a:t>在上述变换过程中，实际上只对方程组的系数和常数进行运算，未知量并未参与运算．</a:t>
            </a:r>
          </a:p>
        </p:txBody>
      </p:sp>
      <p:grpSp>
        <p:nvGrpSpPr>
          <p:cNvPr id="2" name="Group 21"/>
          <p:cNvGrpSpPr/>
          <p:nvPr/>
        </p:nvGrpSpPr>
        <p:grpSpPr bwMode="auto">
          <a:xfrm>
            <a:off x="4243388" y="1339875"/>
            <a:ext cx="1009650" cy="288925"/>
            <a:chOff x="4150" y="391"/>
            <a:chExt cx="636" cy="182"/>
          </a:xfrm>
        </p:grpSpPr>
        <p:sp>
          <p:nvSpPr>
            <p:cNvPr id="132139" name="Oval 17"/>
            <p:cNvSpPr>
              <a:spLocks noChangeArrowheads="1"/>
            </p:cNvSpPr>
            <p:nvPr/>
          </p:nvSpPr>
          <p:spPr bwMode="auto">
            <a:xfrm>
              <a:off x="4150" y="391"/>
              <a:ext cx="182" cy="182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 dirty="0" err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i</a:t>
              </a:r>
              <a:endParaRPr lang="en-US" altLang="zh-CN" sz="2000" b="1" i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32140" name="Oval 18"/>
            <p:cNvSpPr>
              <a:spLocks noChangeArrowheads="1"/>
            </p:cNvSpPr>
            <p:nvPr/>
          </p:nvSpPr>
          <p:spPr bwMode="auto">
            <a:xfrm>
              <a:off x="4604" y="391"/>
              <a:ext cx="182" cy="182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j</a:t>
              </a:r>
            </a:p>
          </p:txBody>
        </p:sp>
        <p:sp>
          <p:nvSpPr>
            <p:cNvPr id="132141" name="Line 20"/>
            <p:cNvSpPr>
              <a:spLocks noChangeShapeType="1"/>
            </p:cNvSpPr>
            <p:nvPr/>
          </p:nvSpPr>
          <p:spPr bwMode="auto">
            <a:xfrm>
              <a:off x="4355" y="482"/>
              <a:ext cx="22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26"/>
          <p:cNvGrpSpPr/>
          <p:nvPr/>
        </p:nvGrpSpPr>
        <p:grpSpPr bwMode="auto">
          <a:xfrm>
            <a:off x="5467350" y="1771230"/>
            <a:ext cx="1016000" cy="461963"/>
            <a:chOff x="4286" y="836"/>
            <a:chExt cx="640" cy="291"/>
          </a:xfrm>
        </p:grpSpPr>
        <p:sp>
          <p:nvSpPr>
            <p:cNvPr id="132137" name="Oval 23"/>
            <p:cNvSpPr>
              <a:spLocks noChangeArrowheads="1"/>
            </p:cNvSpPr>
            <p:nvPr/>
          </p:nvSpPr>
          <p:spPr bwMode="auto">
            <a:xfrm>
              <a:off x="4286" y="890"/>
              <a:ext cx="182" cy="182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132138" name="Rectangle 24"/>
            <p:cNvSpPr>
              <a:spLocks noChangeArrowheads="1"/>
            </p:cNvSpPr>
            <p:nvPr/>
          </p:nvSpPr>
          <p:spPr bwMode="auto">
            <a:xfrm>
              <a:off x="4324" y="836"/>
              <a:ext cx="6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  ×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k  </a:t>
              </a:r>
            </a:p>
          </p:txBody>
        </p:sp>
      </p:grpSp>
      <p:grpSp>
        <p:nvGrpSpPr>
          <p:cNvPr id="4" name="Group 35"/>
          <p:cNvGrpSpPr/>
          <p:nvPr/>
        </p:nvGrpSpPr>
        <p:grpSpPr bwMode="auto">
          <a:xfrm>
            <a:off x="6403975" y="2276875"/>
            <a:ext cx="1152525" cy="461963"/>
            <a:chOff x="4649" y="1252"/>
            <a:chExt cx="726" cy="291"/>
          </a:xfrm>
        </p:grpSpPr>
        <p:sp>
          <p:nvSpPr>
            <p:cNvPr id="132134" name="Oval 32"/>
            <p:cNvSpPr>
              <a:spLocks noChangeArrowheads="1"/>
            </p:cNvSpPr>
            <p:nvPr/>
          </p:nvSpPr>
          <p:spPr bwMode="auto">
            <a:xfrm>
              <a:off x="4649" y="1306"/>
              <a:ext cx="182" cy="182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132135" name="Rectangle 33"/>
            <p:cNvSpPr>
              <a:spLocks noChangeArrowheads="1"/>
            </p:cNvSpPr>
            <p:nvPr/>
          </p:nvSpPr>
          <p:spPr bwMode="auto">
            <a:xfrm>
              <a:off x="4800" y="1252"/>
              <a:ext cx="4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＋</a:t>
              </a:r>
              <a:r>
                <a:rPr lang="en-US" altLang="zh-CN" sz="2400" b="1" i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k </a:t>
              </a:r>
            </a:p>
          </p:txBody>
        </p:sp>
        <p:sp>
          <p:nvSpPr>
            <p:cNvPr id="132136" name="Oval 34"/>
            <p:cNvSpPr>
              <a:spLocks noChangeArrowheads="1"/>
            </p:cNvSpPr>
            <p:nvPr/>
          </p:nvSpPr>
          <p:spPr bwMode="auto">
            <a:xfrm>
              <a:off x="5193" y="1306"/>
              <a:ext cx="182" cy="182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j</a:t>
              </a:r>
            </a:p>
          </p:txBody>
        </p:sp>
      </p:grpSp>
      <p:grpSp>
        <p:nvGrpSpPr>
          <p:cNvPr id="5" name="Group 36"/>
          <p:cNvGrpSpPr/>
          <p:nvPr/>
        </p:nvGrpSpPr>
        <p:grpSpPr bwMode="auto">
          <a:xfrm>
            <a:off x="762000" y="3817267"/>
            <a:ext cx="1009650" cy="288925"/>
            <a:chOff x="4150" y="391"/>
            <a:chExt cx="636" cy="182"/>
          </a:xfrm>
        </p:grpSpPr>
        <p:sp>
          <p:nvSpPr>
            <p:cNvPr id="132131" name="Oval 37"/>
            <p:cNvSpPr>
              <a:spLocks noChangeArrowheads="1"/>
            </p:cNvSpPr>
            <p:nvPr/>
          </p:nvSpPr>
          <p:spPr bwMode="auto">
            <a:xfrm>
              <a:off x="4150" y="391"/>
              <a:ext cx="182" cy="18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132132" name="Oval 38"/>
            <p:cNvSpPr>
              <a:spLocks noChangeArrowheads="1"/>
            </p:cNvSpPr>
            <p:nvPr/>
          </p:nvSpPr>
          <p:spPr bwMode="auto">
            <a:xfrm>
              <a:off x="4604" y="391"/>
              <a:ext cx="182" cy="18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j</a:t>
              </a:r>
            </a:p>
          </p:txBody>
        </p:sp>
        <p:sp>
          <p:nvSpPr>
            <p:cNvPr id="132133" name="Line 39"/>
            <p:cNvSpPr>
              <a:spLocks noChangeShapeType="1"/>
            </p:cNvSpPr>
            <p:nvPr/>
          </p:nvSpPr>
          <p:spPr bwMode="auto">
            <a:xfrm>
              <a:off x="4355" y="482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57391" name="AutoShape 47"/>
          <p:cNvSpPr>
            <a:spLocks noChangeArrowheads="1"/>
          </p:cNvSpPr>
          <p:nvPr/>
        </p:nvSpPr>
        <p:spPr bwMode="auto">
          <a:xfrm>
            <a:off x="2198688" y="3745830"/>
            <a:ext cx="433387" cy="431800"/>
          </a:xfrm>
          <a:prstGeom prst="rightArrow">
            <a:avLst>
              <a:gd name="adj1" fmla="val 50000"/>
              <a:gd name="adj2" fmla="val 250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6" name="Group 40"/>
          <p:cNvGrpSpPr/>
          <p:nvPr/>
        </p:nvGrpSpPr>
        <p:grpSpPr bwMode="auto">
          <a:xfrm>
            <a:off x="762000" y="4418931"/>
            <a:ext cx="938213" cy="461963"/>
            <a:chOff x="4286" y="836"/>
            <a:chExt cx="591" cy="291"/>
          </a:xfrm>
        </p:grpSpPr>
        <p:sp>
          <p:nvSpPr>
            <p:cNvPr id="132129" name="Oval 41"/>
            <p:cNvSpPr>
              <a:spLocks noChangeArrowheads="1"/>
            </p:cNvSpPr>
            <p:nvPr/>
          </p:nvSpPr>
          <p:spPr bwMode="auto">
            <a:xfrm>
              <a:off x="4286" y="890"/>
              <a:ext cx="182" cy="18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132130" name="Rectangle 42"/>
            <p:cNvSpPr>
              <a:spLocks noChangeArrowheads="1"/>
            </p:cNvSpPr>
            <p:nvPr/>
          </p:nvSpPr>
          <p:spPr bwMode="auto">
            <a:xfrm>
              <a:off x="4372" y="836"/>
              <a:ext cx="5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×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k </a:t>
              </a:r>
            </a:p>
          </p:txBody>
        </p:sp>
      </p:grpSp>
      <p:sp>
        <p:nvSpPr>
          <p:cNvPr id="57392" name="AutoShape 48"/>
          <p:cNvSpPr>
            <a:spLocks noChangeArrowheads="1"/>
          </p:cNvSpPr>
          <p:nvPr/>
        </p:nvSpPr>
        <p:spPr bwMode="auto">
          <a:xfrm>
            <a:off x="2198688" y="4433217"/>
            <a:ext cx="433387" cy="431800"/>
          </a:xfrm>
          <a:prstGeom prst="rightArrow">
            <a:avLst>
              <a:gd name="adj1" fmla="val 50000"/>
              <a:gd name="adj2" fmla="val 250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7" name="Group 43"/>
          <p:cNvGrpSpPr/>
          <p:nvPr/>
        </p:nvGrpSpPr>
        <p:grpSpPr bwMode="auto">
          <a:xfrm>
            <a:off x="762000" y="5119017"/>
            <a:ext cx="1152525" cy="461963"/>
            <a:chOff x="4649" y="1252"/>
            <a:chExt cx="726" cy="291"/>
          </a:xfrm>
        </p:grpSpPr>
        <p:sp>
          <p:nvSpPr>
            <p:cNvPr id="132126" name="Oval 44"/>
            <p:cNvSpPr>
              <a:spLocks noChangeArrowheads="1"/>
            </p:cNvSpPr>
            <p:nvPr/>
          </p:nvSpPr>
          <p:spPr bwMode="auto">
            <a:xfrm>
              <a:off x="4649" y="1306"/>
              <a:ext cx="182" cy="18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132127" name="Rectangle 45"/>
            <p:cNvSpPr>
              <a:spLocks noChangeArrowheads="1"/>
            </p:cNvSpPr>
            <p:nvPr/>
          </p:nvSpPr>
          <p:spPr bwMode="auto">
            <a:xfrm>
              <a:off x="4827" y="1252"/>
              <a:ext cx="3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+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k </a:t>
              </a:r>
            </a:p>
          </p:txBody>
        </p:sp>
        <p:sp>
          <p:nvSpPr>
            <p:cNvPr id="132128" name="Oval 46"/>
            <p:cNvSpPr>
              <a:spLocks noChangeArrowheads="1"/>
            </p:cNvSpPr>
            <p:nvPr/>
          </p:nvSpPr>
          <p:spPr bwMode="auto">
            <a:xfrm>
              <a:off x="5193" y="1306"/>
              <a:ext cx="182" cy="18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j</a:t>
              </a:r>
            </a:p>
          </p:txBody>
        </p:sp>
      </p:grpSp>
      <p:sp>
        <p:nvSpPr>
          <p:cNvPr id="57393" name="AutoShape 49"/>
          <p:cNvSpPr>
            <a:spLocks noChangeArrowheads="1"/>
          </p:cNvSpPr>
          <p:nvPr/>
        </p:nvSpPr>
        <p:spPr bwMode="auto">
          <a:xfrm>
            <a:off x="2198688" y="5133305"/>
            <a:ext cx="433387" cy="431800"/>
          </a:xfrm>
          <a:prstGeom prst="rightArrow">
            <a:avLst>
              <a:gd name="adj1" fmla="val 50000"/>
              <a:gd name="adj2" fmla="val 250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8" name="Group 53"/>
          <p:cNvGrpSpPr/>
          <p:nvPr/>
        </p:nvGrpSpPr>
        <p:grpSpPr bwMode="auto">
          <a:xfrm>
            <a:off x="3059113" y="3788692"/>
            <a:ext cx="1081087" cy="288925"/>
            <a:chOff x="4150" y="411"/>
            <a:chExt cx="681" cy="182"/>
          </a:xfrm>
        </p:grpSpPr>
        <p:sp>
          <p:nvSpPr>
            <p:cNvPr id="132123" name="Oval 54"/>
            <p:cNvSpPr>
              <a:spLocks noChangeArrowheads="1"/>
            </p:cNvSpPr>
            <p:nvPr/>
          </p:nvSpPr>
          <p:spPr bwMode="auto">
            <a:xfrm>
              <a:off x="4649" y="411"/>
              <a:ext cx="182" cy="182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132124" name="Oval 55"/>
            <p:cNvSpPr>
              <a:spLocks noChangeArrowheads="1"/>
            </p:cNvSpPr>
            <p:nvPr/>
          </p:nvSpPr>
          <p:spPr bwMode="auto">
            <a:xfrm>
              <a:off x="4150" y="411"/>
              <a:ext cx="182" cy="182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j</a:t>
              </a:r>
            </a:p>
          </p:txBody>
        </p:sp>
        <p:sp>
          <p:nvSpPr>
            <p:cNvPr id="132125" name="Line 56"/>
            <p:cNvSpPr>
              <a:spLocks noChangeShapeType="1"/>
            </p:cNvSpPr>
            <p:nvPr/>
          </p:nvSpPr>
          <p:spPr bwMode="auto">
            <a:xfrm>
              <a:off x="4377" y="502"/>
              <a:ext cx="22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Group 57"/>
          <p:cNvGrpSpPr/>
          <p:nvPr/>
        </p:nvGrpSpPr>
        <p:grpSpPr bwMode="auto">
          <a:xfrm>
            <a:off x="3059134" y="4298282"/>
            <a:ext cx="1023940" cy="714376"/>
            <a:chOff x="4286" y="753"/>
            <a:chExt cx="645" cy="450"/>
          </a:xfrm>
        </p:grpSpPr>
        <p:sp>
          <p:nvSpPr>
            <p:cNvPr id="132121" name="Oval 58"/>
            <p:cNvSpPr>
              <a:spLocks noChangeArrowheads="1"/>
            </p:cNvSpPr>
            <p:nvPr/>
          </p:nvSpPr>
          <p:spPr bwMode="auto">
            <a:xfrm>
              <a:off x="4286" y="890"/>
              <a:ext cx="182" cy="182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i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122" name="Rectangle 59"/>
                <p:cNvSpPr>
                  <a:spLocks noChangeArrowheads="1"/>
                </p:cNvSpPr>
                <p:nvPr/>
              </p:nvSpPr>
              <p:spPr bwMode="auto">
                <a:xfrm>
                  <a:off x="4422" y="753"/>
                  <a:ext cx="509" cy="4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solidFill>
                        <a:srgbClr val="240BD9"/>
                      </a:solidFill>
                      <a:latin typeface="+mn-lt"/>
                      <a:ea typeface="黑体" panose="02010609060101010101" pitchFamily="49" charset="-122"/>
                    </a:rPr>
                    <a:t>×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solidFill>
                                <a:srgbClr val="240BD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solidFill>
                                <a:srgbClr val="240BD9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solidFill>
                                <a:srgbClr val="240BD9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</m:oMath>
                  </a14:m>
                  <a:r>
                    <a:rPr lang="en-US" altLang="zh-CN" sz="2400" b="1" i="1" dirty="0">
                      <a:solidFill>
                        <a:srgbClr val="0000FF"/>
                      </a:solidFill>
                      <a:latin typeface="+mn-lt"/>
                      <a:ea typeface="黑体" panose="02010609060101010101" pitchFamily="49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32122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22" y="753"/>
                  <a:ext cx="509" cy="450"/>
                </a:xfrm>
                <a:prstGeom prst="rect">
                  <a:avLst/>
                </a:prstGeom>
                <a:blipFill>
                  <a:blip r:embed="rId3"/>
                  <a:stretch>
                    <a:fillRect l="-11278" b="-85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60"/>
          <p:cNvGrpSpPr/>
          <p:nvPr/>
        </p:nvGrpSpPr>
        <p:grpSpPr bwMode="auto">
          <a:xfrm>
            <a:off x="3059116" y="5103144"/>
            <a:ext cx="1116013" cy="461963"/>
            <a:chOff x="4649" y="1235"/>
            <a:chExt cx="703" cy="291"/>
          </a:xfrm>
        </p:grpSpPr>
        <p:sp>
          <p:nvSpPr>
            <p:cNvPr id="132118" name="Oval 61"/>
            <p:cNvSpPr>
              <a:spLocks noChangeArrowheads="1"/>
            </p:cNvSpPr>
            <p:nvPr/>
          </p:nvSpPr>
          <p:spPr bwMode="auto">
            <a:xfrm>
              <a:off x="4649" y="1306"/>
              <a:ext cx="182" cy="182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i</a:t>
              </a:r>
            </a:p>
          </p:txBody>
        </p:sp>
        <p:sp>
          <p:nvSpPr>
            <p:cNvPr id="132119" name="Rectangle 62"/>
            <p:cNvSpPr>
              <a:spLocks noChangeArrowheads="1"/>
            </p:cNvSpPr>
            <p:nvPr/>
          </p:nvSpPr>
          <p:spPr bwMode="auto">
            <a:xfrm>
              <a:off x="4829" y="1235"/>
              <a:ext cx="36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－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k</a:t>
              </a:r>
            </a:p>
          </p:txBody>
        </p:sp>
        <p:sp>
          <p:nvSpPr>
            <p:cNvPr id="132120" name="Oval 63"/>
            <p:cNvSpPr>
              <a:spLocks noChangeArrowheads="1"/>
            </p:cNvSpPr>
            <p:nvPr/>
          </p:nvSpPr>
          <p:spPr bwMode="auto">
            <a:xfrm>
              <a:off x="5170" y="1299"/>
              <a:ext cx="182" cy="182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 dirty="0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j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6" dur="500"/>
                                        <p:tgtEl>
                                          <p:spTgt spid="5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0" dur="500"/>
                                        <p:tgtEl>
                                          <p:spTgt spid="57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7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73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08" grpId="0" animBg="1"/>
      <p:bldP spid="132099" grpId="0"/>
      <p:bldP spid="57348" grpId="0"/>
      <p:bldP spid="57351" grpId="0"/>
      <p:bldP spid="57354" grpId="0"/>
      <p:bldP spid="57359" grpId="0"/>
      <p:bldP spid="57360" grpId="0" build="p" autoUpdateAnimBg="0"/>
      <p:bldP spid="57391" grpId="0" animBg="1"/>
      <p:bldP spid="57392" grpId="0" animBg="1"/>
      <p:bldP spid="5739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1044377" y="955229"/>
            <a:ext cx="4103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由消元法的过程可见：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1120775" y="1531640"/>
            <a:ext cx="481937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仅仅系数和常数项进行运算</a:t>
            </a:r>
          </a:p>
        </p:txBody>
      </p:sp>
      <p:sp>
        <p:nvSpPr>
          <p:cNvPr id="82952" name="Text Box 8"/>
          <p:cNvSpPr txBox="1">
            <a:spLocks noChangeArrowheads="1"/>
          </p:cNvSpPr>
          <p:nvPr/>
        </p:nvSpPr>
        <p:spPr bwMode="auto">
          <a:xfrm>
            <a:off x="1120775" y="2107704"/>
            <a:ext cx="762768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变量和运算符号没有参与运算</a:t>
            </a:r>
          </a:p>
        </p:txBody>
      </p:sp>
      <p:sp>
        <p:nvSpPr>
          <p:cNvPr id="82956" name="Text Box 12"/>
          <p:cNvSpPr txBox="1">
            <a:spLocks noChangeArrowheads="1"/>
          </p:cNvSpPr>
          <p:nvPr/>
        </p:nvSpPr>
        <p:spPr bwMode="auto">
          <a:xfrm>
            <a:off x="1403648" y="3645025"/>
            <a:ext cx="22322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消元法过程</a:t>
            </a:r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1092444" y="2683768"/>
            <a:ext cx="762768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系数和常数项构成一个数表</a:t>
            </a:r>
          </a:p>
        </p:txBody>
      </p:sp>
      <p:sp>
        <p:nvSpPr>
          <p:cNvPr id="2" name="左右箭头 1"/>
          <p:cNvSpPr/>
          <p:nvPr/>
        </p:nvSpPr>
        <p:spPr bwMode="auto">
          <a:xfrm>
            <a:off x="3563888" y="3789041"/>
            <a:ext cx="1296144" cy="216024"/>
          </a:xfrm>
          <a:prstGeom prst="leftRightArrow">
            <a:avLst/>
          </a:prstGeom>
          <a:solidFill>
            <a:srgbClr val="240B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12"/>
          <p:cNvSpPr txBox="1">
            <a:spLocks noChangeArrowheads="1"/>
          </p:cNvSpPr>
          <p:nvPr/>
        </p:nvSpPr>
        <p:spPr bwMode="auto">
          <a:xfrm>
            <a:off x="5004048" y="3645024"/>
            <a:ext cx="21602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数表的变换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9" grpId="0"/>
      <p:bldP spid="82950" grpId="0"/>
      <p:bldP spid="82952" grpId="0"/>
      <p:bldP spid="82956" grpId="0"/>
      <p:bldP spid="30" grpId="0"/>
      <p:bldP spid="2" grpId="0" animBg="1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546174" y="955229"/>
            <a:ext cx="784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1.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下列三种变换称为矩阵的</a:t>
            </a:r>
            <a:r>
              <a:rPr lang="zh-CN" altLang="en-US" sz="2400" b="1" dirty="0">
                <a:solidFill>
                  <a:srgbClr val="FF3300"/>
                </a:solidFill>
                <a:latin typeface="+mn-lt"/>
                <a:ea typeface="黑体" panose="02010609060101010101" pitchFamily="49" charset="-122"/>
              </a:rPr>
              <a:t>初等行变换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1120775" y="1460054"/>
            <a:ext cx="481937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对调矩阵的两行，记作               ；</a:t>
            </a:r>
          </a:p>
        </p:txBody>
      </p:sp>
      <p:graphicFrame>
        <p:nvGraphicFramePr>
          <p:cNvPr id="8295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784761"/>
              </p:ext>
            </p:extLst>
          </p:nvPr>
        </p:nvGraphicFramePr>
        <p:xfrm>
          <a:off x="4500563" y="1398142"/>
          <a:ext cx="10763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600" imgH="304800" progId="">
                  <p:embed/>
                </p:oleObj>
              </mc:Choice>
              <mc:Fallback>
                <p:oleObj name="Equation" r:id="rId2" imgW="609600" imgH="304800" progId="">
                  <p:embed/>
                  <p:pic>
                    <p:nvPicPr>
                      <p:cNvPr id="8295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398142"/>
                        <a:ext cx="10763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2" name="Text Box 8"/>
          <p:cNvSpPr txBox="1">
            <a:spLocks noChangeArrowheads="1"/>
          </p:cNvSpPr>
          <p:nvPr/>
        </p:nvSpPr>
        <p:spPr bwMode="auto">
          <a:xfrm>
            <a:off x="1120775" y="1963688"/>
            <a:ext cx="762768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以非零常数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乘矩阵某一行的所有元素，记作           ； </a:t>
            </a:r>
          </a:p>
        </p:txBody>
      </p:sp>
      <p:graphicFrame>
        <p:nvGraphicFramePr>
          <p:cNvPr id="8295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802746"/>
              </p:ext>
            </p:extLst>
          </p:nvPr>
        </p:nvGraphicFramePr>
        <p:xfrm>
          <a:off x="7573963" y="1963291"/>
          <a:ext cx="8143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" imgH="292100" progId="">
                  <p:embed/>
                </p:oleObj>
              </mc:Choice>
              <mc:Fallback>
                <p:oleObj name="Equation" r:id="rId4" imgW="457200" imgH="292100" progId="">
                  <p:embed/>
                  <p:pic>
                    <p:nvPicPr>
                      <p:cNvPr id="8295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3963" y="1963291"/>
                        <a:ext cx="8143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4" name="Text Box 10"/>
          <p:cNvSpPr txBox="1">
            <a:spLocks noChangeArrowheads="1"/>
          </p:cNvSpPr>
          <p:nvPr/>
        </p:nvSpPr>
        <p:spPr bwMode="auto">
          <a:xfrm>
            <a:off x="1122363" y="2467744"/>
            <a:ext cx="6894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矩阵的某一行加上另一行的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倍，记作                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8295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456671"/>
              </p:ext>
            </p:extLst>
          </p:nvPr>
        </p:nvGraphicFramePr>
        <p:xfrm>
          <a:off x="6732240" y="2420888"/>
          <a:ext cx="10461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900" imgH="304800" progId="">
                  <p:embed/>
                </p:oleObj>
              </mc:Choice>
              <mc:Fallback>
                <p:oleObj name="Equation" r:id="rId6" imgW="596900" imgH="304800" progId="">
                  <p:embed/>
                  <p:pic>
                    <p:nvPicPr>
                      <p:cNvPr id="8295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2420888"/>
                        <a:ext cx="104616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6" name="Text Box 12"/>
          <p:cNvSpPr txBox="1">
            <a:spLocks noChangeArrowheads="1"/>
          </p:cNvSpPr>
          <p:nvPr/>
        </p:nvSpPr>
        <p:spPr bwMode="auto">
          <a:xfrm>
            <a:off x="613520" y="3039343"/>
            <a:ext cx="82285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初等行变换是可逆的，其逆变换是同一类型的初等行变换：</a:t>
            </a:r>
          </a:p>
        </p:txBody>
      </p:sp>
      <p:sp>
        <p:nvSpPr>
          <p:cNvPr id="82957" name="AutoShape 13"/>
          <p:cNvSpPr>
            <a:spLocks noChangeArrowheads="1"/>
          </p:cNvSpPr>
          <p:nvPr/>
        </p:nvSpPr>
        <p:spPr bwMode="auto">
          <a:xfrm>
            <a:off x="2447925" y="3582739"/>
            <a:ext cx="433388" cy="431800"/>
          </a:xfrm>
          <a:prstGeom prst="rightArrow">
            <a:avLst>
              <a:gd name="adj1" fmla="val 50000"/>
              <a:gd name="adj2" fmla="val 250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2958" name="AutoShape 14"/>
          <p:cNvSpPr>
            <a:spLocks noChangeArrowheads="1"/>
          </p:cNvSpPr>
          <p:nvPr/>
        </p:nvSpPr>
        <p:spPr bwMode="auto">
          <a:xfrm>
            <a:off x="2447925" y="4220914"/>
            <a:ext cx="433388" cy="431800"/>
          </a:xfrm>
          <a:prstGeom prst="rightArrow">
            <a:avLst>
              <a:gd name="adj1" fmla="val 50000"/>
              <a:gd name="adj2" fmla="val 250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2959" name="AutoShape 15"/>
          <p:cNvSpPr>
            <a:spLocks noChangeArrowheads="1"/>
          </p:cNvSpPr>
          <p:nvPr/>
        </p:nvSpPr>
        <p:spPr bwMode="auto">
          <a:xfrm>
            <a:off x="2447925" y="4905127"/>
            <a:ext cx="433388" cy="431800"/>
          </a:xfrm>
          <a:prstGeom prst="rightArrow">
            <a:avLst>
              <a:gd name="adj1" fmla="val 50000"/>
              <a:gd name="adj2" fmla="val 250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82960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735979"/>
              </p:ext>
            </p:extLst>
          </p:nvPr>
        </p:nvGraphicFramePr>
        <p:xfrm>
          <a:off x="1011238" y="3522414"/>
          <a:ext cx="10763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277600" imgH="5791200" progId="">
                  <p:embed/>
                </p:oleObj>
              </mc:Choice>
              <mc:Fallback>
                <p:oleObj name="Equation" r:id="rId8" imgW="11277600" imgH="5791200" progId="">
                  <p:embed/>
                  <p:pic>
                    <p:nvPicPr>
                      <p:cNvPr id="8296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3522414"/>
                        <a:ext cx="10763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870472"/>
              </p:ext>
            </p:extLst>
          </p:nvPr>
        </p:nvGraphicFramePr>
        <p:xfrm>
          <a:off x="1011238" y="4174877"/>
          <a:ext cx="81597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34400" imgH="5486400" progId="">
                  <p:embed/>
                </p:oleObj>
              </mc:Choice>
              <mc:Fallback>
                <p:oleObj name="Equation" r:id="rId10" imgW="8534400" imgH="5486400" progId="">
                  <p:embed/>
                  <p:pic>
                    <p:nvPicPr>
                      <p:cNvPr id="8296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4174877"/>
                        <a:ext cx="81597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473542"/>
              </p:ext>
            </p:extLst>
          </p:nvPr>
        </p:nvGraphicFramePr>
        <p:xfrm>
          <a:off x="1011238" y="4844802"/>
          <a:ext cx="10477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972800" imgH="5791200" progId="">
                  <p:embed/>
                </p:oleObj>
              </mc:Choice>
              <mc:Fallback>
                <p:oleObj name="Equation" r:id="rId12" imgW="10972800" imgH="5791200" progId="">
                  <p:embed/>
                  <p:pic>
                    <p:nvPicPr>
                      <p:cNvPr id="8296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4844802"/>
                        <a:ext cx="10477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1" name="Rectangle 27"/>
          <p:cNvSpPr>
            <a:spLocks noChangeArrowheads="1"/>
          </p:cNvSpPr>
          <p:nvPr/>
        </p:nvSpPr>
        <p:spPr bwMode="auto">
          <a:xfrm>
            <a:off x="6660902" y="3734358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初等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行</a:t>
            </a: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变换</a:t>
            </a:r>
          </a:p>
        </p:txBody>
      </p:sp>
      <p:sp>
        <p:nvSpPr>
          <p:cNvPr id="82973" name="Rectangle 29"/>
          <p:cNvSpPr>
            <a:spLocks noChangeArrowheads="1"/>
          </p:cNvSpPr>
          <p:nvPr/>
        </p:nvSpPr>
        <p:spPr bwMode="auto">
          <a:xfrm>
            <a:off x="6660902" y="4597958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初等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列</a:t>
            </a: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变换</a:t>
            </a:r>
          </a:p>
        </p:txBody>
      </p:sp>
      <p:sp>
        <p:nvSpPr>
          <p:cNvPr id="82974" name="AutoShape 30"/>
          <p:cNvSpPr/>
          <p:nvPr/>
        </p:nvSpPr>
        <p:spPr bwMode="auto">
          <a:xfrm>
            <a:off x="6516439" y="3950258"/>
            <a:ext cx="215900" cy="863600"/>
          </a:xfrm>
          <a:prstGeom prst="lef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2975" name="Rectangle 31"/>
          <p:cNvSpPr>
            <a:spLocks noChangeArrowheads="1"/>
          </p:cNvSpPr>
          <p:nvPr/>
        </p:nvSpPr>
        <p:spPr bwMode="auto">
          <a:xfrm>
            <a:off x="5113338" y="3554709"/>
            <a:ext cx="3367782" cy="1700213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5113338" y="4169071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+mn-lt"/>
                <a:ea typeface="黑体" panose="02010609060101010101" pitchFamily="49" charset="-122"/>
              </a:rPr>
              <a:t>初等变换</a:t>
            </a:r>
          </a:p>
        </p:txBody>
      </p:sp>
      <p:sp>
        <p:nvSpPr>
          <p:cNvPr id="27" name="Rectangle 11"/>
          <p:cNvSpPr txBox="1">
            <a:spLocks noChangeArrowheads="1"/>
          </p:cNvSpPr>
          <p:nvPr/>
        </p:nvSpPr>
        <p:spPr>
          <a:xfrm>
            <a:off x="590872" y="260648"/>
            <a:ext cx="8229600" cy="69458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36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一、矩阵的初等变换</a:t>
            </a:r>
          </a:p>
        </p:txBody>
      </p:sp>
      <p:sp>
        <p:nvSpPr>
          <p:cNvPr id="28" name="Text Box 22"/>
          <p:cNvSpPr txBox="1">
            <a:spLocks noChangeArrowheads="1"/>
          </p:cNvSpPr>
          <p:nvPr/>
        </p:nvSpPr>
        <p:spPr bwMode="auto">
          <a:xfrm>
            <a:off x="613520" y="5494709"/>
            <a:ext cx="7867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把“行”换成“列”，就得到矩阵的</a:t>
            </a:r>
            <a:r>
              <a:rPr lang="zh-CN" altLang="en-US" sz="2400" b="1" dirty="0">
                <a:solidFill>
                  <a:srgbClr val="FF3300"/>
                </a:solidFill>
                <a:latin typeface="+mn-lt"/>
                <a:ea typeface="黑体" panose="02010609060101010101" pitchFamily="49" charset="-122"/>
              </a:rPr>
              <a:t>初等列变换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的定义．  </a:t>
            </a:r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613520" y="5949280"/>
            <a:ext cx="734285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矩阵的初等行变换与初等列变换统称为</a:t>
            </a:r>
            <a:r>
              <a:rPr lang="zh-CN" altLang="en-US" sz="2400" b="1" dirty="0">
                <a:solidFill>
                  <a:srgbClr val="FF3300"/>
                </a:solidFill>
                <a:latin typeface="+mn-lt"/>
                <a:ea typeface="黑体" panose="02010609060101010101" pitchFamily="49" charset="-122"/>
              </a:rPr>
              <a:t>初等变换</a:t>
            </a:r>
            <a:r>
              <a:rPr lang="en-US" altLang="zh-CN" sz="1800" dirty="0">
                <a:solidFill>
                  <a:srgbClr val="D60093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59"/>
              <p:cNvSpPr>
                <a:spLocks noChangeArrowheads="1"/>
              </p:cNvSpPr>
              <p:nvPr/>
            </p:nvSpPr>
            <p:spPr bwMode="auto">
              <a:xfrm>
                <a:off x="3319720" y="4078679"/>
                <a:ext cx="1069459" cy="7146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3103F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3103F3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3103F3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</a:rPr>
                  <a:t>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3103F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rgbClr val="3103F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rgbClr val="3103F3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</m:oMath>
                </a14:m>
                <a:r>
                  <a:rPr lang="en-US" altLang="zh-CN" sz="2400" b="1" i="1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2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9720" y="4078679"/>
                <a:ext cx="1069459" cy="714683"/>
              </a:xfrm>
              <a:prstGeom prst="rect">
                <a:avLst/>
              </a:prstGeom>
              <a:blipFill>
                <a:blip r:embed="rId14"/>
                <a:stretch>
                  <a:fillRect b="-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59"/>
              <p:cNvSpPr>
                <a:spLocks noChangeArrowheads="1"/>
              </p:cNvSpPr>
              <p:nvPr/>
            </p:nvSpPr>
            <p:spPr bwMode="auto">
              <a:xfrm>
                <a:off x="3257017" y="3535288"/>
                <a:ext cx="1243546" cy="4966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3103F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altLang="zh-CN" sz="2400" b="1" i="1" dirty="0">
                  <a:solidFill>
                    <a:srgbClr val="3103F3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7017" y="3535288"/>
                <a:ext cx="1243546" cy="496674"/>
              </a:xfrm>
              <a:prstGeom prst="rect">
                <a:avLst/>
              </a:prstGeom>
              <a:blipFill>
                <a:blip r:embed="rId15"/>
                <a:stretch>
                  <a:fillRect b="-123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59"/>
              <p:cNvSpPr>
                <a:spLocks noChangeArrowheads="1"/>
              </p:cNvSpPr>
              <p:nvPr/>
            </p:nvSpPr>
            <p:spPr bwMode="auto">
              <a:xfrm>
                <a:off x="3276606" y="4872690"/>
                <a:ext cx="1342482" cy="4966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3103F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1" i="1" smtClean="0">
                          <a:solidFill>
                            <a:srgbClr val="3103F3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3103F3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altLang="zh-CN" sz="2400" b="1" i="1" dirty="0">
                  <a:solidFill>
                    <a:srgbClr val="3103F3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6606" y="4872690"/>
                <a:ext cx="1342482" cy="496674"/>
              </a:xfrm>
              <a:prstGeom prst="rect">
                <a:avLst/>
              </a:prstGeom>
              <a:blipFill>
                <a:blip r:embed="rId16"/>
                <a:stretch>
                  <a:fillRect b="-1097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2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2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2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2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2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2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6" dur="500"/>
                                        <p:tgtEl>
                                          <p:spTgt spid="82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4" dur="500"/>
                                        <p:tgtEl>
                                          <p:spTgt spid="82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8" dur="500"/>
                                        <p:tgtEl>
                                          <p:spTgt spid="8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2" dur="500"/>
                                        <p:tgtEl>
                                          <p:spTgt spid="8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9" grpId="0"/>
      <p:bldP spid="82950" grpId="0"/>
      <p:bldP spid="82952" grpId="0"/>
      <p:bldP spid="82954" grpId="0"/>
      <p:bldP spid="82956" grpId="0"/>
      <p:bldP spid="82957" grpId="0" animBg="1"/>
      <p:bldP spid="82958" grpId="0" animBg="1"/>
      <p:bldP spid="82959" grpId="0" animBg="1"/>
      <p:bldP spid="82971" grpId="0"/>
      <p:bldP spid="82973" grpId="0"/>
      <p:bldP spid="82974" grpId="0" animBg="1"/>
      <p:bldP spid="82975" grpId="0" animBg="1"/>
      <p:bldP spid="26" grpId="0"/>
      <p:bldP spid="28" grpId="0"/>
      <p:bldP spid="29" grpId="0"/>
      <p:bldP spid="32" grpId="0"/>
      <p:bldP spid="45" grpId="0"/>
      <p:bldP spid="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 txBox="1">
            <a:spLocks noChangeArrowheads="1"/>
          </p:cNvSpPr>
          <p:nvPr/>
        </p:nvSpPr>
        <p:spPr>
          <a:xfrm>
            <a:off x="590872" y="389765"/>
            <a:ext cx="8229600" cy="73454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6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二、矩阵之间的等价关系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55576" y="1061145"/>
                <a:ext cx="65646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  如果矩阵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经过有限次</a:t>
                </a:r>
                <a:r>
                  <a:rPr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初等行变换</a:t>
                </a: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变成矩阵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, 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061145"/>
                <a:ext cx="6564618" cy="461665"/>
              </a:xfrm>
              <a:prstGeom prst="rect">
                <a:avLst/>
              </a:prstGeom>
              <a:blipFill>
                <a:blip r:embed="rId2"/>
                <a:stretch>
                  <a:fillRect t="-14474" r="-37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02015" y="1526539"/>
                <a:ext cx="21579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行等价，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15" y="1526539"/>
                <a:ext cx="2157963" cy="461665"/>
              </a:xfrm>
              <a:prstGeom prst="rect">
                <a:avLst/>
              </a:prstGeom>
              <a:blipFill>
                <a:blip r:embed="rId3"/>
                <a:stretch>
                  <a:fillRect l="-847" t="-14474" r="-310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411760" y="1519082"/>
                <a:ext cx="17379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记作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.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519082"/>
                <a:ext cx="1737976" cy="461665"/>
              </a:xfrm>
              <a:prstGeom prst="rect">
                <a:avLst/>
              </a:prstGeom>
              <a:blipFill>
                <a:blip r:embed="rId4"/>
                <a:stretch>
                  <a:fillRect l="-5614" t="-14474" r="-456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347864" y="1382721"/>
                <a:ext cx="48154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1382721"/>
                <a:ext cx="48154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727530" y="2060410"/>
                <a:ext cx="65646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  如果矩阵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经过有限次</a:t>
                </a:r>
                <a:r>
                  <a:rPr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初等列变换</a:t>
                </a: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变成矩阵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, 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30" y="2060410"/>
                <a:ext cx="6564618" cy="461665"/>
              </a:xfrm>
              <a:prstGeom prst="rect">
                <a:avLst/>
              </a:prstGeom>
              <a:blipFill>
                <a:blip r:embed="rId6"/>
                <a:stretch>
                  <a:fillRect t="-14474" r="-46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73969" y="2525804"/>
                <a:ext cx="21579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列等价，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69" y="2525804"/>
                <a:ext cx="2157963" cy="461665"/>
              </a:xfrm>
              <a:prstGeom prst="rect">
                <a:avLst/>
              </a:prstGeom>
              <a:blipFill>
                <a:blip r:embed="rId7"/>
                <a:stretch>
                  <a:fillRect l="-565" t="-14474" r="-339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383714" y="2518347"/>
                <a:ext cx="17379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记作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.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714" y="2518347"/>
                <a:ext cx="1737976" cy="461665"/>
              </a:xfrm>
              <a:prstGeom prst="rect">
                <a:avLst/>
              </a:prstGeom>
              <a:blipFill>
                <a:blip r:embed="rId8"/>
                <a:stretch>
                  <a:fillRect l="-5263" t="-14474" r="-4912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347864" y="2381986"/>
                <a:ext cx="4124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2381986"/>
                <a:ext cx="412421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727530" y="3055619"/>
                <a:ext cx="62552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  如果矩阵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经过有限次</a:t>
                </a:r>
                <a:r>
                  <a:rPr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初等变换</a:t>
                </a: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变成矩阵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, 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30" y="3055619"/>
                <a:ext cx="6255239" cy="461665"/>
              </a:xfrm>
              <a:prstGeom prst="rect">
                <a:avLst/>
              </a:prstGeom>
              <a:blipFill>
                <a:blip r:embed="rId10"/>
                <a:stretch>
                  <a:fillRect t="-14474" r="-585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73969" y="3521013"/>
                <a:ext cx="18485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等价，</a:t>
                </a: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69" y="3521013"/>
                <a:ext cx="1848583" cy="461665"/>
              </a:xfrm>
              <a:prstGeom prst="rect">
                <a:avLst/>
              </a:prstGeom>
              <a:blipFill>
                <a:blip r:embed="rId11"/>
                <a:stretch>
                  <a:fillRect l="-660" t="-14667" r="-429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103922" y="3513556"/>
                <a:ext cx="17379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记作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.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922" y="3513556"/>
                <a:ext cx="1737976" cy="461665"/>
              </a:xfrm>
              <a:prstGeom prst="rect">
                <a:avLst/>
              </a:prstGeom>
              <a:blipFill>
                <a:blip r:embed="rId12"/>
                <a:stretch>
                  <a:fillRect l="-5263" t="-14474" r="-4912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971600" y="4129342"/>
            <a:ext cx="7027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矩阵之间的等价关系具有下列性质：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061864" y="4437112"/>
                <a:ext cx="6606480" cy="600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60000"/>
                  </a:lnSpc>
                </a:pPr>
                <a:r>
                  <a:rPr lang="en-US" altLang="zh-CN" b="1" dirty="0">
                    <a:solidFill>
                      <a:srgbClr val="FF3300"/>
                    </a:solidFill>
                    <a:latin typeface="+mn-lt"/>
                    <a:ea typeface="黑体" panose="02010609060101010101" pitchFamily="49" charset="-122"/>
                  </a:rPr>
                  <a:t>(1)</a:t>
                </a:r>
                <a:r>
                  <a:rPr lang="zh-CN" altLang="en-US" b="1" dirty="0">
                    <a:solidFill>
                      <a:srgbClr val="FF3300"/>
                    </a:solidFill>
                    <a:latin typeface="+mn-lt"/>
                    <a:ea typeface="黑体" panose="02010609060101010101" pitchFamily="49" charset="-122"/>
                  </a:rPr>
                  <a:t>反身性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；</a:t>
                </a: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64" y="4437112"/>
                <a:ext cx="6606480" cy="600998"/>
              </a:xfrm>
              <a:prstGeom prst="rect">
                <a:avLst/>
              </a:prstGeom>
              <a:blipFill>
                <a:blip r:embed="rId13"/>
                <a:stretch>
                  <a:fillRect l="-1384" b="-24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061864" y="4931289"/>
                <a:ext cx="6098076" cy="600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60000"/>
                  </a:lnSpc>
                </a:pPr>
                <a:r>
                  <a:rPr lang="en-US" altLang="zh-CN" b="1" dirty="0">
                    <a:solidFill>
                      <a:srgbClr val="FF3300"/>
                    </a:solidFill>
                    <a:latin typeface="+mn-lt"/>
                    <a:ea typeface="黑体" panose="02010609060101010101" pitchFamily="49" charset="-122"/>
                  </a:rPr>
                  <a:t>(2)</a:t>
                </a:r>
                <a:r>
                  <a:rPr lang="zh-CN" altLang="en-US" b="1" dirty="0">
                    <a:solidFill>
                      <a:srgbClr val="FF3300"/>
                    </a:solidFill>
                    <a:latin typeface="+mn-lt"/>
                    <a:ea typeface="黑体" panose="02010609060101010101" pitchFamily="49" charset="-122"/>
                  </a:rPr>
                  <a:t>对称性 </a:t>
                </a: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；</a:t>
                </a: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64" y="4931289"/>
                <a:ext cx="6098076" cy="600998"/>
              </a:xfrm>
              <a:prstGeom prst="rect">
                <a:avLst/>
              </a:prstGeom>
              <a:blipFill>
                <a:blip r:embed="rId14"/>
                <a:stretch>
                  <a:fillRect l="-1499" b="-23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061864" y="5435345"/>
                <a:ext cx="6102424" cy="600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60000"/>
                  </a:lnSpc>
                </a:pPr>
                <a:r>
                  <a:rPr lang="en-US" altLang="zh-CN" b="1" dirty="0">
                    <a:solidFill>
                      <a:srgbClr val="FF3300"/>
                    </a:solidFill>
                    <a:latin typeface="+mn-lt"/>
                    <a:ea typeface="黑体" panose="02010609060101010101" pitchFamily="49" charset="-122"/>
                  </a:rPr>
                  <a:t>(3)</a:t>
                </a:r>
                <a:r>
                  <a:rPr lang="zh-CN" altLang="en-US" b="1" dirty="0">
                    <a:solidFill>
                      <a:srgbClr val="FF3300"/>
                    </a:solidFill>
                    <a:latin typeface="+mn-lt"/>
                    <a:ea typeface="黑体" panose="02010609060101010101" pitchFamily="49" charset="-122"/>
                  </a:rPr>
                  <a:t>传递性 </a:t>
                </a: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.</a:t>
                </a:r>
                <a:endParaRPr lang="zh-CN" altLang="en-US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64" y="5435345"/>
                <a:ext cx="6102424" cy="600998"/>
              </a:xfrm>
              <a:prstGeom prst="rect">
                <a:avLst/>
              </a:prstGeom>
              <a:blipFill>
                <a:blip r:embed="rId15"/>
                <a:stretch>
                  <a:fillRect l="-1499" b="-24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7147557" y="106487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则称矩阵</a:t>
            </a:r>
          </a:p>
        </p:txBody>
      </p:sp>
      <p:sp>
        <p:nvSpPr>
          <p:cNvPr id="19" name="矩形 18"/>
          <p:cNvSpPr/>
          <p:nvPr/>
        </p:nvSpPr>
        <p:spPr>
          <a:xfrm>
            <a:off x="7164288" y="2070631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则称矩阵</a:t>
            </a:r>
          </a:p>
        </p:txBody>
      </p:sp>
      <p:sp>
        <p:nvSpPr>
          <p:cNvPr id="20" name="矩形 19"/>
          <p:cNvSpPr/>
          <p:nvPr/>
        </p:nvSpPr>
        <p:spPr>
          <a:xfrm>
            <a:off x="6876256" y="303890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则称矩阵</a:t>
            </a:r>
          </a:p>
        </p:txBody>
      </p:sp>
    </p:spTree>
    <p:extLst>
      <p:ext uri="{BB962C8B-B14F-4D97-AF65-F5344CB8AC3E}">
        <p14:creationId xmlns:p14="http://schemas.microsoft.com/office/powerpoint/2010/main" val="207081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687050"/>
              </p:ext>
            </p:extLst>
          </p:nvPr>
        </p:nvGraphicFramePr>
        <p:xfrm>
          <a:off x="466738" y="1376486"/>
          <a:ext cx="3672408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726400" imgH="17068800" progId="Equation.3">
                  <p:embed/>
                </p:oleObj>
              </mc:Choice>
              <mc:Fallback>
                <p:oleObj name="公式" r:id="rId2" imgW="20726400" imgH="17068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38" y="1376486"/>
                        <a:ext cx="3672408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0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875139"/>
              </p:ext>
            </p:extLst>
          </p:nvPr>
        </p:nvGraphicFramePr>
        <p:xfrm>
          <a:off x="4859226" y="1305396"/>
          <a:ext cx="3960441" cy="2107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127200" imgH="17068800" progId="Equation.3">
                  <p:embed/>
                </p:oleObj>
              </mc:Choice>
              <mc:Fallback>
                <p:oleObj name="公式" r:id="rId4" imgW="27127200" imgH="1706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226" y="1305396"/>
                        <a:ext cx="3960441" cy="2107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978324"/>
              </p:ext>
            </p:extLst>
          </p:nvPr>
        </p:nvGraphicFramePr>
        <p:xfrm>
          <a:off x="1479550" y="3681413"/>
          <a:ext cx="7332663" cy="188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1874400" imgH="17068800" progId="Equation.3">
                  <p:embed/>
                </p:oleObj>
              </mc:Choice>
              <mc:Fallback>
                <p:oleObj name="公式" r:id="rId6" imgW="61874400" imgH="1706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3681413"/>
                        <a:ext cx="7332663" cy="188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4896508" y="2097313"/>
            <a:ext cx="3203078" cy="542925"/>
            <a:chOff x="4716016" y="1897668"/>
            <a:chExt cx="3744416" cy="542384"/>
          </a:xfrm>
        </p:grpSpPr>
        <p:sp>
          <p:nvSpPr>
            <p:cNvPr id="5" name="TextBox 4"/>
            <p:cNvSpPr txBox="1"/>
            <p:nvPr/>
          </p:nvSpPr>
          <p:spPr>
            <a:xfrm>
              <a:off x="5724372" y="1916699"/>
              <a:ext cx="647889" cy="52335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i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宋体" charset="-122"/>
                </a:rPr>
                <a:t>k</a:t>
              </a:r>
              <a:endParaRPr lang="zh-CN" altLang="en-US" sz="28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ea typeface="宋体" charset="-122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04186" y="1897668"/>
              <a:ext cx="647889" cy="52335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i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宋体" charset="-122"/>
                </a:rPr>
                <a:t>k</a:t>
              </a:r>
              <a:endParaRPr lang="zh-CN" altLang="en-US" sz="28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ea typeface="宋体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716016" y="1916699"/>
              <a:ext cx="647889" cy="52335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i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宋体" charset="-122"/>
                </a:rPr>
                <a:t>k</a:t>
              </a:r>
              <a:endParaRPr lang="zh-CN" altLang="en-US" sz="28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ea typeface="宋体" charset="-122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812543" y="1897668"/>
              <a:ext cx="647889" cy="52335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i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+mj-lt"/>
                  <a:ea typeface="宋体" charset="-122"/>
                </a:rPr>
                <a:t>k</a:t>
              </a:r>
              <a:endParaRPr lang="zh-CN" altLang="en-US" sz="2800" b="1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ea typeface="宋体" charset="-122"/>
              </a:endParaRPr>
            </a:p>
          </p:txBody>
        </p:sp>
      </p:grpSp>
      <p:graphicFrame>
        <p:nvGraphicFramePr>
          <p:cNvPr id="6871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924388"/>
              </p:ext>
            </p:extLst>
          </p:nvPr>
        </p:nvGraphicFramePr>
        <p:xfrm>
          <a:off x="3922601" y="1460727"/>
          <a:ext cx="1079500" cy="1482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315200" imgH="10972800" progId="Equation.3">
                  <p:embed/>
                </p:oleObj>
              </mc:Choice>
              <mc:Fallback>
                <p:oleObj name="公式" r:id="rId8" imgW="7315200" imgH="10972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601" y="1460727"/>
                        <a:ext cx="1079500" cy="1482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1"/>
          <p:cNvGrpSpPr>
            <a:grpSpLocks/>
          </p:cNvGrpSpPr>
          <p:nvPr/>
        </p:nvGrpSpPr>
        <p:grpSpPr bwMode="auto">
          <a:xfrm>
            <a:off x="2051720" y="4393654"/>
            <a:ext cx="6480721" cy="541338"/>
            <a:chOff x="4716016" y="1897668"/>
            <a:chExt cx="3744416" cy="542384"/>
          </a:xfrm>
        </p:grpSpPr>
        <p:sp>
          <p:nvSpPr>
            <p:cNvPr id="13" name="TextBox 12"/>
            <p:cNvSpPr txBox="1"/>
            <p:nvPr/>
          </p:nvSpPr>
          <p:spPr>
            <a:xfrm>
              <a:off x="5724456" y="1916755"/>
              <a:ext cx="647613" cy="52329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i="1" dirty="0">
                  <a:latin typeface="+mj-lt"/>
                  <a:ea typeface="宋体" charset="-122"/>
                </a:rPr>
                <a:t>k</a:t>
              </a:r>
              <a:endParaRPr lang="zh-CN" altLang="en-US" sz="2800" i="1" dirty="0">
                <a:latin typeface="+mj-lt"/>
                <a:ea typeface="宋体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04379" y="1897668"/>
              <a:ext cx="647614" cy="52329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i="1" dirty="0">
                  <a:latin typeface="+mj-lt"/>
                  <a:ea typeface="宋体" charset="-122"/>
                </a:rPr>
                <a:t>k</a:t>
              </a:r>
              <a:endParaRPr lang="zh-CN" altLang="en-US" sz="2800" i="1" dirty="0">
                <a:latin typeface="+mj-lt"/>
                <a:ea typeface="宋体" charset="-122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16016" y="1916755"/>
              <a:ext cx="648465" cy="52329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i="1" dirty="0">
                  <a:latin typeface="+mj-lt"/>
                  <a:ea typeface="宋体" charset="-122"/>
                </a:rPr>
                <a:t>k</a:t>
              </a:r>
              <a:endParaRPr lang="zh-CN" altLang="en-US" sz="2800" i="1" dirty="0">
                <a:latin typeface="+mj-lt"/>
                <a:ea typeface="宋体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11967" y="1897668"/>
              <a:ext cx="648465" cy="52329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i="1" dirty="0">
                  <a:latin typeface="+mj-lt"/>
                  <a:ea typeface="宋体" charset="-122"/>
                </a:rPr>
                <a:t>k</a:t>
              </a:r>
              <a:endParaRPr lang="zh-CN" altLang="en-US" sz="2800" i="1" dirty="0">
                <a:latin typeface="+mj-lt"/>
                <a:ea typeface="宋体" charset="-122"/>
              </a:endParaRPr>
            </a:p>
          </p:txBody>
        </p:sp>
      </p:grpSp>
      <p:graphicFrame>
        <p:nvGraphicFramePr>
          <p:cNvPr id="68710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942648"/>
              </p:ext>
            </p:extLst>
          </p:nvPr>
        </p:nvGraphicFramePr>
        <p:xfrm>
          <a:off x="538747" y="3824535"/>
          <a:ext cx="1095375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620000" imgH="7924800" progId="Equation.3">
                  <p:embed/>
                </p:oleObj>
              </mc:Choice>
              <mc:Fallback>
                <p:oleObj name="公式" r:id="rId10" imgW="7620000" imgH="7924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47" y="3824535"/>
                        <a:ext cx="1095375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077502" y="2358966"/>
                <a:ext cx="76969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502" y="2358966"/>
                <a:ext cx="769698" cy="461665"/>
              </a:xfrm>
              <a:prstGeom prst="rect">
                <a:avLst/>
              </a:prstGeom>
              <a:blipFill rotWithShape="0">
                <a:blip r:embed="rId1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482799" y="588780"/>
            <a:ext cx="43772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矩阵的等价变换举例：</a:t>
            </a:r>
            <a:endParaRPr lang="zh-CN" altLang="en-US" sz="2800" dirty="0">
              <a:solidFill>
                <a:schemeClr val="bg2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87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87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87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87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813864"/>
              </p:ext>
            </p:extLst>
          </p:nvPr>
        </p:nvGraphicFramePr>
        <p:xfrm>
          <a:off x="3757613" y="3208944"/>
          <a:ext cx="3838575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33600" imgH="22250400" progId="">
                  <p:embed/>
                </p:oleObj>
              </mc:Choice>
              <mc:Fallback>
                <p:oleObj name="Equation" r:id="rId3" imgW="40233600" imgH="222504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7613" y="3208944"/>
                        <a:ext cx="3838575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113108"/>
              </p:ext>
            </p:extLst>
          </p:nvPr>
        </p:nvGraphicFramePr>
        <p:xfrm>
          <a:off x="3757613" y="3208944"/>
          <a:ext cx="3838575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233600" imgH="22250400" progId="">
                  <p:embed/>
                </p:oleObj>
              </mc:Choice>
              <mc:Fallback>
                <p:oleObj name="Equation" r:id="rId5" imgW="40233600" imgH="222504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7613" y="3208944"/>
                        <a:ext cx="3838575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925906"/>
              </p:ext>
            </p:extLst>
          </p:nvPr>
        </p:nvGraphicFramePr>
        <p:xfrm>
          <a:off x="3338513" y="840394"/>
          <a:ext cx="4041775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2367200" imgH="22555200" progId="">
                  <p:embed/>
                </p:oleObj>
              </mc:Choice>
              <mc:Fallback>
                <p:oleObj name="Equation" r:id="rId7" imgW="42367200" imgH="225552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3" y="840394"/>
                        <a:ext cx="4041775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AutoShape 4"/>
          <p:cNvSpPr>
            <a:spLocks noChangeArrowheads="1"/>
          </p:cNvSpPr>
          <p:nvPr/>
        </p:nvSpPr>
        <p:spPr bwMode="auto">
          <a:xfrm>
            <a:off x="716333" y="3720913"/>
            <a:ext cx="2598737" cy="1136650"/>
          </a:xfrm>
          <a:prstGeom prst="cloudCallout">
            <a:avLst>
              <a:gd name="adj1" fmla="val 66750"/>
              <a:gd name="adj2" fmla="val -2396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+mn-lt"/>
                <a:ea typeface="黑体" panose="02010609060101010101" pitchFamily="49" charset="-122"/>
              </a:rPr>
              <a:t>增广矩阵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712142" y="5334307"/>
            <a:ext cx="674017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结论：</a:t>
            </a: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对原线性方程组施行的变换可以转化为</a:t>
            </a:r>
            <a:endParaRPr lang="en-US" altLang="zh-CN" sz="2400" b="1" dirty="0">
              <a:latin typeface="+mn-lt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+mn-lt"/>
                <a:ea typeface="黑体" panose="02010609060101010101" pitchFamily="49" charset="-122"/>
              </a:rPr>
              <a:t>            </a:t>
            </a: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对增广矩阵的初等行变换</a:t>
            </a:r>
            <a:r>
              <a:rPr lang="en-US" altLang="zh-CN" sz="2400" b="1" dirty="0"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59398" name="Line 6"/>
          <p:cNvSpPr>
            <a:spLocks noChangeShapeType="1"/>
          </p:cNvSpPr>
          <p:nvPr/>
        </p:nvSpPr>
        <p:spPr bwMode="auto">
          <a:xfrm>
            <a:off x="3714750" y="2920019"/>
            <a:ext cx="215900" cy="360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399" name="Line 7"/>
          <p:cNvSpPr>
            <a:spLocks noChangeShapeType="1"/>
          </p:cNvSpPr>
          <p:nvPr/>
        </p:nvSpPr>
        <p:spPr bwMode="auto">
          <a:xfrm>
            <a:off x="4595813" y="2920019"/>
            <a:ext cx="144462" cy="360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00" name="Line 8"/>
          <p:cNvSpPr>
            <a:spLocks noChangeShapeType="1"/>
          </p:cNvSpPr>
          <p:nvPr/>
        </p:nvSpPr>
        <p:spPr bwMode="auto">
          <a:xfrm flipH="1">
            <a:off x="6072188" y="2920019"/>
            <a:ext cx="144462" cy="360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 flipH="1">
            <a:off x="6883400" y="2920019"/>
            <a:ext cx="215900" cy="360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>
            <a:off x="5407025" y="2920019"/>
            <a:ext cx="0" cy="360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19" name="Rectangle 27"/>
          <p:cNvSpPr>
            <a:spLocks noChangeArrowheads="1"/>
          </p:cNvSpPr>
          <p:nvPr/>
        </p:nvSpPr>
        <p:spPr bwMode="auto">
          <a:xfrm>
            <a:off x="3990975" y="3353407"/>
            <a:ext cx="431800" cy="18716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20" name="Rectangle 28"/>
          <p:cNvSpPr>
            <a:spLocks noChangeArrowheads="1"/>
          </p:cNvSpPr>
          <p:nvPr/>
        </p:nvSpPr>
        <p:spPr bwMode="auto">
          <a:xfrm>
            <a:off x="4422775" y="3353407"/>
            <a:ext cx="431800" cy="18716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21" name="Rectangle 29"/>
          <p:cNvSpPr>
            <a:spLocks noChangeArrowheads="1"/>
          </p:cNvSpPr>
          <p:nvPr/>
        </p:nvSpPr>
        <p:spPr bwMode="auto">
          <a:xfrm>
            <a:off x="5156200" y="3353407"/>
            <a:ext cx="431800" cy="18716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22" name="Rectangle 30"/>
          <p:cNvSpPr>
            <a:spLocks noChangeArrowheads="1"/>
          </p:cNvSpPr>
          <p:nvPr/>
        </p:nvSpPr>
        <p:spPr bwMode="auto">
          <a:xfrm>
            <a:off x="5876925" y="3353407"/>
            <a:ext cx="431800" cy="18716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23" name="Rectangle 31"/>
          <p:cNvSpPr>
            <a:spLocks noChangeArrowheads="1"/>
          </p:cNvSpPr>
          <p:nvPr/>
        </p:nvSpPr>
        <p:spPr bwMode="auto">
          <a:xfrm>
            <a:off x="6323013" y="3353407"/>
            <a:ext cx="431800" cy="18716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24" name="Rectangle 32"/>
          <p:cNvSpPr>
            <a:spLocks noChangeArrowheads="1"/>
          </p:cNvSpPr>
          <p:nvPr/>
        </p:nvSpPr>
        <p:spPr bwMode="auto">
          <a:xfrm>
            <a:off x="3468689" y="832457"/>
            <a:ext cx="317500" cy="2016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25" name="Rectangle 33"/>
          <p:cNvSpPr>
            <a:spLocks noChangeArrowheads="1"/>
          </p:cNvSpPr>
          <p:nvPr/>
        </p:nvSpPr>
        <p:spPr bwMode="auto">
          <a:xfrm>
            <a:off x="4175126" y="832457"/>
            <a:ext cx="476249" cy="2016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26" name="Rectangle 34"/>
          <p:cNvSpPr>
            <a:spLocks noChangeArrowheads="1"/>
          </p:cNvSpPr>
          <p:nvPr/>
        </p:nvSpPr>
        <p:spPr bwMode="auto">
          <a:xfrm>
            <a:off x="4968875" y="832457"/>
            <a:ext cx="503238" cy="2016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27" name="Rectangle 35"/>
          <p:cNvSpPr>
            <a:spLocks noChangeArrowheads="1"/>
          </p:cNvSpPr>
          <p:nvPr/>
        </p:nvSpPr>
        <p:spPr bwMode="auto">
          <a:xfrm>
            <a:off x="5862638" y="832457"/>
            <a:ext cx="458787" cy="2016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9430" name="Rectangle 38"/>
          <p:cNvSpPr>
            <a:spLocks noChangeArrowheads="1"/>
          </p:cNvSpPr>
          <p:nvPr/>
        </p:nvSpPr>
        <p:spPr bwMode="auto">
          <a:xfrm>
            <a:off x="6945314" y="832457"/>
            <a:ext cx="298449" cy="2016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3" name="Rectangle 26"/>
          <p:cNvSpPr txBox="1">
            <a:spLocks noChangeArrowheads="1"/>
          </p:cNvSpPr>
          <p:nvPr/>
        </p:nvSpPr>
        <p:spPr>
          <a:xfrm>
            <a:off x="662880" y="218094"/>
            <a:ext cx="8229600" cy="6302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线性方程组的求解与矩阵的初等行变换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59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3" dur="5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6" dur="5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animBg="1" autoUpdateAnimBg="0"/>
      <p:bldP spid="59397" grpId="0" autoUpdateAnimBg="0"/>
      <p:bldP spid="59398" grpId="0" animBg="1"/>
      <p:bldP spid="59399" grpId="0" animBg="1"/>
      <p:bldP spid="59400" grpId="0" animBg="1"/>
      <p:bldP spid="59401" grpId="0" animBg="1"/>
      <p:bldP spid="59402" grpId="0" animBg="1"/>
      <p:bldP spid="59419" grpId="0" animBg="1"/>
      <p:bldP spid="59420" grpId="0" animBg="1"/>
      <p:bldP spid="59421" grpId="0" animBg="1"/>
      <p:bldP spid="59422" grpId="0" animBg="1"/>
      <p:bldP spid="59423" grpId="0" animBg="1"/>
      <p:bldP spid="59424" grpId="0" animBg="1"/>
      <p:bldP spid="59425" grpId="0" animBg="1"/>
      <p:bldP spid="59426" grpId="0" animBg="1"/>
      <p:bldP spid="59427" grpId="0" animBg="1"/>
      <p:bldP spid="594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098560"/>
              </p:ext>
            </p:extLst>
          </p:nvPr>
        </p:nvGraphicFramePr>
        <p:xfrm>
          <a:off x="107950" y="731291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555200" progId="">
                  <p:embed/>
                </p:oleObj>
              </mc:Choice>
              <mc:Fallback>
                <p:oleObj name="Equation" r:id="rId2" imgW="42367200" imgH="225552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731291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428048"/>
              </p:ext>
            </p:extLst>
          </p:nvPr>
        </p:nvGraphicFramePr>
        <p:xfrm>
          <a:off x="107950" y="4014241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367200" imgH="22555200" progId="">
                  <p:embed/>
                </p:oleObj>
              </mc:Choice>
              <mc:Fallback>
                <p:oleObj name="Equation" r:id="rId4" imgW="42367200" imgH="225552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014241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655403"/>
              </p:ext>
            </p:extLst>
          </p:nvPr>
        </p:nvGraphicFramePr>
        <p:xfrm>
          <a:off x="4852988" y="731291"/>
          <a:ext cx="3838575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233600" imgH="22250400" progId="">
                  <p:embed/>
                </p:oleObj>
              </mc:Choice>
              <mc:Fallback>
                <p:oleObj name="Equation" r:id="rId6" imgW="40233600" imgH="222504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988" y="731291"/>
                        <a:ext cx="3838575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0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261517"/>
              </p:ext>
            </p:extLst>
          </p:nvPr>
        </p:nvGraphicFramePr>
        <p:xfrm>
          <a:off x="4852988" y="4041229"/>
          <a:ext cx="3895725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843200" imgH="22250400" progId="">
                  <p:embed/>
                </p:oleObj>
              </mc:Choice>
              <mc:Fallback>
                <p:oleObj name="Equation" r:id="rId8" imgW="40843200" imgH="222504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988" y="4041229"/>
                        <a:ext cx="3895725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1114574" y="3066504"/>
            <a:ext cx="1873250" cy="762000"/>
            <a:chOff x="158" y="1907"/>
            <a:chExt cx="1180" cy="480"/>
          </a:xfrm>
        </p:grpSpPr>
        <p:grpSp>
          <p:nvGrpSpPr>
            <p:cNvPr id="134166" name="Group 49"/>
            <p:cNvGrpSpPr>
              <a:grpSpLocks/>
            </p:cNvGrpSpPr>
            <p:nvPr/>
          </p:nvGrpSpPr>
          <p:grpSpPr bwMode="auto">
            <a:xfrm>
              <a:off x="362" y="1907"/>
              <a:ext cx="771" cy="250"/>
              <a:chOff x="2835" y="1979"/>
              <a:chExt cx="771" cy="250"/>
            </a:xfrm>
          </p:grpSpPr>
          <p:sp>
            <p:nvSpPr>
              <p:cNvPr id="134169" name="Text Box 50"/>
              <p:cNvSpPr txBox="1">
                <a:spLocks noChangeArrowheads="1"/>
              </p:cNvSpPr>
              <p:nvPr/>
            </p:nvSpPr>
            <p:spPr bwMode="auto">
              <a:xfrm>
                <a:off x="2835" y="1979"/>
                <a:ext cx="3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solidFill>
                      <a:srgbClr val="0000FF"/>
                    </a:solidFill>
                  </a:rPr>
                  <a:t>①</a:t>
                </a:r>
              </a:p>
            </p:txBody>
          </p:sp>
          <p:sp>
            <p:nvSpPr>
              <p:cNvPr id="134170" name="Text Box 51"/>
              <p:cNvSpPr txBox="1">
                <a:spLocks noChangeArrowheads="1"/>
              </p:cNvSpPr>
              <p:nvPr/>
            </p:nvSpPr>
            <p:spPr bwMode="auto">
              <a:xfrm>
                <a:off x="3288" y="1979"/>
                <a:ext cx="3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solidFill>
                      <a:srgbClr val="0000FF"/>
                    </a:solidFill>
                  </a:rPr>
                  <a:t>②</a:t>
                </a:r>
              </a:p>
            </p:txBody>
          </p:sp>
          <p:sp>
            <p:nvSpPr>
              <p:cNvPr id="134171" name="Line 52"/>
              <p:cNvSpPr>
                <a:spLocks noChangeShapeType="1"/>
              </p:cNvSpPr>
              <p:nvPr/>
            </p:nvSpPr>
            <p:spPr bwMode="auto">
              <a:xfrm>
                <a:off x="3061" y="2115"/>
                <a:ext cx="27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4167" name="Line 53"/>
            <p:cNvSpPr>
              <a:spLocks noChangeShapeType="1"/>
            </p:cNvSpPr>
            <p:nvPr/>
          </p:nvSpPr>
          <p:spPr bwMode="auto">
            <a:xfrm>
              <a:off x="158" y="2157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8" name="Text Box 54"/>
            <p:cNvSpPr txBox="1">
              <a:spLocks noChangeArrowheads="1"/>
            </p:cNvSpPr>
            <p:nvPr/>
          </p:nvSpPr>
          <p:spPr bwMode="auto">
            <a:xfrm>
              <a:off x="505" y="2156"/>
              <a:ext cx="4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</a:rPr>
                <a:t>③÷2  </a:t>
              </a:r>
            </a:p>
          </p:txBody>
        </p:sp>
      </p:grp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5435947" y="2985541"/>
            <a:ext cx="1584325" cy="966788"/>
            <a:chOff x="3016" y="1798"/>
            <a:chExt cx="998" cy="609"/>
          </a:xfrm>
        </p:grpSpPr>
        <p:graphicFrame>
          <p:nvGraphicFramePr>
            <p:cNvPr id="134163" name="Object 18"/>
            <p:cNvGraphicFramePr>
              <a:graphicFrameLocks noChangeAspect="1"/>
            </p:cNvGraphicFramePr>
            <p:nvPr/>
          </p:nvGraphicFramePr>
          <p:xfrm>
            <a:off x="3248" y="1798"/>
            <a:ext cx="53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277600" imgH="5486400" progId="">
                    <p:embed/>
                  </p:oleObj>
                </mc:Choice>
                <mc:Fallback>
                  <p:oleObj name="Equation" r:id="rId10" imgW="11277600" imgH="5486400" progId="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8" y="1798"/>
                          <a:ext cx="53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164" name="Object 19"/>
            <p:cNvGraphicFramePr>
              <a:graphicFrameLocks noChangeAspect="1"/>
            </p:cNvGraphicFramePr>
            <p:nvPr/>
          </p:nvGraphicFramePr>
          <p:xfrm>
            <a:off x="3306" y="2148"/>
            <a:ext cx="41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839200" imgH="5486400" progId="">
                    <p:embed/>
                  </p:oleObj>
                </mc:Choice>
                <mc:Fallback>
                  <p:oleObj name="Equation" r:id="rId12" imgW="8839200" imgH="5486400" progId="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6" y="2148"/>
                          <a:ext cx="41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4165" name="Freeform 57"/>
            <p:cNvSpPr>
              <a:spLocks/>
            </p:cNvSpPr>
            <p:nvPr/>
          </p:nvSpPr>
          <p:spPr bwMode="auto">
            <a:xfrm>
              <a:off x="3016" y="2057"/>
              <a:ext cx="998" cy="91"/>
            </a:xfrm>
            <a:custGeom>
              <a:avLst/>
              <a:gdLst>
                <a:gd name="T0" fmla="*/ 0 w 1179"/>
                <a:gd name="T1" fmla="*/ 0 h 273"/>
                <a:gd name="T2" fmla="*/ 3 w 1179"/>
                <a:gd name="T3" fmla="*/ 0 h 273"/>
                <a:gd name="T4" fmla="*/ 3 w 1179"/>
                <a:gd name="T5" fmla="*/ 0 h 273"/>
                <a:gd name="T6" fmla="*/ 3 w 1179"/>
                <a:gd name="T7" fmla="*/ 0 h 273"/>
                <a:gd name="T8" fmla="*/ 3 w 1179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9"/>
                <a:gd name="T16" fmla="*/ 0 h 273"/>
                <a:gd name="T17" fmla="*/ 1179 w 1179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9" h="273">
                  <a:moveTo>
                    <a:pt x="0" y="139"/>
                  </a:moveTo>
                  <a:cubicBezTo>
                    <a:pt x="46" y="116"/>
                    <a:pt x="178" y="0"/>
                    <a:pt x="276" y="0"/>
                  </a:cubicBezTo>
                  <a:cubicBezTo>
                    <a:pt x="374" y="0"/>
                    <a:pt x="485" y="94"/>
                    <a:pt x="589" y="139"/>
                  </a:cubicBezTo>
                  <a:cubicBezTo>
                    <a:pt x="693" y="184"/>
                    <a:pt x="803" y="273"/>
                    <a:pt x="901" y="273"/>
                  </a:cubicBezTo>
                  <a:cubicBezTo>
                    <a:pt x="999" y="273"/>
                    <a:pt x="1121" y="167"/>
                    <a:pt x="1179" y="13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58"/>
          <p:cNvGrpSpPr>
            <a:grpSpLocks/>
          </p:cNvGrpSpPr>
          <p:nvPr/>
        </p:nvGrpSpPr>
        <p:grpSpPr bwMode="auto">
          <a:xfrm>
            <a:off x="4140200" y="4065041"/>
            <a:ext cx="504825" cy="1995488"/>
            <a:chOff x="4240" y="1509"/>
            <a:chExt cx="318" cy="1257"/>
          </a:xfrm>
        </p:grpSpPr>
        <p:sp>
          <p:nvSpPr>
            <p:cNvPr id="134159" name="Text Box 59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4160" name="Text Box 60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4161" name="Text Box 61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4162" name="Text Box 62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grpSp>
        <p:nvGrpSpPr>
          <p:cNvPr id="134153" name="Group 63"/>
          <p:cNvGrpSpPr>
            <a:grpSpLocks/>
          </p:cNvGrpSpPr>
          <p:nvPr/>
        </p:nvGrpSpPr>
        <p:grpSpPr bwMode="auto">
          <a:xfrm>
            <a:off x="4140200" y="772566"/>
            <a:ext cx="504825" cy="1995488"/>
            <a:chOff x="4240" y="1509"/>
            <a:chExt cx="318" cy="1257"/>
          </a:xfrm>
        </p:grpSpPr>
        <p:sp>
          <p:nvSpPr>
            <p:cNvPr id="134155" name="Text Box 64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4156" name="Text Box 65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4157" name="Text Box 66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4158" name="Text Box 67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sp>
        <p:nvSpPr>
          <p:cNvPr id="29" name="Rectangle 26"/>
          <p:cNvSpPr txBox="1">
            <a:spLocks noChangeArrowheads="1"/>
          </p:cNvSpPr>
          <p:nvPr/>
        </p:nvSpPr>
        <p:spPr>
          <a:xfrm>
            <a:off x="179388" y="175666"/>
            <a:ext cx="8229600" cy="6302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线性方程组的求解与矩阵的初等行变换对照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849547"/>
              </p:ext>
            </p:extLst>
          </p:nvPr>
        </p:nvGraphicFramePr>
        <p:xfrm>
          <a:off x="107950" y="731291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555200" progId="">
                  <p:embed/>
                </p:oleObj>
              </mc:Choice>
              <mc:Fallback>
                <p:oleObj name="Equation" r:id="rId2" imgW="42367200" imgH="225552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731291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761300"/>
              </p:ext>
            </p:extLst>
          </p:nvPr>
        </p:nvGraphicFramePr>
        <p:xfrm>
          <a:off x="107950" y="4014241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367200" imgH="22555200" progId="">
                  <p:embed/>
                </p:oleObj>
              </mc:Choice>
              <mc:Fallback>
                <p:oleObj name="Equation" r:id="rId4" imgW="42367200" imgH="225552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014241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23140"/>
              </p:ext>
            </p:extLst>
          </p:nvPr>
        </p:nvGraphicFramePr>
        <p:xfrm>
          <a:off x="4908550" y="731291"/>
          <a:ext cx="3897313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843200" imgH="22250400" progId="">
                  <p:embed/>
                </p:oleObj>
              </mc:Choice>
              <mc:Fallback>
                <p:oleObj name="Equation" r:id="rId6" imgW="40843200" imgH="222504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731291"/>
                        <a:ext cx="3897313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115658"/>
              </p:ext>
            </p:extLst>
          </p:nvPr>
        </p:nvGraphicFramePr>
        <p:xfrm>
          <a:off x="4908550" y="4041229"/>
          <a:ext cx="4127500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281600" imgH="22250400" progId="">
                  <p:embed/>
                </p:oleObj>
              </mc:Choice>
              <mc:Fallback>
                <p:oleObj name="Equation" r:id="rId8" imgW="43281600" imgH="2225040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4041229"/>
                        <a:ext cx="4127500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1258590" y="2895054"/>
            <a:ext cx="1873250" cy="1106487"/>
            <a:chOff x="158" y="1741"/>
            <a:chExt cx="1180" cy="697"/>
          </a:xfrm>
        </p:grpSpPr>
        <p:sp>
          <p:nvSpPr>
            <p:cNvPr id="135191" name="Text Box 27"/>
            <p:cNvSpPr txBox="1">
              <a:spLocks noChangeArrowheads="1"/>
            </p:cNvSpPr>
            <p:nvPr/>
          </p:nvSpPr>
          <p:spPr bwMode="auto">
            <a:xfrm>
              <a:off x="435" y="1741"/>
              <a:ext cx="6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</a:rPr>
                <a:t>②</a:t>
              </a:r>
              <a:r>
                <a:rPr lang="zh-CN" altLang="en-US" sz="1800">
                  <a:solidFill>
                    <a:srgbClr val="0000FF"/>
                  </a:solidFill>
                </a:rPr>
                <a:t>－</a:t>
              </a:r>
              <a:r>
                <a:rPr lang="zh-CN" altLang="en-US" sz="20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5192" name="Line 28"/>
            <p:cNvSpPr>
              <a:spLocks noChangeShapeType="1"/>
            </p:cNvSpPr>
            <p:nvPr/>
          </p:nvSpPr>
          <p:spPr bwMode="auto">
            <a:xfrm>
              <a:off x="158" y="1991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93" name="Text Box 29"/>
            <p:cNvSpPr txBox="1">
              <a:spLocks noChangeArrowheads="1"/>
            </p:cNvSpPr>
            <p:nvPr/>
          </p:nvSpPr>
          <p:spPr bwMode="auto">
            <a:xfrm>
              <a:off x="335" y="2001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</a:rPr>
                <a:t>③</a:t>
              </a:r>
              <a:r>
                <a:rPr lang="en-US" altLang="en-US" sz="1800" b="1">
                  <a:solidFill>
                    <a:srgbClr val="0000FF"/>
                  </a:solidFill>
                </a:rPr>
                <a:t>－</a:t>
              </a:r>
              <a:r>
                <a:rPr lang="en-US" altLang="zh-CN" sz="1800" b="1">
                  <a:solidFill>
                    <a:srgbClr val="0000FF"/>
                  </a:solidFill>
                </a:rPr>
                <a:t>2×①  </a:t>
              </a:r>
            </a:p>
          </p:txBody>
        </p:sp>
        <p:sp>
          <p:nvSpPr>
            <p:cNvPr id="135194" name="Text Box 30"/>
            <p:cNvSpPr txBox="1">
              <a:spLocks noChangeArrowheads="1"/>
            </p:cNvSpPr>
            <p:nvPr/>
          </p:nvSpPr>
          <p:spPr bwMode="auto">
            <a:xfrm>
              <a:off x="335" y="2207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</a:rPr>
                <a:t>④</a:t>
              </a:r>
              <a:r>
                <a:rPr lang="en-US" altLang="en-US" sz="1800" b="1">
                  <a:solidFill>
                    <a:srgbClr val="0000FF"/>
                  </a:solidFill>
                </a:rPr>
                <a:t>－</a:t>
              </a:r>
              <a:r>
                <a:rPr lang="en-US" altLang="zh-CN" sz="1800" b="1">
                  <a:solidFill>
                    <a:srgbClr val="0000FF"/>
                  </a:solidFill>
                </a:rPr>
                <a:t>3×①</a:t>
              </a:r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5723979" y="2768054"/>
            <a:ext cx="1584325" cy="1301750"/>
            <a:chOff x="3016" y="1661"/>
            <a:chExt cx="998" cy="820"/>
          </a:xfrm>
        </p:grpSpPr>
        <p:graphicFrame>
          <p:nvGraphicFramePr>
            <p:cNvPr id="135187" name="Object 20"/>
            <p:cNvGraphicFramePr>
              <a:graphicFrameLocks noChangeAspect="1"/>
            </p:cNvGraphicFramePr>
            <p:nvPr/>
          </p:nvGraphicFramePr>
          <p:xfrm>
            <a:off x="3291" y="1661"/>
            <a:ext cx="44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9448800" imgH="5486400" progId="">
                    <p:embed/>
                  </p:oleObj>
                </mc:Choice>
                <mc:Fallback>
                  <p:oleObj name="Equation" r:id="rId10" imgW="9448800" imgH="5486400" progId="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1" y="1661"/>
                          <a:ext cx="44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188" name="Object 21"/>
            <p:cNvGraphicFramePr>
              <a:graphicFrameLocks noChangeAspect="1"/>
            </p:cNvGraphicFramePr>
            <p:nvPr/>
          </p:nvGraphicFramePr>
          <p:xfrm>
            <a:off x="3256" y="2011"/>
            <a:ext cx="518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0972800" imgH="5486400" progId="">
                    <p:embed/>
                  </p:oleObj>
                </mc:Choice>
                <mc:Fallback>
                  <p:oleObj name="Equation" r:id="rId12" imgW="10972800" imgH="5486400" progId="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6" y="2011"/>
                          <a:ext cx="518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189" name="Freeform 25"/>
            <p:cNvSpPr>
              <a:spLocks/>
            </p:cNvSpPr>
            <p:nvPr/>
          </p:nvSpPr>
          <p:spPr bwMode="auto">
            <a:xfrm>
              <a:off x="3016" y="1920"/>
              <a:ext cx="998" cy="91"/>
            </a:xfrm>
            <a:custGeom>
              <a:avLst/>
              <a:gdLst>
                <a:gd name="T0" fmla="*/ 0 w 1179"/>
                <a:gd name="T1" fmla="*/ 0 h 273"/>
                <a:gd name="T2" fmla="*/ 3 w 1179"/>
                <a:gd name="T3" fmla="*/ 0 h 273"/>
                <a:gd name="T4" fmla="*/ 3 w 1179"/>
                <a:gd name="T5" fmla="*/ 0 h 273"/>
                <a:gd name="T6" fmla="*/ 3 w 1179"/>
                <a:gd name="T7" fmla="*/ 0 h 273"/>
                <a:gd name="T8" fmla="*/ 3 w 1179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9"/>
                <a:gd name="T16" fmla="*/ 0 h 273"/>
                <a:gd name="T17" fmla="*/ 1179 w 1179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9" h="273">
                  <a:moveTo>
                    <a:pt x="0" y="139"/>
                  </a:moveTo>
                  <a:cubicBezTo>
                    <a:pt x="46" y="116"/>
                    <a:pt x="178" y="0"/>
                    <a:pt x="276" y="0"/>
                  </a:cubicBezTo>
                  <a:cubicBezTo>
                    <a:pt x="374" y="0"/>
                    <a:pt x="485" y="94"/>
                    <a:pt x="589" y="139"/>
                  </a:cubicBezTo>
                  <a:cubicBezTo>
                    <a:pt x="693" y="184"/>
                    <a:pt x="803" y="273"/>
                    <a:pt x="901" y="273"/>
                  </a:cubicBezTo>
                  <a:cubicBezTo>
                    <a:pt x="999" y="273"/>
                    <a:pt x="1121" y="167"/>
                    <a:pt x="1179" y="13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5190" name="Object 22"/>
            <p:cNvGraphicFramePr>
              <a:graphicFrameLocks noChangeAspect="1"/>
            </p:cNvGraphicFramePr>
            <p:nvPr/>
          </p:nvGraphicFramePr>
          <p:xfrm>
            <a:off x="3256" y="2222"/>
            <a:ext cx="518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0972800" imgH="5486400" progId="">
                    <p:embed/>
                  </p:oleObj>
                </mc:Choice>
                <mc:Fallback>
                  <p:oleObj name="Equation" r:id="rId14" imgW="10972800" imgH="5486400" progId="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6" y="2222"/>
                          <a:ext cx="518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4140200" y="4065041"/>
            <a:ext cx="504825" cy="1995488"/>
            <a:chOff x="4240" y="1509"/>
            <a:chExt cx="318" cy="1257"/>
          </a:xfrm>
        </p:grpSpPr>
        <p:sp>
          <p:nvSpPr>
            <p:cNvPr id="135183" name="Text Box 33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5184" name="Text Box 34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5185" name="Text Box 35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5186" name="Text Box 36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grpSp>
        <p:nvGrpSpPr>
          <p:cNvPr id="135177" name="Group 37"/>
          <p:cNvGrpSpPr>
            <a:grpSpLocks/>
          </p:cNvGrpSpPr>
          <p:nvPr/>
        </p:nvGrpSpPr>
        <p:grpSpPr bwMode="auto">
          <a:xfrm>
            <a:off x="4140200" y="772566"/>
            <a:ext cx="504825" cy="1995488"/>
            <a:chOff x="4240" y="1509"/>
            <a:chExt cx="318" cy="1257"/>
          </a:xfrm>
        </p:grpSpPr>
        <p:sp>
          <p:nvSpPr>
            <p:cNvPr id="135179" name="Text Box 38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5180" name="Text Box 39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5181" name="Text Box 40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5182" name="Text Box 41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sp>
        <p:nvSpPr>
          <p:cNvPr id="29" name="Rectangle 26"/>
          <p:cNvSpPr txBox="1">
            <a:spLocks noChangeArrowheads="1"/>
          </p:cNvSpPr>
          <p:nvPr/>
        </p:nvSpPr>
        <p:spPr>
          <a:xfrm>
            <a:off x="179388" y="175666"/>
            <a:ext cx="8229600" cy="6302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线性方程组的求解与矩阵的初等行变换对照（续）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19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732624"/>
              </p:ext>
            </p:extLst>
          </p:nvPr>
        </p:nvGraphicFramePr>
        <p:xfrm>
          <a:off x="107950" y="731291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555200" progId="">
                  <p:embed/>
                </p:oleObj>
              </mc:Choice>
              <mc:Fallback>
                <p:oleObj name="Equation" r:id="rId2" imgW="42367200" imgH="225552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731291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863745"/>
              </p:ext>
            </p:extLst>
          </p:nvPr>
        </p:nvGraphicFramePr>
        <p:xfrm>
          <a:off x="107950" y="4014241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367200" imgH="22555200" progId="">
                  <p:embed/>
                </p:oleObj>
              </mc:Choice>
              <mc:Fallback>
                <p:oleObj name="Equation" r:id="rId4" imgW="42367200" imgH="225552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014241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882970"/>
              </p:ext>
            </p:extLst>
          </p:nvPr>
        </p:nvGraphicFramePr>
        <p:xfrm>
          <a:off x="4905375" y="731291"/>
          <a:ext cx="4130675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281600" imgH="22250400" progId="">
                  <p:embed/>
                </p:oleObj>
              </mc:Choice>
              <mc:Fallback>
                <p:oleObj name="Equation" r:id="rId6" imgW="43281600" imgH="222504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731291"/>
                        <a:ext cx="4130675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118945"/>
              </p:ext>
            </p:extLst>
          </p:nvPr>
        </p:nvGraphicFramePr>
        <p:xfrm>
          <a:off x="4905375" y="4041229"/>
          <a:ext cx="3719513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014400" imgH="22250400" progId="">
                  <p:embed/>
                </p:oleObj>
              </mc:Choice>
              <mc:Fallback>
                <p:oleObj name="Equation" r:id="rId8" imgW="39014400" imgH="2225040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4041229"/>
                        <a:ext cx="3719513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5723979" y="2768054"/>
            <a:ext cx="1584325" cy="1301750"/>
            <a:chOff x="3016" y="1661"/>
            <a:chExt cx="998" cy="820"/>
          </a:xfrm>
        </p:grpSpPr>
        <p:graphicFrame>
          <p:nvGraphicFramePr>
            <p:cNvPr id="136215" name="Object 20"/>
            <p:cNvGraphicFramePr>
              <a:graphicFrameLocks noChangeAspect="1"/>
            </p:cNvGraphicFramePr>
            <p:nvPr/>
          </p:nvGraphicFramePr>
          <p:xfrm>
            <a:off x="3302" y="1661"/>
            <a:ext cx="418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839200" imgH="5486400" progId="">
                    <p:embed/>
                  </p:oleObj>
                </mc:Choice>
                <mc:Fallback>
                  <p:oleObj name="Equation" r:id="rId10" imgW="8839200" imgH="5486400" progId="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2" y="1661"/>
                          <a:ext cx="418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16" name="Object 21"/>
            <p:cNvGraphicFramePr>
              <a:graphicFrameLocks noChangeAspect="1"/>
            </p:cNvGraphicFramePr>
            <p:nvPr/>
          </p:nvGraphicFramePr>
          <p:xfrm>
            <a:off x="3249" y="2011"/>
            <a:ext cx="53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277600" imgH="5486400" progId="">
                    <p:embed/>
                  </p:oleObj>
                </mc:Choice>
                <mc:Fallback>
                  <p:oleObj name="Equation" r:id="rId12" imgW="11277600" imgH="5486400" progId="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9" y="2011"/>
                          <a:ext cx="53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217" name="Freeform 18"/>
            <p:cNvSpPr>
              <a:spLocks/>
            </p:cNvSpPr>
            <p:nvPr/>
          </p:nvSpPr>
          <p:spPr bwMode="auto">
            <a:xfrm>
              <a:off x="3016" y="1920"/>
              <a:ext cx="998" cy="91"/>
            </a:xfrm>
            <a:custGeom>
              <a:avLst/>
              <a:gdLst>
                <a:gd name="T0" fmla="*/ 0 w 1179"/>
                <a:gd name="T1" fmla="*/ 0 h 273"/>
                <a:gd name="T2" fmla="*/ 3 w 1179"/>
                <a:gd name="T3" fmla="*/ 0 h 273"/>
                <a:gd name="T4" fmla="*/ 3 w 1179"/>
                <a:gd name="T5" fmla="*/ 0 h 273"/>
                <a:gd name="T6" fmla="*/ 3 w 1179"/>
                <a:gd name="T7" fmla="*/ 0 h 273"/>
                <a:gd name="T8" fmla="*/ 3 w 1179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9"/>
                <a:gd name="T16" fmla="*/ 0 h 273"/>
                <a:gd name="T17" fmla="*/ 1179 w 1179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9" h="273">
                  <a:moveTo>
                    <a:pt x="0" y="139"/>
                  </a:moveTo>
                  <a:cubicBezTo>
                    <a:pt x="46" y="116"/>
                    <a:pt x="178" y="0"/>
                    <a:pt x="276" y="0"/>
                  </a:cubicBezTo>
                  <a:cubicBezTo>
                    <a:pt x="374" y="0"/>
                    <a:pt x="485" y="94"/>
                    <a:pt x="589" y="139"/>
                  </a:cubicBezTo>
                  <a:cubicBezTo>
                    <a:pt x="693" y="184"/>
                    <a:pt x="803" y="273"/>
                    <a:pt x="901" y="273"/>
                  </a:cubicBezTo>
                  <a:cubicBezTo>
                    <a:pt x="999" y="273"/>
                    <a:pt x="1121" y="167"/>
                    <a:pt x="1179" y="13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6218" name="Object 22"/>
            <p:cNvGraphicFramePr>
              <a:graphicFrameLocks noChangeAspect="1"/>
            </p:cNvGraphicFramePr>
            <p:nvPr/>
          </p:nvGraphicFramePr>
          <p:xfrm>
            <a:off x="3249" y="2222"/>
            <a:ext cx="53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277600" imgH="5486400" progId="">
                    <p:embed/>
                  </p:oleObj>
                </mc:Choice>
                <mc:Fallback>
                  <p:oleObj name="Equation" r:id="rId14" imgW="11277600" imgH="5486400" progId="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9" y="2222"/>
                          <a:ext cx="53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46622" y="2895054"/>
            <a:ext cx="1873250" cy="1106487"/>
            <a:chOff x="1292" y="1861"/>
            <a:chExt cx="1180" cy="697"/>
          </a:xfrm>
        </p:grpSpPr>
        <p:sp>
          <p:nvSpPr>
            <p:cNvPr id="136211" name="Text Box 26"/>
            <p:cNvSpPr txBox="1">
              <a:spLocks noChangeArrowheads="1"/>
            </p:cNvSpPr>
            <p:nvPr/>
          </p:nvSpPr>
          <p:spPr bwMode="auto">
            <a:xfrm>
              <a:off x="1564" y="1861"/>
              <a:ext cx="6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FF"/>
                  </a:solidFill>
                </a:rPr>
                <a:t>② </a:t>
              </a:r>
              <a:r>
                <a:rPr lang="en-US" altLang="zh-CN" sz="1800" b="1">
                  <a:solidFill>
                    <a:srgbClr val="0000FF"/>
                  </a:solidFill>
                </a:rPr>
                <a:t>÷2</a:t>
              </a:r>
            </a:p>
          </p:txBody>
        </p:sp>
        <p:sp>
          <p:nvSpPr>
            <p:cNvPr id="136212" name="Line 27"/>
            <p:cNvSpPr>
              <a:spLocks noChangeShapeType="1"/>
            </p:cNvSpPr>
            <p:nvPr/>
          </p:nvSpPr>
          <p:spPr bwMode="auto">
            <a:xfrm>
              <a:off x="1292" y="2111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3" name="Text Box 28"/>
            <p:cNvSpPr txBox="1">
              <a:spLocks noChangeArrowheads="1"/>
            </p:cNvSpPr>
            <p:nvPr/>
          </p:nvSpPr>
          <p:spPr bwMode="auto">
            <a:xfrm>
              <a:off x="1464" y="2121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</a:rPr>
                <a:t>③</a:t>
              </a:r>
              <a:r>
                <a:rPr lang="en-US" altLang="en-US" sz="1800" b="1" dirty="0">
                  <a:solidFill>
                    <a:srgbClr val="0000FF"/>
                  </a:solidFill>
                </a:rPr>
                <a:t>＋</a:t>
              </a:r>
              <a:r>
                <a:rPr lang="en-US" altLang="zh-CN" sz="1800" b="1" dirty="0">
                  <a:solidFill>
                    <a:srgbClr val="0000FF"/>
                  </a:solidFill>
                </a:rPr>
                <a:t>5×② </a:t>
              </a:r>
            </a:p>
          </p:txBody>
        </p:sp>
        <p:sp>
          <p:nvSpPr>
            <p:cNvPr id="136214" name="Text Box 29"/>
            <p:cNvSpPr txBox="1">
              <a:spLocks noChangeArrowheads="1"/>
            </p:cNvSpPr>
            <p:nvPr/>
          </p:nvSpPr>
          <p:spPr bwMode="auto">
            <a:xfrm>
              <a:off x="1474" y="2327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</a:rPr>
                <a:t>④</a:t>
              </a:r>
              <a:r>
                <a:rPr lang="en-US" altLang="en-US" sz="1800" b="1" dirty="0">
                  <a:solidFill>
                    <a:srgbClr val="0000FF"/>
                  </a:solidFill>
                </a:rPr>
                <a:t>－</a:t>
              </a:r>
              <a:r>
                <a:rPr lang="en-US" altLang="zh-CN" sz="1800" b="1" dirty="0">
                  <a:solidFill>
                    <a:srgbClr val="0000FF"/>
                  </a:solidFill>
                </a:rPr>
                <a:t>3×② </a:t>
              </a:r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4140200" y="4065041"/>
            <a:ext cx="504825" cy="1995488"/>
            <a:chOff x="4240" y="1509"/>
            <a:chExt cx="318" cy="1257"/>
          </a:xfrm>
        </p:grpSpPr>
        <p:sp>
          <p:nvSpPr>
            <p:cNvPr id="136207" name="Text Box 31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6208" name="Text Box 32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6209" name="Text Box 33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6210" name="Text Box 34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grpSp>
        <p:nvGrpSpPr>
          <p:cNvPr id="136201" name="Group 35"/>
          <p:cNvGrpSpPr>
            <a:grpSpLocks/>
          </p:cNvGrpSpPr>
          <p:nvPr/>
        </p:nvGrpSpPr>
        <p:grpSpPr bwMode="auto">
          <a:xfrm>
            <a:off x="4140200" y="772566"/>
            <a:ext cx="504825" cy="1995488"/>
            <a:chOff x="4240" y="1509"/>
            <a:chExt cx="318" cy="1257"/>
          </a:xfrm>
        </p:grpSpPr>
        <p:sp>
          <p:nvSpPr>
            <p:cNvPr id="136203" name="Text Box 36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6204" name="Text Box 37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6205" name="Text Box 38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6206" name="Text Box 39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sp>
        <p:nvSpPr>
          <p:cNvPr id="27" name="Rectangle 26"/>
          <p:cNvSpPr txBox="1">
            <a:spLocks noChangeArrowheads="1"/>
          </p:cNvSpPr>
          <p:nvPr/>
        </p:nvSpPr>
        <p:spPr>
          <a:xfrm>
            <a:off x="179388" y="175666"/>
            <a:ext cx="8229600" cy="6302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线性方程组的求解与矩阵的初等行变换对照（续）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0"/>
                                        <p:tgtEl>
                                          <p:spTgt spid="8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2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683211"/>
              </p:ext>
            </p:extLst>
          </p:nvPr>
        </p:nvGraphicFramePr>
        <p:xfrm>
          <a:off x="107950" y="731291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555200" progId="">
                  <p:embed/>
                </p:oleObj>
              </mc:Choice>
              <mc:Fallback>
                <p:oleObj name="Equation" r:id="rId2" imgW="42367200" imgH="225552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731291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964110"/>
              </p:ext>
            </p:extLst>
          </p:nvPr>
        </p:nvGraphicFramePr>
        <p:xfrm>
          <a:off x="106363" y="4028529"/>
          <a:ext cx="4041775" cy="212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367200" imgH="22250400" progId="">
                  <p:embed/>
                </p:oleObj>
              </mc:Choice>
              <mc:Fallback>
                <p:oleObj name="Equation" r:id="rId4" imgW="42367200" imgH="222504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3" y="4028529"/>
                        <a:ext cx="4041775" cy="212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441747"/>
              </p:ext>
            </p:extLst>
          </p:nvPr>
        </p:nvGraphicFramePr>
        <p:xfrm>
          <a:off x="4879975" y="731291"/>
          <a:ext cx="3724275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014400" imgH="22250400" progId="">
                  <p:embed/>
                </p:oleObj>
              </mc:Choice>
              <mc:Fallback>
                <p:oleObj name="Equation" r:id="rId6" imgW="39014400" imgH="222504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75" y="731291"/>
                        <a:ext cx="3724275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095194"/>
              </p:ext>
            </p:extLst>
          </p:nvPr>
        </p:nvGraphicFramePr>
        <p:xfrm>
          <a:off x="4879975" y="4041229"/>
          <a:ext cx="3719513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014400" imgH="22250400" progId="">
                  <p:embed/>
                </p:oleObj>
              </mc:Choice>
              <mc:Fallback>
                <p:oleObj name="Equation" r:id="rId8" imgW="39014400" imgH="222504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75" y="4041229"/>
                        <a:ext cx="3719513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5652120" y="2953469"/>
            <a:ext cx="1584325" cy="966787"/>
            <a:chOff x="3016" y="1661"/>
            <a:chExt cx="998" cy="609"/>
          </a:xfrm>
        </p:grpSpPr>
        <p:graphicFrame>
          <p:nvGraphicFramePr>
            <p:cNvPr id="137241" name="Object 18"/>
            <p:cNvGraphicFramePr>
              <a:graphicFrameLocks noChangeAspect="1"/>
            </p:cNvGraphicFramePr>
            <p:nvPr/>
          </p:nvGraphicFramePr>
          <p:xfrm>
            <a:off x="3238" y="1661"/>
            <a:ext cx="54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582400" imgH="5486400" progId="">
                    <p:embed/>
                  </p:oleObj>
                </mc:Choice>
                <mc:Fallback>
                  <p:oleObj name="Equation" r:id="rId10" imgW="11582400" imgH="5486400" progId="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8" y="1661"/>
                          <a:ext cx="54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42" name="Object 19"/>
            <p:cNvGraphicFramePr>
              <a:graphicFrameLocks noChangeAspect="1"/>
            </p:cNvGraphicFramePr>
            <p:nvPr/>
          </p:nvGraphicFramePr>
          <p:xfrm>
            <a:off x="3249" y="2011"/>
            <a:ext cx="53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277600" imgH="5486400" progId="">
                    <p:embed/>
                  </p:oleObj>
                </mc:Choice>
                <mc:Fallback>
                  <p:oleObj name="Equation" r:id="rId12" imgW="11277600" imgH="5486400" progId="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9" y="2011"/>
                          <a:ext cx="53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43" name="Freeform 18"/>
            <p:cNvSpPr>
              <a:spLocks/>
            </p:cNvSpPr>
            <p:nvPr/>
          </p:nvSpPr>
          <p:spPr bwMode="auto">
            <a:xfrm>
              <a:off x="3016" y="1920"/>
              <a:ext cx="998" cy="91"/>
            </a:xfrm>
            <a:custGeom>
              <a:avLst/>
              <a:gdLst>
                <a:gd name="T0" fmla="*/ 0 w 1179"/>
                <a:gd name="T1" fmla="*/ 0 h 273"/>
                <a:gd name="T2" fmla="*/ 3 w 1179"/>
                <a:gd name="T3" fmla="*/ 0 h 273"/>
                <a:gd name="T4" fmla="*/ 3 w 1179"/>
                <a:gd name="T5" fmla="*/ 0 h 273"/>
                <a:gd name="T6" fmla="*/ 3 w 1179"/>
                <a:gd name="T7" fmla="*/ 0 h 273"/>
                <a:gd name="T8" fmla="*/ 3 w 1179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9"/>
                <a:gd name="T16" fmla="*/ 0 h 273"/>
                <a:gd name="T17" fmla="*/ 1179 w 1179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9" h="273">
                  <a:moveTo>
                    <a:pt x="0" y="139"/>
                  </a:moveTo>
                  <a:cubicBezTo>
                    <a:pt x="46" y="116"/>
                    <a:pt x="178" y="0"/>
                    <a:pt x="276" y="0"/>
                  </a:cubicBezTo>
                  <a:cubicBezTo>
                    <a:pt x="374" y="0"/>
                    <a:pt x="485" y="94"/>
                    <a:pt x="589" y="139"/>
                  </a:cubicBezTo>
                  <a:cubicBezTo>
                    <a:pt x="693" y="184"/>
                    <a:pt x="803" y="273"/>
                    <a:pt x="901" y="273"/>
                  </a:cubicBezTo>
                  <a:cubicBezTo>
                    <a:pt x="999" y="273"/>
                    <a:pt x="1121" y="167"/>
                    <a:pt x="1179" y="13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330598" y="3058566"/>
            <a:ext cx="1873250" cy="779463"/>
            <a:chOff x="1292" y="1861"/>
            <a:chExt cx="1180" cy="491"/>
          </a:xfrm>
        </p:grpSpPr>
        <p:sp>
          <p:nvSpPr>
            <p:cNvPr id="137235" name="Line 26"/>
            <p:cNvSpPr>
              <a:spLocks noChangeShapeType="1"/>
            </p:cNvSpPr>
            <p:nvPr/>
          </p:nvSpPr>
          <p:spPr bwMode="auto">
            <a:xfrm>
              <a:off x="1292" y="2111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36" name="Text Box 27"/>
            <p:cNvSpPr txBox="1">
              <a:spLocks noChangeArrowheads="1"/>
            </p:cNvSpPr>
            <p:nvPr/>
          </p:nvSpPr>
          <p:spPr bwMode="auto">
            <a:xfrm>
              <a:off x="1464" y="2121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</a:rPr>
                <a:t>④</a:t>
              </a:r>
              <a:r>
                <a:rPr lang="en-US" altLang="en-US" sz="1800" b="1">
                  <a:solidFill>
                    <a:srgbClr val="000000"/>
                  </a:solidFill>
                </a:rPr>
                <a:t>－</a:t>
              </a:r>
              <a:r>
                <a:rPr lang="en-US" altLang="zh-CN" sz="1800" b="1">
                  <a:solidFill>
                    <a:srgbClr val="0000FF"/>
                  </a:solidFill>
                </a:rPr>
                <a:t>2×③</a:t>
              </a:r>
            </a:p>
          </p:txBody>
        </p:sp>
        <p:grpSp>
          <p:nvGrpSpPr>
            <p:cNvPr id="137237" name="Group 28"/>
            <p:cNvGrpSpPr>
              <a:grpSpLocks/>
            </p:cNvGrpSpPr>
            <p:nvPr/>
          </p:nvGrpSpPr>
          <p:grpSpPr bwMode="auto">
            <a:xfrm>
              <a:off x="1496" y="1861"/>
              <a:ext cx="771" cy="250"/>
              <a:chOff x="2835" y="1979"/>
              <a:chExt cx="771" cy="250"/>
            </a:xfrm>
          </p:grpSpPr>
          <p:sp>
            <p:nvSpPr>
              <p:cNvPr id="137238" name="Text Box 29"/>
              <p:cNvSpPr txBox="1">
                <a:spLocks noChangeArrowheads="1"/>
              </p:cNvSpPr>
              <p:nvPr/>
            </p:nvSpPr>
            <p:spPr bwMode="auto">
              <a:xfrm>
                <a:off x="2835" y="1979"/>
                <a:ext cx="3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solidFill>
                      <a:srgbClr val="0000FF"/>
                    </a:solidFill>
                  </a:rPr>
                  <a:t>③</a:t>
                </a:r>
              </a:p>
            </p:txBody>
          </p:sp>
          <p:sp>
            <p:nvSpPr>
              <p:cNvPr id="137239" name="Text Box 30"/>
              <p:cNvSpPr txBox="1">
                <a:spLocks noChangeArrowheads="1"/>
              </p:cNvSpPr>
              <p:nvPr/>
            </p:nvSpPr>
            <p:spPr bwMode="auto">
              <a:xfrm>
                <a:off x="3288" y="1979"/>
                <a:ext cx="31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rgbClr val="0000FF"/>
                    </a:solidFill>
                  </a:rPr>
                  <a:t>④</a:t>
                </a:r>
              </a:p>
            </p:txBody>
          </p:sp>
          <p:sp>
            <p:nvSpPr>
              <p:cNvPr id="137240" name="Line 31"/>
              <p:cNvSpPr>
                <a:spLocks noChangeShapeType="1"/>
              </p:cNvSpPr>
              <p:nvPr/>
            </p:nvSpPr>
            <p:spPr bwMode="auto">
              <a:xfrm>
                <a:off x="3061" y="2115"/>
                <a:ext cx="27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4140200" y="4065041"/>
            <a:ext cx="504825" cy="1995488"/>
            <a:chOff x="4240" y="1509"/>
            <a:chExt cx="318" cy="1257"/>
          </a:xfrm>
        </p:grpSpPr>
        <p:sp>
          <p:nvSpPr>
            <p:cNvPr id="137231" name="Text Box 33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7232" name="Text Box 34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7233" name="Text Box 35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7234" name="Text Box 36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grpSp>
        <p:nvGrpSpPr>
          <p:cNvPr id="137225" name="Group 37"/>
          <p:cNvGrpSpPr>
            <a:grpSpLocks/>
          </p:cNvGrpSpPr>
          <p:nvPr/>
        </p:nvGrpSpPr>
        <p:grpSpPr bwMode="auto">
          <a:xfrm>
            <a:off x="4140200" y="772566"/>
            <a:ext cx="504825" cy="1995488"/>
            <a:chOff x="4240" y="1509"/>
            <a:chExt cx="318" cy="1257"/>
          </a:xfrm>
        </p:grpSpPr>
        <p:sp>
          <p:nvSpPr>
            <p:cNvPr id="137227" name="Text Box 38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7228" name="Text Box 39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7229" name="Text Box 40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7230" name="Text Box 41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sp>
        <p:nvSpPr>
          <p:cNvPr id="28" name="Rectangle 26"/>
          <p:cNvSpPr txBox="1">
            <a:spLocks noChangeArrowheads="1"/>
          </p:cNvSpPr>
          <p:nvPr/>
        </p:nvSpPr>
        <p:spPr>
          <a:xfrm>
            <a:off x="179388" y="175666"/>
            <a:ext cx="8229600" cy="6302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线性方程组的求解与矩阵的初等行变换对照（续）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24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943426"/>
              </p:ext>
            </p:extLst>
          </p:nvPr>
        </p:nvGraphicFramePr>
        <p:xfrm>
          <a:off x="107950" y="817587"/>
          <a:ext cx="4040188" cy="212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250400" progId="">
                  <p:embed/>
                </p:oleObj>
              </mc:Choice>
              <mc:Fallback>
                <p:oleObj name="Equation" r:id="rId2" imgW="42367200" imgH="222504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817587"/>
                        <a:ext cx="4040188" cy="212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359588"/>
              </p:ext>
            </p:extLst>
          </p:nvPr>
        </p:nvGraphicFramePr>
        <p:xfrm>
          <a:off x="4879975" y="803299"/>
          <a:ext cx="3724275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014400" imgH="22250400" progId="">
                  <p:embed/>
                </p:oleObj>
              </mc:Choice>
              <mc:Fallback>
                <p:oleObj name="Equation" r:id="rId4" imgW="39014400" imgH="222504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75" y="803299"/>
                        <a:ext cx="3724275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8846"/>
              </p:ext>
            </p:extLst>
          </p:nvPr>
        </p:nvGraphicFramePr>
        <p:xfrm>
          <a:off x="4879975" y="4113237"/>
          <a:ext cx="3719513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014400" imgH="22250400" progId="">
                  <p:embed/>
                </p:oleObj>
              </mc:Choice>
              <mc:Fallback>
                <p:oleObj name="Equation" r:id="rId6" imgW="39014400" imgH="222504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75" y="4113237"/>
                        <a:ext cx="3719513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406728"/>
              </p:ext>
            </p:extLst>
          </p:nvPr>
        </p:nvGraphicFramePr>
        <p:xfrm>
          <a:off x="6094884" y="3025477"/>
          <a:ext cx="6858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0" imgH="5486400" progId="">
                  <p:embed/>
                </p:oleObj>
              </mc:Choice>
              <mc:Fallback>
                <p:oleObj name="Equation" r:id="rId8" imgW="9144000" imgH="54864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884" y="3025477"/>
                        <a:ext cx="6858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297785"/>
              </p:ext>
            </p:extLst>
          </p:nvPr>
        </p:nvGraphicFramePr>
        <p:xfrm>
          <a:off x="6090121" y="3581102"/>
          <a:ext cx="70961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448800" imgH="5486400" progId="">
                  <p:embed/>
                </p:oleObj>
              </mc:Choice>
              <mc:Fallback>
                <p:oleObj name="Equation" r:id="rId10" imgW="9448800" imgH="54864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0121" y="3581102"/>
                        <a:ext cx="709613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6" name="Freeform 18"/>
          <p:cNvSpPr>
            <a:spLocks/>
          </p:cNvSpPr>
          <p:nvPr/>
        </p:nvSpPr>
        <p:spPr bwMode="auto">
          <a:xfrm>
            <a:off x="5651971" y="3436639"/>
            <a:ext cx="1584325" cy="144463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8248" name="Group 24"/>
          <p:cNvGrpSpPr>
            <a:grpSpLocks/>
          </p:cNvGrpSpPr>
          <p:nvPr/>
        </p:nvGrpSpPr>
        <p:grpSpPr bwMode="auto">
          <a:xfrm>
            <a:off x="4140200" y="844574"/>
            <a:ext cx="504825" cy="1995488"/>
            <a:chOff x="4240" y="1509"/>
            <a:chExt cx="318" cy="1257"/>
          </a:xfrm>
        </p:grpSpPr>
        <p:sp>
          <p:nvSpPr>
            <p:cNvPr id="138257" name="Text Box 25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①</a:t>
              </a:r>
            </a:p>
          </p:txBody>
        </p:sp>
        <p:sp>
          <p:nvSpPr>
            <p:cNvPr id="138258" name="Text Box 26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②</a:t>
              </a:r>
            </a:p>
          </p:txBody>
        </p:sp>
        <p:sp>
          <p:nvSpPr>
            <p:cNvPr id="138259" name="Text Box 27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③</a:t>
              </a:r>
            </a:p>
          </p:txBody>
        </p:sp>
        <p:sp>
          <p:nvSpPr>
            <p:cNvPr id="138260" name="Text Box 28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</a:rPr>
                <a:t>④</a:t>
              </a:r>
            </a:p>
          </p:txBody>
        </p:sp>
      </p:grpSp>
      <p:sp>
        <p:nvSpPr>
          <p:cNvPr id="89117" name="Oval 29"/>
          <p:cNvSpPr>
            <a:spLocks noChangeArrowheads="1"/>
          </p:cNvSpPr>
          <p:nvPr/>
        </p:nvSpPr>
        <p:spPr bwMode="auto">
          <a:xfrm>
            <a:off x="5018088" y="895374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sp>
        <p:nvSpPr>
          <p:cNvPr id="89118" name="Oval 30"/>
          <p:cNvSpPr>
            <a:spLocks noChangeArrowheads="1"/>
          </p:cNvSpPr>
          <p:nvPr/>
        </p:nvSpPr>
        <p:spPr bwMode="auto">
          <a:xfrm>
            <a:off x="5508625" y="1414487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sp>
        <p:nvSpPr>
          <p:cNvPr id="89119" name="Oval 31"/>
          <p:cNvSpPr>
            <a:spLocks noChangeArrowheads="1"/>
          </p:cNvSpPr>
          <p:nvPr/>
        </p:nvSpPr>
        <p:spPr bwMode="auto">
          <a:xfrm>
            <a:off x="6688138" y="1932012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sp>
        <p:nvSpPr>
          <p:cNvPr id="89120" name="Oval 32"/>
          <p:cNvSpPr>
            <a:spLocks noChangeArrowheads="1"/>
          </p:cNvSpPr>
          <p:nvPr/>
        </p:nvSpPr>
        <p:spPr bwMode="auto">
          <a:xfrm>
            <a:off x="5018088" y="4208487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sp>
        <p:nvSpPr>
          <p:cNvPr id="89121" name="Oval 33"/>
          <p:cNvSpPr>
            <a:spLocks noChangeArrowheads="1"/>
          </p:cNvSpPr>
          <p:nvPr/>
        </p:nvSpPr>
        <p:spPr bwMode="auto">
          <a:xfrm>
            <a:off x="5508625" y="4727599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sp>
        <p:nvSpPr>
          <p:cNvPr id="89122" name="Oval 34"/>
          <p:cNvSpPr>
            <a:spLocks noChangeArrowheads="1"/>
          </p:cNvSpPr>
          <p:nvPr/>
        </p:nvSpPr>
        <p:spPr bwMode="auto">
          <a:xfrm>
            <a:off x="6688138" y="5245124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graphicFrame>
        <p:nvGraphicFramePr>
          <p:cNvPr id="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937344"/>
              </p:ext>
            </p:extLst>
          </p:nvPr>
        </p:nvGraphicFramePr>
        <p:xfrm>
          <a:off x="791654" y="4271986"/>
          <a:ext cx="21209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250400" imgH="17068800" progId="">
                  <p:embed/>
                </p:oleObj>
              </mc:Choice>
              <mc:Fallback>
                <p:oleObj name="Equation" r:id="rId12" imgW="22250400" imgH="170688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654" y="4271986"/>
                        <a:ext cx="212090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6"/>
          <p:cNvSpPr txBox="1">
            <a:spLocks noChangeArrowheads="1"/>
          </p:cNvSpPr>
          <p:nvPr/>
        </p:nvSpPr>
        <p:spPr>
          <a:xfrm>
            <a:off x="179388" y="247674"/>
            <a:ext cx="8229600" cy="6302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线性方程组的求解与矩阵的初等行变换对照（续）</a:t>
            </a:r>
          </a:p>
        </p:txBody>
      </p:sp>
      <p:grpSp>
        <p:nvGrpSpPr>
          <p:cNvPr id="22" name="Group 25"/>
          <p:cNvGrpSpPr>
            <a:grpSpLocks/>
          </p:cNvGrpSpPr>
          <p:nvPr/>
        </p:nvGrpSpPr>
        <p:grpSpPr bwMode="auto">
          <a:xfrm>
            <a:off x="898550" y="3064878"/>
            <a:ext cx="1873250" cy="887984"/>
            <a:chOff x="1292" y="1839"/>
            <a:chExt cx="1180" cy="531"/>
          </a:xfrm>
        </p:grpSpPr>
        <p:sp>
          <p:nvSpPr>
            <p:cNvPr id="23" name="Line 26"/>
            <p:cNvSpPr>
              <a:spLocks noChangeShapeType="1"/>
            </p:cNvSpPr>
            <p:nvPr/>
          </p:nvSpPr>
          <p:spPr bwMode="auto">
            <a:xfrm>
              <a:off x="1292" y="2111"/>
              <a:ext cx="11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1497" y="2139"/>
              <a:ext cx="8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</a:rPr>
                <a:t>②</a:t>
              </a:r>
              <a:r>
                <a:rPr lang="en-US" altLang="en-US" sz="1800" b="1" dirty="0">
                  <a:solidFill>
                    <a:srgbClr val="0000FF"/>
                  </a:solidFill>
                </a:rPr>
                <a:t> － </a:t>
              </a:r>
              <a:r>
                <a:rPr lang="en-US" altLang="zh-CN" sz="1800" b="1" dirty="0">
                  <a:solidFill>
                    <a:srgbClr val="0000FF"/>
                  </a:solidFill>
                </a:rPr>
                <a:t>③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None/>
              </a:pPr>
              <a:endParaRPr lang="en-US" altLang="zh-CN" sz="1800" b="1" dirty="0">
                <a:solidFill>
                  <a:srgbClr val="0000FF"/>
                </a:solidFill>
              </a:endParaRPr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1488" y="1839"/>
              <a:ext cx="726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solidFill>
                    <a:srgbClr val="0000FF"/>
                  </a:solidFill>
                </a:rPr>
                <a:t>①</a:t>
              </a:r>
              <a:r>
                <a:rPr lang="en-US" altLang="en-US" sz="2000" b="1" dirty="0">
                  <a:solidFill>
                    <a:srgbClr val="0000FF"/>
                  </a:solidFill>
                </a:rPr>
                <a:t>－ </a:t>
              </a:r>
              <a:r>
                <a:rPr lang="en-US" altLang="zh-CN" sz="2000" b="1" dirty="0">
                  <a:solidFill>
                    <a:srgbClr val="0000FF"/>
                  </a:solidFill>
                </a:rPr>
                <a:t>②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000" b="1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9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06" grpId="0" animBg="1"/>
      <p:bldP spid="89117" grpId="0" animBg="1"/>
      <p:bldP spid="89118" grpId="0" animBg="1"/>
      <p:bldP spid="89119" grpId="0" animBg="1"/>
      <p:bldP spid="89120" grpId="0" animBg="1"/>
      <p:bldP spid="89121" grpId="0" animBg="1"/>
      <p:bldP spid="891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2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861911"/>
              </p:ext>
            </p:extLst>
          </p:nvPr>
        </p:nvGraphicFramePr>
        <p:xfrm>
          <a:off x="4233688" y="800199"/>
          <a:ext cx="3722688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014400" imgH="22250400" progId="">
                  <p:embed/>
                </p:oleObj>
              </mc:Choice>
              <mc:Fallback>
                <p:oleObj name="Equation" r:id="rId2" imgW="39014400" imgH="222504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688" y="800199"/>
                        <a:ext cx="3722688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828038"/>
              </p:ext>
            </p:extLst>
          </p:nvPr>
        </p:nvGraphicFramePr>
        <p:xfrm>
          <a:off x="1403648" y="1052736"/>
          <a:ext cx="2120900" cy="163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50400" imgH="17068800" progId="">
                  <p:embed/>
                </p:oleObj>
              </mc:Choice>
              <mc:Fallback>
                <p:oleObj name="Equation" r:id="rId4" imgW="22250400" imgH="170688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052736"/>
                        <a:ext cx="2120900" cy="163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791865" y="4114899"/>
            <a:ext cx="2339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令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3  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   </a:t>
            </a:r>
          </a:p>
        </p:txBody>
      </p:sp>
      <p:graphicFrame>
        <p:nvGraphicFramePr>
          <p:cNvPr id="6554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79635"/>
              </p:ext>
            </p:extLst>
          </p:nvPr>
        </p:nvGraphicFramePr>
        <p:xfrm>
          <a:off x="2693988" y="3290987"/>
          <a:ext cx="2849562" cy="215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870400" imgH="22555200" progId="">
                  <p:embed/>
                </p:oleObj>
              </mc:Choice>
              <mc:Fallback>
                <p:oleObj name="Equation" r:id="rId6" imgW="29870400" imgH="225552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3290987"/>
                        <a:ext cx="2849562" cy="215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500054"/>
              </p:ext>
            </p:extLst>
          </p:nvPr>
        </p:nvGraphicFramePr>
        <p:xfrm>
          <a:off x="5580112" y="3306589"/>
          <a:ext cx="2882587" cy="2066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960" imgH="927000" progId="Equation.DSMT4">
                  <p:embed/>
                </p:oleObj>
              </mc:Choice>
              <mc:Fallback>
                <p:oleObj name="Equation" r:id="rId8" imgW="1002960" imgH="927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3306589"/>
                        <a:ext cx="2882587" cy="20666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6"/>
          <p:cNvSpPr txBox="1">
            <a:spLocks noChangeArrowheads="1"/>
          </p:cNvSpPr>
          <p:nvPr/>
        </p:nvSpPr>
        <p:spPr>
          <a:xfrm>
            <a:off x="662880" y="301427"/>
            <a:ext cx="8229600" cy="53528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线性方程组的求解与矩阵的初等行变换对照（续）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827584" y="5661248"/>
            <a:ext cx="313680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其中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为任意常数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35896" y="5661248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6" grpId="0"/>
      <p:bldP spid="9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744643"/>
              </p:ext>
            </p:extLst>
          </p:nvPr>
        </p:nvGraphicFramePr>
        <p:xfrm>
          <a:off x="107950" y="875307"/>
          <a:ext cx="4040188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555200" progId="">
                  <p:embed/>
                </p:oleObj>
              </mc:Choice>
              <mc:Fallback>
                <p:oleObj name="Equation" r:id="rId2" imgW="42367200" imgH="22555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875307"/>
                        <a:ext cx="4040188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5988"/>
              </p:ext>
            </p:extLst>
          </p:nvPr>
        </p:nvGraphicFramePr>
        <p:xfrm>
          <a:off x="4908550" y="1018480"/>
          <a:ext cx="3897313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843200" imgH="22250400" progId="">
                  <p:embed/>
                </p:oleObj>
              </mc:Choice>
              <mc:Fallback>
                <p:oleObj name="Equation" r:id="rId4" imgW="408432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1018480"/>
                        <a:ext cx="3897313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977558"/>
              </p:ext>
            </p:extLst>
          </p:nvPr>
        </p:nvGraphicFramePr>
        <p:xfrm>
          <a:off x="4908550" y="4185245"/>
          <a:ext cx="4127500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281600" imgH="22250400" progId="Equation.DSMT4">
                  <p:embed/>
                </p:oleObj>
              </mc:Choice>
              <mc:Fallback>
                <p:oleObj name="Equation" r:id="rId6" imgW="43281600" imgH="22250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4185245"/>
                        <a:ext cx="4127500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5723979" y="2991346"/>
            <a:ext cx="1584325" cy="1301750"/>
            <a:chOff x="3016" y="1661"/>
            <a:chExt cx="998" cy="820"/>
          </a:xfrm>
        </p:grpSpPr>
        <p:graphicFrame>
          <p:nvGraphicFramePr>
            <p:cNvPr id="135187" name="Object 20"/>
            <p:cNvGraphicFramePr>
              <a:graphicFrameLocks noChangeAspect="1"/>
            </p:cNvGraphicFramePr>
            <p:nvPr/>
          </p:nvGraphicFramePr>
          <p:xfrm>
            <a:off x="3291" y="1661"/>
            <a:ext cx="44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448800" imgH="5486400" progId="">
                    <p:embed/>
                  </p:oleObj>
                </mc:Choice>
                <mc:Fallback>
                  <p:oleObj name="Equation" r:id="rId8" imgW="9448800" imgH="54864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1" y="1661"/>
                          <a:ext cx="44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188" name="Object 21"/>
            <p:cNvGraphicFramePr>
              <a:graphicFrameLocks noChangeAspect="1"/>
            </p:cNvGraphicFramePr>
            <p:nvPr/>
          </p:nvGraphicFramePr>
          <p:xfrm>
            <a:off x="3256" y="2011"/>
            <a:ext cx="518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972800" imgH="5486400" progId="">
                    <p:embed/>
                  </p:oleObj>
                </mc:Choice>
                <mc:Fallback>
                  <p:oleObj name="Equation" r:id="rId10" imgW="10972800" imgH="54864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6" y="2011"/>
                          <a:ext cx="518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189" name="Freeform 25"/>
            <p:cNvSpPr>
              <a:spLocks/>
            </p:cNvSpPr>
            <p:nvPr/>
          </p:nvSpPr>
          <p:spPr bwMode="auto">
            <a:xfrm>
              <a:off x="3016" y="1920"/>
              <a:ext cx="998" cy="91"/>
            </a:xfrm>
            <a:custGeom>
              <a:avLst/>
              <a:gdLst>
                <a:gd name="T0" fmla="*/ 0 w 1179"/>
                <a:gd name="T1" fmla="*/ 0 h 273"/>
                <a:gd name="T2" fmla="*/ 3 w 1179"/>
                <a:gd name="T3" fmla="*/ 0 h 273"/>
                <a:gd name="T4" fmla="*/ 3 w 1179"/>
                <a:gd name="T5" fmla="*/ 0 h 273"/>
                <a:gd name="T6" fmla="*/ 3 w 1179"/>
                <a:gd name="T7" fmla="*/ 0 h 273"/>
                <a:gd name="T8" fmla="*/ 3 w 1179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9"/>
                <a:gd name="T16" fmla="*/ 0 h 273"/>
                <a:gd name="T17" fmla="*/ 1179 w 1179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9" h="273">
                  <a:moveTo>
                    <a:pt x="0" y="139"/>
                  </a:moveTo>
                  <a:cubicBezTo>
                    <a:pt x="46" y="116"/>
                    <a:pt x="178" y="0"/>
                    <a:pt x="276" y="0"/>
                  </a:cubicBezTo>
                  <a:cubicBezTo>
                    <a:pt x="374" y="0"/>
                    <a:pt x="485" y="94"/>
                    <a:pt x="589" y="139"/>
                  </a:cubicBezTo>
                  <a:cubicBezTo>
                    <a:pt x="693" y="184"/>
                    <a:pt x="803" y="273"/>
                    <a:pt x="901" y="273"/>
                  </a:cubicBezTo>
                  <a:cubicBezTo>
                    <a:pt x="999" y="273"/>
                    <a:pt x="1121" y="167"/>
                    <a:pt x="1179" y="13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graphicFrame>
          <p:nvGraphicFramePr>
            <p:cNvPr id="135190" name="Object 22"/>
            <p:cNvGraphicFramePr>
              <a:graphicFrameLocks noChangeAspect="1"/>
            </p:cNvGraphicFramePr>
            <p:nvPr/>
          </p:nvGraphicFramePr>
          <p:xfrm>
            <a:off x="3256" y="2222"/>
            <a:ext cx="518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0972800" imgH="5486400" progId="">
                    <p:embed/>
                  </p:oleObj>
                </mc:Choice>
                <mc:Fallback>
                  <p:oleObj name="Equation" r:id="rId12" imgW="10972800" imgH="54864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6" y="2222"/>
                          <a:ext cx="518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5177" name="Group 37"/>
          <p:cNvGrpSpPr>
            <a:grpSpLocks/>
          </p:cNvGrpSpPr>
          <p:nvPr/>
        </p:nvGrpSpPr>
        <p:grpSpPr bwMode="auto">
          <a:xfrm>
            <a:off x="4140200" y="916582"/>
            <a:ext cx="504825" cy="1995488"/>
            <a:chOff x="4240" y="1509"/>
            <a:chExt cx="318" cy="1257"/>
          </a:xfrm>
        </p:grpSpPr>
        <p:sp>
          <p:nvSpPr>
            <p:cNvPr id="135179" name="Text Box 38"/>
            <p:cNvSpPr txBox="1">
              <a:spLocks noChangeArrowheads="1"/>
            </p:cNvSpPr>
            <p:nvPr/>
          </p:nvSpPr>
          <p:spPr bwMode="auto">
            <a:xfrm>
              <a:off x="4240" y="1509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①</a:t>
              </a:r>
            </a:p>
          </p:txBody>
        </p:sp>
        <p:sp>
          <p:nvSpPr>
            <p:cNvPr id="135180" name="Text Box 39"/>
            <p:cNvSpPr txBox="1">
              <a:spLocks noChangeArrowheads="1"/>
            </p:cNvSpPr>
            <p:nvPr/>
          </p:nvSpPr>
          <p:spPr bwMode="auto">
            <a:xfrm>
              <a:off x="4240" y="18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②</a:t>
              </a:r>
            </a:p>
          </p:txBody>
        </p:sp>
        <p:sp>
          <p:nvSpPr>
            <p:cNvPr id="135181" name="Text Box 40"/>
            <p:cNvSpPr txBox="1">
              <a:spLocks noChangeArrowheads="1"/>
            </p:cNvSpPr>
            <p:nvPr/>
          </p:nvSpPr>
          <p:spPr bwMode="auto">
            <a:xfrm>
              <a:off x="4240" y="2155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③</a:t>
              </a:r>
            </a:p>
          </p:txBody>
        </p:sp>
        <p:sp>
          <p:nvSpPr>
            <p:cNvPr id="135182" name="Text Box 41"/>
            <p:cNvSpPr txBox="1">
              <a:spLocks noChangeArrowheads="1"/>
            </p:cNvSpPr>
            <p:nvPr/>
          </p:nvSpPr>
          <p:spPr bwMode="auto">
            <a:xfrm>
              <a:off x="4240" y="2478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④</a:t>
              </a:r>
            </a:p>
          </p:txBody>
        </p:sp>
      </p:grpSp>
      <p:sp>
        <p:nvSpPr>
          <p:cNvPr id="29" name="Rectangle 26"/>
          <p:cNvSpPr txBox="1">
            <a:spLocks noChangeArrowheads="1"/>
          </p:cNvSpPr>
          <p:nvPr/>
        </p:nvSpPr>
        <p:spPr>
          <a:xfrm>
            <a:off x="4499992" y="188640"/>
            <a:ext cx="4392488" cy="95654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解： 对线性方程组的增广  </a:t>
            </a:r>
            <a:endParaRPr lang="en-US" altLang="zh-CN" sz="2800" b="1" kern="0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     </a:t>
            </a:r>
            <a:r>
              <a:rPr lang="zh-CN" altLang="en-US" sz="28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矩阵进行初等行变换：</a:t>
            </a:r>
          </a:p>
        </p:txBody>
      </p:sp>
      <p:sp>
        <p:nvSpPr>
          <p:cNvPr id="16" name="Rectangle 26"/>
          <p:cNvSpPr txBox="1">
            <a:spLocks noChangeArrowheads="1"/>
          </p:cNvSpPr>
          <p:nvPr/>
        </p:nvSpPr>
        <p:spPr>
          <a:xfrm>
            <a:off x="35496" y="286344"/>
            <a:ext cx="2016224" cy="6302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8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简化形式</a:t>
            </a:r>
          </a:p>
        </p:txBody>
      </p:sp>
    </p:spTree>
    <p:extLst>
      <p:ext uri="{BB962C8B-B14F-4D97-AF65-F5344CB8AC3E}">
        <p14:creationId xmlns:p14="http://schemas.microsoft.com/office/powerpoint/2010/main" val="12599128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19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613293"/>
              </p:ext>
            </p:extLst>
          </p:nvPr>
        </p:nvGraphicFramePr>
        <p:xfrm>
          <a:off x="2529557" y="548680"/>
          <a:ext cx="4130675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281600" imgH="22250400" progId="">
                  <p:embed/>
                </p:oleObj>
              </mc:Choice>
              <mc:Fallback>
                <p:oleObj name="Equation" r:id="rId2" imgW="432816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557" y="548680"/>
                        <a:ext cx="4130675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192833"/>
              </p:ext>
            </p:extLst>
          </p:nvPr>
        </p:nvGraphicFramePr>
        <p:xfrm>
          <a:off x="2529557" y="3858618"/>
          <a:ext cx="3719513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014400" imgH="22250400" progId="">
                  <p:embed/>
                </p:oleObj>
              </mc:Choice>
              <mc:Fallback>
                <p:oleObj name="Equation" r:id="rId4" imgW="390144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557" y="3858618"/>
                        <a:ext cx="3719513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3348161" y="2585443"/>
            <a:ext cx="1584325" cy="1301750"/>
            <a:chOff x="3016" y="1661"/>
            <a:chExt cx="998" cy="820"/>
          </a:xfrm>
        </p:grpSpPr>
        <p:graphicFrame>
          <p:nvGraphicFramePr>
            <p:cNvPr id="136215" name="Object 20"/>
            <p:cNvGraphicFramePr>
              <a:graphicFrameLocks noChangeAspect="1"/>
            </p:cNvGraphicFramePr>
            <p:nvPr/>
          </p:nvGraphicFramePr>
          <p:xfrm>
            <a:off x="3302" y="1661"/>
            <a:ext cx="418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839200" imgH="5486400" progId="">
                    <p:embed/>
                  </p:oleObj>
                </mc:Choice>
                <mc:Fallback>
                  <p:oleObj name="Equation" r:id="rId6" imgW="8839200" imgH="54864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2" y="1661"/>
                          <a:ext cx="418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216" name="Object 21"/>
            <p:cNvGraphicFramePr>
              <a:graphicFrameLocks noChangeAspect="1"/>
            </p:cNvGraphicFramePr>
            <p:nvPr/>
          </p:nvGraphicFramePr>
          <p:xfrm>
            <a:off x="3249" y="2011"/>
            <a:ext cx="53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277600" imgH="5486400" progId="">
                    <p:embed/>
                  </p:oleObj>
                </mc:Choice>
                <mc:Fallback>
                  <p:oleObj name="Equation" r:id="rId8" imgW="11277600" imgH="54864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9" y="2011"/>
                          <a:ext cx="53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217" name="Freeform 18"/>
            <p:cNvSpPr>
              <a:spLocks/>
            </p:cNvSpPr>
            <p:nvPr/>
          </p:nvSpPr>
          <p:spPr bwMode="auto">
            <a:xfrm>
              <a:off x="3016" y="1920"/>
              <a:ext cx="998" cy="91"/>
            </a:xfrm>
            <a:custGeom>
              <a:avLst/>
              <a:gdLst>
                <a:gd name="T0" fmla="*/ 0 w 1179"/>
                <a:gd name="T1" fmla="*/ 0 h 273"/>
                <a:gd name="T2" fmla="*/ 3 w 1179"/>
                <a:gd name="T3" fmla="*/ 0 h 273"/>
                <a:gd name="T4" fmla="*/ 3 w 1179"/>
                <a:gd name="T5" fmla="*/ 0 h 273"/>
                <a:gd name="T6" fmla="*/ 3 w 1179"/>
                <a:gd name="T7" fmla="*/ 0 h 273"/>
                <a:gd name="T8" fmla="*/ 3 w 1179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9"/>
                <a:gd name="T16" fmla="*/ 0 h 273"/>
                <a:gd name="T17" fmla="*/ 1179 w 1179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9" h="273">
                  <a:moveTo>
                    <a:pt x="0" y="139"/>
                  </a:moveTo>
                  <a:cubicBezTo>
                    <a:pt x="46" y="116"/>
                    <a:pt x="178" y="0"/>
                    <a:pt x="276" y="0"/>
                  </a:cubicBezTo>
                  <a:cubicBezTo>
                    <a:pt x="374" y="0"/>
                    <a:pt x="485" y="94"/>
                    <a:pt x="589" y="139"/>
                  </a:cubicBezTo>
                  <a:cubicBezTo>
                    <a:pt x="693" y="184"/>
                    <a:pt x="803" y="273"/>
                    <a:pt x="901" y="273"/>
                  </a:cubicBezTo>
                  <a:cubicBezTo>
                    <a:pt x="999" y="273"/>
                    <a:pt x="1121" y="167"/>
                    <a:pt x="1179" y="13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6218" name="Object 22"/>
            <p:cNvGraphicFramePr>
              <a:graphicFrameLocks noChangeAspect="1"/>
            </p:cNvGraphicFramePr>
            <p:nvPr/>
          </p:nvGraphicFramePr>
          <p:xfrm>
            <a:off x="3249" y="2222"/>
            <a:ext cx="53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277600" imgH="5486400" progId="">
                    <p:embed/>
                  </p:oleObj>
                </mc:Choice>
                <mc:Fallback>
                  <p:oleObj name="Equation" r:id="rId10" imgW="11277600" imgH="54864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9" y="2222"/>
                          <a:ext cx="53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8230529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8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2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702947"/>
              </p:ext>
            </p:extLst>
          </p:nvPr>
        </p:nvGraphicFramePr>
        <p:xfrm>
          <a:off x="2699792" y="620688"/>
          <a:ext cx="3724275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014400" imgH="22250400" progId="">
                  <p:embed/>
                </p:oleObj>
              </mc:Choice>
              <mc:Fallback>
                <p:oleObj name="Equation" r:id="rId2" imgW="390144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620688"/>
                        <a:ext cx="3724275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56662"/>
              </p:ext>
            </p:extLst>
          </p:nvPr>
        </p:nvGraphicFramePr>
        <p:xfrm>
          <a:off x="2699792" y="3930626"/>
          <a:ext cx="3719513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014400" imgH="22250400" progId="">
                  <p:embed/>
                </p:oleObj>
              </mc:Choice>
              <mc:Fallback>
                <p:oleObj name="Equation" r:id="rId4" imgW="390144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3930626"/>
                        <a:ext cx="3719513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3471937" y="2842866"/>
            <a:ext cx="1584325" cy="966787"/>
            <a:chOff x="3016" y="1661"/>
            <a:chExt cx="998" cy="609"/>
          </a:xfrm>
        </p:grpSpPr>
        <p:graphicFrame>
          <p:nvGraphicFramePr>
            <p:cNvPr id="137241" name="Object 18"/>
            <p:cNvGraphicFramePr>
              <a:graphicFrameLocks noChangeAspect="1"/>
            </p:cNvGraphicFramePr>
            <p:nvPr/>
          </p:nvGraphicFramePr>
          <p:xfrm>
            <a:off x="3238" y="1661"/>
            <a:ext cx="54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582400" imgH="5486400" progId="">
                    <p:embed/>
                  </p:oleObj>
                </mc:Choice>
                <mc:Fallback>
                  <p:oleObj name="Equation" r:id="rId6" imgW="11582400" imgH="54864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8" y="1661"/>
                          <a:ext cx="54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42" name="Object 19"/>
            <p:cNvGraphicFramePr>
              <a:graphicFrameLocks noChangeAspect="1"/>
            </p:cNvGraphicFramePr>
            <p:nvPr/>
          </p:nvGraphicFramePr>
          <p:xfrm>
            <a:off x="3249" y="2011"/>
            <a:ext cx="53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277600" imgH="5486400" progId="">
                    <p:embed/>
                  </p:oleObj>
                </mc:Choice>
                <mc:Fallback>
                  <p:oleObj name="Equation" r:id="rId8" imgW="11277600" imgH="548640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9" y="2011"/>
                          <a:ext cx="53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43" name="Freeform 18"/>
            <p:cNvSpPr>
              <a:spLocks/>
            </p:cNvSpPr>
            <p:nvPr/>
          </p:nvSpPr>
          <p:spPr bwMode="auto">
            <a:xfrm>
              <a:off x="3016" y="1920"/>
              <a:ext cx="998" cy="91"/>
            </a:xfrm>
            <a:custGeom>
              <a:avLst/>
              <a:gdLst>
                <a:gd name="T0" fmla="*/ 0 w 1179"/>
                <a:gd name="T1" fmla="*/ 0 h 273"/>
                <a:gd name="T2" fmla="*/ 3 w 1179"/>
                <a:gd name="T3" fmla="*/ 0 h 273"/>
                <a:gd name="T4" fmla="*/ 3 w 1179"/>
                <a:gd name="T5" fmla="*/ 0 h 273"/>
                <a:gd name="T6" fmla="*/ 3 w 1179"/>
                <a:gd name="T7" fmla="*/ 0 h 273"/>
                <a:gd name="T8" fmla="*/ 3 w 1179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9"/>
                <a:gd name="T16" fmla="*/ 0 h 273"/>
                <a:gd name="T17" fmla="*/ 1179 w 1179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9" h="273">
                  <a:moveTo>
                    <a:pt x="0" y="139"/>
                  </a:moveTo>
                  <a:cubicBezTo>
                    <a:pt x="46" y="116"/>
                    <a:pt x="178" y="0"/>
                    <a:pt x="276" y="0"/>
                  </a:cubicBezTo>
                  <a:cubicBezTo>
                    <a:pt x="374" y="0"/>
                    <a:pt x="485" y="94"/>
                    <a:pt x="589" y="139"/>
                  </a:cubicBezTo>
                  <a:cubicBezTo>
                    <a:pt x="693" y="184"/>
                    <a:pt x="803" y="273"/>
                    <a:pt x="901" y="273"/>
                  </a:cubicBezTo>
                  <a:cubicBezTo>
                    <a:pt x="999" y="273"/>
                    <a:pt x="1121" y="167"/>
                    <a:pt x="1179" y="139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42559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24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564319"/>
              </p:ext>
            </p:extLst>
          </p:nvPr>
        </p:nvGraphicFramePr>
        <p:xfrm>
          <a:off x="1403648" y="587275"/>
          <a:ext cx="3724275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014400" imgH="22250400" progId="">
                  <p:embed/>
                </p:oleObj>
              </mc:Choice>
              <mc:Fallback>
                <p:oleObj name="Equation" r:id="rId2" imgW="390144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87275"/>
                        <a:ext cx="3724275" cy="212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520455"/>
              </p:ext>
            </p:extLst>
          </p:nvPr>
        </p:nvGraphicFramePr>
        <p:xfrm>
          <a:off x="1403648" y="3897213"/>
          <a:ext cx="3719513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014400" imgH="22250400" progId="">
                  <p:embed/>
                </p:oleObj>
              </mc:Choice>
              <mc:Fallback>
                <p:oleObj name="Equation" r:id="rId4" imgW="390144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897213"/>
                        <a:ext cx="3719513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111807"/>
              </p:ext>
            </p:extLst>
          </p:nvPr>
        </p:nvGraphicFramePr>
        <p:xfrm>
          <a:off x="2618557" y="2809453"/>
          <a:ext cx="6858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0" imgH="5486400" progId="">
                  <p:embed/>
                </p:oleObj>
              </mc:Choice>
              <mc:Fallback>
                <p:oleObj name="Equation" r:id="rId6" imgW="9144000" imgH="5486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557" y="2809453"/>
                        <a:ext cx="6858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137955"/>
              </p:ext>
            </p:extLst>
          </p:nvPr>
        </p:nvGraphicFramePr>
        <p:xfrm>
          <a:off x="2613794" y="3365078"/>
          <a:ext cx="70961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448800" imgH="5486400" progId="">
                  <p:embed/>
                </p:oleObj>
              </mc:Choice>
              <mc:Fallback>
                <p:oleObj name="Equation" r:id="rId8" imgW="9448800" imgH="5486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794" y="3365078"/>
                        <a:ext cx="709613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6" name="Freeform 18"/>
          <p:cNvSpPr>
            <a:spLocks/>
          </p:cNvSpPr>
          <p:nvPr/>
        </p:nvSpPr>
        <p:spPr bwMode="auto">
          <a:xfrm>
            <a:off x="2175644" y="3220615"/>
            <a:ext cx="1584325" cy="144463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7" name="Oval 29"/>
          <p:cNvSpPr>
            <a:spLocks noChangeArrowheads="1"/>
          </p:cNvSpPr>
          <p:nvPr/>
        </p:nvSpPr>
        <p:spPr bwMode="auto">
          <a:xfrm>
            <a:off x="1547664" y="692696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sp>
        <p:nvSpPr>
          <p:cNvPr id="89118" name="Oval 30"/>
          <p:cNvSpPr>
            <a:spLocks noChangeArrowheads="1"/>
          </p:cNvSpPr>
          <p:nvPr/>
        </p:nvSpPr>
        <p:spPr bwMode="auto">
          <a:xfrm>
            <a:off x="2038201" y="1211809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sp>
        <p:nvSpPr>
          <p:cNvPr id="89119" name="Oval 31"/>
          <p:cNvSpPr>
            <a:spLocks noChangeArrowheads="1"/>
          </p:cNvSpPr>
          <p:nvPr/>
        </p:nvSpPr>
        <p:spPr bwMode="auto">
          <a:xfrm>
            <a:off x="3217714" y="1729334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sp>
        <p:nvSpPr>
          <p:cNvPr id="89120" name="Oval 32"/>
          <p:cNvSpPr>
            <a:spLocks noChangeArrowheads="1"/>
          </p:cNvSpPr>
          <p:nvPr/>
        </p:nvSpPr>
        <p:spPr bwMode="auto">
          <a:xfrm>
            <a:off x="1547664" y="4005064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sp>
        <p:nvSpPr>
          <p:cNvPr id="89121" name="Oval 33"/>
          <p:cNvSpPr>
            <a:spLocks noChangeArrowheads="1"/>
          </p:cNvSpPr>
          <p:nvPr/>
        </p:nvSpPr>
        <p:spPr bwMode="auto">
          <a:xfrm>
            <a:off x="2038201" y="4524176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sp>
        <p:nvSpPr>
          <p:cNvPr id="89122" name="Oval 34"/>
          <p:cNvSpPr>
            <a:spLocks noChangeArrowheads="1"/>
          </p:cNvSpPr>
          <p:nvPr/>
        </p:nvSpPr>
        <p:spPr bwMode="auto">
          <a:xfrm>
            <a:off x="3217714" y="5041701"/>
            <a:ext cx="358775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  <p:graphicFrame>
        <p:nvGraphicFramePr>
          <p:cNvPr id="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970060"/>
              </p:ext>
            </p:extLst>
          </p:nvPr>
        </p:nvGraphicFramePr>
        <p:xfrm>
          <a:off x="5619452" y="4608537"/>
          <a:ext cx="21209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250400" imgH="17068800" progId="">
                  <p:embed/>
                </p:oleObj>
              </mc:Choice>
              <mc:Fallback>
                <p:oleObj name="Equation" r:id="rId10" imgW="22250400" imgH="17068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452" y="4608537"/>
                        <a:ext cx="212090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580112" y="3896543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对应的方程组为：</a:t>
            </a:r>
          </a:p>
        </p:txBody>
      </p:sp>
    </p:spTree>
    <p:extLst>
      <p:ext uri="{BB962C8B-B14F-4D97-AF65-F5344CB8AC3E}">
        <p14:creationId xmlns:p14="http://schemas.microsoft.com/office/powerpoint/2010/main" val="4257636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9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06" grpId="0" animBg="1"/>
      <p:bldP spid="89117" grpId="0" animBg="1"/>
      <p:bldP spid="89118" grpId="0" animBg="1"/>
      <p:bldP spid="89119" grpId="0" animBg="1"/>
      <p:bldP spid="89120" grpId="0" animBg="1"/>
      <p:bldP spid="89121" grpId="0" animBg="1"/>
      <p:bldP spid="89122" grpId="0" animBg="1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791865" y="692696"/>
            <a:ext cx="2339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令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3  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   </a:t>
            </a:r>
          </a:p>
        </p:txBody>
      </p:sp>
      <p:graphicFrame>
        <p:nvGraphicFramePr>
          <p:cNvPr id="6554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818994"/>
              </p:ext>
            </p:extLst>
          </p:nvPr>
        </p:nvGraphicFramePr>
        <p:xfrm>
          <a:off x="1835696" y="1412776"/>
          <a:ext cx="2849562" cy="215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870400" imgH="22555200" progId="">
                  <p:embed/>
                </p:oleObj>
              </mc:Choice>
              <mc:Fallback>
                <p:oleObj name="Equation" r:id="rId2" imgW="29870400" imgH="22555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412776"/>
                        <a:ext cx="2849562" cy="215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715470"/>
              </p:ext>
            </p:extLst>
          </p:nvPr>
        </p:nvGraphicFramePr>
        <p:xfrm>
          <a:off x="4644008" y="1434381"/>
          <a:ext cx="2882587" cy="2066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927000" progId="Equation.DSMT4">
                  <p:embed/>
                </p:oleObj>
              </mc:Choice>
              <mc:Fallback>
                <p:oleObj name="Equation" r:id="rId4" imgW="100296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1434381"/>
                        <a:ext cx="2882587" cy="20666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827584" y="3865513"/>
            <a:ext cx="273630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其中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为任意常数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7904" y="3861048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38527170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6" grpId="0"/>
      <p:bldP spid="9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椭圆 21"/>
          <p:cNvSpPr>
            <a:spLocks noChangeArrowheads="1"/>
          </p:cNvSpPr>
          <p:nvPr/>
        </p:nvSpPr>
        <p:spPr bwMode="auto">
          <a:xfrm>
            <a:off x="2699792" y="4761415"/>
            <a:ext cx="285750" cy="28575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1" name="椭圆 20"/>
          <p:cNvSpPr>
            <a:spLocks noChangeArrowheads="1"/>
          </p:cNvSpPr>
          <p:nvPr/>
        </p:nvSpPr>
        <p:spPr bwMode="auto">
          <a:xfrm>
            <a:off x="1475656" y="4235092"/>
            <a:ext cx="285750" cy="28575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0" name="椭圆 19"/>
          <p:cNvSpPr>
            <a:spLocks noChangeArrowheads="1"/>
          </p:cNvSpPr>
          <p:nvPr/>
        </p:nvSpPr>
        <p:spPr bwMode="auto">
          <a:xfrm>
            <a:off x="1043608" y="3735030"/>
            <a:ext cx="285750" cy="28575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" name="Rectangle 26"/>
          <p:cNvSpPr txBox="1">
            <a:spLocks noChangeArrowheads="1"/>
          </p:cNvSpPr>
          <p:nvPr/>
        </p:nvSpPr>
        <p:spPr>
          <a:xfrm>
            <a:off x="467544" y="336193"/>
            <a:ext cx="8229600" cy="73454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6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三、行阶梯形矩阵与行最简形矩阵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68313" y="1045235"/>
            <a:ext cx="115135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2. </a:t>
            </a:r>
            <a:endParaRPr lang="zh-CN" altLang="en-US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31640" y="1045235"/>
            <a:ext cx="7344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latin typeface="+mn-lt"/>
                <a:ea typeface="黑体" panose="02010609060101010101" pitchFamily="49" charset="-122"/>
              </a:rPr>
              <a:t>满足以下条件的非零矩阵称为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行阶梯形矩阵：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71310" y="1595314"/>
            <a:ext cx="7344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（</a:t>
            </a:r>
            <a:r>
              <a:rPr lang="en-US" altLang="zh-CN" b="1" dirty="0" err="1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i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latin typeface="+mn-lt"/>
                <a:ea typeface="黑体" panose="02010609060101010101" pitchFamily="49" charset="-122"/>
              </a:rPr>
              <a:t>非零行在零行的上面；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9592" y="2006838"/>
            <a:ext cx="7344816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ii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latin typeface="+mn-lt"/>
                <a:ea typeface="黑体" panose="02010609060101010101" pitchFamily="49" charset="-122"/>
              </a:rPr>
              <a:t>非零行的首非零元所在列在上一行（如果存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00808" y="2468503"/>
            <a:ext cx="5742384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+mn-lt"/>
                <a:ea typeface="黑体" panose="02010609060101010101" pitchFamily="49" charset="-122"/>
              </a:rPr>
              <a:t>在的话）的首非零元所在列的右面。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992156"/>
              </p:ext>
            </p:extLst>
          </p:nvPr>
        </p:nvGraphicFramePr>
        <p:xfrm>
          <a:off x="827584" y="3591014"/>
          <a:ext cx="3724275" cy="212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014400" imgH="22250400" progId="Equation.DSMT4">
                  <p:embed/>
                </p:oleObj>
              </mc:Choice>
              <mc:Fallback>
                <p:oleObj name="Equation" r:id="rId2" imgW="39014400" imgH="22250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591014"/>
                        <a:ext cx="3724275" cy="212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68313" y="3100254"/>
            <a:ext cx="115135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例如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. </a:t>
            </a:r>
            <a:endParaRPr lang="zh-CN" altLang="en-US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4730463" y="3158966"/>
            <a:ext cx="41910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+mn-lt"/>
                <a:ea typeface="黑体" panose="02010609060101010101" pitchFamily="49" charset="-122"/>
              </a:rPr>
              <a:t>行阶梯形矩阵的特点：</a:t>
            </a:r>
            <a:endParaRPr lang="zh-CN" altLang="en-US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可画出一条阶梯线，线的下方全为零；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阶梯线的竖线后面是非零行的第一个非零元素；</a:t>
            </a:r>
            <a:endParaRPr lang="en-US" altLang="zh-CN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每个台阶的高度为一行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  <a:endParaRPr lang="zh-CN" altLang="en-US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95002" y="3654798"/>
            <a:ext cx="2754386" cy="1586199"/>
            <a:chOff x="995002" y="3564792"/>
            <a:chExt cx="2754386" cy="1586199"/>
          </a:xfrm>
        </p:grpSpPr>
        <p:sp>
          <p:nvSpPr>
            <p:cNvPr id="12" name="Line 5"/>
            <p:cNvSpPr>
              <a:spLocks noChangeShapeType="1"/>
            </p:cNvSpPr>
            <p:nvPr/>
          </p:nvSpPr>
          <p:spPr bwMode="auto">
            <a:xfrm>
              <a:off x="1006188" y="4018012"/>
              <a:ext cx="4572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>
              <a:off x="1463388" y="4031341"/>
              <a:ext cx="0" cy="5598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1463388" y="4591166"/>
              <a:ext cx="1143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2606388" y="4591166"/>
              <a:ext cx="0" cy="5598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>
              <a:off x="2606388" y="5150991"/>
              <a:ext cx="1143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" name="Line 6"/>
            <p:cNvSpPr>
              <a:spLocks noChangeShapeType="1"/>
            </p:cNvSpPr>
            <p:nvPr/>
          </p:nvSpPr>
          <p:spPr bwMode="auto">
            <a:xfrm flipH="1">
              <a:off x="995002" y="3564792"/>
              <a:ext cx="11185" cy="45322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648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1" grpId="0" animBg="1"/>
      <p:bldP spid="20" grpId="0" animBg="1"/>
      <p:bldP spid="5" grpId="0"/>
      <p:bldP spid="6" grpId="0"/>
      <p:bldP spid="7" grpId="0"/>
      <p:bldP spid="8" grpId="0"/>
      <p:bldP spid="9" grpId="0"/>
      <p:bldP spid="17" grpId="0"/>
      <p:bldP spid="18" grpId="0" uiExpand="1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6"/>
          <p:cNvSpPr txBox="1">
            <a:spLocks noChangeArrowheads="1"/>
          </p:cNvSpPr>
          <p:nvPr/>
        </p:nvSpPr>
        <p:spPr>
          <a:xfrm>
            <a:off x="518864" y="414450"/>
            <a:ext cx="8229600" cy="73454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6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三、行阶梯形矩阵与行最简形矩阵（续）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68313" y="1228750"/>
            <a:ext cx="115135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2. </a:t>
            </a:r>
            <a:endParaRPr lang="zh-CN" altLang="en-US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331640" y="1228750"/>
                <a:ext cx="734481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（</a:t>
                </a:r>
                <a:r>
                  <a:rPr lang="en-US" altLang="zh-CN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2</a:t>
                </a:r>
                <a:r>
                  <a:rPr lang="zh-CN" altLang="en-US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）</a:t>
                </a:r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若行阶梯形矩阵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满足以下条件： 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1228750"/>
                <a:ext cx="7344816" cy="461665"/>
              </a:xfrm>
              <a:prstGeom prst="rect">
                <a:avLst/>
              </a:prstGeom>
              <a:blipFill>
                <a:blip r:embed="rId2"/>
                <a:stretch>
                  <a:fillRect l="-1245" t="-14667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971310" y="1778829"/>
            <a:ext cx="7344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（</a:t>
            </a:r>
            <a:r>
              <a:rPr lang="en-US" altLang="zh-CN" b="1" dirty="0" err="1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i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latin typeface="+mn-lt"/>
                <a:ea typeface="黑体" panose="02010609060101010101" pitchFamily="49" charset="-122"/>
              </a:rPr>
              <a:t>非零行的首非零元为</a:t>
            </a:r>
            <a:r>
              <a:rPr lang="en-US" altLang="zh-CN" b="1" dirty="0"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latin typeface="+mn-lt"/>
                <a:ea typeface="黑体" panose="02010609060101010101" pitchFamily="49" charset="-122"/>
              </a:rPr>
              <a:t>；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9592" y="2190353"/>
            <a:ext cx="7344816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ii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）</a:t>
            </a:r>
            <a:r>
              <a:rPr lang="zh-CN" altLang="en-US" b="1" dirty="0">
                <a:latin typeface="+mn-lt"/>
                <a:ea typeface="黑体" panose="02010609060101010101" pitchFamily="49" charset="-122"/>
              </a:rPr>
              <a:t>非零行的首非零元所在列的其它元均为</a:t>
            </a:r>
            <a:r>
              <a:rPr lang="en-US" altLang="zh-CN" b="1" dirty="0">
                <a:latin typeface="+mn-lt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latin typeface="+mn-lt"/>
                <a:ea typeface="黑体" panose="02010609060101010101" pitchFamily="49" charset="-122"/>
              </a:rPr>
              <a:t>，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11560" y="2687554"/>
                <a:ext cx="7200800" cy="5732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则称矩阵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为</a:t>
                </a:r>
                <a:r>
                  <a:rPr lang="zh-CN" altLang="en-US" b="1" dirty="0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+mn-lt"/>
                    <a:ea typeface="黑体" panose="02010609060101010101" pitchFamily="49" charset="-122"/>
                  </a:rPr>
                  <a:t>行最简形矩阵</a:t>
                </a:r>
                <a:r>
                  <a:rPr lang="en-US" altLang="zh-CN" b="1" dirty="0">
                    <a:latin typeface="+mn-lt"/>
                    <a:ea typeface="黑体" panose="02010609060101010101" pitchFamily="49" charset="-122"/>
                  </a:rPr>
                  <a:t>. </a:t>
                </a:r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（或</a:t>
                </a:r>
                <a:r>
                  <a:rPr lang="zh-CN" altLang="en-US" b="1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最简行阶梯形</a:t>
                </a:r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687554"/>
                <a:ext cx="7200800" cy="573298"/>
              </a:xfrm>
              <a:prstGeom prst="rect">
                <a:avLst/>
              </a:prstGeom>
              <a:blipFill>
                <a:blip r:embed="rId3"/>
                <a:stretch>
                  <a:fillRect l="-1269" b="-25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40321" y="3389337"/>
            <a:ext cx="115135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例如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. </a:t>
            </a:r>
            <a:endParaRPr lang="zh-CN" altLang="en-US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14375" y="4059709"/>
            <a:ext cx="357188" cy="19288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1143000" y="4059709"/>
            <a:ext cx="357188" cy="19288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2357438" y="4059709"/>
            <a:ext cx="357187" cy="19288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540251"/>
              </p:ext>
            </p:extLst>
          </p:nvPr>
        </p:nvGraphicFramePr>
        <p:xfrm>
          <a:off x="560388" y="3969221"/>
          <a:ext cx="3719512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014400" imgH="22250400" progId="">
                  <p:embed/>
                </p:oleObj>
              </mc:Choice>
              <mc:Fallback>
                <p:oleObj name="Equation" r:id="rId4" imgW="390144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3969221"/>
                        <a:ext cx="3719512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4648200" y="3702521"/>
            <a:ext cx="41910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+mn-lt"/>
                <a:ea typeface="黑体" panose="02010609060101010101" pitchFamily="49" charset="-122"/>
              </a:rPr>
              <a:t>行最简形矩阵的特点：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1.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非零行的首非零元为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2.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这些首非零元所在的列的</a:t>
            </a:r>
            <a:endParaRPr lang="en-US" altLang="zh-CN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其它元素都为零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4" name="椭圆 33"/>
          <p:cNvSpPr>
            <a:spLocks noChangeArrowheads="1"/>
          </p:cNvSpPr>
          <p:nvPr/>
        </p:nvSpPr>
        <p:spPr bwMode="auto">
          <a:xfrm>
            <a:off x="726422" y="4094188"/>
            <a:ext cx="285750" cy="28575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5" name="椭圆 34"/>
          <p:cNvSpPr>
            <a:spLocks noChangeArrowheads="1"/>
          </p:cNvSpPr>
          <p:nvPr/>
        </p:nvSpPr>
        <p:spPr bwMode="auto">
          <a:xfrm>
            <a:off x="1226485" y="4594250"/>
            <a:ext cx="285750" cy="28575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6" name="椭圆 35"/>
          <p:cNvSpPr>
            <a:spLocks noChangeArrowheads="1"/>
          </p:cNvSpPr>
          <p:nvPr/>
        </p:nvSpPr>
        <p:spPr bwMode="auto">
          <a:xfrm>
            <a:off x="2440922" y="5165750"/>
            <a:ext cx="285750" cy="28575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714289" y="3969221"/>
            <a:ext cx="2754386" cy="1586199"/>
            <a:chOff x="995002" y="3564792"/>
            <a:chExt cx="2754386" cy="1586199"/>
          </a:xfrm>
        </p:grpSpPr>
        <p:sp>
          <p:nvSpPr>
            <p:cNvPr id="39" name="Line 5"/>
            <p:cNvSpPr>
              <a:spLocks noChangeShapeType="1"/>
            </p:cNvSpPr>
            <p:nvPr/>
          </p:nvSpPr>
          <p:spPr bwMode="auto">
            <a:xfrm>
              <a:off x="1006188" y="4018012"/>
              <a:ext cx="4572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40" name="Line 6"/>
            <p:cNvSpPr>
              <a:spLocks noChangeShapeType="1"/>
            </p:cNvSpPr>
            <p:nvPr/>
          </p:nvSpPr>
          <p:spPr bwMode="auto">
            <a:xfrm>
              <a:off x="1463388" y="4031341"/>
              <a:ext cx="0" cy="5598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41" name="Line 7"/>
            <p:cNvSpPr>
              <a:spLocks noChangeShapeType="1"/>
            </p:cNvSpPr>
            <p:nvPr/>
          </p:nvSpPr>
          <p:spPr bwMode="auto">
            <a:xfrm>
              <a:off x="1463388" y="4591166"/>
              <a:ext cx="1143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42" name="Line 8"/>
            <p:cNvSpPr>
              <a:spLocks noChangeShapeType="1"/>
            </p:cNvSpPr>
            <p:nvPr/>
          </p:nvSpPr>
          <p:spPr bwMode="auto">
            <a:xfrm>
              <a:off x="2606388" y="4591166"/>
              <a:ext cx="0" cy="5598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43" name="Line 9"/>
            <p:cNvSpPr>
              <a:spLocks noChangeShapeType="1"/>
            </p:cNvSpPr>
            <p:nvPr/>
          </p:nvSpPr>
          <p:spPr bwMode="auto">
            <a:xfrm>
              <a:off x="2606388" y="5150991"/>
              <a:ext cx="1143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44" name="Line 6"/>
            <p:cNvSpPr>
              <a:spLocks noChangeShapeType="1"/>
            </p:cNvSpPr>
            <p:nvPr/>
          </p:nvSpPr>
          <p:spPr bwMode="auto">
            <a:xfrm flipH="1">
              <a:off x="995002" y="3564792"/>
              <a:ext cx="11185" cy="45322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43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7" grpId="0"/>
      <p:bldP spid="23" grpId="0" animBg="1"/>
      <p:bldP spid="24" grpId="0" animBg="1"/>
      <p:bldP spid="25" grpId="0" animBg="1"/>
      <p:bldP spid="27" grpId="0" uiExpand="1" build="p" autoUpdateAnimBg="0"/>
      <p:bldP spid="34" grpId="0" animBg="1"/>
      <p:bldP spid="35" grpId="0" animBg="1"/>
      <p:bldP spid="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3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141538"/>
              </p:ext>
            </p:extLst>
          </p:nvPr>
        </p:nvGraphicFramePr>
        <p:xfrm>
          <a:off x="395536" y="697401"/>
          <a:ext cx="3024138" cy="2177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927000" progId="Equation.DSMT4">
                  <p:embed/>
                </p:oleObj>
              </mc:Choice>
              <mc:Fallback>
                <p:oleObj name="Equation" r:id="rId2" imgW="1320480" imgH="927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697401"/>
                        <a:ext cx="3024138" cy="2177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166491"/>
              </p:ext>
            </p:extLst>
          </p:nvPr>
        </p:nvGraphicFramePr>
        <p:xfrm>
          <a:off x="466725" y="4113213"/>
          <a:ext cx="3257550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137600" imgH="22250400" progId="">
                  <p:embed/>
                </p:oleObj>
              </mc:Choice>
              <mc:Fallback>
                <p:oleObj name="Equation" r:id="rId4" imgW="34137600" imgH="222504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4113213"/>
                        <a:ext cx="3257550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Text Box 5"/>
          <p:cNvSpPr txBox="1">
            <a:spLocks noChangeArrowheads="1"/>
          </p:cNvSpPr>
          <p:nvPr/>
        </p:nvSpPr>
        <p:spPr bwMode="auto">
          <a:xfrm>
            <a:off x="3995936" y="3041619"/>
            <a:ext cx="4413052" cy="143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+mn-lt"/>
                <a:ea typeface="黑体" panose="02010609060101010101" pitchFamily="49" charset="-122"/>
              </a:rPr>
              <a:t>标准形矩阵定义：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左上角是一个单位矩阵，其它元素全为零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记作</a:t>
            </a:r>
            <a:endParaRPr lang="en-US" altLang="zh-CN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9641" name="Freeform 9"/>
          <p:cNvSpPr>
            <a:spLocks/>
          </p:cNvSpPr>
          <p:nvPr/>
        </p:nvSpPr>
        <p:spPr bwMode="auto">
          <a:xfrm>
            <a:off x="1061616" y="3429000"/>
            <a:ext cx="1584325" cy="144463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696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659550"/>
              </p:ext>
            </p:extLst>
          </p:nvPr>
        </p:nvGraphicFramePr>
        <p:xfrm>
          <a:off x="1146174" y="2980903"/>
          <a:ext cx="12350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59200" imgH="5486400" progId="">
                  <p:embed/>
                </p:oleObj>
              </mc:Choice>
              <mc:Fallback>
                <p:oleObj name="Equation" r:id="rId6" imgW="16459200" imgH="54864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4" y="2980903"/>
                        <a:ext cx="12350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779917"/>
              </p:ext>
            </p:extLst>
          </p:nvPr>
        </p:nvGraphicFramePr>
        <p:xfrm>
          <a:off x="790153" y="3645024"/>
          <a:ext cx="212566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346400" imgH="5486400" progId="">
                  <p:embed/>
                </p:oleObj>
              </mc:Choice>
              <mc:Fallback>
                <p:oleObj name="Equation" r:id="rId8" imgW="28346400" imgH="54864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153" y="3645024"/>
                        <a:ext cx="2125663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63" name="Line 31"/>
          <p:cNvSpPr>
            <a:spLocks noChangeShapeType="1"/>
          </p:cNvSpPr>
          <p:nvPr/>
        </p:nvSpPr>
        <p:spPr bwMode="auto">
          <a:xfrm>
            <a:off x="539750" y="5705475"/>
            <a:ext cx="24479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9664" name="Line 32"/>
          <p:cNvSpPr>
            <a:spLocks noChangeShapeType="1"/>
          </p:cNvSpPr>
          <p:nvPr/>
        </p:nvSpPr>
        <p:spPr bwMode="auto">
          <a:xfrm>
            <a:off x="1979613" y="4221163"/>
            <a:ext cx="0" cy="19446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788949"/>
              </p:ext>
            </p:extLst>
          </p:nvPr>
        </p:nvGraphicFramePr>
        <p:xfrm>
          <a:off x="4952305" y="4099341"/>
          <a:ext cx="2500313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212800" imgH="11582400" progId="">
                  <p:embed/>
                </p:oleObj>
              </mc:Choice>
              <mc:Fallback>
                <p:oleObj name="Equation" r:id="rId10" imgW="26212800" imgH="115824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305" y="4099341"/>
                        <a:ext cx="2500313" cy="110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6"/>
          <p:cNvSpPr txBox="1">
            <a:spLocks noChangeArrowheads="1"/>
          </p:cNvSpPr>
          <p:nvPr/>
        </p:nvSpPr>
        <p:spPr>
          <a:xfrm>
            <a:off x="323528" y="182934"/>
            <a:ext cx="4574405" cy="6302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标准形矩阵的概念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4040188" y="5260801"/>
            <a:ext cx="4132212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标准形矩阵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由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、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、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三个参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数完全确定，其中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是行阶梯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形矩阵中非零行的行数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602420" y="749241"/>
            <a:ext cx="2754386" cy="1586199"/>
            <a:chOff x="995002" y="3564792"/>
            <a:chExt cx="2754386" cy="1586199"/>
          </a:xfrm>
        </p:grpSpPr>
        <p:sp>
          <p:nvSpPr>
            <p:cNvPr id="29" name="Line 5"/>
            <p:cNvSpPr>
              <a:spLocks noChangeShapeType="1"/>
            </p:cNvSpPr>
            <p:nvPr/>
          </p:nvSpPr>
          <p:spPr bwMode="auto">
            <a:xfrm>
              <a:off x="1006188" y="4018012"/>
              <a:ext cx="4572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30" name="Line 6"/>
            <p:cNvSpPr>
              <a:spLocks noChangeShapeType="1"/>
            </p:cNvSpPr>
            <p:nvPr/>
          </p:nvSpPr>
          <p:spPr bwMode="auto">
            <a:xfrm>
              <a:off x="1463388" y="4031341"/>
              <a:ext cx="0" cy="5598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31" name="Line 7"/>
            <p:cNvSpPr>
              <a:spLocks noChangeShapeType="1"/>
            </p:cNvSpPr>
            <p:nvPr/>
          </p:nvSpPr>
          <p:spPr bwMode="auto">
            <a:xfrm>
              <a:off x="1463388" y="4591166"/>
              <a:ext cx="1143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>
              <a:off x="2606388" y="4591166"/>
              <a:ext cx="0" cy="55982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33" name="Line 9"/>
            <p:cNvSpPr>
              <a:spLocks noChangeShapeType="1"/>
            </p:cNvSpPr>
            <p:nvPr/>
          </p:nvSpPr>
          <p:spPr bwMode="auto">
            <a:xfrm>
              <a:off x="2606388" y="5150991"/>
              <a:ext cx="114300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34" name="Line 6"/>
            <p:cNvSpPr>
              <a:spLocks noChangeShapeType="1"/>
            </p:cNvSpPr>
            <p:nvPr/>
          </p:nvSpPr>
          <p:spPr bwMode="auto">
            <a:xfrm flipH="1">
              <a:off x="995002" y="3564792"/>
              <a:ext cx="11185" cy="45322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1" name="Freeform 9"/>
          <p:cNvSpPr>
            <a:spLocks/>
          </p:cNvSpPr>
          <p:nvPr/>
        </p:nvSpPr>
        <p:spPr bwMode="auto">
          <a:xfrm>
            <a:off x="3491731" y="1775615"/>
            <a:ext cx="1584325" cy="144463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929085"/>
              </p:ext>
            </p:extLst>
          </p:nvPr>
        </p:nvGraphicFramePr>
        <p:xfrm>
          <a:off x="3815581" y="1364453"/>
          <a:ext cx="93821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96800" imgH="5486400" progId="">
                  <p:embed/>
                </p:oleObj>
              </mc:Choice>
              <mc:Fallback>
                <p:oleObj name="Equation" r:id="rId12" imgW="12496800" imgH="5486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5581" y="1364453"/>
                        <a:ext cx="938212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690801"/>
              </p:ext>
            </p:extLst>
          </p:nvPr>
        </p:nvGraphicFramePr>
        <p:xfrm>
          <a:off x="5158035" y="749241"/>
          <a:ext cx="3215336" cy="203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20480" imgH="927000" progId="Equation.DSMT4">
                  <p:embed/>
                </p:oleObj>
              </mc:Choice>
              <mc:Fallback>
                <p:oleObj name="Equation" r:id="rId14" imgW="132048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8035" y="749241"/>
                        <a:ext cx="3215336" cy="203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 uiExpand="1" build="p" autoUpdateAnimBg="0"/>
      <p:bldP spid="69641" grpId="0" animBg="1"/>
      <p:bldP spid="69663" grpId="0" animBg="1"/>
      <p:bldP spid="69664" grpId="0" animBg="1"/>
      <p:bldP spid="27" grpId="0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圆角矩形 24"/>
          <p:cNvSpPr/>
          <p:nvPr/>
        </p:nvSpPr>
        <p:spPr bwMode="auto">
          <a:xfrm>
            <a:off x="3560082" y="5126261"/>
            <a:ext cx="2100035" cy="534987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" name="圆角矩形 23"/>
          <p:cNvSpPr/>
          <p:nvPr/>
        </p:nvSpPr>
        <p:spPr bwMode="auto">
          <a:xfrm>
            <a:off x="3478306" y="3135313"/>
            <a:ext cx="2100035" cy="534987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5712324" y="1493092"/>
            <a:ext cx="2100035" cy="534987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539552" y="1458913"/>
            <a:ext cx="1512168" cy="534987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609600" y="1538288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非零矩阵</a:t>
            </a:r>
          </a:p>
        </p:txBody>
      </p:sp>
      <p:sp>
        <p:nvSpPr>
          <p:cNvPr id="143363" name="Text Box 3"/>
          <p:cNvSpPr txBox="1">
            <a:spLocks noChangeArrowheads="1"/>
          </p:cNvSpPr>
          <p:nvPr/>
        </p:nvSpPr>
        <p:spPr bwMode="auto">
          <a:xfrm>
            <a:off x="3429000" y="3138488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行最简形矩阵</a:t>
            </a:r>
          </a:p>
        </p:txBody>
      </p:sp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5715000" y="15367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行阶梯形矩阵</a:t>
            </a:r>
          </a:p>
        </p:txBody>
      </p:sp>
      <p:sp>
        <p:nvSpPr>
          <p:cNvPr id="143365" name="Text Box 5"/>
          <p:cNvSpPr txBox="1">
            <a:spLocks noChangeArrowheads="1"/>
          </p:cNvSpPr>
          <p:nvPr/>
        </p:nvSpPr>
        <p:spPr bwMode="auto">
          <a:xfrm>
            <a:off x="3429000" y="5165949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标准形矩阵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286000" y="1268762"/>
            <a:ext cx="3352800" cy="461963"/>
            <a:chOff x="1440" y="919"/>
            <a:chExt cx="2112" cy="291"/>
          </a:xfrm>
        </p:grpSpPr>
        <p:sp>
          <p:nvSpPr>
            <p:cNvPr id="143380" name="Line 7"/>
            <p:cNvSpPr>
              <a:spLocks noChangeShapeType="1"/>
            </p:cNvSpPr>
            <p:nvPr/>
          </p:nvSpPr>
          <p:spPr bwMode="auto">
            <a:xfrm>
              <a:off x="1440" y="1209"/>
              <a:ext cx="2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43381" name="Text Box 8"/>
            <p:cNvSpPr txBox="1">
              <a:spLocks noChangeArrowheads="1"/>
            </p:cNvSpPr>
            <p:nvPr/>
          </p:nvSpPr>
          <p:spPr bwMode="auto">
            <a:xfrm>
              <a:off x="1492" y="919"/>
              <a:ext cx="17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有限次初等行变换  </a:t>
              </a:r>
            </a:p>
          </p:txBody>
        </p:sp>
      </p:grpSp>
      <p:sp>
        <p:nvSpPr>
          <p:cNvPr id="71689" name="Line 9"/>
          <p:cNvSpPr>
            <a:spLocks noChangeShapeType="1"/>
          </p:cNvSpPr>
          <p:nvPr/>
        </p:nvSpPr>
        <p:spPr bwMode="auto">
          <a:xfrm flipH="1">
            <a:off x="4495800" y="2071688"/>
            <a:ext cx="22098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572001" y="3713163"/>
            <a:ext cx="2890838" cy="1371600"/>
            <a:chOff x="2880" y="2339"/>
            <a:chExt cx="1821" cy="864"/>
          </a:xfrm>
        </p:grpSpPr>
        <p:sp>
          <p:nvSpPr>
            <p:cNvPr id="143378" name="Line 11"/>
            <p:cNvSpPr>
              <a:spLocks noChangeShapeType="1"/>
            </p:cNvSpPr>
            <p:nvPr/>
          </p:nvSpPr>
          <p:spPr bwMode="auto">
            <a:xfrm>
              <a:off x="2880" y="2339"/>
              <a:ext cx="0" cy="86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43379" name="Text Box 12"/>
            <p:cNvSpPr txBox="1">
              <a:spLocks noChangeArrowheads="1"/>
            </p:cNvSpPr>
            <p:nvPr/>
          </p:nvSpPr>
          <p:spPr bwMode="auto">
            <a:xfrm>
              <a:off x="2880" y="2599"/>
              <a:ext cx="18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有限次初等列变换   </a:t>
              </a: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28638" y="1995488"/>
            <a:ext cx="3738563" cy="2971800"/>
            <a:chOff x="333" y="1257"/>
            <a:chExt cx="2355" cy="1872"/>
          </a:xfrm>
        </p:grpSpPr>
        <p:sp>
          <p:nvSpPr>
            <p:cNvPr id="143376" name="Line 14"/>
            <p:cNvSpPr>
              <a:spLocks noChangeShapeType="1"/>
            </p:cNvSpPr>
            <p:nvPr/>
          </p:nvSpPr>
          <p:spPr bwMode="auto">
            <a:xfrm>
              <a:off x="816" y="1257"/>
              <a:ext cx="1872" cy="187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43377" name="Text Box 15"/>
            <p:cNvSpPr txBox="1">
              <a:spLocks noChangeArrowheads="1"/>
            </p:cNvSpPr>
            <p:nvPr/>
          </p:nvSpPr>
          <p:spPr bwMode="auto">
            <a:xfrm>
              <a:off x="333" y="2193"/>
              <a:ext cx="157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3300"/>
                  </a:solidFill>
                  <a:latin typeface="+mn-lt"/>
                  <a:ea typeface="黑体" panose="02010609060101010101" pitchFamily="49" charset="-122"/>
                </a:rPr>
                <a:t>有限次初等变换 </a:t>
              </a:r>
            </a:p>
          </p:txBody>
        </p:sp>
      </p:grpSp>
      <p:sp>
        <p:nvSpPr>
          <p:cNvPr id="143370" name="Rectangle 16"/>
          <p:cNvSpPr>
            <a:spLocks noChangeArrowheads="1"/>
          </p:cNvSpPr>
          <p:nvPr/>
        </p:nvSpPr>
        <p:spPr bwMode="auto">
          <a:xfrm>
            <a:off x="466279" y="467961"/>
            <a:ext cx="52578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不同类型矩阵之间的关系</a:t>
            </a:r>
          </a:p>
        </p:txBody>
      </p:sp>
      <p:sp>
        <p:nvSpPr>
          <p:cNvPr id="71697" name="Line 17"/>
          <p:cNvSpPr>
            <a:spLocks noChangeShapeType="1"/>
          </p:cNvSpPr>
          <p:nvPr/>
        </p:nvSpPr>
        <p:spPr bwMode="auto">
          <a:xfrm>
            <a:off x="2286000" y="1881535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4762500" y="2130426"/>
            <a:ext cx="3917950" cy="990600"/>
            <a:chOff x="3000" y="1342"/>
            <a:chExt cx="2468" cy="624"/>
          </a:xfrm>
        </p:grpSpPr>
        <p:sp>
          <p:nvSpPr>
            <p:cNvPr id="143374" name="Text Box 19"/>
            <p:cNvSpPr txBox="1">
              <a:spLocks noChangeArrowheads="1"/>
            </p:cNvSpPr>
            <p:nvPr/>
          </p:nvSpPr>
          <p:spPr bwMode="auto">
            <a:xfrm>
              <a:off x="3696" y="1639"/>
              <a:ext cx="17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有限次初等行变换  </a:t>
              </a:r>
            </a:p>
          </p:txBody>
        </p:sp>
        <p:sp>
          <p:nvSpPr>
            <p:cNvPr id="143375" name="Line 20"/>
            <p:cNvSpPr>
              <a:spLocks noChangeShapeType="1"/>
            </p:cNvSpPr>
            <p:nvPr/>
          </p:nvSpPr>
          <p:spPr bwMode="auto">
            <a:xfrm flipH="1">
              <a:off x="3000" y="1342"/>
              <a:ext cx="1392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71701" name="Line 21"/>
          <p:cNvSpPr>
            <a:spLocks noChangeShapeType="1"/>
          </p:cNvSpPr>
          <p:nvPr/>
        </p:nvSpPr>
        <p:spPr bwMode="auto">
          <a:xfrm>
            <a:off x="4419600" y="3713584"/>
            <a:ext cx="0" cy="1371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9" grpId="0" animBg="1"/>
      <p:bldP spid="71697" grpId="0" animBg="1"/>
      <p:bldP spid="7170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>
            <a:spLocks noChangeArrowheads="1"/>
          </p:cNvSpPr>
          <p:nvPr/>
        </p:nvSpPr>
        <p:spPr bwMode="auto">
          <a:xfrm>
            <a:off x="5668963" y="1196975"/>
            <a:ext cx="3079750" cy="15843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/>
          </a:p>
        </p:txBody>
      </p:sp>
      <p:sp>
        <p:nvSpPr>
          <p:cNvPr id="672770" name="Rectangle 2"/>
          <p:cNvSpPr>
            <a:spLocks noChangeArrowheads="1"/>
          </p:cNvSpPr>
          <p:nvPr/>
        </p:nvSpPr>
        <p:spPr bwMode="auto">
          <a:xfrm>
            <a:off x="1289984" y="457200"/>
            <a:ext cx="411480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将下列矩阵化为标准形</a:t>
            </a:r>
            <a:r>
              <a:rPr lang="en-US" altLang="zh-CN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.</a:t>
            </a:r>
            <a:r>
              <a:rPr lang="zh-CN" altLang="en-US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672774" name="Rectangle 6"/>
          <p:cNvSpPr>
            <a:spLocks noChangeArrowheads="1"/>
          </p:cNvSpPr>
          <p:nvPr/>
        </p:nvSpPr>
        <p:spPr bwMode="auto">
          <a:xfrm>
            <a:off x="381000" y="457200"/>
            <a:ext cx="8146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1.</a:t>
            </a:r>
            <a:endParaRPr lang="zh-CN" altLang="en-US" sz="2800" b="1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72776" name="Rectangle 8"/>
          <p:cNvSpPr>
            <a:spLocks noChangeArrowheads="1"/>
          </p:cNvSpPr>
          <p:nvPr/>
        </p:nvSpPr>
        <p:spPr bwMode="auto">
          <a:xfrm>
            <a:off x="381000" y="3048000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62880" name="Object 2"/>
          <p:cNvGraphicFramePr>
            <a:graphicFrameLocks noChangeAspect="1"/>
          </p:cNvGraphicFramePr>
          <p:nvPr/>
        </p:nvGraphicFramePr>
        <p:xfrm>
          <a:off x="1524000" y="1109663"/>
          <a:ext cx="342900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19200" imgH="21945600" progId="Equation.3">
                  <p:embed/>
                </p:oleObj>
              </mc:Choice>
              <mc:Fallback>
                <p:oleObj name="Equation" r:id="rId2" imgW="39319200" imgH="2194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109663"/>
                        <a:ext cx="3429000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8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387597"/>
              </p:ext>
            </p:extLst>
          </p:nvPr>
        </p:nvGraphicFramePr>
        <p:xfrm>
          <a:off x="1013495" y="3886200"/>
          <a:ext cx="9842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82400" imgH="5181600" progId="Equation.3">
                  <p:embed/>
                </p:oleObj>
              </mc:Choice>
              <mc:Fallback>
                <p:oleObj name="Equation" r:id="rId4" imgW="11582400" imgH="5181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495" y="3886200"/>
                        <a:ext cx="9842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82" name="Object 4"/>
          <p:cNvGraphicFramePr>
            <a:graphicFrameLocks noChangeAspect="1"/>
          </p:cNvGraphicFramePr>
          <p:nvPr/>
        </p:nvGraphicFramePr>
        <p:xfrm>
          <a:off x="2057400" y="3429000"/>
          <a:ext cx="28956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918400" imgH="21945600" progId="Equation.3">
                  <p:embed/>
                </p:oleObj>
              </mc:Choice>
              <mc:Fallback>
                <p:oleObj name="Equation" r:id="rId6" imgW="32918400" imgH="21945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429000"/>
                        <a:ext cx="28956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8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427926"/>
              </p:ext>
            </p:extLst>
          </p:nvPr>
        </p:nvGraphicFramePr>
        <p:xfrm>
          <a:off x="5014664" y="3868738"/>
          <a:ext cx="9779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277600" imgH="5181600" progId="Equation.3">
                  <p:embed/>
                </p:oleObj>
              </mc:Choice>
              <mc:Fallback>
                <p:oleObj name="Equation" r:id="rId8" imgW="11277600" imgH="5181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664" y="3868738"/>
                        <a:ext cx="9779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8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923628"/>
              </p:ext>
            </p:extLst>
          </p:nvPr>
        </p:nvGraphicFramePr>
        <p:xfrm>
          <a:off x="5025777" y="4445000"/>
          <a:ext cx="9525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72800" imgH="5486400" progId="Equation.3">
                  <p:embed/>
                </p:oleObj>
              </mc:Choice>
              <mc:Fallback>
                <p:oleObj name="Equation" r:id="rId10" imgW="10972800" imgH="5486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5777" y="4445000"/>
                        <a:ext cx="95250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8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655438"/>
              </p:ext>
            </p:extLst>
          </p:nvPr>
        </p:nvGraphicFramePr>
        <p:xfrm>
          <a:off x="558850" y="4191000"/>
          <a:ext cx="4127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62400" imgH="3962400" progId="Equation.3">
                  <p:embed/>
                </p:oleObj>
              </mc:Choice>
              <mc:Fallback>
                <p:oleObj name="Equation" r:id="rId12" imgW="3962400" imgH="3962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50" y="4191000"/>
                        <a:ext cx="41275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8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161804"/>
              </p:ext>
            </p:extLst>
          </p:nvPr>
        </p:nvGraphicFramePr>
        <p:xfrm>
          <a:off x="6156176" y="3398838"/>
          <a:ext cx="2514600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432000" imgH="21945600" progId="Equation.3">
                  <p:embed/>
                </p:oleObj>
              </mc:Choice>
              <mc:Fallback>
                <p:oleObj name="Equation" r:id="rId14" imgW="27432000" imgH="21945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3398838"/>
                        <a:ext cx="2514600" cy="201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8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759848"/>
              </p:ext>
            </p:extLst>
          </p:nvPr>
        </p:nvGraphicFramePr>
        <p:xfrm>
          <a:off x="6308576" y="3891337"/>
          <a:ext cx="20574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192991" imgH="5124581" progId="Equation.3">
                  <p:embed/>
                </p:oleObj>
              </mc:Choice>
              <mc:Fallback>
                <p:oleObj name="Equation" r:id="rId16" imgW="22192991" imgH="512458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576" y="3891337"/>
                        <a:ext cx="20574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8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205533"/>
              </p:ext>
            </p:extLst>
          </p:nvPr>
        </p:nvGraphicFramePr>
        <p:xfrm>
          <a:off x="6308576" y="4389438"/>
          <a:ext cx="205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802591" imgH="5124581" progId="Equation.3">
                  <p:embed/>
                </p:oleObj>
              </mc:Choice>
              <mc:Fallback>
                <p:oleObj name="Equation" r:id="rId18" imgW="22802591" imgH="512458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576" y="4389438"/>
                        <a:ext cx="2057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1" name="TextBox 17"/>
          <p:cNvSpPr txBox="1">
            <a:spLocks noChangeArrowheads="1"/>
          </p:cNvSpPr>
          <p:nvPr/>
        </p:nvSpPr>
        <p:spPr bwMode="auto">
          <a:xfrm>
            <a:off x="1002383" y="4437063"/>
            <a:ext cx="1008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6011863" y="1443038"/>
          <a:ext cx="2500312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212800" imgH="11582400" progId="Equation.DSMT4">
                  <p:embed/>
                </p:oleObj>
              </mc:Choice>
              <mc:Fallback>
                <p:oleObj name="Equation" r:id="rId20" imgW="26212800" imgH="115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1443038"/>
                        <a:ext cx="2500312" cy="110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 9"/>
          <p:cNvSpPr>
            <a:spLocks/>
          </p:cNvSpPr>
          <p:nvPr/>
        </p:nvSpPr>
        <p:spPr bwMode="auto">
          <a:xfrm>
            <a:off x="965870" y="4404991"/>
            <a:ext cx="1085850" cy="60647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9"/>
          <p:cNvSpPr>
            <a:spLocks/>
          </p:cNvSpPr>
          <p:nvPr/>
        </p:nvSpPr>
        <p:spPr bwMode="auto">
          <a:xfrm>
            <a:off x="4961063" y="4398169"/>
            <a:ext cx="1085850" cy="60647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7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6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6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6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6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6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62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288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6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762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28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72770" grpId="0"/>
      <p:bldP spid="672774" grpId="0" autoUpdateAnimBg="0"/>
      <p:bldP spid="672776" grpId="0" autoUpdateAnimBg="0"/>
      <p:bldP spid="20" grpId="0" animBg="1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4800" y="6121102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FD2D4EAC-F36C-4FB1-AF82-5E34CB57C7DF}" type="slidenum">
              <a:rPr lang="zh-CN" altLang="en-US" sz="1200" smtClean="0">
                <a:solidFill>
                  <a:srgbClr val="000000"/>
                </a:solidFill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zh-CN" altLang="en-US" sz="1200">
              <a:solidFill>
                <a:srgbClr val="000000"/>
              </a:solidFill>
            </a:endParaRPr>
          </a:p>
        </p:txBody>
      </p:sp>
      <p:graphicFrame>
        <p:nvGraphicFramePr>
          <p:cNvPr id="145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101937"/>
              </p:ext>
            </p:extLst>
          </p:nvPr>
        </p:nvGraphicFramePr>
        <p:xfrm>
          <a:off x="1122511" y="256714"/>
          <a:ext cx="2761928" cy="200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175200" imgH="21945600" progId="Equation.3">
                  <p:embed/>
                </p:oleObj>
              </mc:Choice>
              <mc:Fallback>
                <p:oleObj name="Equation" r:id="rId2" imgW="30175200" imgH="2194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511" y="256714"/>
                        <a:ext cx="2761928" cy="2009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0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577811"/>
              </p:ext>
            </p:extLst>
          </p:nvPr>
        </p:nvGraphicFramePr>
        <p:xfrm>
          <a:off x="4070176" y="685800"/>
          <a:ext cx="9842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82400" imgH="5181600" progId="Equation.3">
                  <p:embed/>
                </p:oleObj>
              </mc:Choice>
              <mc:Fallback>
                <p:oleObj name="Equation" r:id="rId4" imgW="11582400" imgH="5181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176" y="685800"/>
                        <a:ext cx="9842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062539"/>
              </p:ext>
            </p:extLst>
          </p:nvPr>
        </p:nvGraphicFramePr>
        <p:xfrm>
          <a:off x="5275263" y="200025"/>
          <a:ext cx="2681287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432000" imgH="21945600" progId="Equation.3">
                  <p:embed/>
                </p:oleObj>
              </mc:Choice>
              <mc:Fallback>
                <p:oleObj name="公式" r:id="rId6" imgW="27432000" imgH="21945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5263" y="200025"/>
                        <a:ext cx="2681287" cy="206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741965"/>
              </p:ext>
            </p:extLst>
          </p:nvPr>
        </p:nvGraphicFramePr>
        <p:xfrm>
          <a:off x="4070176" y="1295400"/>
          <a:ext cx="9572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277600" imgH="5486400" progId="Equation.3">
                  <p:embed/>
                </p:oleObj>
              </mc:Choice>
              <mc:Fallback>
                <p:oleObj name="Equation" r:id="rId8" imgW="11277600" imgH="5486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176" y="1295400"/>
                        <a:ext cx="9572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917411"/>
              </p:ext>
            </p:extLst>
          </p:nvPr>
        </p:nvGraphicFramePr>
        <p:xfrm>
          <a:off x="5717108" y="2353072"/>
          <a:ext cx="2235200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384000" imgH="21945600" progId="Equation.3">
                  <p:embed/>
                </p:oleObj>
              </mc:Choice>
              <mc:Fallback>
                <p:oleObj name="Equation" r:id="rId10" imgW="24384000" imgH="21945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7108" y="2353072"/>
                        <a:ext cx="2235200" cy="201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825970"/>
              </p:ext>
            </p:extLst>
          </p:nvPr>
        </p:nvGraphicFramePr>
        <p:xfrm>
          <a:off x="1767408" y="2276872"/>
          <a:ext cx="2590800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432000" imgH="21945600" progId="Equation.3">
                  <p:embed/>
                </p:oleObj>
              </mc:Choice>
              <mc:Fallback>
                <p:oleObj name="Equation" r:id="rId12" imgW="27432000" imgH="21945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7408" y="2276872"/>
                        <a:ext cx="2590800" cy="207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640996"/>
              </p:ext>
            </p:extLst>
          </p:nvPr>
        </p:nvGraphicFramePr>
        <p:xfrm>
          <a:off x="1771600" y="4447877"/>
          <a:ext cx="2667000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384000" imgH="21945600" progId="Equation.3">
                  <p:embed/>
                </p:oleObj>
              </mc:Choice>
              <mc:Fallback>
                <p:oleObj name="Equation" r:id="rId14" imgW="24384000" imgH="21945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00" y="4447877"/>
                        <a:ext cx="2667000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719071"/>
              </p:ext>
            </p:extLst>
          </p:nvPr>
        </p:nvGraphicFramePr>
        <p:xfrm>
          <a:off x="3051696" y="3843735"/>
          <a:ext cx="114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086591" imgH="5124581" progId="Equation.3">
                  <p:embed/>
                </p:oleObj>
              </mc:Choice>
              <mc:Fallback>
                <p:oleObj name="Equation" r:id="rId16" imgW="9086591" imgH="512458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696" y="3843735"/>
                        <a:ext cx="114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351671"/>
              </p:ext>
            </p:extLst>
          </p:nvPr>
        </p:nvGraphicFramePr>
        <p:xfrm>
          <a:off x="6839471" y="2886472"/>
          <a:ext cx="958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220191" imgH="5124581" progId="Equation.3">
                  <p:embed/>
                </p:oleObj>
              </mc:Choice>
              <mc:Fallback>
                <p:oleObj name="Equation" r:id="rId18" imgW="11220191" imgH="512458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9471" y="2886472"/>
                        <a:ext cx="9588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2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475573"/>
              </p:ext>
            </p:extLst>
          </p:nvPr>
        </p:nvGraphicFramePr>
        <p:xfrm>
          <a:off x="2535188" y="4481215"/>
          <a:ext cx="3032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90591" imgH="4209984" progId="Equation.3">
                  <p:embed/>
                </p:oleObj>
              </mc:Choice>
              <mc:Fallback>
                <p:oleObj name="Equation" r:id="rId20" imgW="2990591" imgH="420998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188" y="4481215"/>
                        <a:ext cx="30321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274296"/>
              </p:ext>
            </p:extLst>
          </p:nvPr>
        </p:nvGraphicFramePr>
        <p:xfrm>
          <a:off x="5581600" y="4481215"/>
          <a:ext cx="2590800" cy="203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3469600" imgH="21945600" progId="Equation.3">
                  <p:embed/>
                </p:oleObj>
              </mc:Choice>
              <mc:Fallback>
                <p:oleObj name="公式" r:id="rId22" imgW="23469600" imgH="21945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00" y="4481215"/>
                        <a:ext cx="2590800" cy="203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3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347205"/>
              </p:ext>
            </p:extLst>
          </p:nvPr>
        </p:nvGraphicFramePr>
        <p:xfrm>
          <a:off x="3679775" y="4470102"/>
          <a:ext cx="5191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124191" imgH="3905513" progId="Equation.3">
                  <p:embed/>
                </p:oleObj>
              </mc:Choice>
              <mc:Fallback>
                <p:oleObj name="Equation" r:id="rId24" imgW="5124191" imgH="390551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775" y="4470102"/>
                        <a:ext cx="5191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83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464597"/>
              </p:ext>
            </p:extLst>
          </p:nvPr>
        </p:nvGraphicFramePr>
        <p:xfrm>
          <a:off x="6839471" y="2373710"/>
          <a:ext cx="93503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915391" imgH="5124581" progId="Equation.3">
                  <p:embed/>
                </p:oleObj>
              </mc:Choice>
              <mc:Fallback>
                <p:oleObj name="Equation" r:id="rId26" imgW="10915391" imgH="512458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9471" y="2373710"/>
                        <a:ext cx="935037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65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593948"/>
              </p:ext>
            </p:extLst>
          </p:nvPr>
        </p:nvGraphicFramePr>
        <p:xfrm>
          <a:off x="643458" y="2610247"/>
          <a:ext cx="863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9144000" imgH="5486400" progId="Equation.3">
                  <p:embed/>
                </p:oleObj>
              </mc:Choice>
              <mc:Fallback>
                <p:oleObj name="公式" r:id="rId28" imgW="9144000" imgH="54864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58" y="2610247"/>
                        <a:ext cx="8636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65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713890"/>
              </p:ext>
            </p:extLst>
          </p:nvPr>
        </p:nvGraphicFramePr>
        <p:xfrm>
          <a:off x="584721" y="3262710"/>
          <a:ext cx="9937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0363200" imgH="5486400" progId="Equation.3">
                  <p:embed/>
                </p:oleObj>
              </mc:Choice>
              <mc:Fallback>
                <p:oleObj name="公式" r:id="rId30" imgW="10363200" imgH="54864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721" y="3262710"/>
                        <a:ext cx="993775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651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160237"/>
              </p:ext>
            </p:extLst>
          </p:nvPr>
        </p:nvGraphicFramePr>
        <p:xfrm>
          <a:off x="4537036" y="3376222"/>
          <a:ext cx="9779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0363200" imgH="5486400" progId="Equation.3">
                  <p:embed/>
                </p:oleObj>
              </mc:Choice>
              <mc:Fallback>
                <p:oleObj name="公式" r:id="rId32" imgW="10363200" imgH="5486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036" y="3376222"/>
                        <a:ext cx="9779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65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34420"/>
              </p:ext>
            </p:extLst>
          </p:nvPr>
        </p:nvGraphicFramePr>
        <p:xfrm>
          <a:off x="4479886" y="2705203"/>
          <a:ext cx="10350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0972800" imgH="5486400" progId="Equation.3">
                  <p:embed/>
                </p:oleObj>
              </mc:Choice>
              <mc:Fallback>
                <p:oleObj name="公式" r:id="rId34" imgW="10972800" imgH="54864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886" y="2705203"/>
                        <a:ext cx="10350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651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637280"/>
              </p:ext>
            </p:extLst>
          </p:nvPr>
        </p:nvGraphicFramePr>
        <p:xfrm>
          <a:off x="4023283" y="1679575"/>
          <a:ext cx="1099593" cy="50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1277600" imgH="5181600" progId="Equation.3">
                  <p:embed/>
                </p:oleObj>
              </mc:Choice>
              <mc:Fallback>
                <p:oleObj name="公式" r:id="rId36" imgW="11277600" imgH="5181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3283" y="1679575"/>
                        <a:ext cx="1099593" cy="505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651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970011"/>
              </p:ext>
            </p:extLst>
          </p:nvPr>
        </p:nvGraphicFramePr>
        <p:xfrm>
          <a:off x="642888" y="4616152"/>
          <a:ext cx="10064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10668000" imgH="5181600" progId="Equation.3">
                  <p:embed/>
                </p:oleObj>
              </mc:Choice>
              <mc:Fallback>
                <p:oleObj name="公式" r:id="rId38" imgW="10668000" imgH="5181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888" y="4616152"/>
                        <a:ext cx="100647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652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346651"/>
              </p:ext>
            </p:extLst>
          </p:nvPr>
        </p:nvGraphicFramePr>
        <p:xfrm>
          <a:off x="4562425" y="4676477"/>
          <a:ext cx="9207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9753600" imgH="5181600" progId="Equation.3">
                  <p:embed/>
                </p:oleObj>
              </mc:Choice>
              <mc:Fallback>
                <p:oleObj name="公式" r:id="rId40" imgW="9753600" imgH="5181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25" y="4676477"/>
                        <a:ext cx="9207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652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813208"/>
              </p:ext>
            </p:extLst>
          </p:nvPr>
        </p:nvGraphicFramePr>
        <p:xfrm>
          <a:off x="4575125" y="5406727"/>
          <a:ext cx="95091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10058400" imgH="5181600" progId="Equation.3">
                  <p:embed/>
                </p:oleObj>
              </mc:Choice>
              <mc:Fallback>
                <p:oleObj name="公式" r:id="rId42" imgW="10058400" imgH="51816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125" y="5406727"/>
                        <a:ext cx="95091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652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978381"/>
              </p:ext>
            </p:extLst>
          </p:nvPr>
        </p:nvGraphicFramePr>
        <p:xfrm>
          <a:off x="4560838" y="5802015"/>
          <a:ext cx="9509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10058400" imgH="5486400" progId="Equation.3">
                  <p:embed/>
                </p:oleObj>
              </mc:Choice>
              <mc:Fallback>
                <p:oleObj name="公式" r:id="rId44" imgW="10058400" imgH="54864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38" y="5802015"/>
                        <a:ext cx="95091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直接连接符 33"/>
          <p:cNvCxnSpPr>
            <a:cxnSpLocks noChangeShapeType="1"/>
          </p:cNvCxnSpPr>
          <p:nvPr/>
        </p:nvCxnSpPr>
        <p:spPr bwMode="auto">
          <a:xfrm>
            <a:off x="5748288" y="5946477"/>
            <a:ext cx="2071687" cy="1588"/>
          </a:xfrm>
          <a:prstGeom prst="line">
            <a:avLst/>
          </a:prstGeom>
          <a:noFill/>
          <a:ln w="222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直接连接符 35"/>
          <p:cNvCxnSpPr>
            <a:cxnSpLocks noChangeShapeType="1"/>
          </p:cNvCxnSpPr>
          <p:nvPr/>
        </p:nvCxnSpPr>
        <p:spPr bwMode="auto">
          <a:xfrm rot="5400000">
            <a:off x="6354713" y="5413077"/>
            <a:ext cx="1930400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Freeform 9"/>
          <p:cNvSpPr>
            <a:spLocks/>
          </p:cNvSpPr>
          <p:nvPr/>
        </p:nvSpPr>
        <p:spPr bwMode="auto">
          <a:xfrm>
            <a:off x="4037026" y="1225389"/>
            <a:ext cx="1085850" cy="60647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9"/>
          <p:cNvSpPr>
            <a:spLocks/>
          </p:cNvSpPr>
          <p:nvPr/>
        </p:nvSpPr>
        <p:spPr bwMode="auto">
          <a:xfrm>
            <a:off x="616845" y="3232386"/>
            <a:ext cx="1085850" cy="60647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9"/>
          <p:cNvSpPr>
            <a:spLocks/>
          </p:cNvSpPr>
          <p:nvPr/>
        </p:nvSpPr>
        <p:spPr bwMode="auto">
          <a:xfrm>
            <a:off x="4454486" y="3244152"/>
            <a:ext cx="1085850" cy="60647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9"/>
          <p:cNvSpPr>
            <a:spLocks/>
          </p:cNvSpPr>
          <p:nvPr/>
        </p:nvSpPr>
        <p:spPr bwMode="auto">
          <a:xfrm>
            <a:off x="609550" y="5186821"/>
            <a:ext cx="1085850" cy="60647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9"/>
          <p:cNvSpPr>
            <a:spLocks/>
          </p:cNvSpPr>
          <p:nvPr/>
        </p:nvSpPr>
        <p:spPr bwMode="auto">
          <a:xfrm>
            <a:off x="4471075" y="5274657"/>
            <a:ext cx="1085850" cy="60647"/>
          </a:xfrm>
          <a:custGeom>
            <a:avLst/>
            <a:gdLst>
              <a:gd name="T0" fmla="*/ 0 w 1179"/>
              <a:gd name="T1" fmla="*/ 2147483646 h 273"/>
              <a:gd name="T2" fmla="*/ 2147483646 w 1179"/>
              <a:gd name="T3" fmla="*/ 0 h 273"/>
              <a:gd name="T4" fmla="*/ 2147483646 w 1179"/>
              <a:gd name="T5" fmla="*/ 2147483646 h 273"/>
              <a:gd name="T6" fmla="*/ 2147483646 w 1179"/>
              <a:gd name="T7" fmla="*/ 2147483646 h 273"/>
              <a:gd name="T8" fmla="*/ 2147483646 w 1179"/>
              <a:gd name="T9" fmla="*/ 2147483646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159508"/>
              </p:ext>
            </p:extLst>
          </p:nvPr>
        </p:nvGraphicFramePr>
        <p:xfrm>
          <a:off x="5924931" y="1672712"/>
          <a:ext cx="1743413" cy="511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761760" imgH="215640" progId="Equation.3">
                  <p:embed/>
                </p:oleObj>
              </mc:Choice>
              <mc:Fallback>
                <p:oleObj name="公式" r:id="rId46" imgW="761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931" y="1672712"/>
                        <a:ext cx="1743413" cy="511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5868144" y="1672712"/>
            <a:ext cx="1872208" cy="51198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6738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988751"/>
              </p:ext>
            </p:extLst>
          </p:nvPr>
        </p:nvGraphicFramePr>
        <p:xfrm>
          <a:off x="5940152" y="1772816"/>
          <a:ext cx="19812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20668991" imgH="5124581" progId="Equation.3">
                  <p:embed/>
                </p:oleObj>
              </mc:Choice>
              <mc:Fallback>
                <p:oleObj name="Equation" r:id="rId48" imgW="20668991" imgH="512458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1772816"/>
                        <a:ext cx="19812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527757"/>
              </p:ext>
            </p:extLst>
          </p:nvPr>
        </p:nvGraphicFramePr>
        <p:xfrm>
          <a:off x="5786688" y="1177869"/>
          <a:ext cx="18684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0" imgW="736560" imgH="215640" progId="Equation.3">
                  <p:embed/>
                </p:oleObj>
              </mc:Choice>
              <mc:Fallback>
                <p:oleObj name="公式" r:id="rId50" imgW="736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688" y="1177869"/>
                        <a:ext cx="186848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5717108" y="1225389"/>
            <a:ext cx="2081213" cy="50493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6738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059164"/>
              </p:ext>
            </p:extLst>
          </p:nvPr>
        </p:nvGraphicFramePr>
        <p:xfrm>
          <a:off x="5935156" y="1258775"/>
          <a:ext cx="19812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20668991" imgH="5124581" progId="Equation.3">
                  <p:embed/>
                </p:oleObj>
              </mc:Choice>
              <mc:Fallback>
                <p:oleObj name="Equation" r:id="rId52" imgW="20668991" imgH="512458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156" y="1258775"/>
                        <a:ext cx="19812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706767"/>
              </p:ext>
            </p:extLst>
          </p:nvPr>
        </p:nvGraphicFramePr>
        <p:xfrm>
          <a:off x="3051696" y="3334654"/>
          <a:ext cx="1129471" cy="442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4" imgW="622080" imgH="215640" progId="Equation.3">
                  <p:embed/>
                </p:oleObj>
              </mc:Choice>
              <mc:Fallback>
                <p:oleObj name="公式" r:id="rId54" imgW="6220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696" y="3334654"/>
                        <a:ext cx="1129471" cy="442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 bwMode="auto">
          <a:xfrm>
            <a:off x="2910408" y="3293033"/>
            <a:ext cx="1284288" cy="49831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6738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974057"/>
              </p:ext>
            </p:extLst>
          </p:nvPr>
        </p:nvGraphicFramePr>
        <p:xfrm>
          <a:off x="3051696" y="3285393"/>
          <a:ext cx="1143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10305791" imgH="5124581" progId="Equation.3">
                  <p:embed/>
                </p:oleObj>
              </mc:Choice>
              <mc:Fallback>
                <p:oleObj name="Equation" r:id="rId56" imgW="10305791" imgH="512458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696" y="3285393"/>
                        <a:ext cx="1143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7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738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38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4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738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38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14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738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38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14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73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38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14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7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738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38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14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738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38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14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7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73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38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738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38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7146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714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714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7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8" grpId="0" animBg="1"/>
      <p:bldP spid="39" grpId="0" animBg="1"/>
      <p:bldP spid="40" grpId="0" animBg="1"/>
      <p:bldP spid="2" grpId="0" animBg="1"/>
      <p:bldP spid="3" grpId="0" animBg="1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506933" y="1376363"/>
            <a:ext cx="7860803" cy="62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 定义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由单位矩阵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经过一次初等变换得到的矩阵称为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初等矩阵</a:t>
            </a:r>
            <a:r>
              <a:rPr lang="en-US" altLang="zh-CN" sz="2400" b="1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506933" y="2682267"/>
            <a:ext cx="52902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三种初等变换对应着三种初等矩阵：</a:t>
            </a:r>
            <a:endParaRPr lang="en-US" altLang="zh-CN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6436" name="Rectangle 25"/>
          <p:cNvSpPr>
            <a:spLocks noGrp="1" noChangeArrowheads="1"/>
          </p:cNvSpPr>
          <p:nvPr>
            <p:ph type="title"/>
          </p:nvPr>
        </p:nvSpPr>
        <p:spPr>
          <a:xfrm>
            <a:off x="518864" y="332482"/>
            <a:ext cx="8229600" cy="1080294"/>
          </a:xfrm>
        </p:spPr>
        <p:txBody>
          <a:bodyPr/>
          <a:lstStyle/>
          <a:p>
            <a:pPr eaLnBrk="1" hangingPunct="1"/>
            <a:r>
              <a:rPr lang="zh-CN" altLang="en-US" sz="36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四、初等矩阵</a:t>
            </a:r>
          </a:p>
        </p:txBody>
      </p:sp>
      <p:graphicFrame>
        <p:nvGraphicFramePr>
          <p:cNvPr id="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411617"/>
              </p:ext>
            </p:extLst>
          </p:nvPr>
        </p:nvGraphicFramePr>
        <p:xfrm>
          <a:off x="1026715" y="3255665"/>
          <a:ext cx="10763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277600" imgH="5791200" progId="">
                  <p:embed/>
                </p:oleObj>
              </mc:Choice>
              <mc:Fallback>
                <p:oleObj name="Equation" r:id="rId2" imgW="11277600" imgH="5791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715" y="3255665"/>
                        <a:ext cx="10763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847918"/>
              </p:ext>
            </p:extLst>
          </p:nvPr>
        </p:nvGraphicFramePr>
        <p:xfrm>
          <a:off x="1022920" y="3886137"/>
          <a:ext cx="81597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34400" imgH="5486400" progId="">
                  <p:embed/>
                </p:oleObj>
              </mc:Choice>
              <mc:Fallback>
                <p:oleObj name="Equation" r:id="rId4" imgW="8534400" imgH="5486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920" y="3886137"/>
                        <a:ext cx="81597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275203"/>
              </p:ext>
            </p:extLst>
          </p:nvPr>
        </p:nvGraphicFramePr>
        <p:xfrm>
          <a:off x="1022920" y="4489357"/>
          <a:ext cx="10477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72800" imgH="5791200" progId="">
                  <p:embed/>
                </p:oleObj>
              </mc:Choice>
              <mc:Fallback>
                <p:oleObj name="Equation" r:id="rId6" imgW="10972800" imgH="5791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920" y="4489357"/>
                        <a:ext cx="10477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319064" y="3301057"/>
                <a:ext cx="40831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对调单位阵的两行，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064" y="3301057"/>
                <a:ext cx="4083169" cy="461665"/>
              </a:xfrm>
              <a:prstGeom prst="rect">
                <a:avLst/>
              </a:prstGeom>
              <a:blipFill>
                <a:blip r:embed="rId8"/>
                <a:stretch>
                  <a:fillRect l="-2239" t="-14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264449" y="3864648"/>
                <a:ext cx="5526360" cy="5216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以常数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乘单位阵的某一行</a:t>
                </a:r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；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449" y="3864648"/>
                <a:ext cx="5526360" cy="521681"/>
              </a:xfrm>
              <a:prstGeom prst="rect">
                <a:avLst/>
              </a:prstGeom>
              <a:blipFill>
                <a:blip r:embed="rId9"/>
                <a:stretch>
                  <a:fillRect l="-1654" t="-1163" b="-26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242988" y="4531838"/>
                <a:ext cx="626876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以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b="1" i="1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乘单位阵的某一行加到另一行</a:t>
                </a:r>
                <a:r>
                  <a:rPr lang="en-US" altLang="zh-CN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𝒊𝒋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latin typeface="+mn-lt"/>
                    <a:ea typeface="黑体" panose="02010609060101010101" pitchFamily="49" charset="-122"/>
                  </a:rPr>
                  <a:t>.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988" y="4531838"/>
                <a:ext cx="6268764" cy="461665"/>
              </a:xfrm>
              <a:prstGeom prst="rect">
                <a:avLst/>
              </a:prstGeom>
              <a:blipFill>
                <a:blip r:embed="rId10"/>
                <a:stretch>
                  <a:fillRect l="-1556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0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0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0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0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0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0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 build="p"/>
      <p:bldP spid="90118" grpId="0" build="p"/>
      <p:bldP spid="3" grpId="0"/>
      <p:bldP spid="4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598984" y="692696"/>
            <a:ext cx="4837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对调单位阵的第 </a:t>
            </a:r>
            <a:r>
              <a:rPr lang="en-US" altLang="zh-CN" sz="2400" b="1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j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行（列）， </a:t>
            </a:r>
          </a:p>
        </p:txBody>
      </p:sp>
      <p:sp>
        <p:nvSpPr>
          <p:cNvPr id="7" name="Text Box 37"/>
          <p:cNvSpPr txBox="1">
            <a:spLocks noChangeArrowheads="1"/>
          </p:cNvSpPr>
          <p:nvPr/>
        </p:nvSpPr>
        <p:spPr bwMode="auto">
          <a:xfrm>
            <a:off x="5220072" y="692696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记作 </a:t>
            </a:r>
            <a:r>
              <a:rPr lang="en-US" altLang="zh-CN" sz="2400" b="1" i="1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zh-CN" sz="2400" b="1" i="1" baseline="-2500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 </a:t>
            </a:r>
            <a:r>
              <a:rPr lang="en-US" altLang="zh-CN" sz="2400" b="1" i="1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,  </a:t>
            </a:r>
            <a:r>
              <a:rPr lang="en-US" altLang="zh-CN" sz="2400" b="1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j 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754063" y="1340722"/>
            <a:ext cx="7107248" cy="4176511"/>
            <a:chOff x="384" y="616"/>
            <a:chExt cx="4932" cy="33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46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4801" y="1531"/>
                  <a:ext cx="479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857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14:m>
                    <m:oMath xmlns:m="http://schemas.openxmlformats.org/officeDocument/2006/math">
                      <m:r>
                        <a:rPr lang="en-US" altLang="zh-CN" sz="1800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𝒊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</m:oMath>
                  </a14:m>
                  <a:r>
                    <a:rPr lang="zh-CN" altLang="en-US" sz="1800" b="1" dirty="0">
                      <a:latin typeface="+mn-lt"/>
                      <a:ea typeface="黑体" panose="02010609060101010101" pitchFamily="49" charset="-122"/>
                    </a:rPr>
                    <a:t>行</a:t>
                  </a:r>
                </a:p>
              </p:txBody>
            </p:sp>
          </mc:Choice>
          <mc:Fallback xmlns="">
            <p:sp>
              <p:nvSpPr>
                <p:cNvPr id="147461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1" y="1531"/>
                  <a:ext cx="479" cy="296"/>
                </a:xfrm>
                <a:prstGeom prst="rect">
                  <a:avLst/>
                </a:prstGeom>
                <a:blipFill>
                  <a:blip r:embed="rId3"/>
                  <a:stretch>
                    <a:fillRect t="-13333" b="-23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46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011" y="616"/>
                  <a:ext cx="555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857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14:m>
                    <m:oMath xmlns:m="http://schemas.openxmlformats.org/officeDocument/2006/math">
                      <m:r>
                        <a:rPr lang="en-US" altLang="zh-CN" sz="1800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𝒊</m:t>
                      </m:r>
                      <m:r>
                        <a:rPr lang="en-US" altLang="zh-CN" sz="1800" b="1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</m:oMath>
                  </a14:m>
                  <a:r>
                    <a:rPr lang="zh-CN" altLang="en-US" sz="1800" b="1" dirty="0">
                      <a:latin typeface="+mn-lt"/>
                      <a:ea typeface="黑体" panose="02010609060101010101" pitchFamily="49" charset="-122"/>
                    </a:rPr>
                    <a:t>列</a:t>
                  </a:r>
                </a:p>
              </p:txBody>
            </p:sp>
          </mc:Choice>
          <mc:Fallback xmlns="">
            <p:sp>
              <p:nvSpPr>
                <p:cNvPr id="147462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11" y="616"/>
                  <a:ext cx="555" cy="296"/>
                </a:xfrm>
                <a:prstGeom prst="rect">
                  <a:avLst/>
                </a:prstGeom>
                <a:blipFill>
                  <a:blip r:embed="rId4"/>
                  <a:stretch>
                    <a:fillRect t="-13333" b="-23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463" name="Text Box 7"/>
            <p:cNvSpPr txBox="1">
              <a:spLocks noChangeArrowheads="1"/>
            </p:cNvSpPr>
            <p:nvPr/>
          </p:nvSpPr>
          <p:spPr bwMode="auto">
            <a:xfrm>
              <a:off x="4832" y="2889"/>
              <a:ext cx="484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i="1" dirty="0">
                  <a:latin typeface="+mn-lt"/>
                  <a:ea typeface="黑体" panose="02010609060101010101" pitchFamily="49" charset="-122"/>
                </a:rPr>
                <a:t>j </a:t>
              </a:r>
              <a:r>
                <a:rPr lang="zh-CN" altLang="en-US" sz="1800" b="1" dirty="0">
                  <a:latin typeface="+mn-lt"/>
                  <a:ea typeface="黑体" panose="02010609060101010101" pitchFamily="49" charset="-122"/>
                </a:rPr>
                <a:t>行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46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478" y="648"/>
                  <a:ext cx="506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857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14:m>
                    <m:oMath xmlns:m="http://schemas.openxmlformats.org/officeDocument/2006/math">
                      <m:r>
                        <a:rPr lang="en-US" altLang="zh-CN" sz="1800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𝒋</m:t>
                      </m:r>
                    </m:oMath>
                  </a14:m>
                  <a:r>
                    <a:rPr lang="zh-CN" altLang="en-US" sz="1800" b="1" dirty="0">
                      <a:latin typeface="+mn-lt"/>
                      <a:ea typeface="黑体" panose="02010609060101010101" pitchFamily="49" charset="-122"/>
                    </a:rPr>
                    <a:t>列</a:t>
                  </a:r>
                </a:p>
              </p:txBody>
            </p:sp>
          </mc:Choice>
          <mc:Fallback xmlns="">
            <p:sp>
              <p:nvSpPr>
                <p:cNvPr id="147464" name="Text 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78" y="648"/>
                  <a:ext cx="506" cy="296"/>
                </a:xfrm>
                <a:prstGeom prst="rect">
                  <a:avLst/>
                </a:prstGeom>
                <a:blipFill>
                  <a:blip r:embed="rId5"/>
                  <a:stretch>
                    <a:fillRect l="-1667" t="-11475" b="-2131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7465" name="Object 3"/>
                <p:cNvGraphicFramePr>
                  <a:graphicFrameLocks noChangeAspect="1"/>
                </p:cNvGraphicFramePr>
                <p:nvPr/>
              </p:nvGraphicFramePr>
              <p:xfrm>
                <a:off x="384" y="864"/>
                <a:ext cx="4272" cy="310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6" imgW="67970400" imgH="49377600" progId="Equation.3">
                        <p:embed/>
                      </p:oleObj>
                    </mc:Choice>
                    <mc:Fallback>
                      <p:oleObj name="Equation" r:id="rId6" imgW="67970400" imgH="49377600" progId="Equation.3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4" y="864"/>
                              <a:ext cx="4272" cy="31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47465" name="Object 3"/>
                <p:cNvGraphicFramePr>
                  <a:graphicFrameLocks noChangeAspect="1"/>
                </p:cNvGraphicFramePr>
                <p:nvPr/>
              </p:nvGraphicFramePr>
              <p:xfrm>
                <a:off x="384" y="864"/>
                <a:ext cx="4272" cy="310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8" imgW="67970400" imgH="49377600" progId="Equation.3">
                        <p:embed/>
                      </p:oleObj>
                    </mc:Choice>
                    <mc:Fallback>
                      <p:oleObj name="Equation" r:id="rId8" imgW="67970400" imgH="49377600" progId="Equation.3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4" y="864"/>
                              <a:ext cx="4272" cy="31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980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099823"/>
              </p:ext>
            </p:extLst>
          </p:nvPr>
        </p:nvGraphicFramePr>
        <p:xfrm>
          <a:off x="1143000" y="1419225"/>
          <a:ext cx="5876925" cy="402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9740800" imgH="43281600" progId="Equation.3">
                  <p:embed/>
                </p:oleObj>
              </mc:Choice>
              <mc:Fallback>
                <p:oleObj name="公式" r:id="rId2" imgW="59740800" imgH="4328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419225"/>
                        <a:ext cx="5876925" cy="402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599629" y="692150"/>
            <a:ext cx="577257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(2)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以常数 </a:t>
            </a:r>
            <a:r>
              <a:rPr lang="en-US" altLang="zh-CN" sz="2400" b="1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k</a:t>
            </a:r>
            <a:r>
              <a:rPr lang="en-US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≠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0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乘单位阵第 </a:t>
            </a:r>
            <a:r>
              <a:rPr lang="en-US" altLang="zh-CN" sz="2400" b="1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行（列）， </a:t>
            </a: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5867400" y="692150"/>
            <a:ext cx="302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记作 </a:t>
            </a:r>
            <a:r>
              <a:rPr lang="en-US" altLang="zh-CN" sz="2400" b="1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lang="en-US" altLang="zh-CN" sz="2400" b="1" i="1" baseline="-2500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sz="24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sz="2400" b="1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i</a:t>
            </a:r>
            <a:r>
              <a:rPr lang="en-US" altLang="zh-CN" sz="24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sz="2400" b="1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k</a:t>
            </a:r>
            <a:r>
              <a:rPr lang="en-US" altLang="zh-CN" sz="24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))</a:t>
            </a: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9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7298DE6A-376D-40D3-953A-03267AB12FF7}" type="slidenum">
              <a:rPr lang="zh-CN" altLang="en-US" sz="1200" smtClean="0">
                <a:solidFill>
                  <a:srgbClr val="000000"/>
                </a:solidFill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zh-CN" altLang="en-US" sz="1200">
              <a:solidFill>
                <a:srgbClr val="000000"/>
              </a:solidFill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455613" y="764704"/>
            <a:ext cx="6853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楷体_GB2312"/>
              </a:rPr>
              <a:t>(3)</a:t>
            </a:r>
            <a:r>
              <a:rPr lang="zh-CN" altLang="en-US" sz="2400" b="1" dirty="0">
                <a:solidFill>
                  <a:srgbClr val="000000"/>
                </a:solidFill>
                <a:latin typeface="楷体_GB2312"/>
              </a:rPr>
              <a:t>以</a:t>
            </a:r>
            <a:r>
              <a:rPr lang="zh-CN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</a:rPr>
              <a:t>k</a:t>
            </a:r>
            <a:r>
              <a:rPr lang="en-US" altLang="zh-CN" sz="2400" b="1" i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楷体_GB2312"/>
              </a:rPr>
              <a:t>乘单位阵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</a:rPr>
              <a:t>第</a:t>
            </a:r>
            <a:r>
              <a:rPr lang="zh-CN" altLang="en-US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i="1" dirty="0">
                <a:solidFill>
                  <a:srgbClr val="0000FF"/>
                </a:solidFill>
              </a:rPr>
              <a:t>j 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</a:rPr>
              <a:t>行</a:t>
            </a:r>
            <a:r>
              <a:rPr lang="zh-CN" altLang="en-US" sz="2400" b="1" dirty="0">
                <a:solidFill>
                  <a:srgbClr val="000000"/>
                </a:solidFill>
                <a:latin typeface="楷体_GB2312"/>
              </a:rPr>
              <a:t>加到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</a:rPr>
              <a:t>第</a:t>
            </a:r>
            <a:r>
              <a:rPr lang="zh-CN" altLang="en-US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i="1" dirty="0" err="1">
                <a:solidFill>
                  <a:srgbClr val="0000FF"/>
                </a:solidFill>
              </a:rPr>
              <a:t>i</a:t>
            </a:r>
            <a:r>
              <a:rPr lang="en-US" altLang="zh-CN" sz="2400" b="1" i="1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楷体_GB2312"/>
              </a:rPr>
              <a:t>行</a:t>
            </a:r>
            <a:r>
              <a:rPr lang="en-US" altLang="zh-CN" sz="2400" b="1" dirty="0">
                <a:solidFill>
                  <a:srgbClr val="000000"/>
                </a:solidFill>
                <a:latin typeface="楷体_GB2312"/>
              </a:rPr>
              <a:t>,</a:t>
            </a:r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364163" y="790104"/>
            <a:ext cx="2759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楷体_GB2312"/>
              </a:rPr>
              <a:t>记作</a:t>
            </a:r>
            <a:r>
              <a:rPr lang="zh-CN" altLang="en-US" sz="2400" b="1">
                <a:solidFill>
                  <a:srgbClr val="000000"/>
                </a:solidFill>
              </a:rPr>
              <a:t> </a:t>
            </a:r>
            <a:r>
              <a:rPr lang="en-US" altLang="zh-CN" sz="2400" b="1" i="1">
                <a:solidFill>
                  <a:srgbClr val="FF0000"/>
                </a:solidFill>
              </a:rPr>
              <a:t>E</a:t>
            </a:r>
            <a:r>
              <a:rPr lang="en-US" altLang="zh-CN" sz="2400" b="1" i="1" baseline="-25000">
                <a:solidFill>
                  <a:srgbClr val="FF0000"/>
                </a:solidFill>
              </a:rPr>
              <a:t>m</a:t>
            </a:r>
            <a:r>
              <a:rPr lang="en-US" altLang="zh-CN" sz="2400" b="1">
                <a:solidFill>
                  <a:srgbClr val="FF0000"/>
                </a:solidFill>
              </a:rPr>
              <a:t>(</a:t>
            </a:r>
            <a:r>
              <a:rPr lang="en-US" altLang="zh-CN" sz="2400" b="1" i="1">
                <a:solidFill>
                  <a:srgbClr val="FF0000"/>
                </a:solidFill>
              </a:rPr>
              <a:t>ij</a:t>
            </a:r>
            <a:r>
              <a:rPr lang="en-US" altLang="zh-CN" sz="2400" b="1">
                <a:solidFill>
                  <a:srgbClr val="FF0000"/>
                </a:solidFill>
              </a:rPr>
              <a:t>(</a:t>
            </a:r>
            <a:r>
              <a:rPr lang="en-US" altLang="zh-CN" sz="2400" b="1" i="1">
                <a:solidFill>
                  <a:srgbClr val="FF0000"/>
                </a:solidFill>
              </a:rPr>
              <a:t>k</a:t>
            </a:r>
            <a:r>
              <a:rPr lang="en-US" altLang="zh-CN" sz="2400" b="1">
                <a:solidFill>
                  <a:srgbClr val="FF0000"/>
                </a:solidFill>
              </a:rPr>
              <a:t>))</a:t>
            </a:r>
            <a:r>
              <a:rPr lang="zh-CN" altLang="en-US" sz="2400" b="1">
                <a:solidFill>
                  <a:srgbClr val="000000"/>
                </a:solidFill>
              </a:rPr>
              <a:t>．</a:t>
            </a:r>
          </a:p>
        </p:txBody>
      </p:sp>
      <p:graphicFrame>
        <p:nvGraphicFramePr>
          <p:cNvPr id="71413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861929"/>
              </p:ext>
            </p:extLst>
          </p:nvPr>
        </p:nvGraphicFramePr>
        <p:xfrm>
          <a:off x="1094259" y="1556792"/>
          <a:ext cx="6142037" cy="396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06560" imgH="1803240" progId="Equation.3">
                  <p:embed/>
                </p:oleObj>
              </mc:Choice>
              <mc:Fallback>
                <p:oleObj name="公式" r:id="rId2" imgW="2806560" imgH="1803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4259" y="1556792"/>
                        <a:ext cx="6142037" cy="396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4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AutoShape 2"/>
          <p:cNvSpPr>
            <a:spLocks noChangeArrowheads="1"/>
          </p:cNvSpPr>
          <p:nvPr/>
        </p:nvSpPr>
        <p:spPr bwMode="auto">
          <a:xfrm>
            <a:off x="323850" y="836613"/>
            <a:ext cx="8496300" cy="194468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28575">
            <a:solidFill>
              <a:schemeClr val="tx2"/>
            </a:solidFill>
            <a:round/>
            <a:headEnd type="none" w="lg" len="med"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1308100" y="1139825"/>
            <a:ext cx="148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初等变换 </a:t>
            </a:r>
          </a:p>
        </p:txBody>
      </p: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698500" y="1957388"/>
            <a:ext cx="271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初等变换的逆变换 </a:t>
            </a:r>
          </a:p>
        </p:txBody>
      </p:sp>
      <p:sp>
        <p:nvSpPr>
          <p:cNvPr id="154629" name="Text Box 5"/>
          <p:cNvSpPr txBox="1">
            <a:spLocks noChangeArrowheads="1"/>
          </p:cNvSpPr>
          <p:nvPr/>
        </p:nvSpPr>
        <p:spPr bwMode="auto">
          <a:xfrm>
            <a:off x="6413500" y="1143000"/>
            <a:ext cx="148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初等矩阵 </a:t>
            </a:r>
          </a:p>
        </p:txBody>
      </p:sp>
      <p:sp>
        <p:nvSpPr>
          <p:cNvPr id="154630" name="Line 7"/>
          <p:cNvSpPr>
            <a:spLocks noChangeShapeType="1"/>
          </p:cNvSpPr>
          <p:nvPr/>
        </p:nvSpPr>
        <p:spPr bwMode="auto">
          <a:xfrm>
            <a:off x="3076575" y="1412776"/>
            <a:ext cx="2971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20840" name="Line 8"/>
          <p:cNvSpPr>
            <a:spLocks noChangeShapeType="1"/>
          </p:cNvSpPr>
          <p:nvPr/>
        </p:nvSpPr>
        <p:spPr bwMode="auto">
          <a:xfrm>
            <a:off x="3571875" y="2165350"/>
            <a:ext cx="1981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20845" name="Text Box 13"/>
          <p:cNvSpPr txBox="1">
            <a:spLocks noChangeArrowheads="1"/>
          </p:cNvSpPr>
          <p:nvPr/>
        </p:nvSpPr>
        <p:spPr bwMode="auto">
          <a:xfrm>
            <a:off x="6899275" y="1844675"/>
            <a:ext cx="43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8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17" dur="10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6" grpId="0"/>
      <p:bldP spid="120840" grpId="0" animBg="1"/>
      <p:bldP spid="120845" grpId="0"/>
      <p:bldP spid="120845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AutoShape 2"/>
          <p:cNvSpPr>
            <a:spLocks noChangeArrowheads="1"/>
          </p:cNvSpPr>
          <p:nvPr/>
        </p:nvSpPr>
        <p:spPr bwMode="auto">
          <a:xfrm>
            <a:off x="323850" y="836613"/>
            <a:ext cx="8496300" cy="1944687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28575">
            <a:solidFill>
              <a:schemeClr val="tx2"/>
            </a:solidFill>
            <a:round/>
            <a:headEnd type="none" w="lg" len="med"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1308100" y="1139825"/>
            <a:ext cx="148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初等变换 </a:t>
            </a:r>
          </a:p>
        </p:txBody>
      </p:sp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698500" y="1957388"/>
            <a:ext cx="271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初等变换的逆变换 </a:t>
            </a:r>
          </a:p>
        </p:txBody>
      </p:sp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6413500" y="1143000"/>
            <a:ext cx="148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初等矩阵 </a:t>
            </a:r>
          </a:p>
        </p:txBody>
      </p:sp>
      <p:sp>
        <p:nvSpPr>
          <p:cNvPr id="155654" name="Text Box 6"/>
          <p:cNvSpPr txBox="1">
            <a:spLocks noChangeArrowheads="1"/>
          </p:cNvSpPr>
          <p:nvPr/>
        </p:nvSpPr>
        <p:spPr bwMode="auto">
          <a:xfrm>
            <a:off x="5803900" y="1933575"/>
            <a:ext cx="262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初等矩阵的逆矩阵</a:t>
            </a:r>
          </a:p>
        </p:txBody>
      </p:sp>
      <p:sp>
        <p:nvSpPr>
          <p:cNvPr id="155655" name="Line 7"/>
          <p:cNvSpPr>
            <a:spLocks noChangeShapeType="1"/>
          </p:cNvSpPr>
          <p:nvPr/>
        </p:nvSpPr>
        <p:spPr bwMode="auto">
          <a:xfrm>
            <a:off x="3076575" y="1412776"/>
            <a:ext cx="2971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5656" name="Line 8"/>
          <p:cNvSpPr>
            <a:spLocks noChangeShapeType="1"/>
          </p:cNvSpPr>
          <p:nvPr/>
        </p:nvSpPr>
        <p:spPr bwMode="auto">
          <a:xfrm>
            <a:off x="3571875" y="2165350"/>
            <a:ext cx="1981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2903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266027"/>
              </p:ext>
            </p:extLst>
          </p:nvPr>
        </p:nvGraphicFramePr>
        <p:xfrm>
          <a:off x="468313" y="3872930"/>
          <a:ext cx="23860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651200" imgH="5486400" progId="">
                  <p:embed/>
                </p:oleObj>
              </mc:Choice>
              <mc:Fallback>
                <p:oleObj name="Equation" r:id="rId2" imgW="28651200" imgH="54864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872930"/>
                        <a:ext cx="23860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424198"/>
              </p:ext>
            </p:extLst>
          </p:nvPr>
        </p:nvGraphicFramePr>
        <p:xfrm>
          <a:off x="468313" y="4393630"/>
          <a:ext cx="2970212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661600" imgH="10972800" progId="">
                  <p:embed/>
                </p:oleObj>
              </mc:Choice>
              <mc:Fallback>
                <p:oleObj name="Equation" r:id="rId4" imgW="35661600" imgH="109728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393630"/>
                        <a:ext cx="2970212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379626"/>
              </p:ext>
            </p:extLst>
          </p:nvPr>
        </p:nvGraphicFramePr>
        <p:xfrm>
          <a:off x="468313" y="5423917"/>
          <a:ext cx="29448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356800" imgH="5486400" progId="">
                  <p:embed/>
                </p:oleObj>
              </mc:Choice>
              <mc:Fallback>
                <p:oleObj name="Equation" r:id="rId6" imgW="35356800" imgH="54864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423917"/>
                        <a:ext cx="29448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6" name="Text Box 12"/>
          <p:cNvSpPr txBox="1">
            <a:spLocks noChangeArrowheads="1"/>
          </p:cNvSpPr>
          <p:nvPr/>
        </p:nvSpPr>
        <p:spPr bwMode="auto">
          <a:xfrm>
            <a:off x="468313" y="3356992"/>
            <a:ext cx="3248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初等矩阵的逆矩阵是：</a:t>
            </a:r>
          </a:p>
        </p:txBody>
      </p:sp>
      <p:sp>
        <p:nvSpPr>
          <p:cNvPr id="155662" name="Text Box 4"/>
          <p:cNvSpPr txBox="1">
            <a:spLocks noChangeArrowheads="1"/>
          </p:cNvSpPr>
          <p:nvPr/>
        </p:nvSpPr>
        <p:spPr bwMode="auto">
          <a:xfrm>
            <a:off x="4067249" y="4293096"/>
            <a:ext cx="4033143" cy="1259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初等矩阵的逆矩阵仍是</a:t>
            </a:r>
            <a:endParaRPr lang="en-US" altLang="zh-CN" sz="28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同类型的初等矩阵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6" grpId="0" autoUpdateAnimBg="0"/>
      <p:bldP spid="15566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53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771573"/>
              </p:ext>
            </p:extLst>
          </p:nvPr>
        </p:nvGraphicFramePr>
        <p:xfrm>
          <a:off x="840991" y="651520"/>
          <a:ext cx="3944874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711000" progId="Equation.DSMT4">
                  <p:embed/>
                </p:oleObj>
              </mc:Choice>
              <mc:Fallback>
                <p:oleObj name="Equation" r:id="rId3" imgW="1828800" imgH="711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991" y="651520"/>
                        <a:ext cx="3944874" cy="18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000406"/>
              </p:ext>
            </p:extLst>
          </p:nvPr>
        </p:nvGraphicFramePr>
        <p:xfrm>
          <a:off x="5041805" y="812354"/>
          <a:ext cx="2987496" cy="1536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613600" imgH="16764000" progId="">
                  <p:embed/>
                </p:oleObj>
              </mc:Choice>
              <mc:Fallback>
                <p:oleObj name="Equation" r:id="rId5" imgW="32613600" imgH="167640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805" y="812354"/>
                        <a:ext cx="2987496" cy="1536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71123"/>
              </p:ext>
            </p:extLst>
          </p:nvPr>
        </p:nvGraphicFramePr>
        <p:xfrm>
          <a:off x="634211" y="3141613"/>
          <a:ext cx="1734442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897600" imgH="5486400" progId="">
                  <p:embed/>
                </p:oleObj>
              </mc:Choice>
              <mc:Fallback>
                <p:oleObj name="Equation" r:id="rId7" imgW="18897600" imgH="54864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11" y="3141613"/>
                        <a:ext cx="1734442" cy="504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914611"/>
              </p:ext>
            </p:extLst>
          </p:nvPr>
        </p:nvGraphicFramePr>
        <p:xfrm>
          <a:off x="2328965" y="4415533"/>
          <a:ext cx="3331480" cy="1593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661600" imgH="17068800" progId="">
                  <p:embed/>
                </p:oleObj>
              </mc:Choice>
              <mc:Fallback>
                <p:oleObj name="Equation" r:id="rId9" imgW="35661600" imgH="170688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965" y="4415533"/>
                        <a:ext cx="3331480" cy="1593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835824"/>
              </p:ext>
            </p:extLst>
          </p:nvPr>
        </p:nvGraphicFramePr>
        <p:xfrm>
          <a:off x="2328965" y="2636912"/>
          <a:ext cx="4938841" cy="1625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1816000" imgH="17068800" progId="">
                  <p:embed/>
                </p:oleObj>
              </mc:Choice>
              <mc:Fallback>
                <p:oleObj name="Equation" r:id="rId11" imgW="51816000" imgH="170688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965" y="2636912"/>
                        <a:ext cx="4938841" cy="1625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6050165" y="4949614"/>
            <a:ext cx="2554283" cy="51077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口诀：左乘变行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633292" y="404664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例如</a:t>
            </a:r>
            <a:endParaRPr lang="zh-CN" altLang="en-US" sz="2400" b="1" dirty="0"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55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408500"/>
              </p:ext>
            </p:extLst>
          </p:nvPr>
        </p:nvGraphicFramePr>
        <p:xfrm>
          <a:off x="4725988" y="666080"/>
          <a:ext cx="31480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795200" imgH="22250400" progId="">
                  <p:embed/>
                </p:oleObj>
              </mc:Choice>
              <mc:Fallback>
                <p:oleObj name="Equation" r:id="rId3" imgW="37795200" imgH="222504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988" y="666080"/>
                        <a:ext cx="314801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995125"/>
              </p:ext>
            </p:extLst>
          </p:nvPr>
        </p:nvGraphicFramePr>
        <p:xfrm>
          <a:off x="500063" y="3402930"/>
          <a:ext cx="1574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897600" imgH="5486400" progId="">
                  <p:embed/>
                </p:oleObj>
              </mc:Choice>
              <mc:Fallback>
                <p:oleObj name="Equation" r:id="rId5" imgW="18897600" imgH="54864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3402930"/>
                        <a:ext cx="1574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795424"/>
              </p:ext>
            </p:extLst>
          </p:nvPr>
        </p:nvGraphicFramePr>
        <p:xfrm>
          <a:off x="2100263" y="2712368"/>
          <a:ext cx="47482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6997600" imgH="22250400" progId="">
                  <p:embed/>
                </p:oleObj>
              </mc:Choice>
              <mc:Fallback>
                <p:oleObj name="Equation" r:id="rId7" imgW="56997600" imgH="222504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2712368"/>
                        <a:ext cx="474821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099814"/>
              </p:ext>
            </p:extLst>
          </p:nvPr>
        </p:nvGraphicFramePr>
        <p:xfrm>
          <a:off x="2100263" y="4526880"/>
          <a:ext cx="2970212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661600" imgH="17068800" progId="">
                  <p:embed/>
                </p:oleObj>
              </mc:Choice>
              <mc:Fallback>
                <p:oleObj name="Equation" r:id="rId9" imgW="35661600" imgH="170688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4526880"/>
                        <a:ext cx="2970212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795963" y="5247605"/>
            <a:ext cx="2554283" cy="51077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口诀：右乘变列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611560" y="375047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又例如</a:t>
            </a:r>
            <a:endParaRPr lang="zh-CN" altLang="en-US" sz="2400" b="1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023453"/>
              </p:ext>
            </p:extLst>
          </p:nvPr>
        </p:nvGraphicFramePr>
        <p:xfrm>
          <a:off x="683568" y="692696"/>
          <a:ext cx="3944938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28800" imgH="711000" progId="Equation.DSMT4">
                  <p:embed/>
                </p:oleObj>
              </mc:Choice>
              <mc:Fallback>
                <p:oleObj name="Equation" r:id="rId11" imgW="1828800" imgH="711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692696"/>
                        <a:ext cx="3944938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265113" y="961579"/>
            <a:ext cx="8566150" cy="482600"/>
            <a:chOff x="167" y="709"/>
            <a:chExt cx="5396" cy="304"/>
          </a:xfrm>
        </p:grpSpPr>
        <p:graphicFrame>
          <p:nvGraphicFramePr>
            <p:cNvPr id="152603" name="Object 26"/>
            <p:cNvGraphicFramePr>
              <a:graphicFrameLocks noChangeAspect="1"/>
            </p:cNvGraphicFramePr>
            <p:nvPr/>
          </p:nvGraphicFramePr>
          <p:xfrm>
            <a:off x="167" y="717"/>
            <a:ext cx="10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79640" imgH="279360" progId="">
                    <p:embed/>
                  </p:oleObj>
                </mc:Choice>
                <mc:Fallback>
                  <p:oleObj name="Equation" r:id="rId2" imgW="1079640" imgH="279360" progId="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" y="717"/>
                          <a:ext cx="104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2604" name="Text Box 4"/>
            <p:cNvSpPr txBox="1">
              <a:spLocks noChangeArrowheads="1"/>
            </p:cNvSpPr>
            <p:nvPr/>
          </p:nvSpPr>
          <p:spPr bwMode="auto">
            <a:xfrm>
              <a:off x="1482" y="717"/>
              <a:ext cx="4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把矩阵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A</a:t>
              </a: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的第 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i </a:t>
              </a: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行与第 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j </a:t>
              </a: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行对调，即              </a:t>
              </a:r>
              <a:r>
                <a:rPr lang="en-US" altLang="zh-CN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.</a:t>
              </a:r>
            </a:p>
          </p:txBody>
        </p:sp>
        <p:graphicFrame>
          <p:nvGraphicFramePr>
            <p:cNvPr id="152605" name="Object 27"/>
            <p:cNvGraphicFramePr>
              <a:graphicFrameLocks noChangeAspect="1"/>
            </p:cNvGraphicFramePr>
            <p:nvPr/>
          </p:nvGraphicFramePr>
          <p:xfrm>
            <a:off x="4513" y="709"/>
            <a:ext cx="59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277600" imgH="5791200" progId="">
                    <p:embed/>
                  </p:oleObj>
                </mc:Choice>
                <mc:Fallback>
                  <p:oleObj name="Equation" r:id="rId4" imgW="11277600" imgH="5791200" progId="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709"/>
                          <a:ext cx="59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265113" y="1485454"/>
            <a:ext cx="8566150" cy="482600"/>
            <a:chOff x="167" y="1203"/>
            <a:chExt cx="5396" cy="304"/>
          </a:xfrm>
        </p:grpSpPr>
        <p:graphicFrame>
          <p:nvGraphicFramePr>
            <p:cNvPr id="152600" name="Object 28"/>
            <p:cNvGraphicFramePr>
              <a:graphicFrameLocks noChangeAspect="1"/>
            </p:cNvGraphicFramePr>
            <p:nvPr/>
          </p:nvGraphicFramePr>
          <p:xfrm>
            <a:off x="167" y="1211"/>
            <a:ext cx="100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41480" imgH="279360" progId="">
                    <p:embed/>
                  </p:oleObj>
                </mc:Choice>
                <mc:Fallback>
                  <p:oleObj name="Equation" r:id="rId6" imgW="1041480" imgH="279360" progId="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" y="1211"/>
                          <a:ext cx="100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2601" name="Text Box 8"/>
            <p:cNvSpPr txBox="1">
              <a:spLocks noChangeArrowheads="1"/>
            </p:cNvSpPr>
            <p:nvPr/>
          </p:nvSpPr>
          <p:spPr bwMode="auto">
            <a:xfrm>
              <a:off x="1482" y="1211"/>
              <a:ext cx="4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把矩阵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A</a:t>
              </a: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的第 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i </a:t>
              </a: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列与第 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j </a:t>
              </a: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列对调，即              </a:t>
              </a:r>
              <a:r>
                <a:rPr lang="en-US" altLang="zh-CN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.</a:t>
              </a:r>
            </a:p>
          </p:txBody>
        </p:sp>
        <p:graphicFrame>
          <p:nvGraphicFramePr>
            <p:cNvPr id="152602" name="Object 29"/>
            <p:cNvGraphicFramePr>
              <a:graphicFrameLocks noChangeAspect="1"/>
            </p:cNvGraphicFramePr>
            <p:nvPr/>
          </p:nvGraphicFramePr>
          <p:xfrm>
            <a:off x="4513" y="1203"/>
            <a:ext cx="64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192000" imgH="5791200" progId="">
                    <p:embed/>
                  </p:oleObj>
                </mc:Choice>
                <mc:Fallback>
                  <p:oleObj name="Equation" r:id="rId8" imgW="12192000" imgH="5791200" progId="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203"/>
                          <a:ext cx="640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324508" y="2359783"/>
            <a:ext cx="8566150" cy="457200"/>
            <a:chOff x="167" y="1709"/>
            <a:chExt cx="5396" cy="288"/>
          </a:xfrm>
        </p:grpSpPr>
        <p:graphicFrame>
          <p:nvGraphicFramePr>
            <p:cNvPr id="152597" name="Object 30"/>
            <p:cNvGraphicFramePr>
              <a:graphicFrameLocks noChangeAspect="1"/>
            </p:cNvGraphicFramePr>
            <p:nvPr/>
          </p:nvGraphicFramePr>
          <p:xfrm>
            <a:off x="167" y="1709"/>
            <a:ext cx="111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55960" imgH="279360" progId="">
                    <p:embed/>
                  </p:oleObj>
                </mc:Choice>
                <mc:Fallback>
                  <p:oleObj name="Equation" r:id="rId10" imgW="1155960" imgH="279360" progId="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" y="1709"/>
                          <a:ext cx="111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2598" name="Text Box 12"/>
            <p:cNvSpPr txBox="1">
              <a:spLocks noChangeArrowheads="1"/>
            </p:cNvSpPr>
            <p:nvPr/>
          </p:nvSpPr>
          <p:spPr bwMode="auto">
            <a:xfrm>
              <a:off x="1482" y="1709"/>
              <a:ext cx="4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以非零常数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k</a:t>
              </a:r>
              <a:r>
                <a:rPr lang="en-US" altLang="zh-CN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乘矩阵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A</a:t>
              </a:r>
              <a:r>
                <a:rPr lang="zh-CN" altLang="en-US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的第 </a:t>
              </a:r>
              <a:r>
                <a:rPr lang="en-US" altLang="zh-CN" sz="2400" b="1" i="1" dirty="0" err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i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行，即          </a:t>
              </a:r>
              <a:r>
                <a:rPr lang="en-US" altLang="zh-CN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.</a:t>
              </a:r>
            </a:p>
          </p:txBody>
        </p:sp>
        <p:graphicFrame>
          <p:nvGraphicFramePr>
            <p:cNvPr id="152599" name="Object 31"/>
            <p:cNvGraphicFramePr>
              <a:graphicFrameLocks noChangeAspect="1"/>
            </p:cNvGraphicFramePr>
            <p:nvPr/>
          </p:nvGraphicFramePr>
          <p:xfrm>
            <a:off x="4574" y="1709"/>
            <a:ext cx="44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534400" imgH="5486400" progId="">
                    <p:embed/>
                  </p:oleObj>
                </mc:Choice>
                <mc:Fallback>
                  <p:oleObj name="Equation" r:id="rId12" imgW="8534400" imgH="5486400" progId="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4" y="1709"/>
                          <a:ext cx="44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324508" y="2896358"/>
            <a:ext cx="8566150" cy="466724"/>
            <a:chOff x="167" y="2147"/>
            <a:chExt cx="5396" cy="294"/>
          </a:xfrm>
        </p:grpSpPr>
        <p:graphicFrame>
          <p:nvGraphicFramePr>
            <p:cNvPr id="152594" name="Object 32"/>
            <p:cNvGraphicFramePr>
              <a:graphicFrameLocks noChangeAspect="1"/>
            </p:cNvGraphicFramePr>
            <p:nvPr/>
          </p:nvGraphicFramePr>
          <p:xfrm>
            <a:off x="167" y="2147"/>
            <a:ext cx="108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30400" imgH="279360" progId="">
                    <p:embed/>
                  </p:oleObj>
                </mc:Choice>
                <mc:Fallback>
                  <p:oleObj name="Equation" r:id="rId14" imgW="1130400" imgH="279360" progId="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" y="2147"/>
                          <a:ext cx="108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2595" name="Text Box 15"/>
            <p:cNvSpPr txBox="1">
              <a:spLocks noChangeArrowheads="1"/>
            </p:cNvSpPr>
            <p:nvPr/>
          </p:nvSpPr>
          <p:spPr bwMode="auto">
            <a:xfrm>
              <a:off x="1482" y="2153"/>
              <a:ext cx="4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以非零常数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k</a:t>
              </a:r>
              <a:r>
                <a:rPr lang="en-US" altLang="zh-CN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乘矩阵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A</a:t>
              </a:r>
              <a:r>
                <a:rPr lang="zh-CN" altLang="en-US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的第 </a:t>
              </a:r>
              <a:r>
                <a:rPr lang="en-US" altLang="zh-CN" sz="2400" b="1" i="1" dirty="0" err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i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列，即           </a:t>
              </a:r>
              <a:r>
                <a:rPr lang="en-US" altLang="zh-CN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.</a:t>
              </a:r>
            </a:p>
          </p:txBody>
        </p:sp>
        <p:graphicFrame>
          <p:nvGraphicFramePr>
            <p:cNvPr id="152596" name="Object 33"/>
            <p:cNvGraphicFramePr>
              <a:graphicFrameLocks noChangeAspect="1"/>
            </p:cNvGraphicFramePr>
            <p:nvPr/>
          </p:nvGraphicFramePr>
          <p:xfrm>
            <a:off x="4558" y="2148"/>
            <a:ext cx="46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8839200" imgH="5486400" progId="">
                    <p:embed/>
                  </p:oleObj>
                </mc:Choice>
                <mc:Fallback>
                  <p:oleObj name="Equation" r:id="rId16" imgW="8839200" imgH="5486400" progId="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2148"/>
                          <a:ext cx="46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265113" y="3614291"/>
            <a:ext cx="8566150" cy="482600"/>
            <a:chOff x="167" y="2571"/>
            <a:chExt cx="5396" cy="304"/>
          </a:xfrm>
        </p:grpSpPr>
        <p:graphicFrame>
          <p:nvGraphicFramePr>
            <p:cNvPr id="152591" name="Object 34"/>
            <p:cNvGraphicFramePr>
              <a:graphicFrameLocks noChangeAspect="1"/>
            </p:cNvGraphicFramePr>
            <p:nvPr/>
          </p:nvGraphicFramePr>
          <p:xfrm>
            <a:off x="167" y="2579"/>
            <a:ext cx="116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06720" imgH="279360" progId="">
                    <p:embed/>
                  </p:oleObj>
                </mc:Choice>
                <mc:Fallback>
                  <p:oleObj name="Equation" r:id="rId18" imgW="1206720" imgH="279360" progId="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" y="2579"/>
                          <a:ext cx="116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2592" name="Text Box 18"/>
            <p:cNvSpPr txBox="1">
              <a:spLocks noChangeArrowheads="1"/>
            </p:cNvSpPr>
            <p:nvPr/>
          </p:nvSpPr>
          <p:spPr bwMode="auto">
            <a:xfrm>
              <a:off x="1482" y="2579"/>
              <a:ext cx="4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把矩阵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A</a:t>
              </a: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第 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j </a:t>
              </a: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行的 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k </a:t>
              </a: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倍加到第 </a:t>
              </a:r>
              <a:r>
                <a:rPr lang="en-US" altLang="zh-CN" sz="2400" b="1" i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i </a:t>
              </a:r>
              <a:r>
                <a:rPr lang="zh-CN" altLang="en-US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行，即             </a:t>
              </a:r>
              <a:r>
                <a:rPr lang="en-US" altLang="zh-CN" sz="2400" b="1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.</a:t>
              </a:r>
            </a:p>
          </p:txBody>
        </p:sp>
        <p:graphicFrame>
          <p:nvGraphicFramePr>
            <p:cNvPr id="152593" name="Object 35"/>
            <p:cNvGraphicFramePr>
              <a:graphicFrameLocks noChangeAspect="1"/>
            </p:cNvGraphicFramePr>
            <p:nvPr/>
          </p:nvGraphicFramePr>
          <p:xfrm>
            <a:off x="4732" y="2571"/>
            <a:ext cx="57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0972800" imgH="5791200" progId="">
                    <p:embed/>
                  </p:oleObj>
                </mc:Choice>
                <mc:Fallback>
                  <p:oleObj name="Equation" r:id="rId20" imgW="10972800" imgH="5791200" progId="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2" y="2571"/>
                          <a:ext cx="57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265113" y="4149086"/>
            <a:ext cx="8566150" cy="471488"/>
            <a:chOff x="167" y="3340"/>
            <a:chExt cx="5396" cy="29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2588" name="Object 36"/>
                <p:cNvGraphicFramePr>
                  <a:graphicFrameLocks noChangeAspect="1"/>
                </p:cNvGraphicFramePr>
                <p:nvPr/>
              </p:nvGraphicFramePr>
              <p:xfrm>
                <a:off x="167" y="3349"/>
                <a:ext cx="1135" cy="2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2" imgW="1181520" imgH="279360" progId="">
                        <p:embed/>
                      </p:oleObj>
                    </mc:Choice>
                    <mc:Fallback>
                      <p:oleObj name="Equation" r:id="rId22" imgW="1181520" imgH="279360" progId="">
                        <p:embed/>
                        <p:pic>
                          <p:nvPicPr>
                            <p:cNvPr id="0" name="Object 3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7" y="3349"/>
                              <a:ext cx="1135" cy="2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2588" name="Object 36"/>
                <p:cNvGraphicFramePr>
                  <a:graphicFrameLocks noChangeAspect="1"/>
                </p:cNvGraphicFramePr>
                <p:nvPr/>
              </p:nvGraphicFramePr>
              <p:xfrm>
                <a:off x="167" y="3349"/>
                <a:ext cx="1135" cy="2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25" imgW="1181520" imgH="279360" progId="">
                        <p:embed/>
                      </p:oleObj>
                    </mc:Choice>
                    <mc:Fallback>
                      <p:oleObj name="Equation" r:id="rId25" imgW="1181520" imgH="279360" progId="">
                        <p:embed/>
                        <p:pic>
                          <p:nvPicPr>
                            <p:cNvPr id="0" name="Object 3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7" y="3349"/>
                              <a:ext cx="1135" cy="2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58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482" y="3340"/>
                  <a:ext cx="4081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400" b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把矩阵</a:t>
                  </a:r>
                  <a:r>
                    <a:rPr lang="en-US" altLang="zh-CN" sz="2400" b="1" i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A</a:t>
                  </a:r>
                  <a:r>
                    <a:rPr lang="zh-CN" altLang="en-US" sz="2400" b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第 </a:t>
                  </a:r>
                  <a:r>
                    <a:rPr lang="en-US" altLang="zh-CN" sz="2400" b="1" i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i </a:t>
                  </a:r>
                  <a:r>
                    <a:rPr lang="zh-CN" altLang="en-US" sz="2400" b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列的 </a:t>
                  </a:r>
                  <a:r>
                    <a:rPr lang="en-US" altLang="zh-CN" sz="2400" b="1" i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k </a:t>
                  </a:r>
                  <a:r>
                    <a:rPr lang="zh-CN" altLang="en-US" sz="2400" b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倍加到第 </a:t>
                  </a:r>
                  <a:r>
                    <a:rPr lang="en-US" altLang="zh-CN" sz="2400" b="1" i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j </a:t>
                  </a:r>
                  <a:r>
                    <a:rPr lang="zh-CN" altLang="en-US" sz="2400" b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列，即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bg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bg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bg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bg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bg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bg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CN" altLang="en-US" sz="2400" b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 b="1" dirty="0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+mn-lt"/>
                      <a:ea typeface="黑体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52589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82" y="3340"/>
                  <a:ext cx="4081" cy="288"/>
                </a:xfrm>
                <a:prstGeom prst="rect">
                  <a:avLst/>
                </a:prstGeom>
                <a:blipFill>
                  <a:blip r:embed="rId27"/>
                  <a:stretch>
                    <a:fillRect l="-1505" t="-10667" r="-376" b="-30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294930" y="4755931"/>
            <a:ext cx="8559800" cy="162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性质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是一个 </a:t>
            </a:r>
            <a:r>
              <a:rPr lang="en-US" altLang="zh-CN" sz="2400" b="1" i="1" dirty="0" err="1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en-US" sz="2400" b="1" dirty="0" err="1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sz="2400" b="1" i="1" dirty="0" err="1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400" b="1" i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矩阵，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       对 </a:t>
            </a:r>
            <a:r>
              <a:rPr lang="en-US" altLang="zh-CN" sz="2400" b="1" i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施行一次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初等行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或列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变换</a:t>
            </a: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，相当于在 </a:t>
            </a:r>
            <a:r>
              <a:rPr lang="en-US" altLang="zh-CN" sz="2400" b="1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的左边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或右边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乘以相应的 </a:t>
            </a:r>
            <a:r>
              <a:rPr lang="en-US" altLang="zh-CN" sz="2400" b="1" i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m </a:t>
            </a: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阶</a:t>
            </a:r>
            <a:r>
              <a:rPr lang="en-US" altLang="zh-CN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或</a:t>
            </a:r>
            <a:r>
              <a:rPr lang="en-US" altLang="zh-CN" sz="2400" b="1" i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 n </a:t>
            </a: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阶</a:t>
            </a:r>
            <a:r>
              <a:rPr lang="en-US" altLang="zh-CN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初等矩阵。</a:t>
            </a:r>
          </a:p>
        </p:txBody>
      </p:sp>
      <p:sp>
        <p:nvSpPr>
          <p:cNvPr id="152587" name="AutoShape 12"/>
          <p:cNvSpPr>
            <a:spLocks noChangeArrowheads="1"/>
          </p:cNvSpPr>
          <p:nvPr/>
        </p:nvSpPr>
        <p:spPr bwMode="auto">
          <a:xfrm>
            <a:off x="395288" y="332656"/>
            <a:ext cx="4091907" cy="51077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口诀：左乘变行，右乘变列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ext Box 27"/>
          <p:cNvSpPr txBox="1">
            <a:spLocks noChangeArrowheads="1"/>
          </p:cNvSpPr>
          <p:nvPr/>
        </p:nvSpPr>
        <p:spPr bwMode="auto">
          <a:xfrm>
            <a:off x="279400" y="659408"/>
            <a:ext cx="8558213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    性质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FFCC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方阵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可逆的充要条件是存在有限个初等矩阵</a:t>
            </a:r>
            <a:endParaRPr lang="en-US" altLang="zh-CN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…,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，使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,…,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7" name="Text Box 27"/>
          <p:cNvSpPr txBox="1">
            <a:spLocks noChangeArrowheads="1"/>
          </p:cNvSpPr>
          <p:nvPr/>
        </p:nvSpPr>
        <p:spPr bwMode="auto">
          <a:xfrm>
            <a:off x="250825" y="1773238"/>
            <a:ext cx="855821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    证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先证充分性</a:t>
            </a:r>
            <a:r>
              <a:rPr lang="en-US" altLang="zh-CN" sz="2400" b="1" dirty="0">
                <a:latin typeface="+mn-lt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设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存在有限个初等矩阵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…,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，使得</a:t>
            </a:r>
            <a:endParaRPr lang="en-US" altLang="zh-CN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50825" y="2392363"/>
            <a:ext cx="26997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,…,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700338" y="2392363"/>
            <a:ext cx="6062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因为初等矩阵可逆，所以有限多个初等矩阵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323850" y="2997200"/>
            <a:ext cx="3697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的乘积仍可逆，故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179388" y="3502025"/>
            <a:ext cx="855821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  </a:t>
            </a:r>
            <a:r>
              <a:rPr lang="en-US" altLang="zh-CN" sz="2400" b="1" dirty="0">
                <a:solidFill>
                  <a:srgbClr val="FFCC66"/>
                </a:solidFill>
                <a:latin typeface="+mn-lt"/>
                <a:ea typeface="黑体" panose="02010609060101010101" pitchFamily="49" charset="-122"/>
              </a:rPr>
              <a:t>     </a:t>
            </a: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再证必要性</a:t>
            </a:r>
            <a:r>
              <a:rPr lang="en-US" altLang="zh-CN" sz="2400" b="1" dirty="0">
                <a:latin typeface="+mn-lt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设 </a:t>
            </a:r>
            <a:r>
              <a:rPr lang="en-US" altLang="zh-CN" sz="2400" b="1" i="1" dirty="0">
                <a:latin typeface="+mn-lt"/>
                <a:ea typeface="黑体" panose="02010609060101010101" pitchFamily="49" charset="-122"/>
              </a:rPr>
              <a:t>n </a:t>
            </a: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阶方阵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可逆，且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的标准形矩阵为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F.  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76250" y="4048125"/>
            <a:ext cx="8329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由于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～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F</a:t>
            </a:r>
            <a:r>
              <a:rPr lang="zh-CN" altLang="en-US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知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可通过有限次的初等变换可化为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en-US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即有初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539552" y="4652963"/>
            <a:ext cx="36359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等矩阵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…,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，使得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/>
              <p:cNvSpPr txBox="1"/>
              <p:nvPr/>
            </p:nvSpPr>
            <p:spPr bwMode="auto">
              <a:xfrm>
                <a:off x="2721546" y="5229200"/>
                <a:ext cx="3722662" cy="595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1546" y="5229200"/>
                <a:ext cx="3722662" cy="595313"/>
              </a:xfrm>
              <a:prstGeom prst="rect">
                <a:avLst/>
              </a:prstGeom>
              <a:blipFill>
                <a:blip r:embed="rId2"/>
                <a:stretch>
                  <a:fillRect l="-3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4" grpId="0"/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11188" y="908050"/>
            <a:ext cx="835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因为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可逆，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…,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也都可逆，故标准形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也可逆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假设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40354" name="Object 2"/>
              <p:cNvSpPr txBox="1"/>
              <p:nvPr/>
            </p:nvSpPr>
            <p:spPr bwMode="auto">
              <a:xfrm>
                <a:off x="3348038" y="1628800"/>
                <a:ext cx="2880146" cy="871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</m:eqArr>
                            </m:e>
                          </m:d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4035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8038" y="1628800"/>
                <a:ext cx="2880146" cy="871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11188" y="2708920"/>
            <a:ext cx="835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中</a:t>
            </a:r>
            <a:r>
              <a:rPr lang="en-US" altLang="zh-CN" sz="2400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&lt;</a:t>
            </a:r>
            <a:r>
              <a:rPr lang="en-US" altLang="zh-CN" sz="2400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，则｜</a:t>
            </a:r>
            <a:r>
              <a:rPr lang="en-US" altLang="zh-CN" sz="2400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</a:t>
            </a: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｜</a:t>
            </a:r>
            <a:r>
              <a:rPr lang="en-US" altLang="zh-CN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=0</a:t>
            </a: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，与 </a:t>
            </a:r>
            <a:r>
              <a:rPr lang="en-US" altLang="zh-CN" sz="2400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 </a:t>
            </a: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可逆矛盾</a:t>
            </a:r>
            <a:r>
              <a:rPr lang="en-US" altLang="zh-CN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故 </a:t>
            </a:r>
            <a:r>
              <a:rPr lang="en-US" altLang="zh-CN" sz="2400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n, </a:t>
            </a: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即 </a:t>
            </a:r>
            <a:r>
              <a:rPr lang="en-US" altLang="zh-CN" sz="2400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F=E</a:t>
            </a:r>
            <a:r>
              <a:rPr lang="zh-CN" altLang="en-US" sz="2400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en-US" altLang="zh-CN" sz="2400" b="1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从而 </a:t>
            </a:r>
            <a:endParaRPr lang="zh-CN" altLang="en-US" sz="24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348038" y="3429000"/>
            <a:ext cx="22365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…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.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7702" name="TextBox 5"/>
          <p:cNvSpPr txBox="1">
            <a:spLocks noChangeArrowheads="1"/>
          </p:cNvSpPr>
          <p:nvPr/>
        </p:nvSpPr>
        <p:spPr bwMode="auto">
          <a:xfrm>
            <a:off x="5652121" y="3429000"/>
            <a:ext cx="504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▋</a:t>
            </a:r>
            <a:endParaRPr lang="zh-CN" altLang="en-US" sz="2400" b="1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5770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476696" y="620688"/>
            <a:ext cx="8415784" cy="275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定理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设 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B 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为 </a:t>
            </a:r>
            <a:r>
              <a:rPr lang="en-US" altLang="zh-CN" sz="2400" b="1" i="1" dirty="0" err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en-US" sz="2400" b="1" dirty="0" err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sz="2400" b="1" i="1" dirty="0" err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矩阵，那么   </a:t>
            </a:r>
            <a:endParaRPr lang="en-US" altLang="zh-CN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(1)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         的充要条件是存在可逆矩阵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使得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A=B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(2)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         的充要条件是存在 可逆矩阵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Q 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使得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A Q =B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；</a:t>
            </a:r>
            <a:endParaRPr lang="en-US" altLang="zh-CN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(3)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         的充要条件是存在 可逆矩阵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及可逆矩阵</a:t>
            </a:r>
            <a:endParaRPr lang="en-US" altLang="zh-CN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     Q 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使得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A Q =B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27991"/>
              </p:ext>
            </p:extLst>
          </p:nvPr>
        </p:nvGraphicFramePr>
        <p:xfrm>
          <a:off x="1239838" y="1608138"/>
          <a:ext cx="7953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448800" imgH="6400800" progId="">
                  <p:embed/>
                </p:oleObj>
              </mc:Choice>
              <mc:Fallback>
                <p:oleObj name="Equation" r:id="rId2" imgW="9448800" imgH="6400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838" y="1608138"/>
                        <a:ext cx="79533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52579"/>
              </p:ext>
            </p:extLst>
          </p:nvPr>
        </p:nvGraphicFramePr>
        <p:xfrm>
          <a:off x="1312738" y="1067445"/>
          <a:ext cx="7667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448800" imgH="6400800" progId="">
                  <p:embed/>
                </p:oleObj>
              </mc:Choice>
              <mc:Fallback>
                <p:oleObj name="Equation" r:id="rId4" imgW="9448800" imgH="6400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738" y="1067445"/>
                        <a:ext cx="7667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966024"/>
              </p:ext>
            </p:extLst>
          </p:nvPr>
        </p:nvGraphicFramePr>
        <p:xfrm>
          <a:off x="1258763" y="2312963"/>
          <a:ext cx="8461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363200" imgH="3962400" progId="">
                  <p:embed/>
                </p:oleObj>
              </mc:Choice>
              <mc:Fallback>
                <p:oleObj name="Equation" r:id="rId6" imgW="10363200" imgH="3962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763" y="2312963"/>
                        <a:ext cx="84613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20712" y="3408834"/>
            <a:ext cx="692026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证：</a:t>
            </a:r>
            <a:endParaRPr lang="zh-CN" altLang="en-US" sz="24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27339" y="3371101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(1)</a:t>
            </a:r>
            <a:r>
              <a:rPr lang="zh-CN" altLang="en-US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917465"/>
              </p:ext>
            </p:extLst>
          </p:nvPr>
        </p:nvGraphicFramePr>
        <p:xfrm>
          <a:off x="1772840" y="3305522"/>
          <a:ext cx="7667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448800" imgH="6400800" progId="">
                  <p:embed/>
                </p:oleObj>
              </mc:Choice>
              <mc:Fallback>
                <p:oleObj name="Equation" r:id="rId8" imgW="9448800" imgH="6400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2840" y="3305522"/>
                        <a:ext cx="7667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左右箭头 9"/>
          <p:cNvSpPr/>
          <p:nvPr/>
        </p:nvSpPr>
        <p:spPr bwMode="auto">
          <a:xfrm>
            <a:off x="2618307" y="3625489"/>
            <a:ext cx="288032" cy="91543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900094" y="3429000"/>
                <a:ext cx="46346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经过有限次初等行变换变成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094" y="3429000"/>
                <a:ext cx="4634602" cy="461665"/>
              </a:xfrm>
              <a:prstGeom prst="rect">
                <a:avLst/>
              </a:prstGeom>
              <a:blipFill>
                <a:blip r:embed="rId9"/>
                <a:stretch>
                  <a:fillRect t="-14667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左右箭头 11"/>
          <p:cNvSpPr/>
          <p:nvPr/>
        </p:nvSpPr>
        <p:spPr bwMode="auto">
          <a:xfrm>
            <a:off x="2585606" y="4149080"/>
            <a:ext cx="288032" cy="91543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900094" y="3936363"/>
                <a:ext cx="5215402" cy="9657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b="1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存在有限个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阶初等矩阵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ea typeface="黑体" panose="02010609060101010101" pitchFamily="49" charset="-122"/>
                  </a:rPr>
                  <a:t>,</a:t>
                </a:r>
              </a:p>
              <a:p>
                <a:pPr>
                  <a:lnSpc>
                    <a:spcPct val="125000"/>
                  </a:lnSpc>
                </a:pPr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094" y="3936363"/>
                <a:ext cx="5215402" cy="965714"/>
              </a:xfrm>
              <a:prstGeom prst="rect">
                <a:avLst/>
              </a:prstGeom>
              <a:blipFill>
                <a:blip r:embed="rId10"/>
                <a:stretch>
                  <a:fillRect l="-1871" t="-2532" b="-120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左右箭头 14"/>
          <p:cNvSpPr/>
          <p:nvPr/>
        </p:nvSpPr>
        <p:spPr bwMode="auto">
          <a:xfrm>
            <a:off x="2618307" y="5157192"/>
            <a:ext cx="288032" cy="91543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2893310" y="5006356"/>
                <a:ext cx="497055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存在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阶可逆矩阵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ea typeface="黑体" panose="02010609060101010101" pitchFamily="49" charset="-122"/>
                  </a:rPr>
                  <a:t>,</a:t>
                </a:r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使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310" y="5006356"/>
                <a:ext cx="4970553" cy="461665"/>
              </a:xfrm>
              <a:prstGeom prst="rect">
                <a:avLst/>
              </a:prstGeom>
              <a:blipFill>
                <a:blip r:embed="rId11"/>
                <a:stretch>
                  <a:fillRect l="-1963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1256839" y="5591728"/>
            <a:ext cx="2836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类似可证明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(2)</a:t>
            </a:r>
            <a:r>
              <a:rPr lang="zh-CN" altLang="en-US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和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(3).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236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2" grpId="0"/>
      <p:bldP spid="10" grpId="0" animBg="1"/>
      <p:bldP spid="11" grpId="0"/>
      <p:bldP spid="12" grpId="0" animBg="1"/>
      <p:bldP spid="13" grpId="0"/>
      <p:bldP spid="15" grpId="0" animBg="1"/>
      <p:bldP spid="16" grpId="0"/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>
            <a:spLocks noChangeArrowheads="1"/>
          </p:cNvSpPr>
          <p:nvPr/>
        </p:nvSpPr>
        <p:spPr bwMode="auto">
          <a:xfrm>
            <a:off x="783778" y="4581178"/>
            <a:ext cx="7416800" cy="1008062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" name="Text Box 29"/>
          <p:cNvSpPr txBox="1">
            <a:spLocks noChangeArrowheads="1"/>
          </p:cNvSpPr>
          <p:nvPr/>
        </p:nvSpPr>
        <p:spPr bwMode="auto">
          <a:xfrm>
            <a:off x="794965" y="981075"/>
            <a:ext cx="582146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推论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FFCC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方阵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可逆的充要条件是           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193048"/>
              </p:ext>
            </p:extLst>
          </p:nvPr>
        </p:nvGraphicFramePr>
        <p:xfrm>
          <a:off x="6724277" y="1701800"/>
          <a:ext cx="10445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887200" imgH="3962400" progId="Equation.3">
                  <p:embed/>
                </p:oleObj>
              </mc:Choice>
              <mc:Fallback>
                <p:oleObj name="公式" r:id="rId2" imgW="11887200" imgH="3962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277" y="1701800"/>
                        <a:ext cx="10445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66390" y="1701800"/>
            <a:ext cx="24653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证：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方阵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574677" y="1701800"/>
            <a:ext cx="3473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存在可逆方阵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，使得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595733"/>
              </p:ext>
            </p:extLst>
          </p:nvPr>
        </p:nvGraphicFramePr>
        <p:xfrm>
          <a:off x="5320282" y="765175"/>
          <a:ext cx="7366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53600" imgH="6400800" progId="">
                  <p:embed/>
                </p:oleObj>
              </mc:Choice>
              <mc:Fallback>
                <p:oleObj name="Equation" r:id="rId4" imgW="9753600" imgH="6400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0282" y="765175"/>
                        <a:ext cx="7366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711943"/>
              </p:ext>
            </p:extLst>
          </p:nvPr>
        </p:nvGraphicFramePr>
        <p:xfrm>
          <a:off x="3103190" y="1773238"/>
          <a:ext cx="820737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181600" imgH="3657600" progId="Equation.3">
                  <p:embed/>
                </p:oleObj>
              </mc:Choice>
              <mc:Fallback>
                <p:oleObj name="公式" r:id="rId6" imgW="5181600" imgH="3657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190" y="1773238"/>
                        <a:ext cx="820737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9"/>
          <p:cNvSpPr txBox="1">
            <a:spLocks noChangeArrowheads="1"/>
          </p:cNvSpPr>
          <p:nvPr/>
        </p:nvSpPr>
        <p:spPr bwMode="auto">
          <a:xfrm>
            <a:off x="766390" y="2996952"/>
            <a:ext cx="585003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推论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FFCC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方阵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可逆的充要条件是          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29"/>
              <p:cNvSpPr txBox="1">
                <a:spLocks noChangeArrowheads="1"/>
              </p:cNvSpPr>
              <p:nvPr/>
            </p:nvSpPr>
            <p:spPr bwMode="auto">
              <a:xfrm>
                <a:off x="777502" y="3763714"/>
                <a:ext cx="5550892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推论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3</a:t>
                </a:r>
                <a:r>
                  <a:rPr lang="en-US" altLang="zh-CN" sz="2400" b="1" dirty="0">
                    <a:solidFill>
                      <a:srgbClr val="FFCC66"/>
                    </a:solidFill>
                    <a:latin typeface="+mn-lt"/>
                    <a:ea typeface="黑体" panose="02010609060101010101" pitchFamily="49" charset="-122"/>
                  </a:rPr>
                  <a:t>  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方阵 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 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可逆的充要条件是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∼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𝑬</m:t>
                    </m:r>
                  </m:oMath>
                </a14:m>
                <a:r>
                  <a:rPr lang="en-US" altLang="zh-CN" sz="2400" b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502" y="3763714"/>
                <a:ext cx="5550892" cy="457200"/>
              </a:xfrm>
              <a:prstGeom prst="rect">
                <a:avLst/>
              </a:prstGeom>
              <a:blipFill>
                <a:blip r:embed="rId8"/>
                <a:stretch>
                  <a:fillRect l="-1758" t="-14667" b="-3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657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890785"/>
              </p:ext>
            </p:extLst>
          </p:nvPr>
        </p:nvGraphicFramePr>
        <p:xfrm>
          <a:off x="1863352" y="4674840"/>
          <a:ext cx="7667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448800" imgH="6400800" progId="">
                  <p:embed/>
                </p:oleObj>
              </mc:Choice>
              <mc:Fallback>
                <p:oleObj name="Equation" r:id="rId9" imgW="9448800" imgH="64008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352" y="4674840"/>
                        <a:ext cx="7667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960493" y="4792315"/>
            <a:ext cx="374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问题：</a:t>
            </a:r>
            <a:endParaRPr lang="en-US" altLang="zh-CN" sz="24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499155"/>
              </p:ext>
            </p:extLst>
          </p:nvPr>
        </p:nvGraphicFramePr>
        <p:xfrm>
          <a:off x="2655515" y="4890740"/>
          <a:ext cx="820737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181600" imgH="3657600" progId="Equation.3">
                  <p:embed/>
                </p:oleObj>
              </mc:Choice>
              <mc:Fallback>
                <p:oleObj name="公式" r:id="rId11" imgW="5181600" imgH="3657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515" y="4890740"/>
                        <a:ext cx="820737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160042" y="4797152"/>
            <a:ext cx="1238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A=B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312170" y="4797152"/>
            <a:ext cx="32800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则如何求可逆矩阵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？</a:t>
            </a:r>
            <a:endParaRPr lang="zh-CN" altLang="en-US" sz="2400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267811"/>
              </p:ext>
            </p:extLst>
          </p:nvPr>
        </p:nvGraphicFramePr>
        <p:xfrm>
          <a:off x="3090490" y="2412289"/>
          <a:ext cx="820737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181600" imgH="3657600" progId="Equation.3">
                  <p:embed/>
                </p:oleObj>
              </mc:Choice>
              <mc:Fallback>
                <p:oleObj name="公式" r:id="rId12" imgW="5181600" imgH="365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490" y="2412289"/>
                        <a:ext cx="820737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330733"/>
              </p:ext>
            </p:extLst>
          </p:nvPr>
        </p:nvGraphicFramePr>
        <p:xfrm>
          <a:off x="3594100" y="2146300"/>
          <a:ext cx="7366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753600" imgH="6400800" progId="">
                  <p:embed/>
                </p:oleObj>
              </mc:Choice>
              <mc:Fallback>
                <p:oleObj name="Equation" r:id="rId13" imgW="9753600" imgH="6400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2146300"/>
                        <a:ext cx="7366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图片 19">
            <a:extLst>
              <a:ext uri="{FF2B5EF4-FFF2-40B4-BE49-F238E27FC236}">
                <a16:creationId xmlns:a16="http://schemas.microsoft.com/office/drawing/2014/main" id="{DA8681B8-1511-9270-5662-88F0F04AE09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20072" y="2852936"/>
            <a:ext cx="736600" cy="5378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/>
      <p:bldP spid="5" grpId="0"/>
      <p:bldP spid="6" grpId="0"/>
      <p:bldP spid="10" grpId="0"/>
      <p:bldP spid="12" grpId="0"/>
      <p:bldP spid="14" grpId="0"/>
      <p:bldP spid="16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14413" y="2353022"/>
            <a:ext cx="4908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分析：</a:t>
            </a:r>
            <a:r>
              <a:rPr lang="en-US" altLang="zh-CN" sz="28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A=B</a:t>
            </a:r>
            <a:r>
              <a:rPr lang="zh-CN" altLang="en-US" sz="28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</a:t>
            </a:r>
            <a:endParaRPr lang="zh-CN" altLang="en-US" sz="2800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276629"/>
              </p:ext>
            </p:extLst>
          </p:nvPr>
        </p:nvGraphicFramePr>
        <p:xfrm>
          <a:off x="3827463" y="1917501"/>
          <a:ext cx="1651000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20800" imgH="10972800" progId="Equation.3">
                  <p:embed/>
                </p:oleObj>
              </mc:Choice>
              <mc:Fallback>
                <p:oleObj name="公式" r:id="rId2" imgW="14020800" imgH="10972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463" y="1917501"/>
                        <a:ext cx="1651000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252112"/>
              </p:ext>
            </p:extLst>
          </p:nvPr>
        </p:nvGraphicFramePr>
        <p:xfrm>
          <a:off x="4387346" y="3632546"/>
          <a:ext cx="1469446" cy="53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34680" imgH="203040" progId="Equation.3">
                  <p:embed/>
                </p:oleObj>
              </mc:Choice>
              <mc:Fallback>
                <p:oleObj name="公式" r:id="rId4" imgW="6346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346" y="3632546"/>
                        <a:ext cx="1469446" cy="53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996276"/>
              </p:ext>
            </p:extLst>
          </p:nvPr>
        </p:nvGraphicFramePr>
        <p:xfrm>
          <a:off x="5856792" y="3367377"/>
          <a:ext cx="2392012" cy="773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908000" imgH="7620000" progId="Equation.3">
                  <p:embed/>
                </p:oleObj>
              </mc:Choice>
              <mc:Fallback>
                <p:oleObj name="公式" r:id="rId6" imgW="25908000" imgH="7620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792" y="3367377"/>
                        <a:ext cx="2392012" cy="773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712714"/>
              </p:ext>
            </p:extLst>
          </p:nvPr>
        </p:nvGraphicFramePr>
        <p:xfrm>
          <a:off x="3317874" y="2496417"/>
          <a:ext cx="993229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181600" imgH="3657600" progId="Equation.3">
                  <p:embed/>
                </p:oleObj>
              </mc:Choice>
              <mc:Fallback>
                <p:oleObj name="公式" r:id="rId8" imgW="5181600" imgH="3657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4" y="2496417"/>
                        <a:ext cx="993229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81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995772"/>
              </p:ext>
            </p:extLst>
          </p:nvPr>
        </p:nvGraphicFramePr>
        <p:xfrm>
          <a:off x="1365250" y="3646973"/>
          <a:ext cx="3086401" cy="525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57120" imgH="203040" progId="Equation.3">
                  <p:embed/>
                </p:oleObj>
              </mc:Choice>
              <mc:Fallback>
                <p:oleObj name="公式" r:id="rId10" imgW="125712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646973"/>
                        <a:ext cx="3086401" cy="5253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841878"/>
              </p:ext>
            </p:extLst>
          </p:nvPr>
        </p:nvGraphicFramePr>
        <p:xfrm>
          <a:off x="5622924" y="2493565"/>
          <a:ext cx="1109315" cy="399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181600" imgH="3657600" progId="Equation.3">
                  <p:embed/>
                </p:oleObj>
              </mc:Choice>
              <mc:Fallback>
                <p:oleObj name="公式" r:id="rId12" imgW="5181600" imgH="3657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924" y="2493565"/>
                        <a:ext cx="1109315" cy="399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81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509158"/>
              </p:ext>
            </p:extLst>
          </p:nvPr>
        </p:nvGraphicFramePr>
        <p:xfrm>
          <a:off x="1835150" y="4916834"/>
          <a:ext cx="112553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0058400" imgH="4876800" progId="Equation.3">
                  <p:embed/>
                </p:oleObj>
              </mc:Choice>
              <mc:Fallback>
                <p:oleObj name="公式" r:id="rId13" imgW="10058400" imgH="4876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916834"/>
                        <a:ext cx="1125538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81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175830"/>
              </p:ext>
            </p:extLst>
          </p:nvPr>
        </p:nvGraphicFramePr>
        <p:xfrm>
          <a:off x="6838950" y="4916834"/>
          <a:ext cx="109061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9753600" imgH="4876800" progId="Equation.3">
                  <p:embed/>
                </p:oleObj>
              </mc:Choice>
              <mc:Fallback>
                <p:oleObj name="公式" r:id="rId15" imgW="9753600" imgH="4876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950" y="4916834"/>
                        <a:ext cx="109061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7"/>
          <p:cNvSpPr>
            <a:spLocks noChangeShapeType="1"/>
          </p:cNvSpPr>
          <p:nvPr/>
        </p:nvSpPr>
        <p:spPr bwMode="auto">
          <a:xfrm>
            <a:off x="3176588" y="5374034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3259138" y="4893022"/>
            <a:ext cx="2873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有限次初等行变换</a:t>
            </a:r>
          </a:p>
        </p:txBody>
      </p:sp>
      <p:grpSp>
        <p:nvGrpSpPr>
          <p:cNvPr id="4" name="组合 27"/>
          <p:cNvGrpSpPr>
            <a:grpSpLocks/>
          </p:cNvGrpSpPr>
          <p:nvPr/>
        </p:nvGrpSpPr>
        <p:grpSpPr bwMode="auto">
          <a:xfrm>
            <a:off x="2312988" y="4508847"/>
            <a:ext cx="4824412" cy="360362"/>
            <a:chOff x="1979712" y="3717032"/>
            <a:chExt cx="4824536" cy="360040"/>
          </a:xfrm>
        </p:grpSpPr>
        <p:cxnSp>
          <p:nvCxnSpPr>
            <p:cNvPr id="159765" name="直接连接符 21"/>
            <p:cNvCxnSpPr>
              <a:cxnSpLocks noChangeShapeType="1"/>
            </p:cNvCxnSpPr>
            <p:nvPr/>
          </p:nvCxnSpPr>
          <p:spPr bwMode="auto">
            <a:xfrm flipV="1">
              <a:off x="1979712" y="3717032"/>
              <a:ext cx="0" cy="360040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66" name="直接连接符 23"/>
            <p:cNvCxnSpPr>
              <a:cxnSpLocks noChangeShapeType="1"/>
            </p:cNvCxnSpPr>
            <p:nvPr/>
          </p:nvCxnSpPr>
          <p:spPr bwMode="auto">
            <a:xfrm>
              <a:off x="1979712" y="3717032"/>
              <a:ext cx="4824536" cy="0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67" name="直接箭头连接符 25"/>
            <p:cNvCxnSpPr>
              <a:cxnSpLocks noChangeShapeType="1"/>
            </p:cNvCxnSpPr>
            <p:nvPr/>
          </p:nvCxnSpPr>
          <p:spPr bwMode="auto">
            <a:xfrm>
              <a:off x="6804248" y="3717032"/>
              <a:ext cx="0" cy="360040"/>
            </a:xfrm>
            <a:prstGeom prst="straightConnector1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37"/>
          <p:cNvGrpSpPr>
            <a:grpSpLocks/>
          </p:cNvGrpSpPr>
          <p:nvPr/>
        </p:nvGrpSpPr>
        <p:grpSpPr bwMode="auto">
          <a:xfrm>
            <a:off x="2601913" y="5445472"/>
            <a:ext cx="5040312" cy="431800"/>
            <a:chOff x="2267744" y="4653136"/>
            <a:chExt cx="5040560" cy="432048"/>
          </a:xfrm>
        </p:grpSpPr>
        <p:cxnSp>
          <p:nvCxnSpPr>
            <p:cNvPr id="159762" name="直接连接符 29"/>
            <p:cNvCxnSpPr>
              <a:cxnSpLocks noChangeShapeType="1"/>
            </p:cNvCxnSpPr>
            <p:nvPr/>
          </p:nvCxnSpPr>
          <p:spPr bwMode="auto">
            <a:xfrm>
              <a:off x="2267744" y="4653136"/>
              <a:ext cx="0" cy="432048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63" name="直接连接符 31"/>
            <p:cNvCxnSpPr>
              <a:cxnSpLocks noChangeShapeType="1"/>
            </p:cNvCxnSpPr>
            <p:nvPr/>
          </p:nvCxnSpPr>
          <p:spPr bwMode="auto">
            <a:xfrm>
              <a:off x="2267744" y="5085184"/>
              <a:ext cx="5040560" cy="0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64" name="直接箭头连接符 33"/>
            <p:cNvCxnSpPr>
              <a:cxnSpLocks noChangeShapeType="1"/>
            </p:cNvCxnSpPr>
            <p:nvPr/>
          </p:nvCxnSpPr>
          <p:spPr bwMode="auto">
            <a:xfrm flipV="1">
              <a:off x="7308304" y="4653136"/>
              <a:ext cx="0" cy="432048"/>
            </a:xfrm>
            <a:prstGeom prst="straightConnector1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 Box 29"/>
          <p:cNvSpPr txBox="1">
            <a:spLocks noChangeArrowheads="1"/>
          </p:cNvSpPr>
          <p:nvPr/>
        </p:nvSpPr>
        <p:spPr bwMode="auto">
          <a:xfrm>
            <a:off x="571500" y="1305272"/>
            <a:ext cx="776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已知矩阵</a:t>
            </a:r>
            <a:r>
              <a:rPr lang="en-US" altLang="zh-CN" sz="28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和</a:t>
            </a:r>
            <a:r>
              <a:rPr lang="en-US" altLang="zh-CN" sz="28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B </a:t>
            </a:r>
            <a:r>
              <a:rPr lang="zh-CN" altLang="en-US" sz="28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求可逆矩阵</a:t>
            </a:r>
            <a:r>
              <a:rPr lang="en-US" altLang="zh-CN" sz="28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</a:t>
            </a:r>
            <a:r>
              <a:rPr lang="zh-CN" altLang="en-US" sz="28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使得 </a:t>
            </a:r>
            <a:r>
              <a:rPr lang="en-US" altLang="zh-CN" sz="28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A=B.</a:t>
            </a:r>
            <a:r>
              <a:rPr lang="en-US" altLang="zh-CN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endParaRPr lang="en-US" altLang="zh-CN" sz="28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500063" y="4941837"/>
            <a:ext cx="4908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方法：</a:t>
            </a:r>
            <a:r>
              <a:rPr lang="zh-CN" altLang="en-US" sz="2800" b="1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</a:t>
            </a:r>
            <a:endParaRPr lang="zh-CN" altLang="en-US" sz="280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9761" name="Text Box 12"/>
          <p:cNvSpPr txBox="1">
            <a:spLocks noChangeArrowheads="1"/>
          </p:cNvSpPr>
          <p:nvPr/>
        </p:nvSpPr>
        <p:spPr bwMode="auto">
          <a:xfrm>
            <a:off x="611560" y="568119"/>
            <a:ext cx="8260893" cy="556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000" dirty="0">
                <a:solidFill>
                  <a:srgbClr val="0033CC"/>
                </a:solidFill>
                <a:latin typeface="+mn-lt"/>
                <a:ea typeface="黑体" panose="02010609060101010101" pitchFamily="49" charset="-122"/>
              </a:rPr>
              <a:t>五、利用初等变换求逆矩阵（初等变换的应用）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9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9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9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/>
      <p:bldP spid="22" grpId="0"/>
      <p:bldP spid="2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/>
              <p:nvPr/>
            </p:nvSpPr>
            <p:spPr bwMode="auto">
              <a:xfrm>
                <a:off x="1500188" y="612899"/>
                <a:ext cx="5908675" cy="16639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黑体" panose="02010609060101010101" pitchFamily="49" charset="-122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黑体" panose="02010609060101010101" pitchFamily="49" charset="-122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的行最简形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矩阵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，并求可逆矩阵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使得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0188" y="612899"/>
                <a:ext cx="5908675" cy="1663973"/>
              </a:xfrm>
              <a:prstGeom prst="rect">
                <a:avLst/>
              </a:prstGeom>
              <a:blipFill>
                <a:blip r:embed="rId2"/>
                <a:stretch>
                  <a:fillRect l="-8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469900" y="878805"/>
            <a:ext cx="1087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3</a:t>
            </a:r>
            <a:endParaRPr lang="zh-CN" altLang="en-US" sz="2400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571500" y="2565400"/>
            <a:ext cx="1085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解：</a:t>
            </a:r>
          </a:p>
        </p:txBody>
      </p:sp>
      <p:graphicFrame>
        <p:nvGraphicFramePr>
          <p:cNvPr id="76492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343268"/>
              </p:ext>
            </p:extLst>
          </p:nvPr>
        </p:nvGraphicFramePr>
        <p:xfrm>
          <a:off x="1331913" y="2740025"/>
          <a:ext cx="5948362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6692800" imgH="17068800" progId="Equation.3">
                  <p:embed/>
                </p:oleObj>
              </mc:Choice>
              <mc:Fallback>
                <p:oleObj name="公式" r:id="rId3" imgW="56692800" imgH="1706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40025"/>
                        <a:ext cx="5948362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 bwMode="auto">
              <a:xfrm>
                <a:off x="1203325" y="4581128"/>
                <a:ext cx="6205538" cy="179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 smtClean="0">
                          <a:solidFill>
                            <a:srgbClr val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m:t>   </m:t>
                      </m:r>
                      <m:limUpp>
                        <m:limUp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</m:e>
                        <m:lim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/>
                            <m:lim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↔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eqArr>
                            </m:lim>
                          </m:limLow>
                        </m:lim>
                      </m:limUp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a:rPr lang="zh-CN" alt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0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3325" y="4581128"/>
                <a:ext cx="6205538" cy="1793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64928" name="Object 2"/>
              <p:cNvSpPr txBox="1"/>
              <p:nvPr/>
            </p:nvSpPr>
            <p:spPr bwMode="auto">
              <a:xfrm>
                <a:off x="812800" y="908050"/>
                <a:ext cx="6397625" cy="1361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 smtClean="0">
                          <a:solidFill>
                            <a:srgbClr val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m:t>   </m:t>
                      </m:r>
                      <m:limUpp>
                        <m:limUp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</m:e>
                        <m:lim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lim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⟷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eqArr>
                            </m:lim>
                          </m:limLow>
                        </m:lim>
                      </m:limUp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6492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2800" y="908050"/>
                <a:ext cx="6397625" cy="13618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851392"/>
              </p:ext>
            </p:extLst>
          </p:nvPr>
        </p:nvGraphicFramePr>
        <p:xfrm>
          <a:off x="1043608" y="4005064"/>
          <a:ext cx="2640732" cy="1510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9870400" imgH="17068800" progId="Equation.3">
                  <p:embed/>
                </p:oleObj>
              </mc:Choice>
              <mc:Fallback>
                <p:oleObj name="公式" r:id="rId3" imgW="29870400" imgH="1706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005064"/>
                        <a:ext cx="2640732" cy="1510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706815"/>
              </p:ext>
            </p:extLst>
          </p:nvPr>
        </p:nvGraphicFramePr>
        <p:xfrm>
          <a:off x="3623104" y="4077047"/>
          <a:ext cx="2749096" cy="1440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2613600" imgH="17068800" progId="Equation.3">
                  <p:embed/>
                </p:oleObj>
              </mc:Choice>
              <mc:Fallback>
                <p:oleObj name="公式" r:id="rId5" imgW="32613600" imgH="1706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104" y="4077047"/>
                        <a:ext cx="2749096" cy="1440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7" name="TextBox 4"/>
          <p:cNvSpPr txBox="1">
            <a:spLocks noChangeArrowheads="1"/>
          </p:cNvSpPr>
          <p:nvPr/>
        </p:nvSpPr>
        <p:spPr bwMode="auto">
          <a:xfrm>
            <a:off x="755576" y="4479230"/>
            <a:ext cx="576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+mn-lt"/>
                <a:ea typeface="黑体" panose="02010609060101010101" pitchFamily="49" charset="-122"/>
              </a:rPr>
              <a:t>故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588224" y="4489301"/>
            <a:ext cx="56497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2E40F4B8-A35E-54D4-5122-623335FBBFB4}"/>
                  </a:ext>
                </a:extLst>
              </p:cNvPr>
              <p:cNvSpPr txBox="1"/>
              <p:nvPr/>
            </p:nvSpPr>
            <p:spPr bwMode="auto">
              <a:xfrm>
                <a:off x="755576" y="2427213"/>
                <a:ext cx="6397625" cy="1361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 smtClean="0">
                          <a:solidFill>
                            <a:srgbClr val="000000"/>
                          </a:solidFill>
                          <a:latin typeface="+mn-lt"/>
                          <a:ea typeface="黑体" panose="02010609060101010101" pitchFamily="49" charset="-122"/>
                        </a:rPr>
                        <m:t>   </m:t>
                      </m:r>
                      <m:limUpp>
                        <m:limUp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</m:e>
                        <m:lim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lim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/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×(−1)</m:t>
                                  </m:r>
                                </m:e>
                              </m:eqArr>
                            </m:lim>
                          </m:limLow>
                        </m:lim>
                      </m:limUp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−3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b="0" i="0" smtClean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i="0">
                                    <a:solidFill>
                                      <a:srgbClr val="000000"/>
                                    </a:solidFill>
                                    <a:latin typeface="+mn-lt"/>
                                    <a:ea typeface="黑体" panose="02010609060101010101" pitchFamily="49" charset="-122"/>
                                  </a:rPr>
                                  <m:t>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2E40F4B8-A35E-54D4-5122-623335FBB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2427213"/>
                <a:ext cx="6397625" cy="13618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/>
      <p:bldP spid="8" grpId="0" autoUpdateAnimBg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726891"/>
              </p:ext>
            </p:extLst>
          </p:nvPr>
        </p:nvGraphicFramePr>
        <p:xfrm>
          <a:off x="1835422" y="3476104"/>
          <a:ext cx="180498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972800" imgH="5181600" progId="Equation.3">
                  <p:embed/>
                </p:oleObj>
              </mc:Choice>
              <mc:Fallback>
                <p:oleObj name="公式" r:id="rId2" imgW="10972800" imgH="518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422" y="3476104"/>
                        <a:ext cx="1804988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2"/>
              <p:cNvSpPr txBox="1">
                <a:spLocks noChangeArrowheads="1"/>
              </p:cNvSpPr>
              <p:nvPr/>
            </p:nvSpPr>
            <p:spPr bwMode="auto">
              <a:xfrm>
                <a:off x="684213" y="548680"/>
                <a:ext cx="3979272" cy="5869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 dirty="0">
                    <a:solidFill>
                      <a:srgbClr val="0033CC"/>
                    </a:solidFill>
                    <a:latin typeface="+mn-lt"/>
                    <a:ea typeface="黑体" panose="02010609060101010101" pitchFamily="49" charset="-122"/>
                  </a:rPr>
                  <a:t>2</a:t>
                </a:r>
                <a:r>
                  <a:rPr lang="zh-CN" altLang="en-US" b="1" dirty="0">
                    <a:solidFill>
                      <a:srgbClr val="0033CC"/>
                    </a:solidFill>
                    <a:latin typeface="+mn-lt"/>
                    <a:ea typeface="黑体" panose="02010609060101010101" pitchFamily="49" charset="-122"/>
                  </a:rPr>
                  <a:t>）求矩阵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rgbClr val="0033CC"/>
                    </a:solidFill>
                    <a:latin typeface="+mn-lt"/>
                    <a:ea typeface="黑体" panose="02010609060101010101" pitchFamily="49" charset="-122"/>
                  </a:rPr>
                  <a:t>的逆阵：</a:t>
                </a:r>
              </a:p>
            </p:txBody>
          </p:sp>
        </mc:Choice>
        <mc:Fallback xmlns="">
          <p:sp>
            <p:nvSpPr>
              <p:cNvPr id="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213" y="548680"/>
                <a:ext cx="3979272" cy="586957"/>
              </a:xfrm>
              <a:prstGeom prst="rect">
                <a:avLst/>
              </a:prstGeom>
              <a:blipFill>
                <a:blip r:embed="rId4"/>
                <a:stretch>
                  <a:fillRect l="-3828" t="-17708" r="-2910" b="-3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536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100017"/>
              </p:ext>
            </p:extLst>
          </p:nvPr>
        </p:nvGraphicFramePr>
        <p:xfrm>
          <a:off x="5724797" y="3428479"/>
          <a:ext cx="20875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3411200" imgH="5791200" progId="Equation.3">
                  <p:embed/>
                </p:oleObj>
              </mc:Choice>
              <mc:Fallback>
                <p:oleObj name="公式" r:id="rId5" imgW="13411200" imgH="579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797" y="3428479"/>
                        <a:ext cx="208756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>
            <a:off x="3635647" y="3933304"/>
            <a:ext cx="2089150" cy="0"/>
          </a:xfrm>
          <a:prstGeom prst="straightConnector1">
            <a:avLst/>
          </a:prstGeom>
          <a:ln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851547" y="3357042"/>
            <a:ext cx="1728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初等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黑体" panose="02010609060101010101" pitchFamily="49" charset="-122"/>
              </a:rPr>
              <a:t>行</a:t>
            </a:r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变换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900113" y="4992588"/>
            <a:ext cx="7043737" cy="1028700"/>
            <a:chOff x="651" y="3168"/>
            <a:chExt cx="4437" cy="648"/>
          </a:xfrm>
        </p:grpSpPr>
        <p:graphicFrame>
          <p:nvGraphicFramePr>
            <p:cNvPr id="162824" name="Object 22"/>
            <p:cNvGraphicFramePr>
              <a:graphicFrameLocks noChangeAspect="1"/>
            </p:cNvGraphicFramePr>
            <p:nvPr/>
          </p:nvGraphicFramePr>
          <p:xfrm>
            <a:off x="651" y="3168"/>
            <a:ext cx="4437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7640000" imgH="24688800" progId="Equation.3">
                    <p:embed/>
                  </p:oleObj>
                </mc:Choice>
                <mc:Fallback>
                  <p:oleObj name="Equation" r:id="rId7" imgW="167640000" imgH="246888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" y="3168"/>
                          <a:ext cx="4437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2825" name="Line 17"/>
            <p:cNvSpPr>
              <a:spLocks noChangeShapeType="1"/>
            </p:cNvSpPr>
            <p:nvPr/>
          </p:nvSpPr>
          <p:spPr bwMode="auto">
            <a:xfrm>
              <a:off x="3024" y="3184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014413" y="1272258"/>
            <a:ext cx="4908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分析：</a:t>
            </a:r>
            <a:r>
              <a:rPr lang="en-US" altLang="zh-CN" sz="28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A=E</a:t>
            </a:r>
            <a:r>
              <a:rPr lang="zh-CN" altLang="en-US" sz="28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</a:t>
            </a:r>
            <a:endParaRPr lang="zh-CN" altLang="en-US" sz="2800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255534"/>
              </p:ext>
            </p:extLst>
          </p:nvPr>
        </p:nvGraphicFramePr>
        <p:xfrm>
          <a:off x="3851920" y="980728"/>
          <a:ext cx="2448272" cy="1091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83920" imgH="457200" progId="Equation.DSMT4">
                  <p:embed/>
                </p:oleObj>
              </mc:Choice>
              <mc:Fallback>
                <p:oleObj name="Equation" r:id="rId9" imgW="5839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980728"/>
                        <a:ext cx="2448272" cy="1091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498860"/>
              </p:ext>
            </p:extLst>
          </p:nvPr>
        </p:nvGraphicFramePr>
        <p:xfrm>
          <a:off x="4416425" y="2191321"/>
          <a:ext cx="14097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09480" imgH="203040" progId="Equation.DSMT4">
                  <p:embed/>
                </p:oleObj>
              </mc:Choice>
              <mc:Fallback>
                <p:oleObj name="Equation" r:id="rId11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2191321"/>
                        <a:ext cx="14097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306112"/>
              </p:ext>
            </p:extLst>
          </p:nvPr>
        </p:nvGraphicFramePr>
        <p:xfrm>
          <a:off x="5868144" y="1955854"/>
          <a:ext cx="2374500" cy="732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91880" imgH="304560" progId="Equation.DSMT4">
                  <p:embed/>
                </p:oleObj>
              </mc:Choice>
              <mc:Fallback>
                <p:oleObj name="Equation" r:id="rId13" imgW="10918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1955854"/>
                        <a:ext cx="2374500" cy="732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77031"/>
              </p:ext>
            </p:extLst>
          </p:nvPr>
        </p:nvGraphicFramePr>
        <p:xfrm>
          <a:off x="3143928" y="1310854"/>
          <a:ext cx="1284056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5181600" imgH="3657600" progId="Equation.3">
                  <p:embed/>
                </p:oleObj>
              </mc:Choice>
              <mc:Fallback>
                <p:oleObj name="公式" r:id="rId15" imgW="5181600" imgH="365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928" y="1310854"/>
                        <a:ext cx="1284056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939734"/>
              </p:ext>
            </p:extLst>
          </p:nvPr>
        </p:nvGraphicFramePr>
        <p:xfrm>
          <a:off x="1365250" y="2206169"/>
          <a:ext cx="3086401" cy="525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257120" imgH="203040" progId="Equation.3">
                  <p:embed/>
                </p:oleObj>
              </mc:Choice>
              <mc:Fallback>
                <p:oleObj name="公式" r:id="rId17" imgW="12571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2206169"/>
                        <a:ext cx="3086401" cy="5253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27"/>
          <p:cNvGrpSpPr>
            <a:grpSpLocks/>
          </p:cNvGrpSpPr>
          <p:nvPr/>
        </p:nvGrpSpPr>
        <p:grpSpPr bwMode="auto">
          <a:xfrm>
            <a:off x="2411760" y="3176861"/>
            <a:ext cx="3799235" cy="360362"/>
            <a:chOff x="1979712" y="3717032"/>
            <a:chExt cx="4824536" cy="360040"/>
          </a:xfrm>
        </p:grpSpPr>
        <p:cxnSp>
          <p:nvCxnSpPr>
            <p:cNvPr id="21" name="直接连接符 21"/>
            <p:cNvCxnSpPr>
              <a:cxnSpLocks noChangeShapeType="1"/>
            </p:cNvCxnSpPr>
            <p:nvPr/>
          </p:nvCxnSpPr>
          <p:spPr bwMode="auto">
            <a:xfrm flipV="1">
              <a:off x="1979712" y="3717032"/>
              <a:ext cx="0" cy="360040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直接连接符 23"/>
            <p:cNvCxnSpPr>
              <a:cxnSpLocks noChangeShapeType="1"/>
            </p:cNvCxnSpPr>
            <p:nvPr/>
          </p:nvCxnSpPr>
          <p:spPr bwMode="auto">
            <a:xfrm>
              <a:off x="1979712" y="3717032"/>
              <a:ext cx="4824536" cy="0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直接箭头连接符 25"/>
            <p:cNvCxnSpPr>
              <a:cxnSpLocks noChangeShapeType="1"/>
            </p:cNvCxnSpPr>
            <p:nvPr/>
          </p:nvCxnSpPr>
          <p:spPr bwMode="auto">
            <a:xfrm>
              <a:off x="6804248" y="3717032"/>
              <a:ext cx="0" cy="360040"/>
            </a:xfrm>
            <a:prstGeom prst="straightConnector1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 type="arrow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4" name="组合 37"/>
          <p:cNvGrpSpPr>
            <a:grpSpLocks/>
          </p:cNvGrpSpPr>
          <p:nvPr/>
        </p:nvGrpSpPr>
        <p:grpSpPr bwMode="auto">
          <a:xfrm>
            <a:off x="3104481" y="4151536"/>
            <a:ext cx="3915791" cy="501600"/>
            <a:chOff x="2267744" y="4653136"/>
            <a:chExt cx="5040560" cy="432048"/>
          </a:xfrm>
        </p:grpSpPr>
        <p:cxnSp>
          <p:nvCxnSpPr>
            <p:cNvPr id="25" name="直接连接符 29"/>
            <p:cNvCxnSpPr>
              <a:cxnSpLocks noChangeShapeType="1"/>
            </p:cNvCxnSpPr>
            <p:nvPr/>
          </p:nvCxnSpPr>
          <p:spPr bwMode="auto">
            <a:xfrm>
              <a:off x="2267744" y="4653136"/>
              <a:ext cx="0" cy="432048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1"/>
            <p:cNvCxnSpPr>
              <a:cxnSpLocks noChangeShapeType="1"/>
            </p:cNvCxnSpPr>
            <p:nvPr/>
          </p:nvCxnSpPr>
          <p:spPr bwMode="auto">
            <a:xfrm>
              <a:off x="2267744" y="5085184"/>
              <a:ext cx="5040560" cy="0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33"/>
            <p:cNvCxnSpPr>
              <a:cxnSpLocks noChangeShapeType="1"/>
            </p:cNvCxnSpPr>
            <p:nvPr/>
          </p:nvCxnSpPr>
          <p:spPr bwMode="auto">
            <a:xfrm flipV="1">
              <a:off x="7308304" y="4653136"/>
              <a:ext cx="0" cy="432048"/>
            </a:xfrm>
            <a:prstGeom prst="straightConnector1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500063" y="3555405"/>
            <a:ext cx="4908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方法：</a:t>
            </a:r>
            <a:r>
              <a:rPr lang="zh-CN" altLang="en-US" sz="2800" b="1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</a:t>
            </a:r>
            <a:endParaRPr lang="zh-CN" altLang="en-US" sz="280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338273"/>
              </p:ext>
            </p:extLst>
          </p:nvPr>
        </p:nvGraphicFramePr>
        <p:xfrm>
          <a:off x="6210995" y="1351035"/>
          <a:ext cx="1372523" cy="493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181600" imgH="3657600" progId="Equation.3">
                  <p:embed/>
                </p:oleObj>
              </mc:Choice>
              <mc:Fallback>
                <p:oleObj name="公式" r:id="rId19" imgW="5181600" imgH="365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995" y="1351035"/>
                        <a:ext cx="1372523" cy="493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715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4" grpId="0"/>
      <p:bldP spid="10" grpId="0"/>
      <p:bldP spid="2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D49C48B5-7925-46ED-B88E-BD147B4F3EF4}" type="slidenum">
              <a:rPr lang="zh-CN" altLang="en-US" sz="1200" smtClean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zh-CN" altLang="en-US" sz="12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085850" y="2163763"/>
            <a:ext cx="4121150" cy="1524000"/>
            <a:chOff x="1702" y="1603"/>
            <a:chExt cx="2596" cy="960"/>
          </a:xfrm>
        </p:grpSpPr>
        <p:graphicFrame>
          <p:nvGraphicFramePr>
            <p:cNvPr id="163866" name="Object 14"/>
            <p:cNvGraphicFramePr>
              <a:graphicFrameLocks noChangeAspect="1"/>
            </p:cNvGraphicFramePr>
            <p:nvPr/>
          </p:nvGraphicFramePr>
          <p:xfrm>
            <a:off x="1702" y="1604"/>
            <a:ext cx="2596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6984800" imgH="36271200" progId="Equation.3">
                    <p:embed/>
                  </p:oleObj>
                </mc:Choice>
                <mc:Fallback>
                  <p:oleObj name="Equation" r:id="rId2" imgW="106984800" imgH="362712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2" y="1604"/>
                          <a:ext cx="2596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67" name="Line 12"/>
            <p:cNvSpPr>
              <a:spLocks noChangeShapeType="1"/>
            </p:cNvSpPr>
            <p:nvPr/>
          </p:nvSpPr>
          <p:spPr bwMode="auto">
            <a:xfrm>
              <a:off x="3373" y="1603"/>
              <a:ext cx="0" cy="9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63868" name="Line 13"/>
            <p:cNvSpPr>
              <a:spLocks noChangeShapeType="1"/>
            </p:cNvSpPr>
            <p:nvPr/>
          </p:nvSpPr>
          <p:spPr bwMode="auto">
            <a:xfrm>
              <a:off x="2008" y="1952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76492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478559"/>
              </p:ext>
            </p:extLst>
          </p:nvPr>
        </p:nvGraphicFramePr>
        <p:xfrm>
          <a:off x="1092200" y="317500"/>
          <a:ext cx="41910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2367200" imgH="17068800" progId="Equation.3">
                  <p:embed/>
                </p:oleObj>
              </mc:Choice>
              <mc:Fallback>
                <p:oleObj name="公式" r:id="rId4" imgW="42367200" imgH="17068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317500"/>
                        <a:ext cx="41910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869" name="Text Box 5"/>
          <p:cNvSpPr txBox="1">
            <a:spLocks noChangeArrowheads="1"/>
          </p:cNvSpPr>
          <p:nvPr/>
        </p:nvSpPr>
        <p:spPr bwMode="auto">
          <a:xfrm>
            <a:off x="101600" y="2605088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bg2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676870" name="Text Box 6"/>
          <p:cNvSpPr txBox="1">
            <a:spLocks noChangeArrowheads="1"/>
          </p:cNvSpPr>
          <p:nvPr/>
        </p:nvSpPr>
        <p:spPr bwMode="auto">
          <a:xfrm>
            <a:off x="101600" y="841375"/>
            <a:ext cx="1085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4</a:t>
            </a:r>
            <a:endParaRPr lang="zh-CN" altLang="en-US" sz="2400" b="1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1244600" y="3886200"/>
            <a:ext cx="3124200" cy="1720850"/>
            <a:chOff x="912" y="2448"/>
            <a:chExt cx="1968" cy="1084"/>
          </a:xfrm>
        </p:grpSpPr>
        <p:graphicFrame>
          <p:nvGraphicFramePr>
            <p:cNvPr id="163864" name="Object 13"/>
            <p:cNvGraphicFramePr>
              <a:graphicFrameLocks noChangeAspect="1"/>
            </p:cNvGraphicFramePr>
            <p:nvPr/>
          </p:nvGraphicFramePr>
          <p:xfrm>
            <a:off x="912" y="2448"/>
            <a:ext cx="1968" cy="10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7795200" imgH="17068800" progId="Equation.3">
                    <p:embed/>
                  </p:oleObj>
                </mc:Choice>
                <mc:Fallback>
                  <p:oleObj name="Equation" r:id="rId6" imgW="37795200" imgH="170688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448"/>
                          <a:ext cx="1968" cy="10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65" name="Line 9"/>
            <p:cNvSpPr>
              <a:spLocks noChangeShapeType="1"/>
            </p:cNvSpPr>
            <p:nvPr/>
          </p:nvSpPr>
          <p:spPr bwMode="auto">
            <a:xfrm>
              <a:off x="1964" y="2496"/>
              <a:ext cx="0" cy="9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76492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772003"/>
              </p:ext>
            </p:extLst>
          </p:nvPr>
        </p:nvGraphicFramePr>
        <p:xfrm>
          <a:off x="152400" y="4191000"/>
          <a:ext cx="1016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384000" imgH="10058400" progId="Equation.3">
                  <p:embed/>
                </p:oleObj>
              </mc:Choice>
              <mc:Fallback>
                <p:oleObj name="Equation" r:id="rId8" imgW="24384000" imgH="10058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91000"/>
                        <a:ext cx="1016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101398"/>
              </p:ext>
            </p:extLst>
          </p:nvPr>
        </p:nvGraphicFramePr>
        <p:xfrm>
          <a:off x="152400" y="4876800"/>
          <a:ext cx="1016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384000" imgH="10363200" progId="Equation.3">
                  <p:embed/>
                </p:oleObj>
              </mc:Choice>
              <mc:Fallback>
                <p:oleObj name="Equation" r:id="rId10" imgW="24384000" imgH="1036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876800"/>
                        <a:ext cx="1016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880599"/>
              </p:ext>
            </p:extLst>
          </p:nvPr>
        </p:nvGraphicFramePr>
        <p:xfrm>
          <a:off x="4487863" y="4235450"/>
          <a:ext cx="85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421600" imgH="10363200" progId="Equation.3">
                  <p:embed/>
                </p:oleObj>
              </mc:Choice>
              <mc:Fallback>
                <p:oleObj name="Equation" r:id="rId12" imgW="20421600" imgH="1036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7863" y="4235450"/>
                        <a:ext cx="85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5511800" y="3932238"/>
            <a:ext cx="3479800" cy="1706562"/>
            <a:chOff x="3472" y="2477"/>
            <a:chExt cx="2192" cy="1075"/>
          </a:xfrm>
        </p:grpSpPr>
        <p:graphicFrame>
          <p:nvGraphicFramePr>
            <p:cNvPr id="163862" name="Object 12"/>
            <p:cNvGraphicFramePr>
              <a:graphicFrameLocks noChangeAspect="1"/>
            </p:cNvGraphicFramePr>
            <p:nvPr/>
          </p:nvGraphicFramePr>
          <p:xfrm>
            <a:off x="3472" y="2477"/>
            <a:ext cx="2192" cy="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1757600" imgH="17068800" progId="Equation.3">
                    <p:embed/>
                  </p:oleObj>
                </mc:Choice>
                <mc:Fallback>
                  <p:oleObj name="Equation" r:id="rId14" imgW="41757600" imgH="17068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2" y="2477"/>
                          <a:ext cx="2192" cy="1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63" name="Line 27"/>
            <p:cNvSpPr>
              <a:spLocks noChangeShapeType="1"/>
            </p:cNvSpPr>
            <p:nvPr/>
          </p:nvSpPr>
          <p:spPr bwMode="auto">
            <a:xfrm>
              <a:off x="4622" y="2544"/>
              <a:ext cx="0" cy="9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76493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727260"/>
              </p:ext>
            </p:extLst>
          </p:nvPr>
        </p:nvGraphicFramePr>
        <p:xfrm>
          <a:off x="1387475" y="4495800"/>
          <a:ext cx="13160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449791" imgH="5124581" progId="Equation.3">
                  <p:embed/>
                </p:oleObj>
              </mc:Choice>
              <mc:Fallback>
                <p:oleObj name="Equation" r:id="rId16" imgW="19449791" imgH="512458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4495800"/>
                        <a:ext cx="131603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928664"/>
              </p:ext>
            </p:extLst>
          </p:nvPr>
        </p:nvGraphicFramePr>
        <p:xfrm>
          <a:off x="2921000" y="4495800"/>
          <a:ext cx="1295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706591" imgH="5124581" progId="Equation.3">
                  <p:embed/>
                </p:oleObj>
              </mc:Choice>
              <mc:Fallback>
                <p:oleObj name="Equation" r:id="rId18" imgW="16706591" imgH="512458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4495800"/>
                        <a:ext cx="12954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762285"/>
              </p:ext>
            </p:extLst>
          </p:nvPr>
        </p:nvGraphicFramePr>
        <p:xfrm>
          <a:off x="1385888" y="5029200"/>
          <a:ext cx="1393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449791" imgH="5124581" progId="Equation.3">
                  <p:embed/>
                </p:oleObj>
              </mc:Choice>
              <mc:Fallback>
                <p:oleObj name="Equation" r:id="rId20" imgW="19449791" imgH="512458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5029200"/>
                        <a:ext cx="1393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78508"/>
              </p:ext>
            </p:extLst>
          </p:nvPr>
        </p:nvGraphicFramePr>
        <p:xfrm>
          <a:off x="2941638" y="5029200"/>
          <a:ext cx="12731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706591" imgH="5124581" progId="Equation.3">
                  <p:embed/>
                </p:oleObj>
              </mc:Choice>
              <mc:Fallback>
                <p:oleObj name="Equation" r:id="rId22" imgW="16706591" imgH="512458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5029200"/>
                        <a:ext cx="12731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074119"/>
              </p:ext>
            </p:extLst>
          </p:nvPr>
        </p:nvGraphicFramePr>
        <p:xfrm>
          <a:off x="6208713" y="5060950"/>
          <a:ext cx="95408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305791" imgH="5124581" progId="Equation.3">
                  <p:embed/>
                </p:oleObj>
              </mc:Choice>
              <mc:Fallback>
                <p:oleObj name="Equation" r:id="rId24" imgW="10305791" imgH="512458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8713" y="5060950"/>
                        <a:ext cx="954087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3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167337"/>
              </p:ext>
            </p:extLst>
          </p:nvPr>
        </p:nvGraphicFramePr>
        <p:xfrm>
          <a:off x="7412038" y="5029200"/>
          <a:ext cx="1447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8535391" imgH="5124581" progId="Equation.3">
                  <p:embed/>
                </p:oleObj>
              </mc:Choice>
              <mc:Fallback>
                <p:oleObj name="Equation" r:id="rId26" imgW="18535391" imgH="512458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8" y="5029200"/>
                        <a:ext cx="1447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903" name="Oval 39"/>
          <p:cNvSpPr>
            <a:spLocks noChangeArrowheads="1"/>
          </p:cNvSpPr>
          <p:nvPr/>
        </p:nvSpPr>
        <p:spPr bwMode="auto">
          <a:xfrm>
            <a:off x="1752600" y="5029200"/>
            <a:ext cx="685800" cy="457200"/>
          </a:xfrm>
          <a:prstGeom prst="ellipse">
            <a:avLst/>
          </a:prstGeom>
          <a:noFill/>
          <a:ln w="31750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76904" name="Rectangle 40"/>
          <p:cNvSpPr>
            <a:spLocks noChangeArrowheads="1"/>
          </p:cNvSpPr>
          <p:nvPr/>
        </p:nvSpPr>
        <p:spPr bwMode="auto">
          <a:xfrm>
            <a:off x="2405063" y="2667000"/>
            <a:ext cx="381000" cy="10668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9" name="Freeform 18"/>
          <p:cNvSpPr>
            <a:spLocks/>
          </p:cNvSpPr>
          <p:nvPr/>
        </p:nvSpPr>
        <p:spPr bwMode="auto">
          <a:xfrm flipV="1">
            <a:off x="267318" y="4721596"/>
            <a:ext cx="739157" cy="63923"/>
          </a:xfrm>
          <a:custGeom>
            <a:avLst/>
            <a:gdLst>
              <a:gd name="T0" fmla="*/ 0 w 1179"/>
              <a:gd name="T1" fmla="*/ 0 h 273"/>
              <a:gd name="T2" fmla="*/ 3 w 1179"/>
              <a:gd name="T3" fmla="*/ 0 h 273"/>
              <a:gd name="T4" fmla="*/ 3 w 1179"/>
              <a:gd name="T5" fmla="*/ 0 h 273"/>
              <a:gd name="T6" fmla="*/ 3 w 1179"/>
              <a:gd name="T7" fmla="*/ 0 h 273"/>
              <a:gd name="T8" fmla="*/ 3 w 1179"/>
              <a:gd name="T9" fmla="*/ 0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0" name="Freeform 18"/>
          <p:cNvSpPr>
            <a:spLocks/>
          </p:cNvSpPr>
          <p:nvPr/>
        </p:nvSpPr>
        <p:spPr bwMode="auto">
          <a:xfrm flipV="1">
            <a:off x="4543734" y="4844838"/>
            <a:ext cx="739157" cy="63923"/>
          </a:xfrm>
          <a:custGeom>
            <a:avLst/>
            <a:gdLst>
              <a:gd name="T0" fmla="*/ 0 w 1179"/>
              <a:gd name="T1" fmla="*/ 0 h 273"/>
              <a:gd name="T2" fmla="*/ 3 w 1179"/>
              <a:gd name="T3" fmla="*/ 0 h 273"/>
              <a:gd name="T4" fmla="*/ 3 w 1179"/>
              <a:gd name="T5" fmla="*/ 0 h 273"/>
              <a:gd name="T6" fmla="*/ 3 w 1179"/>
              <a:gd name="T7" fmla="*/ 0 h 273"/>
              <a:gd name="T8" fmla="*/ 3 w 1179"/>
              <a:gd name="T9" fmla="*/ 0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4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7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6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6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64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64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49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64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49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6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64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49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649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49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76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76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6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649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49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649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49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869" grpId="0" autoUpdateAnimBg="0"/>
      <p:bldP spid="676870" grpId="0" autoUpdateAnimBg="0"/>
      <p:bldP spid="676903" grpId="0" animBg="1"/>
      <p:bldP spid="676904" grpId="0" animBg="1"/>
      <p:bldP spid="29" grpId="0" animBg="1"/>
      <p:bldP spid="3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79F5A5D-A431-4DBA-9043-B7D4A47EC49D}" type="slidenum">
              <a:rPr lang="zh-CN" altLang="en-US" sz="1200" smtClean="0">
                <a:solidFill>
                  <a:srgbClr val="000000"/>
                </a:solidFill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zh-CN" altLang="en-US" sz="1200">
              <a:solidFill>
                <a:srgbClr val="000000"/>
              </a:solidFill>
            </a:endParaRPr>
          </a:p>
        </p:txBody>
      </p:sp>
      <p:grpSp>
        <p:nvGrpSpPr>
          <p:cNvPr id="164867" name="Group 2077"/>
          <p:cNvGrpSpPr>
            <a:grpSpLocks/>
          </p:cNvGrpSpPr>
          <p:nvPr/>
        </p:nvGrpSpPr>
        <p:grpSpPr bwMode="auto">
          <a:xfrm>
            <a:off x="254000" y="381000"/>
            <a:ext cx="3708400" cy="1706563"/>
            <a:chOff x="232" y="240"/>
            <a:chExt cx="2336" cy="1075"/>
          </a:xfrm>
        </p:grpSpPr>
        <p:graphicFrame>
          <p:nvGraphicFramePr>
            <p:cNvPr id="164892" name="Object 14"/>
            <p:cNvGraphicFramePr>
              <a:graphicFrameLocks noChangeAspect="1"/>
            </p:cNvGraphicFramePr>
            <p:nvPr/>
          </p:nvGraphicFramePr>
          <p:xfrm>
            <a:off x="232" y="240"/>
            <a:ext cx="2336" cy="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4500800" imgH="17068800" progId="Equation.3">
                    <p:embed/>
                  </p:oleObj>
                </mc:Choice>
                <mc:Fallback>
                  <p:oleObj name="Equation" r:id="rId2" imgW="44500800" imgH="170688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" y="240"/>
                          <a:ext cx="2336" cy="1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893" name="Line 2065"/>
            <p:cNvSpPr>
              <a:spLocks noChangeShapeType="1"/>
            </p:cNvSpPr>
            <p:nvPr/>
          </p:nvSpPr>
          <p:spPr bwMode="auto">
            <a:xfrm>
              <a:off x="1360" y="288"/>
              <a:ext cx="0" cy="9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65952" name="Object 2"/>
          <p:cNvGraphicFramePr>
            <a:graphicFrameLocks noChangeAspect="1"/>
          </p:cNvGraphicFramePr>
          <p:nvPr/>
        </p:nvGraphicFramePr>
        <p:xfrm>
          <a:off x="6477000" y="990600"/>
          <a:ext cx="2809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0591" imgH="4209984" progId="Equation.3">
                  <p:embed/>
                </p:oleObj>
              </mc:Choice>
              <mc:Fallback>
                <p:oleObj name="Equation" r:id="rId4" imgW="2990591" imgH="420998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990600"/>
                        <a:ext cx="28098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53" name="Object 3"/>
          <p:cNvGraphicFramePr>
            <a:graphicFrameLocks noChangeAspect="1"/>
          </p:cNvGraphicFramePr>
          <p:nvPr/>
        </p:nvGraphicFramePr>
        <p:xfrm>
          <a:off x="7042150" y="990600"/>
          <a:ext cx="16065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840191" imgH="5124581" progId="Equation.3">
                  <p:embed/>
                </p:oleObj>
              </mc:Choice>
              <mc:Fallback>
                <p:oleObj name="Equation" r:id="rId6" imgW="18840191" imgH="512458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990600"/>
                        <a:ext cx="16065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083"/>
          <p:cNvGrpSpPr>
            <a:grpSpLocks/>
          </p:cNvGrpSpPr>
          <p:nvPr/>
        </p:nvGrpSpPr>
        <p:grpSpPr bwMode="auto">
          <a:xfrm>
            <a:off x="5118100" y="381000"/>
            <a:ext cx="3657600" cy="1706563"/>
            <a:chOff x="3224" y="240"/>
            <a:chExt cx="2304" cy="1075"/>
          </a:xfrm>
        </p:grpSpPr>
        <p:graphicFrame>
          <p:nvGraphicFramePr>
            <p:cNvPr id="164890" name="Object 13"/>
            <p:cNvGraphicFramePr>
              <a:graphicFrameLocks noChangeAspect="1"/>
            </p:cNvGraphicFramePr>
            <p:nvPr/>
          </p:nvGraphicFramePr>
          <p:xfrm>
            <a:off x="3224" y="240"/>
            <a:ext cx="2304" cy="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3891200" imgH="17068800" progId="Equation.3">
                    <p:embed/>
                  </p:oleObj>
                </mc:Choice>
                <mc:Fallback>
                  <p:oleObj name="Equation" r:id="rId8" imgW="43891200" imgH="170688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4" y="240"/>
                          <a:ext cx="2304" cy="1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891" name="Line 2076"/>
            <p:cNvSpPr>
              <a:spLocks noChangeShapeType="1"/>
            </p:cNvSpPr>
            <p:nvPr/>
          </p:nvSpPr>
          <p:spPr bwMode="auto">
            <a:xfrm>
              <a:off x="4336" y="288"/>
              <a:ext cx="0" cy="9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65954" name="Object 4"/>
          <p:cNvGraphicFramePr>
            <a:graphicFrameLocks noChangeAspect="1"/>
          </p:cNvGraphicFramePr>
          <p:nvPr/>
        </p:nvGraphicFramePr>
        <p:xfrm>
          <a:off x="6477000" y="457200"/>
          <a:ext cx="2809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90591" imgH="4209984" progId="Equation.3">
                  <p:embed/>
                </p:oleObj>
              </mc:Choice>
              <mc:Fallback>
                <p:oleObj name="Equation" r:id="rId10" imgW="2990591" imgH="420998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57200"/>
                        <a:ext cx="28098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55" name="Object 5"/>
          <p:cNvGraphicFramePr>
            <a:graphicFrameLocks noChangeAspect="1"/>
          </p:cNvGraphicFramePr>
          <p:nvPr/>
        </p:nvGraphicFramePr>
        <p:xfrm>
          <a:off x="6934200" y="434975"/>
          <a:ext cx="16843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754591" imgH="5124581" progId="Equation.3">
                  <p:embed/>
                </p:oleObj>
              </mc:Choice>
              <mc:Fallback>
                <p:oleObj name="Equation" r:id="rId12" imgW="19754591" imgH="512458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34975"/>
                        <a:ext cx="16843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087"/>
          <p:cNvGrpSpPr>
            <a:grpSpLocks/>
          </p:cNvGrpSpPr>
          <p:nvPr/>
        </p:nvGrpSpPr>
        <p:grpSpPr bwMode="auto">
          <a:xfrm>
            <a:off x="1193800" y="2362200"/>
            <a:ext cx="3759200" cy="1706563"/>
            <a:chOff x="160" y="1488"/>
            <a:chExt cx="2368" cy="1075"/>
          </a:xfrm>
        </p:grpSpPr>
        <p:graphicFrame>
          <p:nvGraphicFramePr>
            <p:cNvPr id="164888" name="Object 12"/>
            <p:cNvGraphicFramePr>
              <a:graphicFrameLocks noChangeAspect="1"/>
            </p:cNvGraphicFramePr>
            <p:nvPr/>
          </p:nvGraphicFramePr>
          <p:xfrm>
            <a:off x="160" y="1488"/>
            <a:ext cx="2368" cy="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5110400" imgH="17068800" progId="Equation.3">
                    <p:embed/>
                  </p:oleObj>
                </mc:Choice>
                <mc:Fallback>
                  <p:oleObj name="Equation" r:id="rId14" imgW="45110400" imgH="17068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" y="1488"/>
                          <a:ext cx="2368" cy="1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889" name="Line 2086"/>
            <p:cNvSpPr>
              <a:spLocks noChangeShapeType="1"/>
            </p:cNvSpPr>
            <p:nvPr/>
          </p:nvSpPr>
          <p:spPr bwMode="auto">
            <a:xfrm>
              <a:off x="1304" y="1536"/>
              <a:ext cx="0" cy="9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65956" name="Object 6"/>
          <p:cNvGraphicFramePr>
            <a:graphicFrameLocks noChangeAspect="1"/>
          </p:cNvGraphicFramePr>
          <p:nvPr/>
        </p:nvGraphicFramePr>
        <p:xfrm>
          <a:off x="1960563" y="2406650"/>
          <a:ext cx="2746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90591" imgH="4209984" progId="Equation.3">
                  <p:embed/>
                </p:oleObj>
              </mc:Choice>
              <mc:Fallback>
                <p:oleObj name="Equation" r:id="rId16" imgW="2990591" imgH="420998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2406650"/>
                        <a:ext cx="274637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57" name="Object 7"/>
          <p:cNvGraphicFramePr>
            <a:graphicFrameLocks noChangeAspect="1"/>
          </p:cNvGraphicFramePr>
          <p:nvPr/>
        </p:nvGraphicFramePr>
        <p:xfrm>
          <a:off x="3073400" y="2362200"/>
          <a:ext cx="17526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620991" imgH="5124581" progId="Equation.3">
                  <p:embed/>
                </p:oleObj>
              </mc:Choice>
              <mc:Fallback>
                <p:oleObj name="Equation" r:id="rId18" imgW="17620991" imgH="512458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362200"/>
                        <a:ext cx="17526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5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743150"/>
              </p:ext>
            </p:extLst>
          </p:nvPr>
        </p:nvGraphicFramePr>
        <p:xfrm>
          <a:off x="5150296" y="2869803"/>
          <a:ext cx="3886200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9306400" imgH="39319200" progId="Equation.3">
                  <p:embed/>
                </p:oleObj>
              </mc:Choice>
              <mc:Fallback>
                <p:oleObj name="Equation" r:id="rId20" imgW="89306400" imgH="39319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0296" y="2869803"/>
                        <a:ext cx="3886200" cy="171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092"/>
          <p:cNvGrpSpPr>
            <a:grpSpLocks/>
          </p:cNvGrpSpPr>
          <p:nvPr/>
        </p:nvGrpSpPr>
        <p:grpSpPr bwMode="auto">
          <a:xfrm>
            <a:off x="1447800" y="4362450"/>
            <a:ext cx="3962400" cy="1657350"/>
            <a:chOff x="1968" y="2724"/>
            <a:chExt cx="2496" cy="1044"/>
          </a:xfrm>
        </p:grpSpPr>
        <p:graphicFrame>
          <p:nvGraphicFramePr>
            <p:cNvPr id="164886" name="Object 11"/>
            <p:cNvGraphicFramePr>
              <a:graphicFrameLocks noChangeAspect="1"/>
            </p:cNvGraphicFramePr>
            <p:nvPr/>
          </p:nvGraphicFramePr>
          <p:xfrm>
            <a:off x="1968" y="2724"/>
            <a:ext cx="2496" cy="10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95097600" imgH="39319200" progId="Equation.3">
                    <p:embed/>
                  </p:oleObj>
                </mc:Choice>
                <mc:Fallback>
                  <p:oleObj name="Equation" r:id="rId22" imgW="95097600" imgH="393192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724"/>
                          <a:ext cx="2496" cy="10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887" name="Line 2094"/>
            <p:cNvSpPr>
              <a:spLocks noChangeShapeType="1"/>
            </p:cNvSpPr>
            <p:nvPr/>
          </p:nvSpPr>
          <p:spPr bwMode="auto">
            <a:xfrm>
              <a:off x="2960" y="2736"/>
              <a:ext cx="0" cy="103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095"/>
          <p:cNvGrpSpPr>
            <a:grpSpLocks/>
          </p:cNvGrpSpPr>
          <p:nvPr/>
        </p:nvGrpSpPr>
        <p:grpSpPr bwMode="auto">
          <a:xfrm>
            <a:off x="152400" y="4591050"/>
            <a:ext cx="1143000" cy="1066800"/>
            <a:chOff x="336" y="2352"/>
            <a:chExt cx="720" cy="672"/>
          </a:xfrm>
        </p:grpSpPr>
        <p:graphicFrame>
          <p:nvGraphicFramePr>
            <p:cNvPr id="164883" name="Object 9"/>
            <p:cNvGraphicFramePr>
              <a:graphicFrameLocks noChangeAspect="1"/>
            </p:cNvGraphicFramePr>
            <p:nvPr/>
          </p:nvGraphicFramePr>
          <p:xfrm>
            <a:off x="336" y="2352"/>
            <a:ext cx="72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3411200" imgH="5181600" progId="Equation.3">
                    <p:embed/>
                  </p:oleObj>
                </mc:Choice>
                <mc:Fallback>
                  <p:oleObj name="Equation" r:id="rId24" imgW="13411200" imgH="5181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352"/>
                          <a:ext cx="720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884" name="Object 10"/>
            <p:cNvGraphicFramePr>
              <a:graphicFrameLocks noChangeAspect="1"/>
            </p:cNvGraphicFramePr>
            <p:nvPr/>
          </p:nvGraphicFramePr>
          <p:xfrm>
            <a:off x="336" y="2729"/>
            <a:ext cx="72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3411200" imgH="5486400" progId="Equation.3">
                    <p:embed/>
                  </p:oleObj>
                </mc:Choice>
                <mc:Fallback>
                  <p:oleObj name="Equation" r:id="rId26" imgW="13411200" imgH="54864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729"/>
                          <a:ext cx="72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9381" name="Oval 2101"/>
          <p:cNvSpPr>
            <a:spLocks noChangeArrowheads="1"/>
          </p:cNvSpPr>
          <p:nvPr/>
        </p:nvSpPr>
        <p:spPr bwMode="auto">
          <a:xfrm>
            <a:off x="5595938" y="423863"/>
            <a:ext cx="6858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9382" name="Rectangle 2102"/>
          <p:cNvSpPr>
            <a:spLocks noChangeArrowheads="1"/>
          </p:cNvSpPr>
          <p:nvPr/>
        </p:nvSpPr>
        <p:spPr bwMode="auto">
          <a:xfrm>
            <a:off x="1447800" y="304800"/>
            <a:ext cx="533400" cy="11430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Freeform 18"/>
          <p:cNvSpPr>
            <a:spLocks/>
          </p:cNvSpPr>
          <p:nvPr/>
        </p:nvSpPr>
        <p:spPr bwMode="auto">
          <a:xfrm flipV="1">
            <a:off x="4121149" y="1197862"/>
            <a:ext cx="739157" cy="63923"/>
          </a:xfrm>
          <a:custGeom>
            <a:avLst/>
            <a:gdLst>
              <a:gd name="T0" fmla="*/ 0 w 1179"/>
              <a:gd name="T1" fmla="*/ 0 h 273"/>
              <a:gd name="T2" fmla="*/ 3 w 1179"/>
              <a:gd name="T3" fmla="*/ 0 h 273"/>
              <a:gd name="T4" fmla="*/ 3 w 1179"/>
              <a:gd name="T5" fmla="*/ 0 h 273"/>
              <a:gd name="T6" fmla="*/ 3 w 1179"/>
              <a:gd name="T7" fmla="*/ 0 h 273"/>
              <a:gd name="T8" fmla="*/ 3 w 1179"/>
              <a:gd name="T9" fmla="*/ 0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8"/>
          <p:cNvSpPr>
            <a:spLocks/>
          </p:cNvSpPr>
          <p:nvPr/>
        </p:nvSpPr>
        <p:spPr bwMode="auto">
          <a:xfrm flipV="1">
            <a:off x="254000" y="3275383"/>
            <a:ext cx="739157" cy="63923"/>
          </a:xfrm>
          <a:custGeom>
            <a:avLst/>
            <a:gdLst>
              <a:gd name="T0" fmla="*/ 0 w 1179"/>
              <a:gd name="T1" fmla="*/ 0 h 273"/>
              <a:gd name="T2" fmla="*/ 3 w 1179"/>
              <a:gd name="T3" fmla="*/ 0 h 273"/>
              <a:gd name="T4" fmla="*/ 3 w 1179"/>
              <a:gd name="T5" fmla="*/ 0 h 273"/>
              <a:gd name="T6" fmla="*/ 3 w 1179"/>
              <a:gd name="T7" fmla="*/ 0 h 273"/>
              <a:gd name="T8" fmla="*/ 3 w 1179"/>
              <a:gd name="T9" fmla="*/ 0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8"/>
          <p:cNvSpPr>
            <a:spLocks/>
          </p:cNvSpPr>
          <p:nvPr/>
        </p:nvSpPr>
        <p:spPr bwMode="auto">
          <a:xfrm flipV="1">
            <a:off x="253999" y="5098607"/>
            <a:ext cx="939801" cy="90930"/>
          </a:xfrm>
          <a:custGeom>
            <a:avLst/>
            <a:gdLst>
              <a:gd name="T0" fmla="*/ 0 w 1179"/>
              <a:gd name="T1" fmla="*/ 0 h 273"/>
              <a:gd name="T2" fmla="*/ 3 w 1179"/>
              <a:gd name="T3" fmla="*/ 0 h 273"/>
              <a:gd name="T4" fmla="*/ 3 w 1179"/>
              <a:gd name="T5" fmla="*/ 0 h 273"/>
              <a:gd name="T6" fmla="*/ 3 w 1179"/>
              <a:gd name="T7" fmla="*/ 0 h 273"/>
              <a:gd name="T8" fmla="*/ 3 w 1179"/>
              <a:gd name="T9" fmla="*/ 0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DD3D9FA-8978-5182-C768-3792F3B78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543" y="4581128"/>
            <a:ext cx="56497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9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9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59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59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59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59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59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59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659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59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39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9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659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59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659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59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6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381" grpId="0" animBg="1"/>
      <p:bldP spid="739382" grpId="0" animBg="1"/>
      <p:bldP spid="30" grpId="0" animBg="1"/>
      <p:bldP spid="31" grpId="0" animBg="1"/>
      <p:bldP spid="32" grpId="0" animBg="1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76400" y="1865313"/>
            <a:ext cx="4538663" cy="541337"/>
            <a:chOff x="1056" y="1384"/>
            <a:chExt cx="2640" cy="296"/>
          </a:xfrm>
        </p:grpSpPr>
        <p:graphicFrame>
          <p:nvGraphicFramePr>
            <p:cNvPr id="165906" name="Object 5"/>
            <p:cNvGraphicFramePr>
              <a:graphicFrameLocks noChangeAspect="1"/>
            </p:cNvGraphicFramePr>
            <p:nvPr/>
          </p:nvGraphicFramePr>
          <p:xfrm>
            <a:off x="1056" y="1384"/>
            <a:ext cx="264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00584000" imgH="11277600" progId="Equation.3">
                    <p:embed/>
                  </p:oleObj>
                </mc:Choice>
                <mc:Fallback>
                  <p:oleObj name="公式" r:id="rId2" imgW="100584000" imgH="11277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384"/>
                          <a:ext cx="264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907" name="Line 7"/>
            <p:cNvSpPr>
              <a:spLocks noChangeShapeType="1"/>
            </p:cNvSpPr>
            <p:nvPr/>
          </p:nvSpPr>
          <p:spPr bwMode="auto">
            <a:xfrm>
              <a:off x="2208" y="1416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65908" name="Line 8"/>
            <p:cNvSpPr>
              <a:spLocks noChangeShapeType="1"/>
            </p:cNvSpPr>
            <p:nvPr/>
          </p:nvSpPr>
          <p:spPr bwMode="auto">
            <a:xfrm>
              <a:off x="3072" y="1424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082209"/>
              </p:ext>
            </p:extLst>
          </p:nvPr>
        </p:nvGraphicFramePr>
        <p:xfrm>
          <a:off x="1901825" y="4411663"/>
          <a:ext cx="17557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668000" imgH="5181600" progId="Equation.3">
                  <p:embed/>
                </p:oleObj>
              </mc:Choice>
              <mc:Fallback>
                <p:oleObj name="公式" r:id="rId4" imgW="10668000" imgH="5181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4411663"/>
                        <a:ext cx="1755775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127981"/>
              </p:ext>
            </p:extLst>
          </p:nvPr>
        </p:nvGraphicFramePr>
        <p:xfrm>
          <a:off x="5794375" y="4360863"/>
          <a:ext cx="2420938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544800" imgH="5791200" progId="Equation.3">
                  <p:embed/>
                </p:oleObj>
              </mc:Choice>
              <mc:Fallback>
                <p:oleObj name="公式" r:id="rId6" imgW="15544800" imgH="579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4360863"/>
                        <a:ext cx="2420938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/>
          <p:cNvCxnSpPr>
            <a:cxnSpLocks noChangeShapeType="1"/>
          </p:cNvCxnSpPr>
          <p:nvPr/>
        </p:nvCxnSpPr>
        <p:spPr bwMode="auto">
          <a:xfrm>
            <a:off x="3678238" y="4868863"/>
            <a:ext cx="2089150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894138" y="4292600"/>
            <a:ext cx="1728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初等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黑体" panose="02010609060101010101" pitchFamily="49" charset="-122"/>
              </a:rPr>
              <a:t>行</a:t>
            </a: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变换</a:t>
            </a:r>
          </a:p>
        </p:txBody>
      </p:sp>
      <p:sp>
        <p:nvSpPr>
          <p:cNvPr id="21" name="Text Box 29"/>
          <p:cNvSpPr txBox="1">
            <a:spLocks noChangeArrowheads="1"/>
          </p:cNvSpPr>
          <p:nvPr/>
        </p:nvSpPr>
        <p:spPr bwMode="auto">
          <a:xfrm>
            <a:off x="571500" y="692150"/>
            <a:ext cx="3357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3)  </a:t>
            </a:r>
            <a:r>
              <a:rPr lang="zh-CN" altLang="en-US" b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求 </a:t>
            </a:r>
            <a:r>
              <a:rPr lang="en-US" altLang="zh-CN" b="1" i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="1" baseline="3000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-1</a:t>
            </a:r>
            <a:r>
              <a:rPr lang="en-US" altLang="zh-CN" b="1" i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B .</a:t>
            </a:r>
            <a:r>
              <a:rPr lang="en-US" altLang="zh-CN" b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endParaRPr lang="en-US" altLang="zh-CN" b="1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2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591782"/>
              </p:ext>
            </p:extLst>
          </p:nvPr>
        </p:nvGraphicFramePr>
        <p:xfrm>
          <a:off x="1643063" y="2763838"/>
          <a:ext cx="5072062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7490400" imgH="5486400" progId="Equation.3">
                  <p:embed/>
                </p:oleObj>
              </mc:Choice>
              <mc:Fallback>
                <p:oleObj name="公式" r:id="rId8" imgW="37490400" imgH="5486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2763838"/>
                        <a:ext cx="5072062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9"/>
          <p:cNvSpPr txBox="1">
            <a:spLocks noChangeArrowheads="1"/>
          </p:cNvSpPr>
          <p:nvPr/>
        </p:nvSpPr>
        <p:spPr bwMode="auto">
          <a:xfrm>
            <a:off x="571500" y="4592638"/>
            <a:ext cx="776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方法：</a:t>
            </a:r>
            <a:r>
              <a:rPr lang="en-US" altLang="zh-CN" sz="28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endParaRPr lang="en-US" altLang="zh-CN" sz="28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3" name="组合 26"/>
          <p:cNvGrpSpPr>
            <a:grpSpLocks/>
          </p:cNvGrpSpPr>
          <p:nvPr/>
        </p:nvGrpSpPr>
        <p:grpSpPr bwMode="auto">
          <a:xfrm>
            <a:off x="2386013" y="4110038"/>
            <a:ext cx="3971925" cy="360362"/>
            <a:chOff x="1979712" y="3717032"/>
            <a:chExt cx="4824536" cy="360040"/>
          </a:xfrm>
        </p:grpSpPr>
        <p:cxnSp>
          <p:nvCxnSpPr>
            <p:cNvPr id="165903" name="直接连接符 11"/>
            <p:cNvCxnSpPr>
              <a:cxnSpLocks noChangeShapeType="1"/>
            </p:cNvCxnSpPr>
            <p:nvPr/>
          </p:nvCxnSpPr>
          <p:spPr bwMode="auto">
            <a:xfrm flipV="1">
              <a:off x="1979712" y="3717032"/>
              <a:ext cx="0" cy="360040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5904" name="直接连接符 12"/>
            <p:cNvCxnSpPr>
              <a:cxnSpLocks noChangeShapeType="1"/>
            </p:cNvCxnSpPr>
            <p:nvPr/>
          </p:nvCxnSpPr>
          <p:spPr bwMode="auto">
            <a:xfrm>
              <a:off x="1979712" y="3717032"/>
              <a:ext cx="4824536" cy="0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5905" name="直接箭头连接符 13"/>
            <p:cNvCxnSpPr>
              <a:cxnSpLocks noChangeShapeType="1"/>
            </p:cNvCxnSpPr>
            <p:nvPr/>
          </p:nvCxnSpPr>
          <p:spPr bwMode="auto">
            <a:xfrm>
              <a:off x="6804248" y="3717032"/>
              <a:ext cx="0" cy="360040"/>
            </a:xfrm>
            <a:prstGeom prst="straightConnector1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 type="arrow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4" name="组合 14"/>
          <p:cNvGrpSpPr>
            <a:grpSpLocks/>
          </p:cNvGrpSpPr>
          <p:nvPr/>
        </p:nvGrpSpPr>
        <p:grpSpPr bwMode="auto">
          <a:xfrm>
            <a:off x="3208338" y="5046663"/>
            <a:ext cx="4149725" cy="431800"/>
            <a:chOff x="2267744" y="4653136"/>
            <a:chExt cx="5040560" cy="432048"/>
          </a:xfrm>
        </p:grpSpPr>
        <p:cxnSp>
          <p:nvCxnSpPr>
            <p:cNvPr id="165900" name="直接连接符 15"/>
            <p:cNvCxnSpPr>
              <a:cxnSpLocks noChangeShapeType="1"/>
            </p:cNvCxnSpPr>
            <p:nvPr/>
          </p:nvCxnSpPr>
          <p:spPr bwMode="auto">
            <a:xfrm>
              <a:off x="2267744" y="4653136"/>
              <a:ext cx="0" cy="432048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5901" name="直接连接符 16"/>
            <p:cNvCxnSpPr>
              <a:cxnSpLocks noChangeShapeType="1"/>
            </p:cNvCxnSpPr>
            <p:nvPr/>
          </p:nvCxnSpPr>
          <p:spPr bwMode="auto">
            <a:xfrm>
              <a:off x="2267744" y="5085184"/>
              <a:ext cx="5040560" cy="0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5902" name="直接箭头连接符 17"/>
            <p:cNvCxnSpPr>
              <a:cxnSpLocks noChangeShapeType="1"/>
            </p:cNvCxnSpPr>
            <p:nvPr/>
          </p:nvCxnSpPr>
          <p:spPr bwMode="auto">
            <a:xfrm flipV="1">
              <a:off x="7308304" y="4653136"/>
              <a:ext cx="0" cy="432048"/>
            </a:xfrm>
            <a:prstGeom prst="straightConnector1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  <a:headEnd/>
              <a:tailEnd type="arrow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2"/>
          <p:cNvSpPr txBox="1">
            <a:spLocks noChangeArrowheads="1"/>
          </p:cNvSpPr>
          <p:nvPr/>
        </p:nvSpPr>
        <p:spPr bwMode="auto">
          <a:xfrm>
            <a:off x="990600" y="9286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1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kumimoji="1" lang="en-US" altLang="zh-CN" sz="2800" b="1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5</a:t>
            </a:r>
            <a:endParaRPr kumimoji="1" lang="zh-CN" altLang="en-US" sz="2800" b="1">
              <a:solidFill>
                <a:srgbClr val="00007D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669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396958"/>
              </p:ext>
            </p:extLst>
          </p:nvPr>
        </p:nvGraphicFramePr>
        <p:xfrm>
          <a:off x="2082800" y="990600"/>
          <a:ext cx="47752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604800" imgH="49682400" progId="Equation.3">
                  <p:embed/>
                </p:oleObj>
              </mc:Choice>
              <mc:Fallback>
                <p:oleObj name="Equation" r:id="rId2" imgW="114604800" imgH="49682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990600"/>
                        <a:ext cx="4775200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1066800" y="3239984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解：</a:t>
            </a:r>
            <a:endParaRPr kumimoji="1" lang="zh-CN" altLang="en-US" sz="2400" b="1" dirty="0">
              <a:solidFill>
                <a:srgbClr val="00007D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351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152818"/>
              </p:ext>
            </p:extLst>
          </p:nvPr>
        </p:nvGraphicFramePr>
        <p:xfrm>
          <a:off x="1885950" y="3295650"/>
          <a:ext cx="3848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354400" imgH="11277600" progId="Equation.3">
                  <p:embed/>
                </p:oleObj>
              </mc:Choice>
              <mc:Fallback>
                <p:oleObj name="Equation" r:id="rId4" imgW="92354400" imgH="11277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3295650"/>
                        <a:ext cx="3848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05000" y="4051300"/>
            <a:ext cx="3949700" cy="1511300"/>
            <a:chOff x="1200" y="2552"/>
            <a:chExt cx="2488" cy="952"/>
          </a:xfrm>
        </p:grpSpPr>
        <p:graphicFrame>
          <p:nvGraphicFramePr>
            <p:cNvPr id="166919" name="Object 10"/>
            <p:cNvGraphicFramePr>
              <a:graphicFrameLocks noChangeAspect="1"/>
            </p:cNvGraphicFramePr>
            <p:nvPr/>
          </p:nvGraphicFramePr>
          <p:xfrm>
            <a:off x="1200" y="2552"/>
            <a:ext cx="2488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4792800" imgH="36271200" progId="Equation.3">
                    <p:embed/>
                  </p:oleObj>
                </mc:Choice>
                <mc:Fallback>
                  <p:oleObj name="Equation" r:id="rId6" imgW="94792800" imgH="362712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552"/>
                          <a:ext cx="2488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6920" name="Line 8"/>
            <p:cNvSpPr>
              <a:spLocks noChangeShapeType="1"/>
            </p:cNvSpPr>
            <p:nvPr/>
          </p:nvSpPr>
          <p:spPr bwMode="auto">
            <a:xfrm>
              <a:off x="1504" y="2888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2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194" name="Object 20"/>
          <p:cNvGraphicFramePr>
            <a:graphicFrameLocks noChangeAspect="1"/>
          </p:cNvGraphicFramePr>
          <p:nvPr/>
        </p:nvGraphicFramePr>
        <p:xfrm>
          <a:off x="3454400" y="830263"/>
          <a:ext cx="38608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659200" imgH="36271200" progId="Equation.3">
                  <p:embed/>
                </p:oleObj>
              </mc:Choice>
              <mc:Fallback>
                <p:oleObj name="Equation" r:id="rId2" imgW="92659200" imgH="36271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830263"/>
                        <a:ext cx="38608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5" name="Object 21"/>
          <p:cNvGraphicFramePr>
            <a:graphicFrameLocks noChangeAspect="1"/>
          </p:cNvGraphicFramePr>
          <p:nvPr/>
        </p:nvGraphicFramePr>
        <p:xfrm>
          <a:off x="3454400" y="2679700"/>
          <a:ext cx="36703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087200" imgH="36271200" progId="Equation.3">
                  <p:embed/>
                </p:oleObj>
              </mc:Choice>
              <mc:Fallback>
                <p:oleObj name="Equation" r:id="rId4" imgW="88087200" imgH="36271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2679700"/>
                        <a:ext cx="36703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6" name="Object 22"/>
          <p:cNvGraphicFramePr>
            <a:graphicFrameLocks noChangeAspect="1"/>
          </p:cNvGraphicFramePr>
          <p:nvPr/>
        </p:nvGraphicFramePr>
        <p:xfrm>
          <a:off x="3467100" y="4495800"/>
          <a:ext cx="36449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477600" imgH="36271200" progId="Equation.3">
                  <p:embed/>
                </p:oleObj>
              </mc:Choice>
              <mc:Fallback>
                <p:oleObj name="Equation" r:id="rId6" imgW="87477600" imgH="36271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495800"/>
                        <a:ext cx="36449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7941" name="Group 5"/>
          <p:cNvGrpSpPr>
            <a:grpSpLocks/>
          </p:cNvGrpSpPr>
          <p:nvPr/>
        </p:nvGrpSpPr>
        <p:grpSpPr bwMode="auto">
          <a:xfrm>
            <a:off x="2057400" y="952500"/>
            <a:ext cx="1054100" cy="1181100"/>
            <a:chOff x="1296" y="600"/>
            <a:chExt cx="664" cy="744"/>
          </a:xfrm>
        </p:grpSpPr>
        <p:graphicFrame>
          <p:nvGraphicFramePr>
            <p:cNvPr id="167950" name="Object 23"/>
            <p:cNvGraphicFramePr>
              <a:graphicFrameLocks noChangeAspect="1"/>
            </p:cNvGraphicFramePr>
            <p:nvPr/>
          </p:nvGraphicFramePr>
          <p:xfrm>
            <a:off x="1320" y="600"/>
            <a:ext cx="64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4384000" imgH="10058400" progId="Equation.3">
                    <p:embed/>
                  </p:oleObj>
                </mc:Choice>
                <mc:Fallback>
                  <p:oleObj name="Equation" r:id="rId8" imgW="24384000" imgH="100584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0" y="600"/>
                          <a:ext cx="64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51" name="Object 24"/>
            <p:cNvGraphicFramePr>
              <a:graphicFrameLocks noChangeAspect="1"/>
            </p:cNvGraphicFramePr>
            <p:nvPr/>
          </p:nvGraphicFramePr>
          <p:xfrm>
            <a:off x="1316" y="1072"/>
            <a:ext cx="6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4384000" imgH="10363200" progId="Equation.3">
                    <p:embed/>
                  </p:oleObj>
                </mc:Choice>
                <mc:Fallback>
                  <p:oleObj name="Equation" r:id="rId10" imgW="24384000" imgH="103632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6" y="1072"/>
                          <a:ext cx="6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7952" name="Freeform 8"/>
            <p:cNvSpPr>
              <a:spLocks/>
            </p:cNvSpPr>
            <p:nvPr/>
          </p:nvSpPr>
          <p:spPr bwMode="auto">
            <a:xfrm rot="374069">
              <a:off x="1296" y="960"/>
              <a:ext cx="624" cy="48"/>
            </a:xfrm>
            <a:custGeom>
              <a:avLst/>
              <a:gdLst>
                <a:gd name="T0" fmla="*/ 0 w 624"/>
                <a:gd name="T1" fmla="*/ 48 h 48"/>
                <a:gd name="T2" fmla="*/ 192 w 624"/>
                <a:gd name="T3" fmla="*/ 0 h 48"/>
                <a:gd name="T4" fmla="*/ 384 w 624"/>
                <a:gd name="T5" fmla="*/ 48 h 48"/>
                <a:gd name="T6" fmla="*/ 624 w 624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48"/>
                <a:gd name="T14" fmla="*/ 624 w 624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48">
                  <a:moveTo>
                    <a:pt x="0" y="48"/>
                  </a:moveTo>
                  <a:cubicBezTo>
                    <a:pt x="64" y="24"/>
                    <a:pt x="128" y="0"/>
                    <a:pt x="192" y="0"/>
                  </a:cubicBezTo>
                  <a:cubicBezTo>
                    <a:pt x="256" y="0"/>
                    <a:pt x="312" y="48"/>
                    <a:pt x="384" y="48"/>
                  </a:cubicBezTo>
                  <a:cubicBezTo>
                    <a:pt x="456" y="48"/>
                    <a:pt x="540" y="24"/>
                    <a:pt x="62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095500" y="2808288"/>
            <a:ext cx="990600" cy="1128712"/>
            <a:chOff x="1320" y="1769"/>
            <a:chExt cx="624" cy="711"/>
          </a:xfrm>
        </p:grpSpPr>
        <p:graphicFrame>
          <p:nvGraphicFramePr>
            <p:cNvPr id="167947" name="Object 25"/>
            <p:cNvGraphicFramePr>
              <a:graphicFrameLocks noChangeAspect="1"/>
            </p:cNvGraphicFramePr>
            <p:nvPr/>
          </p:nvGraphicFramePr>
          <p:xfrm>
            <a:off x="1368" y="1769"/>
            <a:ext cx="52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0116800" imgH="10058400" progId="Equation.3">
                    <p:embed/>
                  </p:oleObj>
                </mc:Choice>
                <mc:Fallback>
                  <p:oleObj name="Equation" r:id="rId12" imgW="20116800" imgH="100584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8" y="1769"/>
                          <a:ext cx="52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48" name="Object 26"/>
            <p:cNvGraphicFramePr>
              <a:graphicFrameLocks noChangeAspect="1"/>
            </p:cNvGraphicFramePr>
            <p:nvPr/>
          </p:nvGraphicFramePr>
          <p:xfrm>
            <a:off x="1356" y="2208"/>
            <a:ext cx="5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421600" imgH="10363200" progId="Equation.3">
                    <p:embed/>
                  </p:oleObj>
                </mc:Choice>
                <mc:Fallback>
                  <p:oleObj name="Equation" r:id="rId14" imgW="20421600" imgH="103632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6" y="2208"/>
                          <a:ext cx="53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7949" name="Freeform 12"/>
            <p:cNvSpPr>
              <a:spLocks/>
            </p:cNvSpPr>
            <p:nvPr/>
          </p:nvSpPr>
          <p:spPr bwMode="auto">
            <a:xfrm rot="374069">
              <a:off x="1320" y="2112"/>
              <a:ext cx="624" cy="48"/>
            </a:xfrm>
            <a:custGeom>
              <a:avLst/>
              <a:gdLst>
                <a:gd name="T0" fmla="*/ 0 w 624"/>
                <a:gd name="T1" fmla="*/ 48 h 48"/>
                <a:gd name="T2" fmla="*/ 192 w 624"/>
                <a:gd name="T3" fmla="*/ 0 h 48"/>
                <a:gd name="T4" fmla="*/ 384 w 624"/>
                <a:gd name="T5" fmla="*/ 48 h 48"/>
                <a:gd name="T6" fmla="*/ 624 w 624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48"/>
                <a:gd name="T14" fmla="*/ 624 w 624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48">
                  <a:moveTo>
                    <a:pt x="0" y="48"/>
                  </a:moveTo>
                  <a:cubicBezTo>
                    <a:pt x="64" y="24"/>
                    <a:pt x="128" y="0"/>
                    <a:pt x="192" y="0"/>
                  </a:cubicBezTo>
                  <a:cubicBezTo>
                    <a:pt x="256" y="0"/>
                    <a:pt x="312" y="48"/>
                    <a:pt x="384" y="48"/>
                  </a:cubicBezTo>
                  <a:cubicBezTo>
                    <a:pt x="456" y="48"/>
                    <a:pt x="540" y="24"/>
                    <a:pt x="62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2044700" y="4618038"/>
            <a:ext cx="1054100" cy="1135062"/>
            <a:chOff x="1288" y="2909"/>
            <a:chExt cx="664" cy="715"/>
          </a:xfrm>
        </p:grpSpPr>
        <p:graphicFrame>
          <p:nvGraphicFramePr>
            <p:cNvPr id="167944" name="Object 27"/>
            <p:cNvGraphicFramePr>
              <a:graphicFrameLocks noChangeAspect="1"/>
            </p:cNvGraphicFramePr>
            <p:nvPr/>
          </p:nvGraphicFramePr>
          <p:xfrm>
            <a:off x="1312" y="2909"/>
            <a:ext cx="6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4384000" imgH="10363200" progId="Equation.3">
                    <p:embed/>
                  </p:oleObj>
                </mc:Choice>
                <mc:Fallback>
                  <p:oleObj name="Equation" r:id="rId16" imgW="24384000" imgH="103632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" y="2909"/>
                          <a:ext cx="6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7945" name="Object 28"/>
            <p:cNvGraphicFramePr>
              <a:graphicFrameLocks noChangeAspect="1"/>
            </p:cNvGraphicFramePr>
            <p:nvPr/>
          </p:nvGraphicFramePr>
          <p:xfrm>
            <a:off x="1300" y="3352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4688800" imgH="10363200" progId="Equation.3">
                    <p:embed/>
                  </p:oleObj>
                </mc:Choice>
                <mc:Fallback>
                  <p:oleObj name="Equation" r:id="rId18" imgW="24688800" imgH="103632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0" y="3352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7946" name="Freeform 16"/>
            <p:cNvSpPr>
              <a:spLocks/>
            </p:cNvSpPr>
            <p:nvPr/>
          </p:nvSpPr>
          <p:spPr bwMode="auto">
            <a:xfrm rot="374069">
              <a:off x="1288" y="3232"/>
              <a:ext cx="624" cy="48"/>
            </a:xfrm>
            <a:custGeom>
              <a:avLst/>
              <a:gdLst>
                <a:gd name="T0" fmla="*/ 0 w 624"/>
                <a:gd name="T1" fmla="*/ 48 h 48"/>
                <a:gd name="T2" fmla="*/ 192 w 624"/>
                <a:gd name="T3" fmla="*/ 0 h 48"/>
                <a:gd name="T4" fmla="*/ 384 w 624"/>
                <a:gd name="T5" fmla="*/ 48 h 48"/>
                <a:gd name="T6" fmla="*/ 624 w 624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48"/>
                <a:gd name="T14" fmla="*/ 624 w 624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48">
                  <a:moveTo>
                    <a:pt x="0" y="48"/>
                  </a:moveTo>
                  <a:cubicBezTo>
                    <a:pt x="64" y="24"/>
                    <a:pt x="128" y="0"/>
                    <a:pt x="192" y="0"/>
                  </a:cubicBezTo>
                  <a:cubicBezTo>
                    <a:pt x="256" y="0"/>
                    <a:pt x="312" y="48"/>
                    <a:pt x="384" y="48"/>
                  </a:cubicBezTo>
                  <a:cubicBezTo>
                    <a:pt x="456" y="48"/>
                    <a:pt x="540" y="24"/>
                    <a:pt x="62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218" name="Object 16"/>
          <p:cNvGraphicFramePr>
            <a:graphicFrameLocks noChangeAspect="1"/>
          </p:cNvGraphicFramePr>
          <p:nvPr/>
        </p:nvGraphicFramePr>
        <p:xfrm>
          <a:off x="3505200" y="2679700"/>
          <a:ext cx="32385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724000" imgH="36271200" progId="Equation.3">
                  <p:embed/>
                </p:oleObj>
              </mc:Choice>
              <mc:Fallback>
                <p:oleObj name="Equation" r:id="rId2" imgW="77724000" imgH="36271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679700"/>
                        <a:ext cx="32385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19" name="Object 17"/>
          <p:cNvGraphicFramePr>
            <a:graphicFrameLocks noChangeAspect="1"/>
          </p:cNvGraphicFramePr>
          <p:nvPr/>
        </p:nvGraphicFramePr>
        <p:xfrm>
          <a:off x="2133600" y="4419600"/>
          <a:ext cx="34036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686400" imgH="36271200" progId="Equation.3">
                  <p:embed/>
                </p:oleObj>
              </mc:Choice>
              <mc:Fallback>
                <p:oleObj name="Equation" r:id="rId4" imgW="81686400" imgH="36271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419600"/>
                        <a:ext cx="34036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873250" y="2770188"/>
            <a:ext cx="1409700" cy="1179512"/>
            <a:chOff x="1180" y="585"/>
            <a:chExt cx="888" cy="743"/>
          </a:xfrm>
        </p:grpSpPr>
        <p:graphicFrame>
          <p:nvGraphicFramePr>
            <p:cNvPr id="168971" name="Object 18"/>
            <p:cNvGraphicFramePr>
              <a:graphicFrameLocks noChangeAspect="1"/>
            </p:cNvGraphicFramePr>
            <p:nvPr/>
          </p:nvGraphicFramePr>
          <p:xfrm>
            <a:off x="1180" y="585"/>
            <a:ext cx="88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3832800" imgH="10058400" progId="Equation.3">
                    <p:embed/>
                  </p:oleObj>
                </mc:Choice>
                <mc:Fallback>
                  <p:oleObj name="Equation" r:id="rId6" imgW="33832800" imgH="100584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0" y="585"/>
                          <a:ext cx="88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72" name="Object 19"/>
            <p:cNvGraphicFramePr>
              <a:graphicFrameLocks noChangeAspect="1"/>
            </p:cNvGraphicFramePr>
            <p:nvPr/>
          </p:nvGraphicFramePr>
          <p:xfrm>
            <a:off x="1184" y="1056"/>
            <a:ext cx="86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2918400" imgH="10363200" progId="Equation.3">
                    <p:embed/>
                  </p:oleObj>
                </mc:Choice>
                <mc:Fallback>
                  <p:oleObj name="Equation" r:id="rId8" imgW="32918400" imgH="103632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4" y="1056"/>
                          <a:ext cx="86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73" name="Freeform 7"/>
            <p:cNvSpPr>
              <a:spLocks/>
            </p:cNvSpPr>
            <p:nvPr/>
          </p:nvSpPr>
          <p:spPr bwMode="auto">
            <a:xfrm rot="374069">
              <a:off x="1296" y="912"/>
              <a:ext cx="624" cy="48"/>
            </a:xfrm>
            <a:custGeom>
              <a:avLst/>
              <a:gdLst>
                <a:gd name="T0" fmla="*/ 0 w 624"/>
                <a:gd name="T1" fmla="*/ 48 h 48"/>
                <a:gd name="T2" fmla="*/ 192 w 624"/>
                <a:gd name="T3" fmla="*/ 0 h 48"/>
                <a:gd name="T4" fmla="*/ 384 w 624"/>
                <a:gd name="T5" fmla="*/ 48 h 48"/>
                <a:gd name="T6" fmla="*/ 624 w 624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48"/>
                <a:gd name="T14" fmla="*/ 624 w 624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48">
                  <a:moveTo>
                    <a:pt x="0" y="48"/>
                  </a:moveTo>
                  <a:cubicBezTo>
                    <a:pt x="64" y="24"/>
                    <a:pt x="128" y="0"/>
                    <a:pt x="192" y="0"/>
                  </a:cubicBezTo>
                  <a:cubicBezTo>
                    <a:pt x="256" y="0"/>
                    <a:pt x="312" y="48"/>
                    <a:pt x="384" y="48"/>
                  </a:cubicBezTo>
                  <a:cubicBezTo>
                    <a:pt x="456" y="48"/>
                    <a:pt x="540" y="24"/>
                    <a:pt x="62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168965" name="Object 20"/>
          <p:cNvGraphicFramePr>
            <a:graphicFrameLocks noChangeAspect="1"/>
          </p:cNvGraphicFramePr>
          <p:nvPr/>
        </p:nvGraphicFramePr>
        <p:xfrm>
          <a:off x="3441700" y="1003300"/>
          <a:ext cx="36449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477600" imgH="36271200" progId="Equation.3">
                  <p:embed/>
                </p:oleObj>
              </mc:Choice>
              <mc:Fallback>
                <p:oleObj name="Equation" r:id="rId10" imgW="87477600" imgH="36271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1003300"/>
                        <a:ext cx="36449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8966" name="Group 9"/>
          <p:cNvGrpSpPr>
            <a:grpSpLocks/>
          </p:cNvGrpSpPr>
          <p:nvPr/>
        </p:nvGrpSpPr>
        <p:grpSpPr bwMode="auto">
          <a:xfrm>
            <a:off x="2019300" y="1125538"/>
            <a:ext cx="1054100" cy="1135062"/>
            <a:chOff x="1288" y="2909"/>
            <a:chExt cx="664" cy="715"/>
          </a:xfrm>
        </p:grpSpPr>
        <p:graphicFrame>
          <p:nvGraphicFramePr>
            <p:cNvPr id="168968" name="Object 21"/>
            <p:cNvGraphicFramePr>
              <a:graphicFrameLocks noChangeAspect="1"/>
            </p:cNvGraphicFramePr>
            <p:nvPr/>
          </p:nvGraphicFramePr>
          <p:xfrm>
            <a:off x="1312" y="2909"/>
            <a:ext cx="6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4384000" imgH="10363200" progId="Equation.3">
                    <p:embed/>
                  </p:oleObj>
                </mc:Choice>
                <mc:Fallback>
                  <p:oleObj name="Equation" r:id="rId12" imgW="24384000" imgH="103632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" y="2909"/>
                          <a:ext cx="6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69" name="Object 22"/>
            <p:cNvGraphicFramePr>
              <a:graphicFrameLocks noChangeAspect="1"/>
            </p:cNvGraphicFramePr>
            <p:nvPr/>
          </p:nvGraphicFramePr>
          <p:xfrm>
            <a:off x="1300" y="3352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4688800" imgH="10363200" progId="Equation.3">
                    <p:embed/>
                  </p:oleObj>
                </mc:Choice>
                <mc:Fallback>
                  <p:oleObj name="Equation" r:id="rId14" imgW="24688800" imgH="103632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0" y="3352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70" name="Freeform 12"/>
            <p:cNvSpPr>
              <a:spLocks/>
            </p:cNvSpPr>
            <p:nvPr/>
          </p:nvSpPr>
          <p:spPr bwMode="auto">
            <a:xfrm rot="374069">
              <a:off x="1288" y="3232"/>
              <a:ext cx="624" cy="48"/>
            </a:xfrm>
            <a:custGeom>
              <a:avLst/>
              <a:gdLst>
                <a:gd name="T0" fmla="*/ 0 w 624"/>
                <a:gd name="T1" fmla="*/ 48 h 48"/>
                <a:gd name="T2" fmla="*/ 192 w 624"/>
                <a:gd name="T3" fmla="*/ 0 h 48"/>
                <a:gd name="T4" fmla="*/ 384 w 624"/>
                <a:gd name="T5" fmla="*/ 48 h 48"/>
                <a:gd name="T6" fmla="*/ 624 w 624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48"/>
                <a:gd name="T14" fmla="*/ 624 w 624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48">
                  <a:moveTo>
                    <a:pt x="0" y="48"/>
                  </a:moveTo>
                  <a:cubicBezTo>
                    <a:pt x="64" y="24"/>
                    <a:pt x="128" y="0"/>
                    <a:pt x="192" y="0"/>
                  </a:cubicBezTo>
                  <a:cubicBezTo>
                    <a:pt x="256" y="0"/>
                    <a:pt x="312" y="48"/>
                    <a:pt x="384" y="48"/>
                  </a:cubicBezTo>
                  <a:cubicBezTo>
                    <a:pt x="456" y="48"/>
                    <a:pt x="540" y="24"/>
                    <a:pt x="62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37229" name="Rectangle 13"/>
          <p:cNvSpPr>
            <a:spLocks noChangeArrowheads="1"/>
          </p:cNvSpPr>
          <p:nvPr/>
        </p:nvSpPr>
        <p:spPr bwMode="auto">
          <a:xfrm>
            <a:off x="5029200" y="2590800"/>
            <a:ext cx="1447800" cy="160020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042988" y="404813"/>
            <a:ext cx="67691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黑体" panose="02010609060101010101" pitchFamily="49" charset="-122"/>
              </a:rPr>
              <a:t>总结</a:t>
            </a:r>
          </a:p>
        </p:txBody>
      </p: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279400" y="1185863"/>
            <a:ext cx="8558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（一）初等变换与矩阵乘法的关系</a:t>
            </a:r>
            <a:endParaRPr lang="en-US" altLang="zh-CN" sz="28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79400" y="1992314"/>
            <a:ext cx="8558212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定理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A, B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是一个 </a:t>
            </a:r>
            <a:r>
              <a:rPr lang="en-US" altLang="zh-CN" sz="2400" b="1" i="1" dirty="0" err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en-US" sz="2400" b="1" dirty="0" err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sz="2400" b="1" i="1" dirty="0" err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矩阵，则      </a:t>
            </a:r>
            <a:endParaRPr lang="en-US" altLang="zh-CN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(1)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       的充要条件是存在可逆矩阵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</a:t>
            </a:r>
            <a:r>
              <a:rPr lang="zh-CN" altLang="en-US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使得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A=B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(2)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       的充要条件是存在可逆矩阵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Q </a:t>
            </a:r>
            <a:r>
              <a:rPr lang="zh-CN" altLang="en-US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使得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A Q =B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；</a:t>
            </a:r>
            <a:endParaRPr lang="en-US" altLang="zh-CN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(3)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       的充要条件是存在可逆矩阵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和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Q </a:t>
            </a:r>
            <a:r>
              <a:rPr lang="zh-CN" altLang="en-US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使得</a:t>
            </a:r>
            <a:r>
              <a:rPr lang="en-US" altLang="zh-CN" sz="2400" b="1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A Q =B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；</a:t>
            </a:r>
            <a:endParaRPr lang="en-US" altLang="zh-CN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</a:t>
            </a:r>
            <a:endParaRPr lang="zh-CN" altLang="en-US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002416"/>
              </p:ext>
            </p:extLst>
          </p:nvPr>
        </p:nvGraphicFramePr>
        <p:xfrm>
          <a:off x="1042988" y="2817813"/>
          <a:ext cx="7953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448800" imgH="6400800" progId="">
                  <p:embed/>
                </p:oleObj>
              </mc:Choice>
              <mc:Fallback>
                <p:oleObj name="Equation" r:id="rId2" imgW="9448800" imgH="64008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817813"/>
                        <a:ext cx="79533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558457"/>
              </p:ext>
            </p:extLst>
          </p:nvPr>
        </p:nvGraphicFramePr>
        <p:xfrm>
          <a:off x="1116013" y="2349500"/>
          <a:ext cx="7667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448800" imgH="6400800" progId="">
                  <p:embed/>
                </p:oleObj>
              </mc:Choice>
              <mc:Fallback>
                <p:oleObj name="Equation" r:id="rId4" imgW="9448800" imgH="64008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349500"/>
                        <a:ext cx="7667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587355"/>
              </p:ext>
            </p:extLst>
          </p:nvPr>
        </p:nvGraphicFramePr>
        <p:xfrm>
          <a:off x="1062038" y="3556000"/>
          <a:ext cx="846137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363200" imgH="3962400" progId="">
                  <p:embed/>
                </p:oleObj>
              </mc:Choice>
              <mc:Fallback>
                <p:oleObj name="Equation" r:id="rId6" imgW="10363200" imgH="39624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3556000"/>
                        <a:ext cx="846137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9"/>
          <p:cNvSpPr txBox="1">
            <a:spLocks noChangeArrowheads="1"/>
          </p:cNvSpPr>
          <p:nvPr/>
        </p:nvSpPr>
        <p:spPr bwMode="auto">
          <a:xfrm>
            <a:off x="423863" y="4202004"/>
            <a:ext cx="776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推论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solidFill>
                  <a:srgbClr val="FFCC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方阵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可逆的充要条件是             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3" name="Text Box 29"/>
          <p:cNvSpPr txBox="1">
            <a:spLocks noChangeArrowheads="1"/>
          </p:cNvSpPr>
          <p:nvPr/>
        </p:nvSpPr>
        <p:spPr bwMode="auto">
          <a:xfrm>
            <a:off x="423863" y="4816186"/>
            <a:ext cx="776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推论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FFCC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方阵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可逆的充要条件是             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424430" y="5445016"/>
            <a:ext cx="776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推论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3</a:t>
            </a:r>
            <a:r>
              <a:rPr lang="en-US" altLang="zh-CN" sz="2400" b="1" dirty="0">
                <a:solidFill>
                  <a:srgbClr val="FFCC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方阵 </a:t>
            </a:r>
            <a:r>
              <a:rPr lang="en-US" altLang="zh-CN" sz="2400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可逆的充要条件是             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441791"/>
              </p:ext>
            </p:extLst>
          </p:nvPr>
        </p:nvGraphicFramePr>
        <p:xfrm>
          <a:off x="4940415" y="4005064"/>
          <a:ext cx="7366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53600" imgH="6400800" progId="">
                  <p:embed/>
                </p:oleObj>
              </mc:Choice>
              <mc:Fallback>
                <p:oleObj name="Equation" r:id="rId8" imgW="9753600" imgH="6400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415" y="4005064"/>
                        <a:ext cx="7366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158083"/>
              </p:ext>
            </p:extLst>
          </p:nvPr>
        </p:nvGraphicFramePr>
        <p:xfrm>
          <a:off x="4940415" y="4541730"/>
          <a:ext cx="8921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144000" imgH="6705600" progId="Equation.3">
                  <p:embed/>
                </p:oleObj>
              </mc:Choice>
              <mc:Fallback>
                <p:oleObj name="公式" r:id="rId10" imgW="9144000" imgH="6705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415" y="4541730"/>
                        <a:ext cx="892175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22135"/>
              </p:ext>
            </p:extLst>
          </p:nvPr>
        </p:nvGraphicFramePr>
        <p:xfrm>
          <a:off x="4823733" y="5445016"/>
          <a:ext cx="9699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753600" imgH="3962400" progId="Equation.3">
                  <p:embed/>
                </p:oleObj>
              </mc:Choice>
              <mc:Fallback>
                <p:oleObj name="公式" r:id="rId12" imgW="9753600" imgH="39624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3733" y="5445016"/>
                        <a:ext cx="9699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59651"/>
              </p:ext>
            </p:extLst>
          </p:nvPr>
        </p:nvGraphicFramePr>
        <p:xfrm>
          <a:off x="1403350" y="1747838"/>
          <a:ext cx="1804988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972800" imgH="5181600" progId="Equation.3">
                  <p:embed/>
                </p:oleObj>
              </mc:Choice>
              <mc:Fallback>
                <p:oleObj name="公式" r:id="rId2" imgW="10972800" imgH="518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747838"/>
                        <a:ext cx="1804988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36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396656"/>
              </p:ext>
            </p:extLst>
          </p:nvPr>
        </p:nvGraphicFramePr>
        <p:xfrm>
          <a:off x="5292725" y="1700213"/>
          <a:ext cx="20875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411200" imgH="5791200" progId="Equation.3">
                  <p:embed/>
                </p:oleObj>
              </mc:Choice>
              <mc:Fallback>
                <p:oleObj name="公式" r:id="rId4" imgW="13411200" imgH="579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700213"/>
                        <a:ext cx="208756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>
            <a:off x="3203575" y="2205038"/>
            <a:ext cx="2089150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419475" y="1628775"/>
            <a:ext cx="1728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+mn-lt"/>
                <a:ea typeface="黑体" panose="02010609060101010101" pitchFamily="49" charset="-122"/>
              </a:rPr>
              <a:t>初等行变换</a:t>
            </a:r>
          </a:p>
        </p:txBody>
      </p: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395288" y="836613"/>
            <a:ext cx="8558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（二）初等变换法求逆矩阵</a:t>
            </a:r>
            <a:endParaRPr lang="en-US" altLang="zh-CN" sz="28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710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821133"/>
              </p:ext>
            </p:extLst>
          </p:nvPr>
        </p:nvGraphicFramePr>
        <p:xfrm>
          <a:off x="901700" y="3789363"/>
          <a:ext cx="7861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8671200" imgH="23469600" progId="Equation.3">
                  <p:embed/>
                </p:oleObj>
              </mc:Choice>
              <mc:Fallback>
                <p:oleObj name="Equation" r:id="rId6" imgW="188671200" imgH="2346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3789363"/>
                        <a:ext cx="78613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6" name="Text Box 29"/>
          <p:cNvSpPr txBox="1">
            <a:spLocks noChangeArrowheads="1"/>
          </p:cNvSpPr>
          <p:nvPr/>
        </p:nvSpPr>
        <p:spPr bwMode="auto">
          <a:xfrm>
            <a:off x="395288" y="2924175"/>
            <a:ext cx="547285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（三）初等变换的其他应用</a:t>
            </a:r>
            <a:endParaRPr lang="en-US" altLang="zh-CN" sz="28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219084"/>
              </p:ext>
            </p:extLst>
          </p:nvPr>
        </p:nvGraphicFramePr>
        <p:xfrm>
          <a:off x="1427163" y="4981575"/>
          <a:ext cx="175577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668000" imgH="5181600" progId="Equation.3">
                  <p:embed/>
                </p:oleObj>
              </mc:Choice>
              <mc:Fallback>
                <p:oleObj name="公式" r:id="rId8" imgW="10668000" imgH="5181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63" y="4981575"/>
                        <a:ext cx="1755775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18563"/>
              </p:ext>
            </p:extLst>
          </p:nvPr>
        </p:nvGraphicFramePr>
        <p:xfrm>
          <a:off x="5319713" y="4933950"/>
          <a:ext cx="2420937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544800" imgH="5791200" progId="Equation.3">
                  <p:embed/>
                </p:oleObj>
              </mc:Choice>
              <mc:Fallback>
                <p:oleObj name="公式" r:id="rId10" imgW="15544800" imgH="579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713" y="4933950"/>
                        <a:ext cx="2420937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>
            <a:cxnSpLocks noChangeShapeType="1"/>
          </p:cNvCxnSpPr>
          <p:nvPr/>
        </p:nvCxnSpPr>
        <p:spPr bwMode="auto">
          <a:xfrm>
            <a:off x="3203575" y="5438775"/>
            <a:ext cx="2089150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419475" y="4862513"/>
            <a:ext cx="1728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+mn-lt"/>
                <a:ea typeface="黑体" panose="02010609060101010101" pitchFamily="49" charset="-122"/>
              </a:rPr>
              <a:t>初等行变换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715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1016" grpId="0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544" y="548680"/>
            <a:ext cx="7772400" cy="1462088"/>
          </a:xfrm>
        </p:spPr>
        <p:txBody>
          <a:bodyPr/>
          <a:lstStyle/>
          <a:p>
            <a:pPr algn="ctr" eaLnBrk="1" hangingPunct="1"/>
            <a:r>
              <a:rPr kumimoji="1" lang="en-US" altLang="zh-CN" b="1" dirty="0">
                <a:solidFill>
                  <a:srgbClr val="CC0099"/>
                </a:solidFill>
                <a:latin typeface="+mn-lt"/>
                <a:ea typeface="黑体" panose="02010609060101010101" pitchFamily="49" charset="-122"/>
              </a:rPr>
              <a:t>§3.2  </a:t>
            </a:r>
            <a:r>
              <a:rPr kumimoji="1" lang="zh-CN" altLang="en-US" b="1" dirty="0">
                <a:solidFill>
                  <a:srgbClr val="CC0099"/>
                </a:solidFill>
                <a:latin typeface="+mn-lt"/>
                <a:ea typeface="黑体" panose="02010609060101010101" pitchFamily="49" charset="-122"/>
              </a:rPr>
              <a:t>矩阵的秩</a:t>
            </a:r>
          </a:p>
        </p:txBody>
      </p:sp>
      <p:sp>
        <p:nvSpPr>
          <p:cNvPr id="2" name="矩形 1"/>
          <p:cNvSpPr/>
          <p:nvPr/>
        </p:nvSpPr>
        <p:spPr>
          <a:xfrm>
            <a:off x="1696144" y="2420888"/>
            <a:ext cx="6044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lt"/>
                <a:ea typeface="黑体" panose="02010609060101010101" pitchFamily="49" charset="-122"/>
              </a:rPr>
              <a:t>一、矩阵的秩的概念</a:t>
            </a:r>
          </a:p>
        </p:txBody>
      </p:sp>
      <p:sp>
        <p:nvSpPr>
          <p:cNvPr id="3" name="矩形 2"/>
          <p:cNvSpPr/>
          <p:nvPr/>
        </p:nvSpPr>
        <p:spPr>
          <a:xfrm>
            <a:off x="1696144" y="2996952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kern="0" dirty="0">
                <a:latin typeface="+mn-lt"/>
                <a:ea typeface="黑体" panose="02010609060101010101" pitchFamily="49" charset="-122"/>
              </a:rPr>
              <a:t>二、矩阵的秩的计算</a:t>
            </a:r>
          </a:p>
        </p:txBody>
      </p:sp>
      <p:sp>
        <p:nvSpPr>
          <p:cNvPr id="4" name="矩形 3"/>
          <p:cNvSpPr/>
          <p:nvPr/>
        </p:nvSpPr>
        <p:spPr>
          <a:xfrm>
            <a:off x="1696144" y="3645024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dirty="0">
                <a:latin typeface="+mn-lt"/>
                <a:ea typeface="黑体" panose="02010609060101010101" pitchFamily="49" charset="-122"/>
              </a:rPr>
              <a:t>三、矩阵的秩的性质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标题 1"/>
          <p:cNvSpPr>
            <a:spLocks noGrp="1" noChangeArrowheads="1"/>
          </p:cNvSpPr>
          <p:nvPr>
            <p:ph type="title"/>
          </p:nvPr>
        </p:nvSpPr>
        <p:spPr>
          <a:xfrm>
            <a:off x="769938" y="49213"/>
            <a:ext cx="7793037" cy="1462087"/>
          </a:xfrm>
        </p:spPr>
        <p:txBody>
          <a:bodyPr/>
          <a:lstStyle/>
          <a:p>
            <a:r>
              <a:rPr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矩阵的秩的引入</a:t>
            </a:r>
          </a:p>
        </p:txBody>
      </p:sp>
      <p:sp>
        <p:nvSpPr>
          <p:cNvPr id="173059" name="Text Box 2"/>
          <p:cNvSpPr txBox="1">
            <a:spLocks noChangeArrowheads="1"/>
          </p:cNvSpPr>
          <p:nvPr/>
        </p:nvSpPr>
        <p:spPr bwMode="auto">
          <a:xfrm>
            <a:off x="642367" y="2230438"/>
            <a:ext cx="155336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任何矩阵</a:t>
            </a: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5573713" y="222885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行阶梯形矩阵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144713" y="2151065"/>
            <a:ext cx="3352800" cy="461963"/>
            <a:chOff x="1440" y="919"/>
            <a:chExt cx="2112" cy="291"/>
          </a:xfrm>
        </p:grpSpPr>
        <p:sp>
          <p:nvSpPr>
            <p:cNvPr id="173076" name="Line 7"/>
            <p:cNvSpPr>
              <a:spLocks noChangeShapeType="1"/>
            </p:cNvSpPr>
            <p:nvPr/>
          </p:nvSpPr>
          <p:spPr bwMode="auto">
            <a:xfrm>
              <a:off x="1440" y="1209"/>
              <a:ext cx="2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73077" name="Text Box 8"/>
            <p:cNvSpPr txBox="1">
              <a:spLocks noChangeArrowheads="1"/>
            </p:cNvSpPr>
            <p:nvPr/>
          </p:nvSpPr>
          <p:spPr bwMode="auto">
            <a:xfrm>
              <a:off x="1492" y="919"/>
              <a:ext cx="17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有限次初等行变换  </a:t>
              </a:r>
            </a:p>
          </p:txBody>
        </p:sp>
      </p:grp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814851"/>
              </p:ext>
            </p:extLst>
          </p:nvPr>
        </p:nvGraphicFramePr>
        <p:xfrm>
          <a:off x="950913" y="4216400"/>
          <a:ext cx="10795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20000" imgH="5486400" progId="Equation.3">
                  <p:embed/>
                </p:oleObj>
              </mc:Choice>
              <mc:Fallback>
                <p:oleObj name="公式" r:id="rId2" imgW="7620000" imgH="5486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4216400"/>
                        <a:ext cx="1079500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326856"/>
              </p:ext>
            </p:extLst>
          </p:nvPr>
        </p:nvGraphicFramePr>
        <p:xfrm>
          <a:off x="2246313" y="3663950"/>
          <a:ext cx="792162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52800" imgH="6705600" progId="Equation.3">
                  <p:embed/>
                </p:oleObj>
              </mc:Choice>
              <mc:Fallback>
                <p:oleObj name="公式" r:id="rId4" imgW="3352800" imgH="6705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3663950"/>
                        <a:ext cx="792162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8"/>
          <p:cNvGrpSpPr>
            <a:grpSpLocks/>
          </p:cNvGrpSpPr>
          <p:nvPr/>
        </p:nvGrpSpPr>
        <p:grpSpPr bwMode="auto">
          <a:xfrm>
            <a:off x="3254375" y="2832100"/>
            <a:ext cx="4000500" cy="3476625"/>
            <a:chOff x="3635896" y="2996952"/>
            <a:chExt cx="4000500" cy="3476625"/>
          </a:xfrm>
        </p:grpSpPr>
        <p:graphicFrame>
          <p:nvGraphicFramePr>
            <p:cNvPr id="173068" name="Object 4"/>
            <p:cNvGraphicFramePr>
              <a:graphicFrameLocks noChangeAspect="1"/>
            </p:cNvGraphicFramePr>
            <p:nvPr/>
          </p:nvGraphicFramePr>
          <p:xfrm>
            <a:off x="3635896" y="2996952"/>
            <a:ext cx="4000500" cy="3476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0784800" imgH="39319200" progId="Equation.3">
                    <p:embed/>
                  </p:oleObj>
                </mc:Choice>
                <mc:Fallback>
                  <p:oleObj name="公式" r:id="rId6" imgW="30784800" imgH="39319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896" y="2996952"/>
                          <a:ext cx="4000500" cy="3476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73069" name="直接连接符 12"/>
            <p:cNvCxnSpPr>
              <a:cxnSpLocks noChangeShapeType="1"/>
            </p:cNvCxnSpPr>
            <p:nvPr/>
          </p:nvCxnSpPr>
          <p:spPr bwMode="auto">
            <a:xfrm>
              <a:off x="3779912" y="3429000"/>
              <a:ext cx="360040" cy="0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070" name="直接连接符 15"/>
            <p:cNvCxnSpPr>
              <a:cxnSpLocks noChangeShapeType="1"/>
            </p:cNvCxnSpPr>
            <p:nvPr/>
          </p:nvCxnSpPr>
          <p:spPr bwMode="auto">
            <a:xfrm>
              <a:off x="4139952" y="3501008"/>
              <a:ext cx="0" cy="360040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071" name="直接连接符 17"/>
            <p:cNvCxnSpPr>
              <a:cxnSpLocks noChangeShapeType="1"/>
            </p:cNvCxnSpPr>
            <p:nvPr/>
          </p:nvCxnSpPr>
          <p:spPr bwMode="auto">
            <a:xfrm>
              <a:off x="4211960" y="3861048"/>
              <a:ext cx="360040" cy="0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072" name="直接连接符 19"/>
            <p:cNvCxnSpPr>
              <a:cxnSpLocks noChangeShapeType="1"/>
            </p:cNvCxnSpPr>
            <p:nvPr/>
          </p:nvCxnSpPr>
          <p:spPr bwMode="auto">
            <a:xfrm>
              <a:off x="4644008" y="3861048"/>
              <a:ext cx="0" cy="576064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073" name="直接连接符 21"/>
            <p:cNvCxnSpPr>
              <a:cxnSpLocks noChangeShapeType="1"/>
            </p:cNvCxnSpPr>
            <p:nvPr/>
          </p:nvCxnSpPr>
          <p:spPr bwMode="auto">
            <a:xfrm>
              <a:off x="4644008" y="4437112"/>
              <a:ext cx="1296144" cy="0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074" name="直接连接符 23"/>
            <p:cNvCxnSpPr>
              <a:cxnSpLocks noChangeShapeType="1"/>
            </p:cNvCxnSpPr>
            <p:nvPr/>
          </p:nvCxnSpPr>
          <p:spPr bwMode="auto">
            <a:xfrm>
              <a:off x="5940152" y="4509120"/>
              <a:ext cx="0" cy="432048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3075" name="直接连接符 25"/>
            <p:cNvCxnSpPr>
              <a:cxnSpLocks noChangeShapeType="1"/>
            </p:cNvCxnSpPr>
            <p:nvPr/>
          </p:nvCxnSpPr>
          <p:spPr bwMode="auto">
            <a:xfrm>
              <a:off x="5940152" y="4941168"/>
              <a:ext cx="936104" cy="0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" name="右大括号 29"/>
          <p:cNvSpPr>
            <a:spLocks/>
          </p:cNvSpPr>
          <p:nvPr/>
        </p:nvSpPr>
        <p:spPr bwMode="auto">
          <a:xfrm>
            <a:off x="6638925" y="2976563"/>
            <a:ext cx="360363" cy="1511300"/>
          </a:xfrm>
          <a:prstGeom prst="rightBrace">
            <a:avLst>
              <a:gd name="adj1" fmla="val 8329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43750" y="3408363"/>
            <a:ext cx="576263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i="1" dirty="0">
                <a:latin typeface="+mn-lt"/>
                <a:ea typeface="黑体" panose="02010609060101010101" pitchFamily="49" charset="-122"/>
              </a:rPr>
              <a:t>r</a:t>
            </a:r>
            <a:endParaRPr lang="zh-CN" altLang="en-US" sz="2800" i="1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5" name="椭圆形标注 34"/>
          <p:cNvSpPr/>
          <p:nvPr/>
        </p:nvSpPr>
        <p:spPr bwMode="auto">
          <a:xfrm>
            <a:off x="7143750" y="2832100"/>
            <a:ext cx="1619250" cy="576263"/>
          </a:xfrm>
          <a:prstGeom prst="wedgeEllipseCallout">
            <a:avLst>
              <a:gd name="adj1" fmla="val -39507"/>
              <a:gd name="adj2" fmla="val 81019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唯一确定</a:t>
            </a:r>
          </a:p>
          <a:p>
            <a:pPr eaLnBrk="1" hangingPunct="1">
              <a:defRPr/>
            </a:pPr>
            <a:endParaRPr lang="zh-CN" altLang="en-US" sz="1800" b="1"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80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79207"/>
            <a:ext cx="7848872" cy="873529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+mn-lt"/>
                <a:ea typeface="黑体" panose="02010609060101010101" pitchFamily="49" charset="-122"/>
              </a:rPr>
              <a:t>一、矩阵的秩的概念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2302" y="1052736"/>
            <a:ext cx="8229600" cy="1430328"/>
          </a:xfrm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       定义：</a:t>
            </a:r>
            <a:r>
              <a:rPr lang="zh-CN" altLang="en-US" dirty="0">
                <a:ea typeface="黑体" panose="02010609060101010101" pitchFamily="49" charset="-122"/>
              </a:rPr>
              <a:t>在 </a:t>
            </a:r>
            <a:r>
              <a:rPr lang="en-US" altLang="zh-CN" i="1" dirty="0" err="1">
                <a:ea typeface="黑体" panose="02010609060101010101" pitchFamily="49" charset="-122"/>
              </a:rPr>
              <a:t>m</a:t>
            </a:r>
            <a:r>
              <a:rPr lang="en-US" altLang="zh-CN" dirty="0" err="1">
                <a:ea typeface="黑体" panose="02010609060101010101" pitchFamily="49" charset="-122"/>
              </a:rPr>
              <a:t>×</a:t>
            </a:r>
            <a:r>
              <a:rPr lang="en-US" altLang="zh-CN" i="1" dirty="0" err="1">
                <a:ea typeface="黑体" panose="02010609060101010101" pitchFamily="49" charset="-122"/>
              </a:rPr>
              <a:t>n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r>
              <a:rPr lang="zh-CN" altLang="en-US" dirty="0">
                <a:ea typeface="黑体" panose="02010609060101010101" pitchFamily="49" charset="-122"/>
              </a:rPr>
              <a:t>矩阵 </a:t>
            </a:r>
            <a:r>
              <a:rPr lang="en-US" altLang="zh-CN" i="1" dirty="0">
                <a:ea typeface="黑体" panose="02010609060101010101" pitchFamily="49" charset="-122"/>
              </a:rPr>
              <a:t>A </a:t>
            </a:r>
            <a:r>
              <a:rPr lang="zh-CN" altLang="en-US" dirty="0">
                <a:ea typeface="黑体" panose="02010609060101010101" pitchFamily="49" charset="-122"/>
              </a:rPr>
              <a:t>中，任取 </a:t>
            </a:r>
            <a:r>
              <a:rPr lang="en-US" altLang="zh-CN" i="1" dirty="0">
                <a:ea typeface="黑体" panose="02010609060101010101" pitchFamily="49" charset="-122"/>
              </a:rPr>
              <a:t>k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r>
              <a:rPr lang="zh-CN" altLang="en-US" dirty="0">
                <a:ea typeface="黑体" panose="02010609060101010101" pitchFamily="49" charset="-122"/>
              </a:rPr>
              <a:t>行 </a:t>
            </a:r>
            <a:r>
              <a:rPr lang="en-US" altLang="zh-CN" i="1" dirty="0">
                <a:ea typeface="黑体" panose="02010609060101010101" pitchFamily="49" charset="-122"/>
              </a:rPr>
              <a:t>k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r>
              <a:rPr lang="zh-CN" altLang="en-US" dirty="0">
                <a:ea typeface="黑体" panose="02010609060101010101" pitchFamily="49" charset="-122"/>
              </a:rPr>
              <a:t>列</a:t>
            </a:r>
            <a:r>
              <a:rPr lang="en-US" altLang="zh-CN" dirty="0">
                <a:ea typeface="黑体" panose="02010609060101010101" pitchFamily="49" charset="-122"/>
              </a:rPr>
              <a:t>(</a:t>
            </a:r>
            <a:r>
              <a:rPr lang="en-US" altLang="zh-CN" i="1" dirty="0">
                <a:ea typeface="黑体" panose="02010609060101010101" pitchFamily="49" charset="-122"/>
              </a:rPr>
              <a:t> k</a:t>
            </a:r>
            <a:r>
              <a:rPr lang="en-US" altLang="zh-CN" dirty="0">
                <a:ea typeface="黑体" panose="02010609060101010101" pitchFamily="49" charset="-122"/>
              </a:rPr>
              <a:t> ≤ </a:t>
            </a:r>
            <a:r>
              <a:rPr lang="en-US" altLang="zh-CN" i="1" dirty="0">
                <a:ea typeface="黑体" panose="02010609060101010101" pitchFamily="49" charset="-122"/>
              </a:rPr>
              <a:t>m</a:t>
            </a:r>
            <a:r>
              <a:rPr lang="zh-CN" altLang="en-US" dirty="0">
                <a:ea typeface="黑体" panose="02010609060101010101" pitchFamily="49" charset="-122"/>
              </a:rPr>
              <a:t>，</a:t>
            </a:r>
            <a:r>
              <a:rPr lang="en-US" altLang="zh-CN" i="1" dirty="0">
                <a:ea typeface="黑体" panose="02010609060101010101" pitchFamily="49" charset="-122"/>
              </a:rPr>
              <a:t>k</a:t>
            </a:r>
            <a:r>
              <a:rPr lang="en-US" altLang="zh-CN" dirty="0">
                <a:ea typeface="黑体" panose="02010609060101010101" pitchFamily="49" charset="-122"/>
              </a:rPr>
              <a:t> ≤ </a:t>
            </a:r>
            <a:r>
              <a:rPr lang="en-US" altLang="zh-CN" i="1" dirty="0">
                <a:ea typeface="黑体" panose="02010609060101010101" pitchFamily="49" charset="-122"/>
              </a:rPr>
              <a:t>n</a:t>
            </a:r>
            <a:r>
              <a:rPr lang="en-US" altLang="zh-CN" dirty="0">
                <a:ea typeface="黑体" panose="02010609060101010101" pitchFamily="49" charset="-122"/>
              </a:rPr>
              <a:t>)</a:t>
            </a:r>
            <a:r>
              <a:rPr lang="zh-CN" altLang="en-US" dirty="0">
                <a:ea typeface="黑体" panose="02010609060101010101" pitchFamily="49" charset="-122"/>
              </a:rPr>
              <a:t>，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ea typeface="黑体" panose="02010609060101010101" pitchFamily="49" charset="-122"/>
              </a:rPr>
              <a:t>位于这些行列交叉处的 </a:t>
            </a:r>
            <a:r>
              <a:rPr lang="en-US" altLang="zh-CN" i="1" dirty="0">
                <a:ea typeface="黑体" panose="02010609060101010101" pitchFamily="49" charset="-122"/>
              </a:rPr>
              <a:t>k</a:t>
            </a:r>
            <a:r>
              <a:rPr lang="en-US" altLang="zh-CN" baseline="30000" dirty="0">
                <a:ea typeface="黑体" panose="02010609060101010101" pitchFamily="49" charset="-122"/>
              </a:rPr>
              <a:t>2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r>
              <a:rPr lang="zh-CN" altLang="en-US" dirty="0">
                <a:ea typeface="黑体" panose="02010609060101010101" pitchFamily="49" charset="-122"/>
              </a:rPr>
              <a:t>个元素，不改变它们在 </a:t>
            </a:r>
            <a:r>
              <a:rPr lang="en-US" altLang="zh-CN" i="1" dirty="0">
                <a:ea typeface="黑体" panose="02010609060101010101" pitchFamily="49" charset="-122"/>
              </a:rPr>
              <a:t>A</a:t>
            </a:r>
            <a:r>
              <a:rPr lang="zh-CN" altLang="en-US" dirty="0">
                <a:ea typeface="黑体" panose="02010609060101010101" pitchFamily="49" charset="-122"/>
              </a:rPr>
              <a:t>中所处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ea typeface="黑体" panose="02010609060101010101" pitchFamily="49" charset="-122"/>
              </a:rPr>
              <a:t>的位置次序而得的 </a:t>
            </a:r>
            <a:r>
              <a:rPr lang="en-US" altLang="zh-CN" i="1" dirty="0">
                <a:ea typeface="黑体" panose="02010609060101010101" pitchFamily="49" charset="-122"/>
              </a:rPr>
              <a:t>k</a:t>
            </a:r>
            <a:r>
              <a:rPr lang="en-US" altLang="zh-CN" dirty="0">
                <a:ea typeface="黑体" panose="02010609060101010101" pitchFamily="49" charset="-122"/>
              </a:rPr>
              <a:t> </a:t>
            </a:r>
            <a:r>
              <a:rPr lang="zh-CN" altLang="en-US" dirty="0">
                <a:ea typeface="黑体" panose="02010609060101010101" pitchFamily="49" charset="-122"/>
              </a:rPr>
              <a:t>阶行列式，称为矩阵 </a:t>
            </a:r>
            <a:r>
              <a:rPr lang="en-US" altLang="zh-CN" i="1" dirty="0">
                <a:ea typeface="黑体" panose="02010609060101010101" pitchFamily="49" charset="-122"/>
              </a:rPr>
              <a:t>A 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的 </a:t>
            </a:r>
            <a:r>
              <a:rPr lang="en-US" altLang="zh-CN" i="1" dirty="0">
                <a:solidFill>
                  <a:schemeClr val="bg2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k 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阶子式．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07504" y="5310247"/>
            <a:ext cx="626469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    ＊</a:t>
            </a:r>
            <a:r>
              <a:rPr kumimoji="1" lang="en-US" altLang="zh-CN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kumimoji="1" lang="en-US" altLang="zh-CN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kumimoji="1" lang="en-US" altLang="zh-CN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阶子式共有</a:t>
            </a:r>
            <a:r>
              <a:rPr kumimoji="1" lang="en-US" altLang="zh-CN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?</a:t>
            </a:r>
            <a:r>
              <a:rPr kumimoji="1"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 个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graphicFrame>
        <p:nvGraphicFramePr>
          <p:cNvPr id="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657624"/>
              </p:ext>
            </p:extLst>
          </p:nvPr>
        </p:nvGraphicFramePr>
        <p:xfrm>
          <a:off x="1991889" y="2644155"/>
          <a:ext cx="2800350" cy="142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613600" imgH="17068800" progId="">
                  <p:embed/>
                </p:oleObj>
              </mc:Choice>
              <mc:Fallback>
                <p:oleObj name="Equation" r:id="rId2" imgW="32613600" imgH="1706880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889" y="2644155"/>
                        <a:ext cx="2800350" cy="142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22"/>
          <p:cNvSpPr>
            <a:spLocks noChangeShapeType="1"/>
          </p:cNvSpPr>
          <p:nvPr/>
        </p:nvSpPr>
        <p:spPr bwMode="auto">
          <a:xfrm>
            <a:off x="2984077" y="2772742"/>
            <a:ext cx="0" cy="12207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Line 23"/>
          <p:cNvSpPr>
            <a:spLocks noChangeShapeType="1"/>
          </p:cNvSpPr>
          <p:nvPr/>
        </p:nvSpPr>
        <p:spPr bwMode="auto">
          <a:xfrm>
            <a:off x="2149052" y="2901330"/>
            <a:ext cx="25558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0" name="Line 24"/>
          <p:cNvSpPr>
            <a:spLocks noChangeShapeType="1"/>
          </p:cNvSpPr>
          <p:nvPr/>
        </p:nvSpPr>
        <p:spPr bwMode="auto">
          <a:xfrm>
            <a:off x="3641302" y="2772742"/>
            <a:ext cx="0" cy="12207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1" name="Line 25"/>
          <p:cNvSpPr>
            <a:spLocks noChangeShapeType="1"/>
          </p:cNvSpPr>
          <p:nvPr/>
        </p:nvSpPr>
        <p:spPr bwMode="auto">
          <a:xfrm>
            <a:off x="2149052" y="3369642"/>
            <a:ext cx="25558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3185689" y="4456774"/>
            <a:ext cx="3888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是矩阵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的一个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2 </a:t>
            </a:r>
            <a:r>
              <a:rPr kumimoji="1"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阶子式</a:t>
            </a:r>
          </a:p>
        </p:txBody>
      </p:sp>
      <p:graphicFrame>
        <p:nvGraphicFramePr>
          <p:cNvPr id="1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314359"/>
              </p:ext>
            </p:extLst>
          </p:nvPr>
        </p:nvGraphicFramePr>
        <p:xfrm>
          <a:off x="1991889" y="4205007"/>
          <a:ext cx="119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25600" imgH="11582400" progId="">
                  <p:embed/>
                </p:oleObj>
              </mc:Choice>
              <mc:Fallback>
                <p:oleObj name="Equation" r:id="rId4" imgW="14325600" imgH="115824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889" y="4205007"/>
                        <a:ext cx="1193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863177" y="2779092"/>
            <a:ext cx="857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例如</a:t>
            </a:r>
            <a:endParaRPr kumimoji="1" lang="zh-CN" altLang="en-US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FB486129-AF92-9067-4B4A-9BCCD73BC1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082292"/>
              </p:ext>
            </p:extLst>
          </p:nvPr>
        </p:nvGraphicFramePr>
        <p:xfrm>
          <a:off x="5775424" y="5250656"/>
          <a:ext cx="812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53600" imgH="5791200" progId="">
                  <p:embed/>
                </p:oleObj>
              </mc:Choice>
              <mc:Fallback>
                <p:oleObj name="Equation" r:id="rId6" imgW="9753600" imgH="5791200" progId="">
                  <p:embed/>
                  <p:pic>
                    <p:nvPicPr>
                      <p:cNvPr id="174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424" y="5250656"/>
                        <a:ext cx="812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17412" grpId="0"/>
      <p:bldP spid="8" grpId="0" animBg="1"/>
      <p:bldP spid="9" grpId="0" animBg="1"/>
      <p:bldP spid="10" grpId="0" animBg="1"/>
      <p:bldP spid="11" grpId="0" animBg="1"/>
      <p:bldP spid="12" grpId="0" autoUpdateAnimBg="0"/>
      <p:bldP spid="14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739550"/>
            <a:ext cx="2323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定义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矩阵的秩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).</a:t>
            </a:r>
            <a:endParaRPr lang="zh-CN" altLang="en-US" b="1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99792" y="739550"/>
                <a:ext cx="617443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设矩阵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中有一个不等于零的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阶子式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𝑫</m:t>
                    </m:r>
                  </m:oMath>
                </a14:m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，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739550"/>
                <a:ext cx="6174432" cy="461665"/>
              </a:xfrm>
              <a:prstGeom prst="rect">
                <a:avLst/>
              </a:prstGeom>
              <a:blipFill>
                <a:blip r:embed="rId2"/>
                <a:stretch>
                  <a:fillRect l="-1579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70348" y="1315616"/>
                <a:ext cx="6336704" cy="3877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且所有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阶子式</a:t>
                </a:r>
                <a:r>
                  <a:rPr lang="en-US" altLang="zh-CN" b="1" dirty="0"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如果存在的话</a:t>
                </a:r>
                <a:r>
                  <a:rPr lang="en-US" altLang="zh-CN" b="1" dirty="0">
                    <a:latin typeface="+mn-lt"/>
                    <a:ea typeface="黑体" panose="02010609060101010101" pitchFamily="49" charset="-122"/>
                  </a:rPr>
                  <a:t>)</a:t>
                </a:r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全等于零，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48" y="1315616"/>
                <a:ext cx="6336704" cy="387798"/>
              </a:xfrm>
              <a:prstGeom prst="rect">
                <a:avLst/>
              </a:prstGeom>
              <a:blipFill>
                <a:blip r:embed="rId3"/>
                <a:stretch>
                  <a:fillRect l="-1540" t="-36508" r="-1251" b="-380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516216" y="1241749"/>
                <a:ext cx="165301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𝑫</m:t>
                    </m:r>
                  </m:oMath>
                </a14:m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称为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1241749"/>
                <a:ext cx="1653017" cy="461665"/>
              </a:xfrm>
              <a:prstGeom prst="rect">
                <a:avLst/>
              </a:prstGeom>
              <a:blipFill>
                <a:blip r:embed="rId4"/>
                <a:stretch>
                  <a:fillRect l="-5904" t="-14667" r="-479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89693" y="1764037"/>
                <a:ext cx="856895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的</a:t>
                </a:r>
                <a:r>
                  <a:rPr lang="zh-CN" altLang="en-US" b="1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最高阶非零子式</a:t>
                </a:r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，数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</m:oMath>
                </a14:m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称为</a:t>
                </a:r>
                <a:r>
                  <a:rPr lang="zh-CN" altLang="en-US" b="1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的秩</a:t>
                </a:r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𝑹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b="1" dirty="0">
                    <a:latin typeface="+mn-lt"/>
                    <a:ea typeface="黑体" panose="02010609060101010101" pitchFamily="49" charset="-122"/>
                  </a:rPr>
                  <a:t>．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93" y="1764037"/>
                <a:ext cx="8568952" cy="461665"/>
              </a:xfrm>
              <a:prstGeom prst="rect">
                <a:avLst/>
              </a:prstGeom>
              <a:blipFill>
                <a:blip r:embed="rId5"/>
                <a:stretch>
                  <a:fillRect l="-1138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51520" y="2395736"/>
            <a:ext cx="417646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规定：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零矩阵的秩等于零．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AutoShape 3"/>
              <p:cNvSpPr>
                <a:spLocks noChangeArrowheads="1"/>
              </p:cNvSpPr>
              <p:nvPr/>
            </p:nvSpPr>
            <p:spPr bwMode="auto">
              <a:xfrm>
                <a:off x="539552" y="3212976"/>
                <a:ext cx="7904112" cy="2093269"/>
              </a:xfrm>
              <a:prstGeom prst="roundRect">
                <a:avLst>
                  <a:gd name="adj" fmla="val 16667"/>
                </a:avLst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25000"/>
                  </a:lnSpc>
                  <a:spcBef>
                    <a:spcPts val="0"/>
                  </a:spcBef>
                  <a:buClr>
                    <a:srgbClr val="0000FF"/>
                  </a:buClr>
                  <a:buSzPct val="50000"/>
                  <a:buFont typeface="Wingdings" panose="05000000000000000000" pitchFamily="2" charset="2"/>
                  <a:buChar char="l"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如果矩阵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中所有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阶子式都等于零，那么所有 </a:t>
                </a:r>
                <a:endPara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ts val="0"/>
                  </a:spcBef>
                  <a:buClr>
                    <a:srgbClr val="0000FF"/>
                  </a:buClr>
                  <a:buSzPct val="50000"/>
                  <a:buNone/>
                </a:pP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r>
                      <a:rPr kumimoji="1"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kumimoji="1"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𝟐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阶子式也都等于零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．事实上，所有高于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阶的</a:t>
                </a:r>
                <a:endParaRPr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ts val="0"/>
                  </a:spcBef>
                  <a:buClr>
                    <a:srgbClr val="0000FF"/>
                  </a:buClr>
                  <a:buSzPct val="50000"/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子式（如果存在的话）也都等于零 ．</a:t>
                </a:r>
              </a:p>
              <a:p>
                <a:pPr eaLnBrk="1" hangingPunct="1">
                  <a:lnSpc>
                    <a:spcPct val="125000"/>
                  </a:lnSpc>
                  <a:spcBef>
                    <a:spcPts val="0"/>
                  </a:spcBef>
                  <a:buClr>
                    <a:srgbClr val="0000FF"/>
                  </a:buClr>
                  <a:buSzPct val="50000"/>
                  <a:buFont typeface="Wingdings" panose="05000000000000000000" pitchFamily="2" charset="2"/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	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因此矩阵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的秩就是</a:t>
                </a: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中非零子式的最高阶数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</p:txBody>
          </p:sp>
        </mc:Choice>
        <mc:Fallback xmlns="">
          <p:sp>
            <p:nvSpPr>
              <p:cNvPr id="11" name="AutoShap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3212976"/>
                <a:ext cx="7904112" cy="2093269"/>
              </a:xfrm>
              <a:prstGeom prst="roundRect">
                <a:avLst>
                  <a:gd name="adj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00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1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 uiExpand="1" build="p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3"/>
          <p:cNvSpPr>
            <a:spLocks noChangeArrowheads="1"/>
          </p:cNvSpPr>
          <p:nvPr/>
        </p:nvSpPr>
        <p:spPr bwMode="auto">
          <a:xfrm>
            <a:off x="745107" y="667544"/>
            <a:ext cx="533906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求矩阵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的秩，其中</a:t>
            </a:r>
          </a:p>
        </p:txBody>
      </p:sp>
      <p:graphicFrame>
        <p:nvGraphicFramePr>
          <p:cNvPr id="17715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687024"/>
              </p:ext>
            </p:extLst>
          </p:nvPr>
        </p:nvGraphicFramePr>
        <p:xfrm>
          <a:off x="3472432" y="1307157"/>
          <a:ext cx="2138363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603200" imgH="16764000" progId="">
                  <p:embed/>
                </p:oleObj>
              </mc:Choice>
              <mc:Fallback>
                <p:oleObj name="Equation" r:id="rId2" imgW="25603200" imgH="167640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2432" y="1307157"/>
                        <a:ext cx="2138363" cy="140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745107" y="3094236"/>
            <a:ext cx="5049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解：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在</a:t>
            </a:r>
            <a:r>
              <a:rPr lang="zh-CN" altLang="en-US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中，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阶子式                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   </a:t>
            </a:r>
          </a:p>
        </p:txBody>
      </p:sp>
      <p:graphicFrame>
        <p:nvGraphicFramePr>
          <p:cNvPr id="2356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472988"/>
              </p:ext>
            </p:extLst>
          </p:nvPr>
        </p:nvGraphicFramePr>
        <p:xfrm>
          <a:off x="3920107" y="2852738"/>
          <a:ext cx="1244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35200" imgH="11277600" progId="">
                  <p:embed/>
                </p:oleObj>
              </mc:Choice>
              <mc:Fallback>
                <p:oleObj name="Equation" r:id="rId4" imgW="14935200" imgH="112776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0107" y="2852738"/>
                        <a:ext cx="1244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745107" y="3933056"/>
            <a:ext cx="620315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3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阶子式只有一个，即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|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，而且 </a:t>
            </a:r>
            <a:endParaRPr lang="en-US" altLang="zh-CN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              |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| =3-40+42-36+35-4= 0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endParaRPr lang="en-US" altLang="zh-CN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745108" y="5388024"/>
            <a:ext cx="26027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因此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2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203723" y="5373216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/>
      <p:bldP spid="23561" grpId="0" autoUpdateAnimBg="0"/>
      <p:bldP spid="7" grpId="0" autoUpdateAnimBg="0"/>
      <p:bldP spid="8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4641304" y="688951"/>
            <a:ext cx="304800" cy="3048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5160417" y="1146151"/>
            <a:ext cx="304800" cy="3048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594" name="Rectangle 18"/>
          <p:cNvSpPr>
            <a:spLocks noChangeArrowheads="1"/>
          </p:cNvSpPr>
          <p:nvPr/>
        </p:nvSpPr>
        <p:spPr bwMode="auto">
          <a:xfrm>
            <a:off x="6193879" y="1617638"/>
            <a:ext cx="304800" cy="3048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71718" y="2649514"/>
            <a:ext cx="8231188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解：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是一个行阶梯形矩阵，其非零行有 3 行，因此其 4 阶子式全为零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457201" y="3640113"/>
            <a:ext cx="69231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以非零行的首非零元为对角元素的 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3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阶子式 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565104" y="1011213"/>
            <a:ext cx="2663825" cy="944563"/>
            <a:chOff x="2688" y="1049"/>
            <a:chExt cx="1678" cy="595"/>
          </a:xfrm>
        </p:grpSpPr>
        <p:sp>
          <p:nvSpPr>
            <p:cNvPr id="178195" name="Line 9"/>
            <p:cNvSpPr>
              <a:spLocks noChangeShapeType="1"/>
            </p:cNvSpPr>
            <p:nvPr/>
          </p:nvSpPr>
          <p:spPr bwMode="auto">
            <a:xfrm>
              <a:off x="2688" y="1056"/>
              <a:ext cx="29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78196" name="Line 10"/>
            <p:cNvSpPr>
              <a:spLocks noChangeShapeType="1"/>
            </p:cNvSpPr>
            <p:nvPr/>
          </p:nvSpPr>
          <p:spPr bwMode="auto">
            <a:xfrm>
              <a:off x="2983" y="1049"/>
              <a:ext cx="0" cy="29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78197" name="Line 11"/>
            <p:cNvSpPr>
              <a:spLocks noChangeShapeType="1"/>
            </p:cNvSpPr>
            <p:nvPr/>
          </p:nvSpPr>
          <p:spPr bwMode="auto">
            <a:xfrm>
              <a:off x="2983" y="1344"/>
              <a:ext cx="63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78198" name="Line 12"/>
            <p:cNvSpPr>
              <a:spLocks noChangeShapeType="1"/>
            </p:cNvSpPr>
            <p:nvPr/>
          </p:nvSpPr>
          <p:spPr bwMode="auto">
            <a:xfrm>
              <a:off x="3618" y="1349"/>
              <a:ext cx="0" cy="29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78199" name="Line 13"/>
            <p:cNvSpPr>
              <a:spLocks noChangeShapeType="1"/>
            </p:cNvSpPr>
            <p:nvPr/>
          </p:nvSpPr>
          <p:spPr bwMode="auto">
            <a:xfrm>
              <a:off x="3618" y="1644"/>
              <a:ext cx="74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460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082719"/>
              </p:ext>
            </p:extLst>
          </p:nvPr>
        </p:nvGraphicFramePr>
        <p:xfrm>
          <a:off x="1150938" y="4149725"/>
          <a:ext cx="2633662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699200" imgH="16764000" progId="">
                  <p:embed/>
                </p:oleObj>
              </mc:Choice>
              <mc:Fallback>
                <p:oleObj name="Equation" r:id="rId3" imgW="31699200" imgH="167640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4149725"/>
                        <a:ext cx="2633662" cy="139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3666083" y="4615805"/>
            <a:ext cx="27781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，因此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3 </a:t>
            </a:r>
            <a:r>
              <a:rPr kumimoji="1" lang="zh-CN" altLang="en-US" sz="18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24602" name="Line 26"/>
          <p:cNvSpPr>
            <a:spLocks noChangeShapeType="1"/>
          </p:cNvSpPr>
          <p:nvPr/>
        </p:nvSpPr>
        <p:spPr bwMode="auto">
          <a:xfrm>
            <a:off x="4565104" y="869926"/>
            <a:ext cx="2667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603" name="Line 27"/>
          <p:cNvSpPr>
            <a:spLocks noChangeShapeType="1"/>
          </p:cNvSpPr>
          <p:nvPr/>
        </p:nvSpPr>
        <p:spPr bwMode="auto">
          <a:xfrm>
            <a:off x="4565104" y="1327126"/>
            <a:ext cx="2667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604" name="Line 28"/>
          <p:cNvSpPr>
            <a:spLocks noChangeShapeType="1"/>
          </p:cNvSpPr>
          <p:nvPr/>
        </p:nvSpPr>
        <p:spPr bwMode="auto">
          <a:xfrm>
            <a:off x="4565104" y="1784326"/>
            <a:ext cx="2667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605" name="Line 29"/>
          <p:cNvSpPr>
            <a:spLocks noChangeShapeType="1"/>
          </p:cNvSpPr>
          <p:nvPr/>
        </p:nvSpPr>
        <p:spPr bwMode="auto">
          <a:xfrm>
            <a:off x="4793704" y="717526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606" name="Line 30"/>
          <p:cNvSpPr>
            <a:spLocks noChangeShapeType="1"/>
          </p:cNvSpPr>
          <p:nvPr/>
        </p:nvSpPr>
        <p:spPr bwMode="auto">
          <a:xfrm>
            <a:off x="5293767" y="717526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4607" name="Line 31"/>
          <p:cNvSpPr>
            <a:spLocks noChangeShapeType="1"/>
          </p:cNvSpPr>
          <p:nvPr/>
        </p:nvSpPr>
        <p:spPr bwMode="auto">
          <a:xfrm>
            <a:off x="6317704" y="717526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781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274814"/>
              </p:ext>
            </p:extLst>
          </p:nvPr>
        </p:nvGraphicFramePr>
        <p:xfrm>
          <a:off x="3965029" y="620688"/>
          <a:ext cx="3343275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233600" imgH="22250400" progId="">
                  <p:embed/>
                </p:oleObj>
              </mc:Choice>
              <mc:Fallback>
                <p:oleObj name="Equation" r:id="rId5" imgW="40233600" imgH="222504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5029" y="620688"/>
                        <a:ext cx="3343275" cy="184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AutoShape 27"/>
          <p:cNvSpPr>
            <a:spLocks noChangeArrowheads="1"/>
          </p:cNvSpPr>
          <p:nvPr/>
        </p:nvSpPr>
        <p:spPr bwMode="auto">
          <a:xfrm>
            <a:off x="582166" y="5747693"/>
            <a:ext cx="8120740" cy="525463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结论：</a:t>
            </a:r>
            <a:r>
              <a:rPr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行阶梯形矩阵的秩就等于非零行的行数</a:t>
            </a:r>
            <a:r>
              <a:rPr kumimoji="1"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539552" y="519113"/>
            <a:ext cx="36242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求矩阵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的秩，其中</a:t>
            </a: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6323813" y="4561309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3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2" grpId="0" animBg="1"/>
      <p:bldP spid="24593" grpId="0" animBg="1"/>
      <p:bldP spid="24594" grpId="0" animBg="1"/>
      <p:bldP spid="24581" grpId="0"/>
      <p:bldP spid="24583" grpId="0" autoUpdateAnimBg="0"/>
      <p:bldP spid="24601" grpId="0" autoUpdateAnimBg="0"/>
      <p:bldP spid="24602" grpId="0" animBg="1"/>
      <p:bldP spid="24603" grpId="0" animBg="1"/>
      <p:bldP spid="24604" grpId="0" animBg="1"/>
      <p:bldP spid="24605" grpId="0" animBg="1"/>
      <p:bldP spid="24606" grpId="0" animBg="1"/>
      <p:bldP spid="24607" grpId="0" animBg="1"/>
      <p:bldP spid="24" grpId="0" animBg="1" autoUpdateAnimBg="0"/>
      <p:bldP spid="26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6"/>
          <p:cNvSpPr>
            <a:spLocks noChangeArrowheads="1"/>
          </p:cNvSpPr>
          <p:nvPr/>
        </p:nvSpPr>
        <p:spPr bwMode="auto">
          <a:xfrm>
            <a:off x="590872" y="533400"/>
            <a:ext cx="131683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注：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5" name="Rectangle 7"/>
              <p:cNvSpPr>
                <a:spLocks noChangeArrowheads="1"/>
              </p:cNvSpPr>
              <p:nvPr/>
            </p:nvSpPr>
            <p:spPr bwMode="auto">
              <a:xfrm>
                <a:off x="590872" y="1143000"/>
                <a:ext cx="8229600" cy="4629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FontTx/>
                  <a:buNone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(1)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</a:t>
                </a:r>
                <a:r>
                  <a:rPr kumimoji="1" lang="zh-CN" altLang="en-US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为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n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阶矩阵，则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的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n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阶子式只有一个，即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|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|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	当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|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|≠</m:t>
                    </m:r>
                    <m:r>
                      <a:rPr lang="en-US" altLang="zh-CN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𝟎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时，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n 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; 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可逆矩阵（非奇异矩阵）又称</a:t>
                </a:r>
                <a:endParaRPr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为</a:t>
                </a:r>
                <a:r>
                  <a:rPr lang="zh-CN" altLang="en-US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</a:rPr>
                  <a:t>满秩矩阵</a:t>
                </a:r>
                <a:r>
                  <a:rPr kumimoji="1" lang="zh-CN" altLang="en-US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  <a:endParaRPr lang="zh-CN" altLang="en-US" dirty="0">
                  <a:solidFill>
                    <a:srgbClr val="3103F3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	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|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𝑨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|=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𝟎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时，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&lt;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n 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;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不可逆矩阵（奇异矩阵）又称</a:t>
                </a:r>
                <a:endPara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kumimoji="1" lang="zh-CN" altLang="en-US" dirty="0">
                    <a:latin typeface="+mn-lt"/>
                    <a:ea typeface="黑体" panose="02010609060101010101" pitchFamily="49" charset="-122"/>
                  </a:rPr>
                  <a:t>为</a:t>
                </a:r>
                <a:r>
                  <a:rPr kumimoji="1" lang="zh-CN" altLang="en-US" dirty="0">
                    <a:solidFill>
                      <a:srgbClr val="3103F3"/>
                    </a:solidFill>
                    <a:latin typeface="+mn-lt"/>
                    <a:ea typeface="黑体" panose="02010609060101010101" pitchFamily="49" charset="-122"/>
                  </a:rPr>
                  <a:t>降秩矩阵．</a:t>
                </a:r>
                <a:endParaRPr kumimoji="1" lang="en-US" altLang="zh-CN" dirty="0">
                  <a:solidFill>
                    <a:srgbClr val="3103F3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(2)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若矩阵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中有某个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s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阶子式不等于零，则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≥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s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；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	 若矩阵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中所有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t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阶子式等于零，则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&lt;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t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(3)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</a:t>
                </a:r>
                <a:r>
                  <a:rPr kumimoji="1" lang="zh-CN" altLang="en-US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为 </a:t>
                </a:r>
                <a:r>
                  <a:rPr lang="en-US" altLang="zh-CN" i="1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m</a:t>
                </a:r>
                <a:r>
                  <a:rPr lang="en-US" altLang="zh-CN" sz="2000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×</a:t>
                </a:r>
                <a:r>
                  <a:rPr lang="en-US" altLang="zh-CN" i="1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n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矩阵，则 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0≤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)≤min(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m, n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FontTx/>
                  <a:buNone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(4)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baseline="300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T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</p:txBody>
          </p:sp>
        </mc:Choice>
        <mc:Fallback xmlns="">
          <p:sp>
            <p:nvSpPr>
              <p:cNvPr id="2253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872" y="1143000"/>
                <a:ext cx="8229600" cy="4629665"/>
              </a:xfrm>
              <a:prstGeom prst="rect">
                <a:avLst/>
              </a:prstGeom>
              <a:blipFill>
                <a:blip r:embed="rId2"/>
                <a:stretch>
                  <a:fillRect l="-1185" t="-791" b="-21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25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25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25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25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25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25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225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457200" y="2947988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 </a:t>
            </a:r>
            <a:r>
              <a:rPr kumimoji="1" lang="en-US" altLang="zh-CN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的一个 </a:t>
            </a:r>
            <a:r>
              <a:rPr kumimoji="1" lang="en-US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 </a:t>
            </a: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阶子式</a:t>
            </a:r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1981200" y="1260475"/>
            <a:ext cx="0" cy="12207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1146175" y="1389063"/>
            <a:ext cx="25558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>
            <a:off x="2638425" y="1260475"/>
            <a:ext cx="0" cy="12207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1146175" y="1857375"/>
            <a:ext cx="25558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522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480062"/>
              </p:ext>
            </p:extLst>
          </p:nvPr>
        </p:nvGraphicFramePr>
        <p:xfrm>
          <a:off x="5408613" y="3940175"/>
          <a:ext cx="7350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39200" imgH="4572000" progId="">
                  <p:embed/>
                </p:oleObj>
              </mc:Choice>
              <mc:Fallback>
                <p:oleObj name="Equation" r:id="rId2" imgW="8839200" imgH="45720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8613" y="3940175"/>
                        <a:ext cx="7350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5029200" y="2947988"/>
            <a:ext cx="365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 </a:t>
            </a:r>
            <a:r>
              <a:rPr kumimoji="1" lang="en-US" altLang="zh-CN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aseline="3000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kumimoji="1" lang="en-US" altLang="zh-CN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的一个 </a:t>
            </a:r>
            <a:r>
              <a:rPr kumimoji="1" lang="en-US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 </a:t>
            </a: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阶子式</a:t>
            </a:r>
          </a:p>
        </p:txBody>
      </p:sp>
      <p:sp>
        <p:nvSpPr>
          <p:cNvPr id="52249" name="Line 25"/>
          <p:cNvSpPr>
            <a:spLocks noChangeShapeType="1"/>
          </p:cNvSpPr>
          <p:nvPr/>
        </p:nvSpPr>
        <p:spPr bwMode="auto">
          <a:xfrm rot="16200000" flipH="1">
            <a:off x="7004051" y="674687"/>
            <a:ext cx="0" cy="190817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2250" name="Line 26"/>
          <p:cNvSpPr>
            <a:spLocks noChangeShapeType="1"/>
          </p:cNvSpPr>
          <p:nvPr/>
        </p:nvSpPr>
        <p:spPr bwMode="auto">
          <a:xfrm rot="16200000" flipH="1">
            <a:off x="5366543" y="1872457"/>
            <a:ext cx="176371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2251" name="Line 27"/>
          <p:cNvSpPr>
            <a:spLocks noChangeShapeType="1"/>
          </p:cNvSpPr>
          <p:nvPr/>
        </p:nvSpPr>
        <p:spPr bwMode="auto">
          <a:xfrm rot="16200000" flipH="1">
            <a:off x="7004051" y="1103312"/>
            <a:ext cx="0" cy="190817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2252" name="Line 28"/>
          <p:cNvSpPr>
            <a:spLocks noChangeShapeType="1"/>
          </p:cNvSpPr>
          <p:nvPr/>
        </p:nvSpPr>
        <p:spPr bwMode="auto">
          <a:xfrm rot="16200000" flipH="1">
            <a:off x="6004718" y="1872457"/>
            <a:ext cx="176371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8126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801239"/>
              </p:ext>
            </p:extLst>
          </p:nvPr>
        </p:nvGraphicFramePr>
        <p:xfrm>
          <a:off x="531813" y="1143000"/>
          <a:ext cx="3249612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014400" imgH="17068800" progId="">
                  <p:embed/>
                </p:oleObj>
              </mc:Choice>
              <mc:Fallback>
                <p:oleObj name="Equation" r:id="rId4" imgW="39014400" imgH="170688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3" y="1143000"/>
                        <a:ext cx="3249612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235472"/>
              </p:ext>
            </p:extLst>
          </p:nvPr>
        </p:nvGraphicFramePr>
        <p:xfrm>
          <a:off x="1824038" y="1147763"/>
          <a:ext cx="119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25600" imgH="11582400" progId="">
                  <p:embed/>
                </p:oleObj>
              </mc:Choice>
              <mc:Fallback>
                <p:oleObj name="Equation" r:id="rId6" imgW="14325600" imgH="115824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1147763"/>
                        <a:ext cx="1193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597803"/>
              </p:ext>
            </p:extLst>
          </p:nvPr>
        </p:nvGraphicFramePr>
        <p:xfrm>
          <a:off x="1295400" y="3965575"/>
          <a:ext cx="584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010400" imgH="3962400" progId="">
                  <p:embed/>
                </p:oleObj>
              </mc:Choice>
              <mc:Fallback>
                <p:oleObj name="Equation" r:id="rId8" imgW="7010400" imgH="39624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965575"/>
                        <a:ext cx="584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852863" y="4060825"/>
            <a:ext cx="719137" cy="138113"/>
            <a:chOff x="1056" y="2601"/>
            <a:chExt cx="453" cy="87"/>
          </a:xfrm>
        </p:grpSpPr>
        <p:sp>
          <p:nvSpPr>
            <p:cNvPr id="181268" name="Line 37"/>
            <p:cNvSpPr>
              <a:spLocks noChangeShapeType="1"/>
            </p:cNvSpPr>
            <p:nvPr/>
          </p:nvSpPr>
          <p:spPr bwMode="auto">
            <a:xfrm>
              <a:off x="1056" y="2601"/>
              <a:ext cx="45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81269" name="Line 38"/>
            <p:cNvSpPr>
              <a:spLocks noChangeShapeType="1"/>
            </p:cNvSpPr>
            <p:nvPr/>
          </p:nvSpPr>
          <p:spPr bwMode="auto">
            <a:xfrm>
              <a:off x="1056" y="2688"/>
              <a:ext cx="45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457200" y="4800600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的子式与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的子式对应相等，从而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graphicFrame>
        <p:nvGraphicFramePr>
          <p:cNvPr id="1812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365620"/>
              </p:ext>
            </p:extLst>
          </p:nvPr>
        </p:nvGraphicFramePr>
        <p:xfrm>
          <a:off x="5268913" y="914400"/>
          <a:ext cx="2765425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223200" imgH="22555200" progId="">
                  <p:embed/>
                </p:oleObj>
              </mc:Choice>
              <mc:Fallback>
                <p:oleObj name="Equation" r:id="rId10" imgW="33223200" imgH="225552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913" y="914400"/>
                        <a:ext cx="2765425" cy="187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567705"/>
              </p:ext>
            </p:extLst>
          </p:nvPr>
        </p:nvGraphicFramePr>
        <p:xfrm>
          <a:off x="6081713" y="1363663"/>
          <a:ext cx="119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325600" imgH="11582400" progId="">
                  <p:embed/>
                </p:oleObj>
              </mc:Choice>
              <mc:Fallback>
                <p:oleObj name="Equation" r:id="rId12" imgW="14325600" imgH="1158240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713" y="1363663"/>
                        <a:ext cx="1193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97252" y="597843"/>
            <a:ext cx="8771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例如 </a:t>
            </a:r>
            <a:endParaRPr lang="zh-CN" altLang="en-US" b="1" dirty="0"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5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0.03167 L 3.05556E-6 0.36462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2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4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5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0.33295  E" pathEditMode="relative" ptsTypes="">
                                      <p:cBhvr>
                                        <p:cTn id="61" dur="2000" fill="hold"/>
                                        <p:tgtEl>
                                          <p:spTgt spid="522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1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3" grpId="0"/>
      <p:bldP spid="52235" grpId="0" animBg="1"/>
      <p:bldP spid="52236" grpId="0" animBg="1"/>
      <p:bldP spid="52237" grpId="0" animBg="1"/>
      <p:bldP spid="52238" grpId="0" animBg="1"/>
      <p:bldP spid="52247" grpId="0"/>
      <p:bldP spid="52249" grpId="0" animBg="1"/>
      <p:bldP spid="52250" grpId="0" animBg="1"/>
      <p:bldP spid="52251" grpId="0" animBg="1"/>
      <p:bldP spid="52252" grpId="0" animBg="1"/>
      <p:bldP spid="5226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4"/>
          <p:cNvSpPr txBox="1">
            <a:spLocks noChangeArrowheads="1"/>
          </p:cNvSpPr>
          <p:nvPr/>
        </p:nvSpPr>
        <p:spPr bwMode="auto">
          <a:xfrm>
            <a:off x="611560" y="1286741"/>
            <a:ext cx="822960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一般的矩阵，当行数和列数较高时，按定义求秩是很麻烦的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1143000" y="2453481"/>
            <a:ext cx="710140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特殊情形，行阶梯形矩阵的秩就等于非零行的行数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.</a:t>
            </a:r>
            <a:endParaRPr kumimoji="1" lang="en-US" altLang="zh-CN" b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304800" y="1864518"/>
            <a:ext cx="838200" cy="914400"/>
          </a:xfrm>
          <a:prstGeom prst="curvedRightArrow">
            <a:avLst>
              <a:gd name="adj1" fmla="val 27349"/>
              <a:gd name="adj2" fmla="val 54699"/>
              <a:gd name="adj3" fmla="val 33333"/>
            </a:avLst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1851025" y="3682206"/>
            <a:ext cx="67087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一个自然的想法是用初等变换将一般的矩阵化为行阶梯形矩阵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8680" name="AutoShape 8"/>
          <p:cNvSpPr>
            <a:spLocks noChangeArrowheads="1"/>
          </p:cNvSpPr>
          <p:nvPr/>
        </p:nvSpPr>
        <p:spPr bwMode="auto">
          <a:xfrm>
            <a:off x="1062038" y="3159918"/>
            <a:ext cx="790575" cy="1081088"/>
          </a:xfrm>
          <a:prstGeom prst="curvedRightArrow">
            <a:avLst>
              <a:gd name="adj1" fmla="val 27349"/>
              <a:gd name="adj2" fmla="val 54699"/>
              <a:gd name="adj3" fmla="val 33333"/>
            </a:avLst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2608263" y="5276056"/>
            <a:ext cx="598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问题：两个等价的矩阵的秩是否相等？</a:t>
            </a:r>
          </a:p>
        </p:txBody>
      </p:sp>
      <p:sp>
        <p:nvSpPr>
          <p:cNvPr id="28682" name="AutoShape 10"/>
          <p:cNvSpPr>
            <a:spLocks noChangeArrowheads="1"/>
          </p:cNvSpPr>
          <p:nvPr/>
        </p:nvSpPr>
        <p:spPr bwMode="auto">
          <a:xfrm>
            <a:off x="1817688" y="4622006"/>
            <a:ext cx="790575" cy="1081087"/>
          </a:xfrm>
          <a:prstGeom prst="curvedRightArrow">
            <a:avLst>
              <a:gd name="adj1" fmla="val 27349"/>
              <a:gd name="adj2" fmla="val 54699"/>
              <a:gd name="adj3" fmla="val 33333"/>
            </a:avLst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Rectangle 9"/>
          <p:cNvSpPr txBox="1">
            <a:spLocks noChangeArrowheads="1"/>
          </p:cNvSpPr>
          <p:nvPr/>
        </p:nvSpPr>
        <p:spPr>
          <a:xfrm>
            <a:off x="301606" y="452958"/>
            <a:ext cx="8229600" cy="65416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  <a:cs typeface="楷体_GB231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二、矩阵的秩的计算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/>
      <p:bldP spid="28678" grpId="0" animBg="1"/>
      <p:bldP spid="28679" grpId="0"/>
      <p:bldP spid="28680" grpId="0" animBg="1"/>
      <p:bldP spid="28681" grpId="0"/>
      <p:bldP spid="2868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29208" y="533400"/>
            <a:ext cx="5122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定理：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~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 </a:t>
            </a:r>
          </a:p>
        </p:txBody>
      </p:sp>
      <p:sp>
        <p:nvSpPr>
          <p:cNvPr id="3" name="矩形 2"/>
          <p:cNvSpPr/>
          <p:nvPr/>
        </p:nvSpPr>
        <p:spPr>
          <a:xfrm>
            <a:off x="544195" y="1124744"/>
            <a:ext cx="1723549" cy="493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证明思路：</a:t>
            </a:r>
          </a:p>
        </p:txBody>
      </p:sp>
      <p:sp>
        <p:nvSpPr>
          <p:cNvPr id="4" name="矩形 3"/>
          <p:cNvSpPr/>
          <p:nvPr/>
        </p:nvSpPr>
        <p:spPr>
          <a:xfrm>
            <a:off x="578836" y="1727347"/>
            <a:ext cx="8147248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</a:pPr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第一步：</a:t>
            </a:r>
            <a:r>
              <a:rPr kumimoji="1"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经过一次</a:t>
            </a:r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初等行变换</a:t>
            </a:r>
            <a:r>
              <a:rPr kumimoji="1"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变为 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 </a:t>
            </a:r>
            <a:r>
              <a:rPr kumimoji="1"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，有 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 </a:t>
            </a:r>
          </a:p>
        </p:txBody>
      </p:sp>
      <p:sp>
        <p:nvSpPr>
          <p:cNvPr id="5" name="矩形 4"/>
          <p:cNvSpPr/>
          <p:nvPr/>
        </p:nvSpPr>
        <p:spPr>
          <a:xfrm>
            <a:off x="597310" y="3315474"/>
            <a:ext cx="8147248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</a:pPr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第二步：</a:t>
            </a:r>
            <a:r>
              <a:rPr kumimoji="1"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经过一次</a:t>
            </a:r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初等列变换</a:t>
            </a:r>
            <a:r>
              <a:rPr kumimoji="1"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变为 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 </a:t>
            </a:r>
            <a:r>
              <a:rPr kumimoji="1"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，有 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1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115616" y="2262878"/>
            <a:ext cx="7931224" cy="101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arabicPeriod"/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经过一次初等行变换变为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≤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arabicPeriod"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也可经由一次初等行变换变为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≤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).</a:t>
            </a:r>
            <a:endParaRPr kumimoji="1"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20516" y="3838222"/>
            <a:ext cx="7523493" cy="1453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indent="0" eaLnBrk="1" hangingPunct="1">
              <a:lnSpc>
                <a:spcPct val="120000"/>
              </a:lnSpc>
              <a:buClr>
                <a:srgbClr val="00007D"/>
              </a:buClr>
              <a:buSzTx/>
              <a:buNone/>
            </a:pP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1.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设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经过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初等列变换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变为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zh-CN" altLang="en-US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则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经过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初等行变换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变为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，从而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2.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又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，因此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9" name="矩形 8"/>
          <p:cNvSpPr/>
          <p:nvPr/>
        </p:nvSpPr>
        <p:spPr>
          <a:xfrm>
            <a:off x="683568" y="5321233"/>
            <a:ext cx="8147248" cy="934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</a:pPr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总结：</a:t>
            </a:r>
            <a:r>
              <a:rPr kumimoji="1" lang="zh-CN" altLang="en-US" b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经过一次初等变换，矩阵的秩不变；则经过有限次初等变换，矩阵的秩也不变。</a:t>
            </a:r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即等价的矩阵具有相同的秩。</a:t>
            </a:r>
          </a:p>
        </p:txBody>
      </p:sp>
    </p:spTree>
    <p:extLst>
      <p:ext uri="{BB962C8B-B14F-4D97-AF65-F5344CB8AC3E}">
        <p14:creationId xmlns:p14="http://schemas.microsoft.com/office/powerpoint/2010/main" val="62109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build="p"/>
      <p:bldP spid="8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457200" y="664988"/>
            <a:ext cx="823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证明：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经过一次初等行变换变为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≤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Rectangle 3"/>
              <p:cNvSpPr>
                <a:spLocks noChangeArrowheads="1"/>
              </p:cNvSpPr>
              <p:nvPr/>
            </p:nvSpPr>
            <p:spPr bwMode="auto">
              <a:xfrm>
                <a:off x="503519" y="1256332"/>
                <a:ext cx="8229600" cy="37386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buClr>
                    <a:srgbClr val="00007D"/>
                  </a:buClr>
                  <a:buNone/>
                </a:pPr>
                <a:r>
                  <a:rPr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证：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设</a:t>
                </a:r>
                <a:r>
                  <a:rPr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，且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的某个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阶子式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D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≠ 0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endParaRPr kumimoji="1" lang="zh-CN" altLang="en-US" sz="80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25000"/>
                  </a:lnSpc>
                  <a:spcBef>
                    <a:spcPts val="0"/>
                  </a:spcBef>
                  <a:buClr>
                    <a:srgbClr val="00007D"/>
                  </a:buClr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当               或              时，对于</a:t>
                </a:r>
                <a:r>
                  <a:rPr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中的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阶子式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D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在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中总能找到与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D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相对应的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阶子式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D</a:t>
                </a:r>
                <a:r>
                  <a:rPr kumimoji="1" lang="en-US" altLang="zh-CN" baseline="-250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1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	由于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CN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或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CN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或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D</a:t>
                </a:r>
                <a:r>
                  <a:rPr kumimoji="1" lang="en-US" altLang="zh-CN" baseline="-250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1 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= </a:t>
                </a:r>
                <a:r>
                  <a:rPr kumimoji="1" lang="en-US" altLang="zh-CN" i="1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kD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，因此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D</a:t>
                </a:r>
                <a:r>
                  <a:rPr kumimoji="1" lang="en-US" altLang="zh-CN" baseline="-250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1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≠ 0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，从而</a:t>
                </a:r>
              </a:p>
              <a:p>
                <a:pPr eaLnBrk="1" hangingPunct="1">
                  <a:buClr>
                    <a:srgbClr val="00007D"/>
                  </a:buClr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	 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</a:t>
                </a:r>
                <a:r>
                  <a:rPr kumimoji="1" lang="en-US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≥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 = R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</a:t>
                </a:r>
                <a:r>
                  <a:rPr kumimoji="1" lang="en-US" altLang="zh-CN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25000"/>
                  </a:lnSpc>
                  <a:spcBef>
                    <a:spcPts val="0"/>
                  </a:spcBef>
                  <a:buClr>
                    <a:srgbClr val="00007D"/>
                  </a:buClr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当               时，只需考虑               这一特殊情形．其他情形可以通过以下处理变为上述情形：</a:t>
                </a:r>
              </a:p>
            </p:txBody>
          </p:sp>
        </mc:Choice>
        <mc:Fallback xmlns="">
          <p:sp>
            <p:nvSpPr>
              <p:cNvPr id="47107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519" y="1256332"/>
                <a:ext cx="8229600" cy="3738652"/>
              </a:xfrm>
              <a:prstGeom prst="rect">
                <a:avLst/>
              </a:prstGeom>
              <a:blipFill>
                <a:blip r:embed="rId2"/>
                <a:stretch>
                  <a:fillRect l="-1185" t="-1794" r="-667" b="-22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10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167920"/>
              </p:ext>
            </p:extLst>
          </p:nvPr>
        </p:nvGraphicFramePr>
        <p:xfrm>
          <a:off x="1401266" y="1652388"/>
          <a:ext cx="10906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106400" imgH="7010400" progId="Equation.DSMT4">
                  <p:embed/>
                </p:oleObj>
              </mc:Choice>
              <mc:Fallback>
                <p:oleObj name="Equation" r:id="rId3" imgW="13106400" imgH="7010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266" y="1652388"/>
                        <a:ext cx="10906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900525"/>
              </p:ext>
            </p:extLst>
          </p:nvPr>
        </p:nvGraphicFramePr>
        <p:xfrm>
          <a:off x="2919164" y="1688380"/>
          <a:ext cx="9382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277600" imgH="6705600" progId="">
                  <p:embed/>
                </p:oleObj>
              </mc:Choice>
              <mc:Fallback>
                <p:oleObj name="Equation" r:id="rId5" imgW="11277600" imgH="6705600" progId="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164" y="1688380"/>
                        <a:ext cx="93821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596466"/>
              </p:ext>
            </p:extLst>
          </p:nvPr>
        </p:nvGraphicFramePr>
        <p:xfrm>
          <a:off x="1411039" y="3848620"/>
          <a:ext cx="10906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106400" imgH="7010400" progId="">
                  <p:embed/>
                </p:oleObj>
              </mc:Choice>
              <mc:Fallback>
                <p:oleObj name="Equation" r:id="rId7" imgW="13106400" imgH="7010400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039" y="3848620"/>
                        <a:ext cx="10906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351035"/>
              </p:ext>
            </p:extLst>
          </p:nvPr>
        </p:nvGraphicFramePr>
        <p:xfrm>
          <a:off x="4405064" y="3848620"/>
          <a:ext cx="11160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411200" imgH="6705600" progId="">
                  <p:embed/>
                </p:oleObj>
              </mc:Choice>
              <mc:Fallback>
                <p:oleObj name="Equation" r:id="rId9" imgW="13411200" imgH="670560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064" y="3848620"/>
                        <a:ext cx="111601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789852"/>
              </p:ext>
            </p:extLst>
          </p:nvPr>
        </p:nvGraphicFramePr>
        <p:xfrm>
          <a:off x="2671937" y="5085456"/>
          <a:ext cx="914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72800" imgH="5486400" progId="">
                  <p:embed/>
                </p:oleObj>
              </mc:Choice>
              <mc:Fallback>
                <p:oleObj name="Equation" r:id="rId11" imgW="10972800" imgH="5486400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937" y="5085456"/>
                        <a:ext cx="914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560045"/>
              </p:ext>
            </p:extLst>
          </p:nvPr>
        </p:nvGraphicFramePr>
        <p:xfrm>
          <a:off x="3643487" y="5072756"/>
          <a:ext cx="1143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716000" imgH="5791200" progId="">
                  <p:embed/>
                </p:oleObj>
              </mc:Choice>
              <mc:Fallback>
                <p:oleObj name="Equation" r:id="rId13" imgW="13716000" imgH="5791200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487" y="5072756"/>
                        <a:ext cx="1143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925755"/>
              </p:ext>
            </p:extLst>
          </p:nvPr>
        </p:nvGraphicFramePr>
        <p:xfrm>
          <a:off x="4843637" y="5085456"/>
          <a:ext cx="1117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411200" imgH="5486400" progId="">
                  <p:embed/>
                </p:oleObj>
              </mc:Choice>
              <mc:Fallback>
                <p:oleObj name="Equation" r:id="rId15" imgW="13411200" imgH="5486400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3637" y="5085456"/>
                        <a:ext cx="1117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270523"/>
              </p:ext>
            </p:extLst>
          </p:nvPr>
        </p:nvGraphicFramePr>
        <p:xfrm>
          <a:off x="1187624" y="5072756"/>
          <a:ext cx="91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972800" imgH="5791200" progId="">
                  <p:embed/>
                </p:oleObj>
              </mc:Choice>
              <mc:Fallback>
                <p:oleObj name="Equation" r:id="rId17" imgW="10972800" imgH="5791200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072756"/>
                        <a:ext cx="914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61" name="AutoShape 57"/>
          <p:cNvSpPr>
            <a:spLocks noChangeArrowheads="1"/>
          </p:cNvSpPr>
          <p:nvPr/>
        </p:nvSpPr>
        <p:spPr bwMode="auto">
          <a:xfrm>
            <a:off x="2157587" y="5161656"/>
            <a:ext cx="457200" cy="304800"/>
          </a:xfrm>
          <a:prstGeom prst="leftRightArrow">
            <a:avLst>
              <a:gd name="adj1" fmla="val 50000"/>
              <a:gd name="adj2" fmla="val 3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4716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094569"/>
              </p:ext>
            </p:extLst>
          </p:nvPr>
        </p:nvGraphicFramePr>
        <p:xfrm>
          <a:off x="6018387" y="5085456"/>
          <a:ext cx="104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496800" imgH="5486400" progId="">
                  <p:embed/>
                </p:oleObj>
              </mc:Choice>
              <mc:Fallback>
                <p:oleObj name="Equation" r:id="rId19" imgW="12496800" imgH="5486400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387" y="5085456"/>
                        <a:ext cx="1041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6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720765"/>
              </p:ext>
            </p:extLst>
          </p:nvPr>
        </p:nvGraphicFramePr>
        <p:xfrm>
          <a:off x="7116937" y="5072756"/>
          <a:ext cx="1143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716000" imgH="5791200" progId="">
                  <p:embed/>
                </p:oleObj>
              </mc:Choice>
              <mc:Fallback>
                <p:oleObj name="Equation" r:id="rId21" imgW="13716000" imgH="5791200" progId="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6937" y="5072756"/>
                        <a:ext cx="1143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4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7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7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7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7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7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7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  <p:bldP spid="4716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24599" y="321968"/>
            <a:ext cx="3775393" cy="465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证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续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：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分两种情形讨论当</a:t>
            </a:r>
          </a:p>
        </p:txBody>
      </p:sp>
      <p:sp>
        <p:nvSpPr>
          <p:cNvPr id="3" name="矩形 2"/>
          <p:cNvSpPr/>
          <p:nvPr/>
        </p:nvSpPr>
        <p:spPr>
          <a:xfrm>
            <a:off x="741657" y="831254"/>
            <a:ext cx="4195379" cy="465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(1)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D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中不包含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中的元素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</a:t>
            </a:r>
            <a:endParaRPr kumimoji="1"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60032" y="849720"/>
            <a:ext cx="41777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则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也是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阶非零子式，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7624" y="1323961"/>
            <a:ext cx="2842445" cy="465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故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en-US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≥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 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6" name="矩形 5"/>
          <p:cNvSpPr/>
          <p:nvPr/>
        </p:nvSpPr>
        <p:spPr>
          <a:xfrm>
            <a:off x="741657" y="1816668"/>
            <a:ext cx="4041491" cy="465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(2)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中包含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中的元素，</a:t>
            </a:r>
          </a:p>
        </p:txBody>
      </p:sp>
      <p:sp>
        <p:nvSpPr>
          <p:cNvPr id="7" name="矩形 6"/>
          <p:cNvSpPr/>
          <p:nvPr/>
        </p:nvSpPr>
        <p:spPr>
          <a:xfrm>
            <a:off x="4499992" y="1798201"/>
            <a:ext cx="3672408" cy="465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把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中与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相对应的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</a:t>
            </a:r>
          </a:p>
        </p:txBody>
      </p:sp>
      <p:sp>
        <p:nvSpPr>
          <p:cNvPr id="8" name="矩形 7"/>
          <p:cNvSpPr/>
          <p:nvPr/>
        </p:nvSpPr>
        <p:spPr>
          <a:xfrm>
            <a:off x="1187624" y="2336642"/>
            <a:ext cx="1818126" cy="465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FF0000"/>
              </a:buClr>
              <a:buSzTx/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子式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记作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878599"/>
              </p:ext>
            </p:extLst>
          </p:nvPr>
        </p:nvGraphicFramePr>
        <p:xfrm>
          <a:off x="3991851" y="2681705"/>
          <a:ext cx="1522413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0" imgH="23469600" progId="">
                  <p:embed/>
                </p:oleObj>
              </mc:Choice>
              <mc:Fallback>
                <p:oleObj name="Equation" r:id="rId2" imgW="18288000" imgH="23469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1851" y="2681705"/>
                        <a:ext cx="1522413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334750"/>
              </p:ext>
            </p:extLst>
          </p:nvPr>
        </p:nvGraphicFramePr>
        <p:xfrm>
          <a:off x="2315451" y="2681705"/>
          <a:ext cx="1700213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21600" imgH="23469600" progId="">
                  <p:embed/>
                </p:oleObj>
              </mc:Choice>
              <mc:Fallback>
                <p:oleObj name="Equation" r:id="rId4" imgW="20421600" imgH="23469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451" y="2681705"/>
                        <a:ext cx="1700213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199072"/>
              </p:ext>
            </p:extLst>
          </p:nvPr>
        </p:nvGraphicFramePr>
        <p:xfrm>
          <a:off x="5468226" y="3459580"/>
          <a:ext cx="1319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49600" imgH="5486400" progId="">
                  <p:embed/>
                </p:oleObj>
              </mc:Choice>
              <mc:Fallback>
                <p:oleObj name="Equation" r:id="rId6" imgW="15849600" imgH="5486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226" y="3459580"/>
                        <a:ext cx="13192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731275" y="4705120"/>
            <a:ext cx="1584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Char char="ü"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2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13" name="矩形 12"/>
          <p:cNvSpPr/>
          <p:nvPr/>
        </p:nvSpPr>
        <p:spPr>
          <a:xfrm>
            <a:off x="731275" y="5219792"/>
            <a:ext cx="1518364" cy="5208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Char char="ü"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≠2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14" name="矩形 13"/>
          <p:cNvSpPr/>
          <p:nvPr/>
        </p:nvSpPr>
        <p:spPr>
          <a:xfrm>
            <a:off x="4789530" y="5239590"/>
            <a:ext cx="38363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所以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不同时等于零，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3568" y="5783764"/>
            <a:ext cx="53319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于是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中存在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阶非零子式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或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kumimoji="1" lang="zh-CN" altLang="en-US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655487" y="5736856"/>
            <a:ext cx="2996333" cy="5208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从而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en-US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≥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 = 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).</a:t>
            </a:r>
            <a:endParaRPr kumimoji="1"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364089" y="4697374"/>
            <a:ext cx="2952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Clr>
                <a:srgbClr val="00007D"/>
              </a:buClr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从而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en-US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≥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 = 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26" name="矩形 25"/>
          <p:cNvSpPr/>
          <p:nvPr/>
        </p:nvSpPr>
        <p:spPr>
          <a:xfrm>
            <a:off x="2137769" y="4692904"/>
            <a:ext cx="3419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Clr>
                <a:srgbClr val="00007D"/>
              </a:buClr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则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0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≠ 0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27" name="矩形 26"/>
          <p:cNvSpPr/>
          <p:nvPr/>
        </p:nvSpPr>
        <p:spPr>
          <a:xfrm>
            <a:off x="1979712" y="5204064"/>
            <a:ext cx="3049233" cy="5208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30000"/>
              </a:lnSpc>
              <a:buClr>
                <a:srgbClr val="00007D"/>
              </a:buClr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则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kumimoji="1" lang="en-US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－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kD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≠ 0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</a:p>
        </p:txBody>
      </p:sp>
      <p:graphicFrame>
        <p:nvGraphicFramePr>
          <p:cNvPr id="20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37156"/>
              </p:ext>
            </p:extLst>
          </p:nvPr>
        </p:nvGraphicFramePr>
        <p:xfrm>
          <a:off x="4436737" y="142512"/>
          <a:ext cx="11160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11200" imgH="6705600" progId="Equation.DSMT4">
                  <p:embed/>
                </p:oleObj>
              </mc:Choice>
              <mc:Fallback>
                <p:oleObj name="Equation" r:id="rId8" imgW="13411200" imgH="6705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6737" y="142512"/>
                        <a:ext cx="111601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5552954" y="301627"/>
            <a:ext cx="2919389" cy="465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时，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en-US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≥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 = 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). </a:t>
            </a:r>
            <a:endParaRPr kumimoji="1"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420E5EC0-64D1-C55D-5600-D6F3565B9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1148" y="5775647"/>
            <a:ext cx="5666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3103F3"/>
                </a:solidFill>
                <a:latin typeface="Times New Roman" pitchFamily="18" charset="0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272145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2" grpId="0"/>
      <p:bldP spid="13" grpId="0"/>
      <p:bldP spid="14" grpId="0"/>
      <p:bldP spid="15" grpId="0"/>
      <p:bldP spid="16" grpId="0"/>
      <p:bldP spid="25" grpId="0"/>
      <p:bldP spid="26" grpId="0"/>
      <p:bldP spid="17" grpId="0"/>
      <p:bldP spid="18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ChangeArrowheads="1"/>
          </p:cNvSpPr>
          <p:nvPr/>
        </p:nvSpPr>
        <p:spPr bwMode="auto">
          <a:xfrm>
            <a:off x="518864" y="533400"/>
            <a:ext cx="505090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  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~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 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518864" y="1295400"/>
            <a:ext cx="8229600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应用   </a:t>
            </a:r>
            <a:r>
              <a:rPr lang="zh-CN" altLang="en-US" b="0" dirty="0">
                <a:latin typeface="+mn-lt"/>
                <a:ea typeface="黑体" panose="02010609060101010101" pitchFamily="49" charset="-122"/>
              </a:rPr>
              <a:t>根据这一定理，为求矩阵的秩，只要用</a:t>
            </a:r>
            <a:r>
              <a:rPr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初等行变换</a:t>
            </a:r>
            <a:r>
              <a:rPr lang="zh-CN" altLang="en-US" b="0" dirty="0">
                <a:latin typeface="+mn-lt"/>
                <a:ea typeface="黑体" panose="02010609060101010101" pitchFamily="49" charset="-122"/>
              </a:rPr>
              <a:t>把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  <a:defRPr/>
            </a:pPr>
            <a:r>
              <a:rPr lang="zh-CN" altLang="en-US" b="0" dirty="0">
                <a:latin typeface="+mn-lt"/>
                <a:ea typeface="黑体" panose="02010609060101010101" pitchFamily="49" charset="-122"/>
              </a:rPr>
              <a:t>矩阵化成</a:t>
            </a:r>
            <a:r>
              <a:rPr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行阶梯形矩阵</a:t>
            </a:r>
            <a:r>
              <a:rPr lang="zh-CN" altLang="en-US" b="0" dirty="0">
                <a:latin typeface="+mn-lt"/>
                <a:ea typeface="黑体" panose="02010609060101010101" pitchFamily="49" charset="-122"/>
              </a:rPr>
              <a:t>，行阶梯形矩阵中</a:t>
            </a:r>
            <a:r>
              <a:rPr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非零行的行数</a:t>
            </a:r>
            <a:r>
              <a:rPr lang="zh-CN" altLang="en-US" b="0" dirty="0">
                <a:latin typeface="+mn-lt"/>
                <a:ea typeface="黑体" panose="02010609060101010101" pitchFamily="49" charset="-122"/>
              </a:rPr>
              <a:t>就是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  <a:defRPr/>
            </a:pPr>
            <a:r>
              <a:rPr lang="zh-CN" altLang="en-US" b="0" dirty="0">
                <a:latin typeface="+mn-lt"/>
                <a:ea typeface="黑体" panose="02010609060101010101" pitchFamily="49" charset="-122"/>
              </a:rPr>
              <a:t>该矩阵的秩</a:t>
            </a:r>
            <a:r>
              <a:rPr kumimoji="1" lang="zh-CN" altLang="en-US" b="0" dirty="0"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518864" y="3501008"/>
            <a:ext cx="8229600" cy="179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3  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求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                                                的秩，并求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</a:t>
            </a:r>
            <a:endParaRPr kumimoji="1" lang="en-US" altLang="zh-CN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en-US" altLang="zh-CN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en-US" altLang="zh-CN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一个最高阶非零子式．</a:t>
            </a:r>
          </a:p>
        </p:txBody>
      </p:sp>
      <p:graphicFrame>
        <p:nvGraphicFramePr>
          <p:cNvPr id="3379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065919"/>
              </p:ext>
            </p:extLst>
          </p:nvPr>
        </p:nvGraphicFramePr>
        <p:xfrm>
          <a:off x="2329408" y="2825730"/>
          <a:ext cx="3533775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367200" imgH="22250400" progId="">
                  <p:embed/>
                </p:oleObj>
              </mc:Choice>
              <mc:Fallback>
                <p:oleObj name="Equation" r:id="rId2" imgW="42367200" imgH="222504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408" y="2825730"/>
                        <a:ext cx="3533775" cy="185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64" name="Rectangle 28"/>
          <p:cNvSpPr>
            <a:spLocks noChangeArrowheads="1"/>
          </p:cNvSpPr>
          <p:nvPr/>
        </p:nvSpPr>
        <p:spPr bwMode="auto">
          <a:xfrm>
            <a:off x="1800225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9965" name="Rectangle 29"/>
          <p:cNvSpPr>
            <a:spLocks noChangeArrowheads="1"/>
          </p:cNvSpPr>
          <p:nvPr/>
        </p:nvSpPr>
        <p:spPr bwMode="auto">
          <a:xfrm>
            <a:off x="2266950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9966" name="Rectangle 30"/>
          <p:cNvSpPr>
            <a:spLocks noChangeArrowheads="1"/>
          </p:cNvSpPr>
          <p:nvPr/>
        </p:nvSpPr>
        <p:spPr bwMode="auto">
          <a:xfrm>
            <a:off x="3429000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9967" name="Rectangle 31"/>
          <p:cNvSpPr>
            <a:spLocks noChangeArrowheads="1"/>
          </p:cNvSpPr>
          <p:nvPr/>
        </p:nvSpPr>
        <p:spPr bwMode="auto">
          <a:xfrm>
            <a:off x="4953000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9968" name="Rectangle 32"/>
          <p:cNvSpPr>
            <a:spLocks noChangeArrowheads="1"/>
          </p:cNvSpPr>
          <p:nvPr/>
        </p:nvSpPr>
        <p:spPr bwMode="auto">
          <a:xfrm>
            <a:off x="5410200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9969" name="Rectangle 33"/>
          <p:cNvSpPr>
            <a:spLocks noChangeArrowheads="1"/>
          </p:cNvSpPr>
          <p:nvPr/>
        </p:nvSpPr>
        <p:spPr bwMode="auto">
          <a:xfrm>
            <a:off x="6643688" y="1143000"/>
            <a:ext cx="457200" cy="1828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91496" name="Rectangle 2"/>
          <p:cNvSpPr>
            <a:spLocks noChangeArrowheads="1"/>
          </p:cNvSpPr>
          <p:nvPr/>
        </p:nvSpPr>
        <p:spPr bwMode="auto">
          <a:xfrm>
            <a:off x="457200" y="533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解：</a:t>
            </a:r>
            <a:r>
              <a:rPr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第一步先用初等行变换把矩阵化成行阶梯形矩阵</a:t>
            </a: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457200" y="3133725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行阶梯形矩阵有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3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个非零行，故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3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39950" name="Rectangle 14"/>
          <p:cNvSpPr>
            <a:spLocks noChangeArrowheads="1"/>
          </p:cNvSpPr>
          <p:nvPr/>
        </p:nvSpPr>
        <p:spPr bwMode="auto">
          <a:xfrm>
            <a:off x="457200" y="3735388"/>
            <a:ext cx="822960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第二步求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的最高阶非零子式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选取行阶梯形矩阵中非零行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的首非零元所在的列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</a:t>
            </a:r>
            <a:endParaRPr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3995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486032"/>
              </p:ext>
            </p:extLst>
          </p:nvPr>
        </p:nvGraphicFramePr>
        <p:xfrm>
          <a:off x="4848696" y="4775200"/>
          <a:ext cx="23876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651200" imgH="22250400" progId="">
                  <p:embed/>
                </p:oleObj>
              </mc:Choice>
              <mc:Fallback>
                <p:oleObj name="Equation" r:id="rId2" imgW="286512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696" y="4775200"/>
                        <a:ext cx="238760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699076"/>
              </p:ext>
            </p:extLst>
          </p:nvPr>
        </p:nvGraphicFramePr>
        <p:xfrm>
          <a:off x="2195984" y="4775200"/>
          <a:ext cx="26400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99200" imgH="22250400" progId="">
                  <p:embed/>
                </p:oleObj>
              </mc:Choice>
              <mc:Fallback>
                <p:oleObj name="Equation" r:id="rId4" imgW="316992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984" y="4775200"/>
                        <a:ext cx="264001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4953000" y="1614488"/>
            <a:ext cx="2827338" cy="863600"/>
            <a:chOff x="3120" y="1017"/>
            <a:chExt cx="1781" cy="544"/>
          </a:xfrm>
        </p:grpSpPr>
        <p:sp>
          <p:nvSpPr>
            <p:cNvPr id="191504" name="Line 23"/>
            <p:cNvSpPr>
              <a:spLocks noChangeShapeType="1"/>
            </p:cNvSpPr>
            <p:nvPr/>
          </p:nvSpPr>
          <p:spPr bwMode="auto">
            <a:xfrm>
              <a:off x="3120" y="1017"/>
              <a:ext cx="31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1505" name="Line 24"/>
            <p:cNvSpPr>
              <a:spLocks noChangeShapeType="1"/>
            </p:cNvSpPr>
            <p:nvPr/>
          </p:nvSpPr>
          <p:spPr bwMode="auto">
            <a:xfrm>
              <a:off x="3428" y="1017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1506" name="Line 25"/>
            <p:cNvSpPr>
              <a:spLocks noChangeShapeType="1"/>
            </p:cNvSpPr>
            <p:nvPr/>
          </p:nvSpPr>
          <p:spPr bwMode="auto">
            <a:xfrm>
              <a:off x="3437" y="1289"/>
              <a:ext cx="74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1507" name="Line 26"/>
            <p:cNvSpPr>
              <a:spLocks noChangeShapeType="1"/>
            </p:cNvSpPr>
            <p:nvPr/>
          </p:nvSpPr>
          <p:spPr bwMode="auto">
            <a:xfrm>
              <a:off x="4176" y="1289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1508" name="Line 27"/>
            <p:cNvSpPr>
              <a:spLocks noChangeShapeType="1"/>
            </p:cNvSpPr>
            <p:nvPr/>
          </p:nvSpPr>
          <p:spPr bwMode="auto">
            <a:xfrm>
              <a:off x="4176" y="1561"/>
              <a:ext cx="7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39970" name="Text Box 34"/>
          <p:cNvSpPr txBox="1">
            <a:spLocks noChangeArrowheads="1"/>
          </p:cNvSpPr>
          <p:nvPr/>
        </p:nvSpPr>
        <p:spPr bwMode="auto">
          <a:xfrm>
            <a:off x="446856" y="4149080"/>
            <a:ext cx="750952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                          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与之对应的是选取矩阵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</a:t>
            </a:r>
            <a:endParaRPr lang="en-US" altLang="zh-CN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第一、二、四列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   </a:t>
            </a:r>
          </a:p>
        </p:txBody>
      </p:sp>
      <p:graphicFrame>
        <p:nvGraphicFramePr>
          <p:cNvPr id="3997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669307"/>
              </p:ext>
            </p:extLst>
          </p:nvPr>
        </p:nvGraphicFramePr>
        <p:xfrm>
          <a:off x="1168400" y="1135063"/>
          <a:ext cx="6678613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0162400" imgH="22250400" progId="">
                  <p:embed/>
                </p:oleObj>
              </mc:Choice>
              <mc:Fallback>
                <p:oleObj name="Equation" r:id="rId6" imgW="801624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1135063"/>
                        <a:ext cx="6678613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03414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64" grpId="0" animBg="1"/>
      <p:bldP spid="39965" grpId="0" animBg="1"/>
      <p:bldP spid="39966" grpId="0" animBg="1"/>
      <p:bldP spid="39967" grpId="0" animBg="1"/>
      <p:bldP spid="39968" grpId="0" animBg="1"/>
      <p:bldP spid="39969" grpId="0" animBg="1"/>
      <p:bldP spid="39940" grpId="0"/>
      <p:bldP spid="39950" grpId="0"/>
      <p:bldP spid="3997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5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003116"/>
              </p:ext>
            </p:extLst>
          </p:nvPr>
        </p:nvGraphicFramePr>
        <p:xfrm>
          <a:off x="2080394" y="712167"/>
          <a:ext cx="4951412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436000" imgH="22250400" progId="">
                  <p:embed/>
                </p:oleObj>
              </mc:Choice>
              <mc:Fallback>
                <p:oleObj name="Equation" r:id="rId2" imgW="59436000" imgH="22250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394" y="712167"/>
                        <a:ext cx="4951412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671835" y="2777505"/>
            <a:ext cx="692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zh-CN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zh-CN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zh-CN" baseline="-2500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0</a:t>
            </a:r>
            <a:r>
              <a:rPr lang="zh-CN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3，计算</a:t>
            </a:r>
            <a:r>
              <a:rPr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zh-CN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zh-CN" altLang="zh-CN" baseline="-2500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0</a:t>
            </a:r>
            <a:r>
              <a:rPr lang="zh-CN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的前</a:t>
            </a:r>
            <a:r>
              <a:rPr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3 </a:t>
            </a:r>
            <a:r>
              <a:rPr lang="zh-CN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行构成的子式</a:t>
            </a:r>
            <a:endParaRPr lang="zh-CN" altLang="en-US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712469" y="1194767"/>
            <a:ext cx="1595437" cy="863600"/>
            <a:chOff x="2923" y="3312"/>
            <a:chExt cx="1005" cy="544"/>
          </a:xfrm>
        </p:grpSpPr>
        <p:sp>
          <p:nvSpPr>
            <p:cNvPr id="192519" name="Line 30"/>
            <p:cNvSpPr>
              <a:spLocks noChangeShapeType="1"/>
            </p:cNvSpPr>
            <p:nvPr/>
          </p:nvSpPr>
          <p:spPr bwMode="auto">
            <a:xfrm>
              <a:off x="2923" y="3312"/>
              <a:ext cx="31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2520" name="Line 31"/>
            <p:cNvSpPr>
              <a:spLocks noChangeShapeType="1"/>
            </p:cNvSpPr>
            <p:nvPr/>
          </p:nvSpPr>
          <p:spPr bwMode="auto">
            <a:xfrm>
              <a:off x="3231" y="3312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2521" name="Line 32"/>
            <p:cNvSpPr>
              <a:spLocks noChangeShapeType="1"/>
            </p:cNvSpPr>
            <p:nvPr/>
          </p:nvSpPr>
          <p:spPr bwMode="auto">
            <a:xfrm>
              <a:off x="3231" y="3584"/>
              <a:ext cx="31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2522" name="Line 33"/>
            <p:cNvSpPr>
              <a:spLocks noChangeShapeType="1"/>
            </p:cNvSpPr>
            <p:nvPr/>
          </p:nvSpPr>
          <p:spPr bwMode="auto">
            <a:xfrm>
              <a:off x="3543" y="3584"/>
              <a:ext cx="0" cy="27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2523" name="Line 34"/>
            <p:cNvSpPr>
              <a:spLocks noChangeShapeType="1"/>
            </p:cNvSpPr>
            <p:nvPr/>
          </p:nvSpPr>
          <p:spPr bwMode="auto">
            <a:xfrm>
              <a:off x="3543" y="3856"/>
              <a:ext cx="3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348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473267"/>
              </p:ext>
            </p:extLst>
          </p:nvPr>
        </p:nvGraphicFramePr>
        <p:xfrm>
          <a:off x="1906910" y="3445842"/>
          <a:ext cx="5688012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275200" imgH="16764000" progId="">
                  <p:embed/>
                </p:oleObj>
              </mc:Choice>
              <mc:Fallback>
                <p:oleObj name="Equation" r:id="rId4" imgW="68275200" imgH="167640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910" y="3445842"/>
                        <a:ext cx="5688012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2" name="Text Box 36"/>
          <p:cNvSpPr txBox="1">
            <a:spLocks noChangeArrowheads="1"/>
          </p:cNvSpPr>
          <p:nvPr/>
        </p:nvSpPr>
        <p:spPr bwMode="auto">
          <a:xfrm>
            <a:off x="671835" y="5055567"/>
            <a:ext cx="54744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因此这就是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的一个最高阶非零子式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6228383" y="5014118"/>
            <a:ext cx="6480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  <p:extLst>
      <p:ext uri="{BB962C8B-B14F-4D97-AF65-F5344CB8AC3E}">
        <p14:creationId xmlns:p14="http://schemas.microsoft.com/office/powerpoint/2010/main" val="42366348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52" grpId="0"/>
      <p:bldP spid="12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457200" y="2872408"/>
            <a:ext cx="82677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分析：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对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作初等行变换变为行阶梯形矩阵，设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的行阶梯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形矩阵为                 ，则    就是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的行阶梯形矩阵，因此可从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中同时看出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及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193539" name="Rectangle 4"/>
          <p:cNvSpPr>
            <a:spLocks noChangeArrowheads="1"/>
          </p:cNvSpPr>
          <p:nvPr/>
        </p:nvSpPr>
        <p:spPr bwMode="auto">
          <a:xfrm>
            <a:off x="457200" y="1007344"/>
            <a:ext cx="8229600" cy="179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4.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设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                                            ，求矩阵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及矩阵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的秩．</a:t>
            </a:r>
          </a:p>
        </p:txBody>
      </p:sp>
      <p:graphicFrame>
        <p:nvGraphicFramePr>
          <p:cNvPr id="19354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887046"/>
              </p:ext>
            </p:extLst>
          </p:nvPr>
        </p:nvGraphicFramePr>
        <p:xfrm>
          <a:off x="1524000" y="332656"/>
          <a:ext cx="4270375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206400" imgH="22250400" progId="">
                  <p:embed/>
                </p:oleObj>
              </mc:Choice>
              <mc:Fallback>
                <p:oleObj name="Equation" r:id="rId2" imgW="51206400" imgH="222504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32656"/>
                        <a:ext cx="4270375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604718"/>
              </p:ext>
            </p:extLst>
          </p:nvPr>
        </p:nvGraphicFramePr>
        <p:xfrm>
          <a:off x="1733550" y="3304456"/>
          <a:ext cx="13477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54400" imgH="5791200" progId="">
                  <p:embed/>
                </p:oleObj>
              </mc:Choice>
              <mc:Fallback>
                <p:oleObj name="Equation" r:id="rId4" imgW="16154400" imgH="57912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3304456"/>
                        <a:ext cx="13477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8356084"/>
              </p:ext>
            </p:extLst>
          </p:nvPr>
        </p:nvGraphicFramePr>
        <p:xfrm>
          <a:off x="3657600" y="3304456"/>
          <a:ext cx="33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62400" imgH="4876800" progId="">
                  <p:embed/>
                </p:oleObj>
              </mc:Choice>
              <mc:Fallback>
                <p:oleObj name="Equation" r:id="rId6" imgW="3962400" imgH="48768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304456"/>
                        <a:ext cx="330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455613" y="4891435"/>
            <a:ext cx="8148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解：</a:t>
            </a:r>
            <a:endParaRPr kumimoji="1" lang="zh-CN" altLang="en-US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4199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97621"/>
              </p:ext>
            </p:extLst>
          </p:nvPr>
        </p:nvGraphicFramePr>
        <p:xfrm>
          <a:off x="1085850" y="4240560"/>
          <a:ext cx="6329363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5895200" imgH="22250400" progId="">
                  <p:embed/>
                </p:oleObj>
              </mc:Choice>
              <mc:Fallback>
                <p:oleObj name="Equation" r:id="rId8" imgW="75895200" imgH="222504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4240560"/>
                        <a:ext cx="6329363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876800" y="4672608"/>
            <a:ext cx="2484438" cy="989012"/>
            <a:chOff x="3072" y="3294"/>
            <a:chExt cx="1565" cy="623"/>
          </a:xfrm>
        </p:grpSpPr>
        <p:sp>
          <p:nvSpPr>
            <p:cNvPr id="193547" name="Line 14"/>
            <p:cNvSpPr>
              <a:spLocks noChangeShapeType="1"/>
            </p:cNvSpPr>
            <p:nvPr/>
          </p:nvSpPr>
          <p:spPr bwMode="auto">
            <a:xfrm>
              <a:off x="3072" y="3294"/>
              <a:ext cx="63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3548" name="Line 15"/>
            <p:cNvSpPr>
              <a:spLocks noChangeShapeType="1"/>
            </p:cNvSpPr>
            <p:nvPr/>
          </p:nvSpPr>
          <p:spPr bwMode="auto">
            <a:xfrm>
              <a:off x="3696" y="3294"/>
              <a:ext cx="0" cy="31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3549" name="Line 16"/>
            <p:cNvSpPr>
              <a:spLocks noChangeShapeType="1"/>
            </p:cNvSpPr>
            <p:nvPr/>
          </p:nvSpPr>
          <p:spPr bwMode="auto">
            <a:xfrm>
              <a:off x="3687" y="3607"/>
              <a:ext cx="63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3550" name="Line 17"/>
            <p:cNvSpPr>
              <a:spLocks noChangeShapeType="1"/>
            </p:cNvSpPr>
            <p:nvPr/>
          </p:nvSpPr>
          <p:spPr bwMode="auto">
            <a:xfrm>
              <a:off x="4329" y="3600"/>
              <a:ext cx="0" cy="31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93551" name="Line 18"/>
            <p:cNvSpPr>
              <a:spLocks noChangeShapeType="1"/>
            </p:cNvSpPr>
            <p:nvPr/>
          </p:nvSpPr>
          <p:spPr bwMode="auto">
            <a:xfrm>
              <a:off x="4320" y="3913"/>
              <a:ext cx="31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1043608" y="6112768"/>
            <a:ext cx="31262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2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3.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27819" y="6112768"/>
            <a:ext cx="51578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故</a:t>
            </a:r>
            <a:endParaRPr kumimoji="1" lang="zh-CN" altLang="en-US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3934643" y="6092949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99"/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41995" grpId="0"/>
      <p:bldP spid="42003" grpId="0" build="p"/>
      <p:bldP spid="16" grpId="0"/>
      <p:bldP spid="17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4562" name="Rectangle 2"/>
              <p:cNvSpPr>
                <a:spLocks noChangeArrowheads="1"/>
              </p:cNvSpPr>
              <p:nvPr/>
            </p:nvSpPr>
            <p:spPr bwMode="auto">
              <a:xfrm>
                <a:off x="457200" y="1027113"/>
                <a:ext cx="86169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例</a:t>
                </a:r>
                <a:r>
                  <a:rPr lang="en-US" altLang="zh-CN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5.  </a:t>
                </a:r>
                <a:r>
                  <a:rPr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设                                            ，已知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𝑅</m:t>
                    </m:r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)=2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,</a:t>
                </a:r>
                <a:r>
                  <a:rPr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求</a:t>
                </a:r>
                <a:r>
                  <a:rPr lang="el-GR" altLang="zh-CN" i="1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λ</a:t>
                </a:r>
                <a:r>
                  <a:rPr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与</a:t>
                </a:r>
                <a:r>
                  <a:rPr lang="el-GR" altLang="zh-CN" i="1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μ</a:t>
                </a:r>
                <a:r>
                  <a:rPr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的值</a:t>
                </a:r>
                <a:r>
                  <a:rPr kumimoji="1"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</p:txBody>
          </p:sp>
        </mc:Choice>
        <mc:Fallback xmlns="">
          <p:sp>
            <p:nvSpPr>
              <p:cNvPr id="194562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027113"/>
                <a:ext cx="8616950" cy="457200"/>
              </a:xfrm>
              <a:prstGeom prst="rect">
                <a:avLst/>
              </a:prstGeom>
              <a:blipFill>
                <a:blip r:embed="rId2"/>
                <a:stretch>
                  <a:fillRect l="-1061" t="-14667" r="-849" b="-3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45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016326"/>
              </p:ext>
            </p:extLst>
          </p:nvPr>
        </p:nvGraphicFramePr>
        <p:xfrm>
          <a:off x="1619672" y="333375"/>
          <a:ext cx="3275012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9870400" imgH="17068800" progId="Equation.3">
                  <p:embed/>
                </p:oleObj>
              </mc:Choice>
              <mc:Fallback>
                <p:oleObj name="公式" r:id="rId3" imgW="29870400" imgH="17068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333375"/>
                        <a:ext cx="3275012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93713" y="2179638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解：</a:t>
            </a:r>
            <a:r>
              <a:rPr lang="zh-CN" altLang="en-US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将 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化为行阶梯形矩阵</a:t>
            </a:r>
            <a:endParaRPr kumimoji="1" lang="zh-CN" altLang="en-US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806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128141"/>
              </p:ext>
            </p:extLst>
          </p:nvPr>
        </p:nvGraphicFramePr>
        <p:xfrm>
          <a:off x="217488" y="2854325"/>
          <a:ext cx="8856662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0772000" imgH="17068800" progId="Equation.3">
                  <p:embed/>
                </p:oleObj>
              </mc:Choice>
              <mc:Fallback>
                <p:oleObj name="公式" r:id="rId5" imgW="80772000" imgH="1706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854325"/>
                        <a:ext cx="8856662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/>
              <p:cNvSpPr>
                <a:spLocks noChangeArrowheads="1"/>
              </p:cNvSpPr>
              <p:nvPr/>
            </p:nvSpPr>
            <p:spPr bwMode="auto">
              <a:xfrm>
                <a:off x="250825" y="5348288"/>
                <a:ext cx="8893175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𝑅</m:t>
                    </m:r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)=2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,</a:t>
                </a:r>
                <a:r>
                  <a:rPr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  所以 </a:t>
                </a:r>
                <a:r>
                  <a:rPr lang="en-US" altLang="zh-CN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                          </a:t>
                </a:r>
                <a:r>
                  <a:rPr lang="zh-CN" altLang="en-US" dirty="0">
                    <a:solidFill>
                      <a:schemeClr val="tx2"/>
                    </a:solidFill>
                    <a:latin typeface="+mn-lt"/>
                    <a:ea typeface="黑体" panose="02010609060101010101" pitchFamily="49" charset="-122"/>
                  </a:rPr>
                  <a:t>故 </a:t>
                </a:r>
                <a:endParaRPr kumimoji="1" lang="zh-CN" altLang="en-US" dirty="0">
                  <a:solidFill>
                    <a:schemeClr val="tx2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5348288"/>
                <a:ext cx="8893175" cy="457200"/>
              </a:xfrm>
              <a:prstGeom prst="rect">
                <a:avLst/>
              </a:prstGeom>
              <a:blipFill>
                <a:blip r:embed="rId7"/>
                <a:stretch>
                  <a:fillRect l="-1028" t="-14667" b="-3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063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320419"/>
              </p:ext>
            </p:extLst>
          </p:nvPr>
        </p:nvGraphicFramePr>
        <p:xfrm>
          <a:off x="2916238" y="4941888"/>
          <a:ext cx="1804987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459200" imgH="10972800" progId="Equation.3">
                  <p:embed/>
                </p:oleObj>
              </mc:Choice>
              <mc:Fallback>
                <p:oleObj name="公式" r:id="rId8" imgW="16459200" imgH="1097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941888"/>
                        <a:ext cx="1804987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63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35097"/>
              </p:ext>
            </p:extLst>
          </p:nvPr>
        </p:nvGraphicFramePr>
        <p:xfrm>
          <a:off x="5292725" y="4962525"/>
          <a:ext cx="1236663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277600" imgH="10972800" progId="Equation.3">
                  <p:embed/>
                </p:oleObj>
              </mc:Choice>
              <mc:Fallback>
                <p:oleObj name="公式" r:id="rId10" imgW="11277600" imgH="10972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962525"/>
                        <a:ext cx="1236663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948264" y="5353397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99"/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0"/>
                                        <p:tgtEl>
                                          <p:spTgt spid="180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80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19"/>
          <p:cNvSpPr>
            <a:spLocks noChangeArrowheads="1"/>
          </p:cNvSpPr>
          <p:nvPr/>
        </p:nvSpPr>
        <p:spPr bwMode="auto">
          <a:xfrm>
            <a:off x="288434" y="260648"/>
            <a:ext cx="8231188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三、矩阵的秩的性质</a:t>
            </a:r>
            <a:endParaRPr kumimoji="1" lang="zh-CN" altLang="en-US" sz="360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28" name="AutoShape 20"/>
              <p:cNvSpPr>
                <a:spLocks noChangeArrowheads="1"/>
              </p:cNvSpPr>
              <p:nvPr/>
            </p:nvSpPr>
            <p:spPr bwMode="auto">
              <a:xfrm>
                <a:off x="179512" y="692696"/>
                <a:ext cx="9289032" cy="5856639"/>
              </a:xfrm>
              <a:prstGeom prst="roundRect">
                <a:avLst>
                  <a:gd name="adj" fmla="val 16667"/>
                </a:avLst>
              </a:prstGeom>
              <a:noFill/>
              <a:ln w="28575">
                <a:noFill/>
                <a:round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457200" indent="-4572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 typeface="Wingdings" panose="05000000000000000000" pitchFamily="2" charset="2"/>
                  <a:buAutoNum type="circleNumDbPlain"/>
                </a:pP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</a:t>
                </a:r>
                <a:r>
                  <a:rPr kumimoji="1" lang="zh-CN" altLang="en-US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为 </a:t>
                </a:r>
                <a:r>
                  <a:rPr lang="en-US" altLang="zh-CN" sz="2800" b="0" i="1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m</a:t>
                </a:r>
                <a:r>
                  <a:rPr lang="en-US" altLang="zh-CN" sz="2800" b="0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×</a:t>
                </a:r>
                <a:r>
                  <a:rPr lang="en-US" altLang="zh-CN" sz="2800" b="0" i="1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n</a:t>
                </a:r>
                <a:r>
                  <a:rPr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矩阵，则 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0≤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)≤min(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m, n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 typeface="Wingdings" panose="05000000000000000000" pitchFamily="2" charset="2"/>
                  <a:buAutoNum type="circleNumDbPlain"/>
                </a:pP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baseline="300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T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 typeface="Wingdings" panose="05000000000000000000" pitchFamily="2" charset="2"/>
                  <a:buAutoNum type="circleNumDbPlain"/>
                </a:pP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 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~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，则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</a:t>
                </a:r>
                <a:r>
                  <a:rPr kumimoji="1" lang="en-US" altLang="zh-CN" sz="2800" b="0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 typeface="Wingdings" panose="05000000000000000000" pitchFamily="2" charset="2"/>
                  <a:buAutoNum type="circleNumDbPlain"/>
                </a:pP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 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𝑃</m:t>
                    </m:r>
                    <m:r>
                      <a:rPr kumimoji="1"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r>
                      <a:rPr kumimoji="1"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𝑄</m:t>
                    </m:r>
                    <m:r>
                      <a:rPr kumimoji="1"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可逆，则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R(PAQ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</a:t>
                </a:r>
                <a:r>
                  <a:rPr kumimoji="1" lang="en-US" altLang="zh-CN" sz="2800" b="0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 typeface="Wingdings" panose="05000000000000000000" pitchFamily="2" charset="2"/>
                  <a:buAutoNum type="circleNumDbPlain"/>
                </a:pP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max{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),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)}≤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,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)≤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</a:t>
                </a:r>
                <a:r>
                  <a:rPr kumimoji="1" lang="en-US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＋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</a:t>
                </a:r>
                <a:r>
                  <a:rPr kumimoji="1" lang="en-US" altLang="zh-CN" sz="2800" b="0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 typeface="Wingdings" panose="05000000000000000000" pitchFamily="2" charset="2"/>
                  <a:buNone/>
                </a:pP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当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=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为非零列向量时，有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)≤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,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)≤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</a:t>
                </a:r>
                <a:r>
                  <a:rPr kumimoji="1" lang="en-US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＋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1</a:t>
                </a:r>
                <a:r>
                  <a:rPr kumimoji="1" lang="en-US" altLang="zh-CN" sz="2800" b="0" dirty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 typeface="Wingdings" panose="05000000000000000000" pitchFamily="2" charset="2"/>
                  <a:buAutoNum type="circleNumDbPlain" startAt="6"/>
                </a:pP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＋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)≤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</a:t>
                </a:r>
                <a:r>
                  <a:rPr kumimoji="1" lang="en-US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＋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 typeface="Wingdings" panose="05000000000000000000" pitchFamily="2" charset="2"/>
                  <a:buAutoNum type="circleNumDbPlain" startAt="6"/>
                </a:pP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)≤min{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),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)}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 typeface="Wingdings" panose="05000000000000000000" pitchFamily="2" charset="2"/>
                  <a:buAutoNum type="circleNumDbPlain" startAt="6"/>
                </a:pP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若 </a:t>
                </a:r>
                <a:r>
                  <a:rPr kumimoji="1" lang="en-US" altLang="zh-CN" sz="2800" b="0" i="1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lang="en-US" altLang="zh-CN" sz="2800" b="0" i="1" baseline="-25000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m</a:t>
                </a:r>
                <a:r>
                  <a:rPr lang="en-US" altLang="zh-CN" sz="2800" b="0" baseline="-25000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×</a:t>
                </a:r>
                <a:r>
                  <a:rPr lang="en-US" altLang="zh-CN" sz="2800" b="0" i="1" baseline="-25000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n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800" b="0" i="1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lang="en-US" altLang="zh-CN" sz="2800" b="0" i="1" baseline="-25000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n</a:t>
                </a:r>
                <a:r>
                  <a:rPr lang="en-US" altLang="zh-CN" sz="2800" b="0" baseline="-25000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×</a:t>
                </a:r>
                <a:r>
                  <a:rPr lang="en-US" altLang="zh-CN" sz="2800" b="0" i="1" baseline="-25000" dirty="0" err="1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l</a:t>
                </a:r>
                <a:r>
                  <a:rPr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=</a:t>
                </a:r>
                <a:r>
                  <a:rPr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O</a:t>
                </a:r>
                <a:r>
                  <a:rPr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，则 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</a:t>
                </a:r>
                <a:r>
                  <a:rPr kumimoji="1" lang="en-US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＋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)≤</a:t>
                </a:r>
                <a:r>
                  <a:rPr kumimoji="1" lang="en-US" altLang="zh-CN" sz="2800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n </a:t>
                </a:r>
                <a:r>
                  <a:rPr kumimoji="1" lang="zh-CN" altLang="en-US" sz="2800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．</a:t>
                </a:r>
              </a:p>
            </p:txBody>
          </p:sp>
        </mc:Choice>
        <mc:Fallback xmlns="">
          <p:sp>
            <p:nvSpPr>
              <p:cNvPr id="43028" name="AutoShap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692696"/>
                <a:ext cx="9289032" cy="5856639"/>
              </a:xfrm>
              <a:prstGeom prst="roundRect">
                <a:avLst>
                  <a:gd name="adj" fmla="val 16667"/>
                </a:avLst>
              </a:prstGeom>
              <a:blipFill>
                <a:blip r:embed="rId2"/>
                <a:stretch>
                  <a:fillRect/>
                </a:stretch>
              </a:blipFill>
              <a:ln w="28575">
                <a:noFill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3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3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3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3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3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3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3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43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43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8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Box 1"/>
          <p:cNvSpPr txBox="1">
            <a:spLocks noChangeArrowheads="1"/>
          </p:cNvSpPr>
          <p:nvPr/>
        </p:nvSpPr>
        <p:spPr bwMode="auto">
          <a:xfrm>
            <a:off x="467940" y="692696"/>
            <a:ext cx="93570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证：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899592" y="631596"/>
            <a:ext cx="6984751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（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5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）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max{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)}≤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68313" y="1289968"/>
            <a:ext cx="6264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因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的最高阶子式总是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的非零子式，</a:t>
            </a:r>
            <a:r>
              <a:rPr lang="zh-CN" altLang="en-US" b="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084168" y="1237829"/>
            <a:ext cx="2808287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故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95288" y="1936080"/>
            <a:ext cx="5545137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同理可证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．于是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716463" y="1936080"/>
            <a:ext cx="3816350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Tx/>
              <a:buNone/>
            </a:pP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max{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), 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)}≤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>
                <a:spLocks noChangeArrowheads="1"/>
              </p:cNvSpPr>
              <p:nvPr/>
            </p:nvSpPr>
            <p:spPr bwMode="auto">
              <a:xfrm>
                <a:off x="911063" y="2594018"/>
                <a:ext cx="7705725" cy="500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None/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设 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)=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, 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)=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t . 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通过初等行变换，可得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1063" y="2594018"/>
                <a:ext cx="7705725" cy="500265"/>
              </a:xfrm>
              <a:prstGeom prst="rect">
                <a:avLst/>
              </a:prstGeom>
              <a:blipFill>
                <a:blip r:embed="rId2"/>
                <a:stretch>
                  <a:fillRect l="-237" t="-6098" b="-280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40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424392"/>
              </p:ext>
            </p:extLst>
          </p:nvPr>
        </p:nvGraphicFramePr>
        <p:xfrm>
          <a:off x="2843808" y="3068960"/>
          <a:ext cx="2880320" cy="702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304560" progId="Equation.DSMT4">
                  <p:embed/>
                </p:oleObj>
              </mc:Choice>
              <mc:Fallback>
                <p:oleObj name="Equation" r:id="rId3" imgW="914400" imgH="304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3068960"/>
                        <a:ext cx="2880320" cy="702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644008" y="4117605"/>
            <a:ext cx="4212071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中只含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r+ t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个非零行，                          </a:t>
            </a:r>
          </a:p>
        </p:txBody>
      </p:sp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30550"/>
              </p:ext>
            </p:extLst>
          </p:nvPr>
        </p:nvGraphicFramePr>
        <p:xfrm>
          <a:off x="683568" y="3717032"/>
          <a:ext cx="2663874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880" imgH="672840" progId="Equation.DSMT4">
                  <p:embed/>
                </p:oleObj>
              </mc:Choice>
              <mc:Fallback>
                <p:oleObj name="Equation" r:id="rId5" imgW="109188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717032"/>
                        <a:ext cx="2663874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814329"/>
              </p:ext>
            </p:extLst>
          </p:nvPr>
        </p:nvGraphicFramePr>
        <p:xfrm>
          <a:off x="3491880" y="3644900"/>
          <a:ext cx="1107554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9800" imgH="571320" progId="Equation.DSMT4">
                  <p:embed/>
                </p:oleObj>
              </mc:Choice>
              <mc:Fallback>
                <p:oleObj name="Equation" r:id="rId7" imgW="46980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3644900"/>
                        <a:ext cx="1107554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837283"/>
              </p:ext>
            </p:extLst>
          </p:nvPr>
        </p:nvGraphicFramePr>
        <p:xfrm>
          <a:off x="1187624" y="4968056"/>
          <a:ext cx="2664296" cy="1130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80800" imgH="520560" progId="Equation.DSMT4">
                  <p:embed/>
                </p:oleObj>
              </mc:Choice>
              <mc:Fallback>
                <p:oleObj name="Equation" r:id="rId9" imgW="11808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968056"/>
                        <a:ext cx="2664296" cy="1130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431786"/>
              </p:ext>
            </p:extLst>
          </p:nvPr>
        </p:nvGraphicFramePr>
        <p:xfrm>
          <a:off x="4932040" y="4823867"/>
          <a:ext cx="1093046" cy="134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33160" imgH="571320" progId="Equation.DSMT4">
                  <p:embed/>
                </p:oleObj>
              </mc:Choice>
              <mc:Fallback>
                <p:oleObj name="Equation" r:id="rId11" imgW="53316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4823867"/>
                        <a:ext cx="1093046" cy="1341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577109"/>
              </p:ext>
            </p:extLst>
          </p:nvPr>
        </p:nvGraphicFramePr>
        <p:xfrm>
          <a:off x="3635896" y="5092352"/>
          <a:ext cx="1296143" cy="1027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09480" imgH="482400" progId="Equation.DSMT4">
                  <p:embed/>
                </p:oleObj>
              </mc:Choice>
              <mc:Fallback>
                <p:oleObj name="Equation" r:id="rId13" imgW="609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5092352"/>
                        <a:ext cx="1296143" cy="1027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8028384" y="5301208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dirty="0">
                <a:solidFill>
                  <a:srgbClr val="000099"/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467544" y="5296621"/>
            <a:ext cx="1724461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于是                                         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868475"/>
              </p:ext>
            </p:extLst>
          </p:nvPr>
        </p:nvGraphicFramePr>
        <p:xfrm>
          <a:off x="6084168" y="5354315"/>
          <a:ext cx="1944216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52200" imgH="203040" progId="Equation.DSMT4">
                  <p:embed/>
                </p:oleObj>
              </mc:Choice>
              <mc:Fallback>
                <p:oleObj name="Equation" r:id="rId15" imgW="952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5354315"/>
                        <a:ext cx="1944216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1" grpId="0"/>
      <p:bldP spid="20" grpId="0" autoUpdateAnimBg="0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矩形 1"/>
          <p:cNvSpPr>
            <a:spLocks noChangeArrowheads="1"/>
          </p:cNvSpPr>
          <p:nvPr/>
        </p:nvSpPr>
        <p:spPr bwMode="auto">
          <a:xfrm>
            <a:off x="971550" y="261902"/>
            <a:ext cx="3948517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 startAt="6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900113" y="911190"/>
            <a:ext cx="8172450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设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都是            矩阵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对矩阵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A+B, 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做初等列变换</a:t>
            </a:r>
          </a:p>
        </p:txBody>
      </p:sp>
      <p:graphicFrame>
        <p:nvGraphicFramePr>
          <p:cNvPr id="1805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463535"/>
              </p:ext>
            </p:extLst>
          </p:nvPr>
        </p:nvGraphicFramePr>
        <p:xfrm>
          <a:off x="2555776" y="1036602"/>
          <a:ext cx="7810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534400" imgH="3352800" progId="Equation.3">
                  <p:embed/>
                </p:oleObj>
              </mc:Choice>
              <mc:Fallback>
                <p:oleObj name="公式" r:id="rId2" imgW="8534400" imgH="3352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036602"/>
                        <a:ext cx="78105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50825" y="1491953"/>
            <a:ext cx="8172450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                          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即得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A+B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，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~ 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，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,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于是</a:t>
            </a:r>
          </a:p>
        </p:txBody>
      </p:sp>
      <p:graphicFrame>
        <p:nvGraphicFramePr>
          <p:cNvPr id="18053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207298"/>
              </p:ext>
            </p:extLst>
          </p:nvPr>
        </p:nvGraphicFramePr>
        <p:xfrm>
          <a:off x="539750" y="1484784"/>
          <a:ext cx="28448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089600" imgH="5486400" progId="Equation.3">
                  <p:embed/>
                </p:oleObj>
              </mc:Choice>
              <mc:Fallback>
                <p:oleObj name="公式" r:id="rId4" imgW="31089600" imgH="548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484784"/>
                        <a:ext cx="28448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31" name="矩形 8"/>
          <p:cNvSpPr>
            <a:spLocks noChangeArrowheads="1"/>
          </p:cNvSpPr>
          <p:nvPr/>
        </p:nvSpPr>
        <p:spPr bwMode="auto">
          <a:xfrm>
            <a:off x="1403648" y="2060476"/>
            <a:ext cx="6423553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Tx/>
              <a:buNone/>
            </a:pP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zh-CN" altLang="en-US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)=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zh-CN" altLang="en-US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359568" y="306850"/>
            <a:ext cx="1223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证：</a:t>
            </a: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359567" y="2827524"/>
            <a:ext cx="1223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证：</a:t>
            </a:r>
          </a:p>
        </p:txBody>
      </p:sp>
      <p:sp>
        <p:nvSpPr>
          <p:cNvPr id="2" name="矩形 1"/>
          <p:cNvSpPr/>
          <p:nvPr/>
        </p:nvSpPr>
        <p:spPr>
          <a:xfrm>
            <a:off x="971548" y="2780928"/>
            <a:ext cx="4131259" cy="493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Clr>
                <a:srgbClr val="00007D"/>
              </a:buClr>
              <a:buSzTx/>
              <a:buFont typeface="+mj-ea"/>
              <a:buAutoNum type="circleNumDbPlain" startAt="7"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)≤min{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),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)}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>
                <a:spLocks noChangeArrowheads="1"/>
              </p:cNvSpPr>
              <p:nvPr/>
            </p:nvSpPr>
            <p:spPr bwMode="auto">
              <a:xfrm>
                <a:off x="697210" y="3289188"/>
                <a:ext cx="8172450" cy="490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Tx/>
                  <a:buNone/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设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1"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存在可逆矩阵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使得</a:t>
                </a: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7210" y="3289188"/>
                <a:ext cx="8172450" cy="490199"/>
              </a:xfrm>
              <a:prstGeom prst="rect">
                <a:avLst/>
              </a:prstGeom>
              <a:blipFill>
                <a:blip r:embed="rId6"/>
                <a:stretch>
                  <a:fillRect l="-224" t="-7500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>
                <a:spLocks noChangeArrowheads="1"/>
              </p:cNvSpPr>
              <p:nvPr/>
            </p:nvSpPr>
            <p:spPr bwMode="auto">
              <a:xfrm>
                <a:off x="5940152" y="3092505"/>
                <a:ext cx="2584954" cy="840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Tx/>
                  <a:buNone/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kumimoji="1" lang="zh-CN" altLang="en-US" b="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0152" y="3092505"/>
                <a:ext cx="2584954" cy="8405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474221" y="4045914"/>
            <a:ext cx="5693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则 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>
                <a:spLocks noChangeArrowheads="1"/>
              </p:cNvSpPr>
              <p:nvPr/>
            </p:nvSpPr>
            <p:spPr bwMode="auto">
              <a:xfrm>
                <a:off x="1057043" y="3789040"/>
                <a:ext cx="3929295" cy="840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Tx/>
                  <a:buNone/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1" lang="en-US" altLang="zh-CN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𝑄𝐵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b="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7043" y="3789040"/>
                <a:ext cx="3929295" cy="8405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644008" y="3789040"/>
                <a:ext cx="2650213" cy="840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ctrlPr>
                            <a:rPr kumimoji="1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1" lang="en-US" altLang="zh-CN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𝑄𝐵</m:t>
                      </m:r>
                      <m:r>
                        <a:rPr kumimoji="1"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3789040"/>
                <a:ext cx="2650213" cy="8405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734448" y="4509120"/>
                <a:ext cx="2110321" cy="9130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buClr>
                    <a:srgbClr val="00007D"/>
                  </a:buClr>
                  <a:buSzTx/>
                  <a:buFontTx/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𝑄𝐵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48" y="4509120"/>
                <a:ext cx="2110321" cy="913070"/>
              </a:xfrm>
              <a:prstGeom prst="rect">
                <a:avLst/>
              </a:prstGeom>
              <a:blipFill>
                <a:blip r:embed="rId10"/>
                <a:stretch>
                  <a:fillRect l="-4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771800" y="4708069"/>
                <a:ext cx="4176600" cy="715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于是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𝑄𝐵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>
                    <a:latin typeface="+mn-lt"/>
                    <a:ea typeface="黑体" panose="02010609060101010101" pitchFamily="49" charset="-122"/>
                  </a:rPr>
                  <a:t>，</a:t>
                </a: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4708069"/>
                <a:ext cx="4176600" cy="715837"/>
              </a:xfrm>
              <a:prstGeom prst="rect">
                <a:avLst/>
              </a:prstGeom>
              <a:blipFill>
                <a:blip r:embed="rId11"/>
                <a:stretch>
                  <a:fillRect l="-23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6588224" y="4774099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lt"/>
                <a:ea typeface="黑体" panose="02010609060101010101" pitchFamily="49" charset="-122"/>
              </a:rPr>
              <a:t>故有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583530" y="5445224"/>
                <a:ext cx="4366067" cy="7158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1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1"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530" y="5445224"/>
                <a:ext cx="4366067" cy="7158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461418" y="6066019"/>
            <a:ext cx="14927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类似可证 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724653" y="6066018"/>
                <a:ext cx="22620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kumimoji="1"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653" y="6066018"/>
                <a:ext cx="2262094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4057942" y="6064169"/>
            <a:ext cx="39789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即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)≤min{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),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)}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7967091" y="6021288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dirty="0">
                <a:solidFill>
                  <a:srgbClr val="000099"/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8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385031" grpId="0"/>
      <p:bldP spid="9" grpId="0"/>
      <p:bldP spid="2" grpId="0"/>
      <p:bldP spid="11" grpId="0"/>
      <p:bldP spid="12" grpId="0"/>
      <p:bldP spid="4" grpId="0"/>
      <p:bldP spid="15" grpId="0"/>
      <p:bldP spid="7" grpId="0"/>
      <p:bldP spid="17" grpId="0"/>
      <p:bldP spid="10" grpId="0"/>
      <p:bldP spid="13" grpId="0"/>
      <p:bldP spid="14" grpId="0"/>
      <p:bldP spid="21" grpId="0"/>
      <p:bldP spid="24" grpId="0"/>
      <p:bldP spid="16" grpId="0"/>
      <p:bldP spid="23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ChangeArrowheads="1"/>
          </p:cNvSpPr>
          <p:nvPr/>
        </p:nvSpPr>
        <p:spPr bwMode="auto">
          <a:xfrm>
            <a:off x="745232" y="643779"/>
            <a:ext cx="735516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6.</a:t>
            </a: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设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为</a:t>
            </a:r>
            <a:r>
              <a:rPr kumimoji="1" lang="zh-CN" altLang="en-US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阶矩阵， 证明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－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≥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 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755576" y="1318739"/>
            <a:ext cx="7283152" cy="2796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证明：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因为</a:t>
            </a:r>
            <a:r>
              <a:rPr kumimoji="1" lang="zh-CN" altLang="en-US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zh-CN" altLang="en-US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－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2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由性质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得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－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≥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(2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 n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又因为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－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－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，所以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－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E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≥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12160" y="3625205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dirty="0">
                <a:solidFill>
                  <a:srgbClr val="000099"/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  <p:bldP spid="4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457200" y="1125538"/>
            <a:ext cx="8231188" cy="223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分析：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的行最简形矩阵满足：</a:t>
            </a:r>
          </a:p>
          <a:p>
            <a:pPr lvl="1" eaLnBrk="1" hangingPunct="1">
              <a:buClr>
                <a:srgbClr val="00007D"/>
              </a:buClr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个非零行；</a:t>
            </a:r>
          </a:p>
          <a:p>
            <a:pPr lvl="1" eaLnBrk="1" hangingPunct="1">
              <a:buClr>
                <a:srgbClr val="00007D"/>
              </a:buClr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每个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非零行的第一个非零元为 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lvl="1" eaLnBrk="1" hangingPunct="1">
              <a:buClr>
                <a:srgbClr val="00007D"/>
              </a:buClr>
            </a:pP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每个非零元所在的列的其它元素都为零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于是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的行最简形中应该包含以下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个列向量：</a:t>
            </a:r>
            <a:endParaRPr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352967"/>
              </p:ext>
            </p:extLst>
          </p:nvPr>
        </p:nvGraphicFramePr>
        <p:xfrm>
          <a:off x="3581400" y="3322638"/>
          <a:ext cx="1943100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089600" imgH="38709600" progId="">
                  <p:embed/>
                </p:oleObj>
              </mc:Choice>
              <mc:Fallback>
                <p:oleObj name="Equation" r:id="rId2" imgW="31089600" imgH="387096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322638"/>
                        <a:ext cx="1943100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457200" y="5872163"/>
            <a:ext cx="841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又因为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 </a:t>
            </a:r>
            <a:r>
              <a:rPr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b="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矩阵，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所以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的行最简形矩阵为           ．</a:t>
            </a:r>
          </a:p>
        </p:txBody>
      </p:sp>
      <p:sp>
        <p:nvSpPr>
          <p:cNvPr id="64521" name="AutoShape 9"/>
          <p:cNvSpPr>
            <a:spLocks/>
          </p:cNvSpPr>
          <p:nvPr/>
        </p:nvSpPr>
        <p:spPr bwMode="auto">
          <a:xfrm>
            <a:off x="3276600" y="3382963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2307207" y="3770313"/>
            <a:ext cx="8931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前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</a:t>
            </a:r>
          </a:p>
        </p:txBody>
      </p:sp>
      <p:sp>
        <p:nvSpPr>
          <p:cNvPr id="64525" name="AutoShape 13"/>
          <p:cNvSpPr>
            <a:spLocks/>
          </p:cNvSpPr>
          <p:nvPr/>
        </p:nvSpPr>
        <p:spPr bwMode="auto">
          <a:xfrm>
            <a:off x="3327400" y="4906963"/>
            <a:ext cx="101600" cy="762000"/>
          </a:xfrm>
          <a:prstGeom prst="leftBrace">
            <a:avLst>
              <a:gd name="adj1" fmla="val 62500"/>
              <a:gd name="adj2" fmla="val 50000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4526" name="Text Box 14"/>
          <p:cNvSpPr txBox="1">
            <a:spLocks noChangeArrowheads="1"/>
          </p:cNvSpPr>
          <p:nvPr/>
        </p:nvSpPr>
        <p:spPr bwMode="auto">
          <a:xfrm>
            <a:off x="1935310" y="5105400"/>
            <a:ext cx="12650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后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 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-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</a:t>
            </a:r>
          </a:p>
        </p:txBody>
      </p:sp>
      <p:graphicFrame>
        <p:nvGraphicFramePr>
          <p:cNvPr id="645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9208"/>
              </p:ext>
            </p:extLst>
          </p:nvPr>
        </p:nvGraphicFramePr>
        <p:xfrm>
          <a:off x="7315200" y="5629275"/>
          <a:ext cx="76200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0" imgH="11277600" progId="">
                  <p:embed/>
                </p:oleObj>
              </mc:Choice>
              <mc:Fallback>
                <p:oleObj name="Equation" r:id="rId4" imgW="9144000" imgH="112776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629275"/>
                        <a:ext cx="762000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90" name="Rectangle 17"/>
          <p:cNvSpPr>
            <a:spLocks noChangeArrowheads="1"/>
          </p:cNvSpPr>
          <p:nvPr/>
        </p:nvSpPr>
        <p:spPr bwMode="auto">
          <a:xfrm>
            <a:off x="457200" y="5334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7  </a:t>
            </a:r>
            <a:r>
              <a:rPr lang="zh-CN" altLang="en-US" b="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证明：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b="0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C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，且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4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64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4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64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 build="p"/>
      <p:bldP spid="64520" grpId="0"/>
      <p:bldP spid="64521" grpId="0" animBg="1"/>
      <p:bldP spid="64522" grpId="0"/>
      <p:bldP spid="64525" grpId="0" animBg="1"/>
      <p:bldP spid="6452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457200" y="1263650"/>
            <a:ext cx="8229600" cy="400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 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因为</a:t>
            </a: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kumimoji="1" lang="zh-CN" altLang="en-US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所以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的行最简形矩阵为               ，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并有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阶可逆矩阵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，满足                         ．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于是                                                 ，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因为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PC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，而          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                ，</a:t>
            </a: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61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428078"/>
              </p:ext>
            </p:extLst>
          </p:nvPr>
        </p:nvGraphicFramePr>
        <p:xfrm>
          <a:off x="6807200" y="1052513"/>
          <a:ext cx="11176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11200" imgH="11582400" progId="">
                  <p:embed/>
                </p:oleObj>
              </mc:Choice>
              <mc:Fallback>
                <p:oleObj name="Equation" r:id="rId2" imgW="13411200" imgH="115824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200" y="1052513"/>
                        <a:ext cx="1117600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8549"/>
              </p:ext>
            </p:extLst>
          </p:nvPr>
        </p:nvGraphicFramePr>
        <p:xfrm>
          <a:off x="4328963" y="1916832"/>
          <a:ext cx="182721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45600" imgH="11582400" progId="">
                  <p:embed/>
                </p:oleObj>
              </mc:Choice>
              <mc:Fallback>
                <p:oleObj name="Equation" r:id="rId4" imgW="21945600" imgH="115824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963" y="1916832"/>
                        <a:ext cx="1827213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643241"/>
              </p:ext>
            </p:extLst>
          </p:nvPr>
        </p:nvGraphicFramePr>
        <p:xfrm>
          <a:off x="1331640" y="3267075"/>
          <a:ext cx="27162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613600" imgH="11277600" progId="">
                  <p:embed/>
                </p:oleObj>
              </mc:Choice>
              <mc:Fallback>
                <p:oleObj name="Equation" r:id="rId6" imgW="32613600" imgH="112776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267075"/>
                        <a:ext cx="27162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026010"/>
              </p:ext>
            </p:extLst>
          </p:nvPr>
        </p:nvGraphicFramePr>
        <p:xfrm>
          <a:off x="4011340" y="3267075"/>
          <a:ext cx="8874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8000" imgH="11277600" progId="">
                  <p:embed/>
                </p:oleObj>
              </mc:Choice>
              <mc:Fallback>
                <p:oleObj name="Equation" r:id="rId8" imgW="10668000" imgH="112776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340" y="3267075"/>
                        <a:ext cx="8874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945229"/>
              </p:ext>
            </p:extLst>
          </p:nvPr>
        </p:nvGraphicFramePr>
        <p:xfrm>
          <a:off x="4067944" y="4591918"/>
          <a:ext cx="30130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12800" imgH="469800" progId="Equation.DSMT4">
                  <p:embed/>
                </p:oleObj>
              </mc:Choice>
              <mc:Fallback>
                <p:oleObj name="Equation" r:id="rId10" imgW="1612800" imgH="469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4591918"/>
                        <a:ext cx="3013075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95536" y="126365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证：</a:t>
            </a:r>
            <a:endParaRPr lang="zh-CN" altLang="en-US" b="1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457200" y="533400"/>
            <a:ext cx="84352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7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b="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证明：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b="0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C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，且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3" name="矩形 2"/>
          <p:cNvSpPr/>
          <p:nvPr/>
        </p:nvSpPr>
        <p:spPr>
          <a:xfrm>
            <a:off x="611560" y="5487615"/>
            <a:ext cx="2592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故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= 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419872" y="5445224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dirty="0">
                <a:solidFill>
                  <a:srgbClr val="000099"/>
                </a:solidFill>
                <a:latin typeface="+mn-lt"/>
                <a:ea typeface="黑体" panose="02010609060101010101" pitchFamily="49" charset="-122"/>
              </a:rPr>
              <a:t>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  <p:bldP spid="2" grpId="0"/>
      <p:bldP spid="3" grpId="0"/>
      <p:bldP spid="11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0" name="Rectangle 10"/>
          <p:cNvSpPr>
            <a:spLocks noChangeArrowheads="1"/>
          </p:cNvSpPr>
          <p:nvPr/>
        </p:nvSpPr>
        <p:spPr bwMode="auto">
          <a:xfrm>
            <a:off x="395536" y="548680"/>
            <a:ext cx="8231188" cy="390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附注：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</a:pP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当一个矩阵的秩等于它的列（行）数时，这样的矩阵称为</a:t>
            </a:r>
            <a:r>
              <a:rPr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列（行）满秩矩阵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</a:pP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特别地，当一个矩阵为方阵时，列满秩矩阵就称为满秩矩阵，也就是可逆矩阵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	当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 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O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，这时结论为：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	</a:t>
            </a:r>
            <a:r>
              <a:rPr lang="zh-CN" altLang="en-US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设 </a:t>
            </a:r>
            <a:r>
              <a:rPr lang="en-US" altLang="zh-CN" b="0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AB</a:t>
            </a:r>
            <a:r>
              <a:rPr lang="en-US" altLang="zh-CN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lang="en-US" altLang="zh-CN" b="0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O</a:t>
            </a:r>
            <a:r>
              <a:rPr lang="zh-CN" altLang="en-US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，若 </a:t>
            </a:r>
            <a:r>
              <a:rPr kumimoji="1" lang="en-US" altLang="zh-CN" b="0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zh-CN" altLang="en-US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为列满秩矩阵，则</a:t>
            </a:r>
            <a:r>
              <a:rPr kumimoji="1" lang="zh-CN" altLang="en-US" b="0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  = </a:t>
            </a:r>
            <a:r>
              <a:rPr kumimoji="1" lang="en-US" altLang="zh-CN" b="0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O</a:t>
            </a:r>
            <a:r>
              <a:rPr lang="en-US" altLang="zh-CN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0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457200" y="1700213"/>
            <a:ext cx="8231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一、矩阵的秩的定义</a:t>
            </a: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：矩阵最高阶非零子式的阶数</a:t>
            </a:r>
            <a:r>
              <a:rPr kumimoji="1" lang="en-US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  <a:endParaRPr kumimoji="1" lang="zh-CN" altLang="en-US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445268" y="620688"/>
            <a:ext cx="82311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00007D"/>
              </a:buClr>
              <a:buFontTx/>
              <a:buNone/>
            </a:pPr>
            <a:r>
              <a:rPr kumimoji="1" lang="zh-CN" altLang="en-US" sz="36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总结</a:t>
            </a: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539750" y="4396011"/>
            <a:ext cx="3455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二、求矩阵的秩的方法</a:t>
            </a:r>
          </a:p>
        </p:txBody>
      </p:sp>
      <p:sp>
        <p:nvSpPr>
          <p:cNvPr id="7" name="左大括号 6"/>
          <p:cNvSpPr>
            <a:spLocks/>
          </p:cNvSpPr>
          <p:nvPr/>
        </p:nvSpPr>
        <p:spPr bwMode="auto">
          <a:xfrm>
            <a:off x="3779838" y="4137248"/>
            <a:ext cx="287337" cy="1008063"/>
          </a:xfrm>
          <a:prstGeom prst="leftBrace">
            <a:avLst>
              <a:gd name="adj1" fmla="val 8348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4067175" y="4756373"/>
            <a:ext cx="4249738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矩阵化为行阶梯形矩阵，行阶</a:t>
            </a:r>
            <a:endParaRPr kumimoji="1" lang="en-US" altLang="zh-CN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梯形矩阵的非零行的行数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067175" y="3994373"/>
            <a:ext cx="4773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求最高阶非零子式的阶数（定义）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114905" y="2858505"/>
            <a:ext cx="3455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与秩相关的概念</a:t>
            </a:r>
          </a:p>
        </p:txBody>
      </p:sp>
      <p:sp>
        <p:nvSpPr>
          <p:cNvPr id="17" name="左大括号 16"/>
          <p:cNvSpPr>
            <a:spLocks/>
          </p:cNvSpPr>
          <p:nvPr/>
        </p:nvSpPr>
        <p:spPr bwMode="auto">
          <a:xfrm>
            <a:off x="3483880" y="2493640"/>
            <a:ext cx="288925" cy="1223962"/>
          </a:xfrm>
          <a:prstGeom prst="leftBrace">
            <a:avLst>
              <a:gd name="adj1" fmla="val 8316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3780234" y="2780977"/>
            <a:ext cx="4248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列满秩矩阵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3772805" y="2266627"/>
            <a:ext cx="3887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行满秩矩阵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3780234" y="3328665"/>
            <a:ext cx="4248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满秩矩阵（方阵）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build="p"/>
      <p:bldP spid="6" grpId="0"/>
      <p:bldP spid="7" grpId="0" animBg="1"/>
      <p:bldP spid="9" grpId="0" build="p"/>
      <p:bldP spid="10" grpId="0" build="p"/>
      <p:bldP spid="16" grpId="0" build="p"/>
      <p:bldP spid="17" grpId="0" animBg="1"/>
      <p:bldP spid="18" grpId="0" build="p"/>
      <p:bldP spid="19" grpId="0" build="p"/>
      <p:bldP spid="20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19"/>
          <p:cNvSpPr>
            <a:spLocks noChangeArrowheads="1"/>
          </p:cNvSpPr>
          <p:nvPr/>
        </p:nvSpPr>
        <p:spPr bwMode="auto">
          <a:xfrm>
            <a:off x="713928" y="451520"/>
            <a:ext cx="504056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三、矩阵的秩的性质</a:t>
            </a:r>
            <a:endParaRPr kumimoji="1"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3028" name="AutoShape 20"/>
          <p:cNvSpPr>
            <a:spLocks noChangeArrowheads="1"/>
          </p:cNvSpPr>
          <p:nvPr/>
        </p:nvSpPr>
        <p:spPr bwMode="auto">
          <a:xfrm>
            <a:off x="497904" y="722216"/>
            <a:ext cx="8610600" cy="5611813"/>
          </a:xfrm>
          <a:prstGeom prst="roundRect">
            <a:avLst>
              <a:gd name="adj" fmla="val 16667"/>
            </a:avLst>
          </a:prstGeom>
          <a:noFill/>
          <a:ln w="2857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</a:t>
            </a:r>
            <a:r>
              <a:rPr kumimoji="1" lang="zh-CN" altLang="en-US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为 </a:t>
            </a:r>
            <a:r>
              <a:rPr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b="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矩阵，则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0≤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)≤min(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m, n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~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、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Q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可逆，则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R(PAQ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max{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)}≤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	特别地，当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为非零列向量时，有</a:t>
            </a:r>
          </a:p>
          <a:p>
            <a:pPr algn="ctr"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	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 startAt="6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 startAt="6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)≤min{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)}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 startAt="6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b="0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O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3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3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3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3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43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43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43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3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43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430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8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2307" name="Text Box 3"/>
          <p:cNvSpPr txBox="1">
            <a:spLocks noChangeArrowheads="1"/>
          </p:cNvSpPr>
          <p:nvPr/>
        </p:nvSpPr>
        <p:spPr bwMode="auto">
          <a:xfrm>
            <a:off x="467544" y="1196752"/>
            <a:ext cx="7920037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en-US" sz="4400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§</a:t>
            </a:r>
            <a:r>
              <a:rPr lang="en-US" altLang="zh-CN" sz="4400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3.3  </a:t>
            </a:r>
            <a:r>
              <a:rPr lang="zh-CN" altLang="en-US" sz="4400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线性方程组的解</a:t>
            </a:r>
          </a:p>
        </p:txBody>
      </p:sp>
      <p:sp>
        <p:nvSpPr>
          <p:cNvPr id="2" name="矩形 1"/>
          <p:cNvSpPr/>
          <p:nvPr/>
        </p:nvSpPr>
        <p:spPr>
          <a:xfrm>
            <a:off x="2411760" y="2348880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+mn-lt"/>
                <a:ea typeface="黑体" panose="02010609060101010101" pitchFamily="49" charset="-122"/>
              </a:rPr>
              <a:t>一、线性方程组的表达式</a:t>
            </a:r>
          </a:p>
        </p:txBody>
      </p:sp>
      <p:sp>
        <p:nvSpPr>
          <p:cNvPr id="3" name="矩形 2"/>
          <p:cNvSpPr/>
          <p:nvPr/>
        </p:nvSpPr>
        <p:spPr>
          <a:xfrm>
            <a:off x="2411760" y="2963490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+mn-lt"/>
                <a:ea typeface="黑体" panose="02010609060101010101" pitchFamily="49" charset="-122"/>
              </a:rPr>
              <a:t>二、线性方程组的解的判定</a:t>
            </a:r>
          </a:p>
        </p:txBody>
      </p:sp>
      <p:sp>
        <p:nvSpPr>
          <p:cNvPr id="4" name="矩形 3"/>
          <p:cNvSpPr/>
          <p:nvPr/>
        </p:nvSpPr>
        <p:spPr>
          <a:xfrm>
            <a:off x="2411760" y="3608878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三、求解线性方程组的步骤</a:t>
            </a: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171227"/>
            <a:ext cx="5842992" cy="13716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+mn-lt"/>
                <a:ea typeface="黑体" panose="02010609060101010101" pitchFamily="49" charset="-122"/>
              </a:rPr>
              <a:t>一、线性方程组的表达式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50739"/>
            <a:ext cx="4038600" cy="4454525"/>
          </a:xfrm>
        </p:spPr>
        <p:txBody>
          <a:bodyPr/>
          <a:lstStyle/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  <a:ea typeface="黑体" panose="02010609060101010101" pitchFamily="49" charset="-122"/>
              </a:rPr>
              <a:t>一般形式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anose="05000000000000000000" pitchFamily="2" charset="2"/>
              <a:buAutoNum type="arabicPeriod"/>
            </a:pPr>
            <a:endParaRPr lang="zh-CN" altLang="en-US" sz="24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anose="05000000000000000000" pitchFamily="2" charset="2"/>
              <a:buAutoNum type="arabicPeriod"/>
            </a:pPr>
            <a:endParaRPr lang="zh-CN" altLang="en-US" sz="24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FF"/>
              </a:buClr>
              <a:buSzTx/>
              <a:buFont typeface="Wingdings" panose="05000000000000000000" pitchFamily="2" charset="2"/>
              <a:buNone/>
            </a:pPr>
            <a:endParaRPr kumimoji="1" lang="zh-CN" altLang="en-US" sz="24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80000"/>
              </a:lnSpc>
              <a:buClr>
                <a:srgbClr val="0000FF"/>
              </a:buClr>
              <a:buSzTx/>
              <a:buNone/>
            </a:pPr>
            <a:r>
              <a:rPr kumimoji="1" lang="en-US" altLang="zh-CN" sz="2400" dirty="0">
                <a:solidFill>
                  <a:srgbClr val="0000FF"/>
                </a:solidFill>
                <a:ea typeface="黑体" panose="02010609060101010101" pitchFamily="49" charset="-122"/>
              </a:rPr>
              <a:t>2. </a:t>
            </a:r>
            <a:r>
              <a:rPr kumimoji="1" lang="zh-CN" altLang="en-US" sz="2400" dirty="0">
                <a:solidFill>
                  <a:srgbClr val="0000FF"/>
                </a:solidFill>
                <a:ea typeface="黑体" panose="02010609060101010101" pitchFamily="49" charset="-122"/>
              </a:rPr>
              <a:t>矩阵形式</a:t>
            </a:r>
            <a:endParaRPr lang="zh-CN" altLang="en-US" sz="24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381000" indent="-381000" eaLnBrk="1" hangingPunct="1">
              <a:buFont typeface="Wingdings" panose="05000000000000000000" pitchFamily="2" charset="2"/>
              <a:buNone/>
            </a:pPr>
            <a:endParaRPr lang="zh-CN" altLang="en-US" sz="2400" dirty="0">
              <a:ea typeface="黑体" panose="02010609060101010101" pitchFamily="49" charset="-122"/>
            </a:endParaRPr>
          </a:p>
          <a:p>
            <a:pPr marL="381000" indent="-381000" eaLnBrk="1" hangingPunct="1">
              <a:buFont typeface="Wingdings" panose="05000000000000000000" pitchFamily="2" charset="2"/>
              <a:buNone/>
            </a:pPr>
            <a:endParaRPr lang="zh-CN" altLang="en-US" sz="2400" dirty="0">
              <a:ea typeface="黑体" panose="02010609060101010101" pitchFamily="49" charset="-122"/>
            </a:endParaRPr>
          </a:p>
          <a:p>
            <a:pPr marL="381000" indent="-381000" eaLnBrk="1" hangingPunct="1">
              <a:buFont typeface="Wingdings" panose="05000000000000000000" pitchFamily="2" charset="2"/>
              <a:buNone/>
            </a:pPr>
            <a:endParaRPr lang="zh-CN" altLang="en-US" sz="2400" dirty="0">
              <a:ea typeface="黑体" panose="02010609060101010101" pitchFamily="49" charset="-122"/>
            </a:endParaRPr>
          </a:p>
          <a:p>
            <a:pPr marL="381000" indent="-381000" eaLnBrk="1" hangingPunct="1">
              <a:buFont typeface="Wingdings" panose="05000000000000000000" pitchFamily="2" charset="2"/>
              <a:buNone/>
            </a:pPr>
            <a:endParaRPr lang="zh-CN" altLang="en-US" sz="2400" dirty="0">
              <a:ea typeface="黑体" panose="02010609060101010101" pitchFamily="49" charset="-122"/>
            </a:endParaRPr>
          </a:p>
          <a:p>
            <a:pPr marL="381000" indent="-381000" eaLnBrk="1" hangingPunct="1">
              <a:buFont typeface="Wingdings" panose="05000000000000000000" pitchFamily="2" charset="2"/>
              <a:buNone/>
            </a:pPr>
            <a:r>
              <a:rPr kumimoji="1" lang="zh-CN" altLang="en-US" sz="2400" dirty="0">
                <a:ea typeface="黑体" panose="02010609060101010101" pitchFamily="49" charset="-122"/>
              </a:rPr>
              <a:t>方程组可简化为 </a:t>
            </a:r>
            <a:r>
              <a:rPr kumimoji="1" lang="en-US" altLang="zh-CN" sz="2400" i="1" dirty="0">
                <a:ea typeface="黑体" panose="02010609060101010101" pitchFamily="49" charset="-122"/>
              </a:rPr>
              <a:t>AX </a:t>
            </a:r>
            <a:r>
              <a:rPr kumimoji="1" lang="en-US" altLang="zh-CN" sz="2400" dirty="0">
                <a:ea typeface="黑体" panose="02010609060101010101" pitchFamily="49" charset="-122"/>
              </a:rPr>
              <a:t>= </a:t>
            </a:r>
            <a:r>
              <a:rPr kumimoji="1" lang="en-US" altLang="zh-CN" sz="2400" i="1" dirty="0">
                <a:ea typeface="黑体" panose="02010609060101010101" pitchFamily="49" charset="-122"/>
              </a:rPr>
              <a:t>b </a:t>
            </a:r>
            <a:r>
              <a:rPr kumimoji="1" lang="zh-CN" altLang="en-US" sz="2400" dirty="0"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350739"/>
            <a:ext cx="4038600" cy="4454525"/>
          </a:xfrm>
        </p:spPr>
        <p:txBody>
          <a:bodyPr/>
          <a:lstStyle/>
          <a:p>
            <a:pPr marL="0" indent="0" eaLnBrk="1" hangingPunct="1">
              <a:buClr>
                <a:srgbClr val="0000FF"/>
              </a:buClr>
              <a:buSzTx/>
              <a:buNone/>
            </a:pPr>
            <a:endParaRPr kumimoji="1" lang="zh-CN" altLang="en-US" sz="24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381000" indent="-381000" eaLnBrk="1" hangingPunct="1">
              <a:buClr>
                <a:srgbClr val="0000FF"/>
              </a:buClr>
              <a:buSzTx/>
              <a:buFont typeface="Wingdings" panose="05000000000000000000" pitchFamily="2" charset="2"/>
              <a:buAutoNum type="arabicPeriod" startAt="2"/>
            </a:pPr>
            <a:endParaRPr kumimoji="1" lang="zh-CN" altLang="en-US" sz="24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marL="0" indent="0" eaLnBrk="1" hangingPunct="1">
              <a:buClr>
                <a:srgbClr val="0000FF"/>
              </a:buClr>
              <a:buSzTx/>
              <a:buNone/>
            </a:pPr>
            <a:r>
              <a:rPr kumimoji="1" lang="en-US" altLang="zh-CN" sz="2400" dirty="0">
                <a:solidFill>
                  <a:srgbClr val="0000FF"/>
                </a:solidFill>
                <a:ea typeface="黑体" panose="02010609060101010101" pitchFamily="49" charset="-122"/>
              </a:rPr>
              <a:t>3.  </a:t>
            </a:r>
            <a:r>
              <a:rPr kumimoji="1" lang="zh-CN" altLang="en-US" sz="2400" dirty="0">
                <a:solidFill>
                  <a:srgbClr val="0000FF"/>
                </a:solidFill>
                <a:ea typeface="黑体" panose="02010609060101010101" pitchFamily="49" charset="-122"/>
              </a:rPr>
              <a:t>向量形式</a:t>
            </a:r>
          </a:p>
        </p:txBody>
      </p:sp>
      <p:graphicFrame>
        <p:nvGraphicFramePr>
          <p:cNvPr id="1946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393665"/>
              </p:ext>
            </p:extLst>
          </p:nvPr>
        </p:nvGraphicFramePr>
        <p:xfrm>
          <a:off x="1198563" y="1912714"/>
          <a:ext cx="26400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699200" imgH="11582400" progId="">
                  <p:embed/>
                </p:oleObj>
              </mc:Choice>
              <mc:Fallback>
                <p:oleObj name="Equation" r:id="rId2" imgW="31699200" imgH="115824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1912714"/>
                        <a:ext cx="26400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857865"/>
              </p:ext>
            </p:extLst>
          </p:nvPr>
        </p:nvGraphicFramePr>
        <p:xfrm>
          <a:off x="611560" y="3714527"/>
          <a:ext cx="3365500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233600" imgH="17068800" progId="">
                  <p:embed/>
                </p:oleObj>
              </mc:Choice>
              <mc:Fallback>
                <p:oleObj name="Equation" r:id="rId4" imgW="40233600" imgH="170688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3714527"/>
                        <a:ext cx="3365500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828775"/>
              </p:ext>
            </p:extLst>
          </p:nvPr>
        </p:nvGraphicFramePr>
        <p:xfrm>
          <a:off x="4499992" y="3052291"/>
          <a:ext cx="4318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1816000" imgH="11277600" progId="">
                  <p:embed/>
                </p:oleObj>
              </mc:Choice>
              <mc:Fallback>
                <p:oleObj name="Equation" r:id="rId6" imgW="51816000" imgH="112776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3052291"/>
                        <a:ext cx="4318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94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9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build="p"/>
      <p:bldP spid="1946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6347048" cy="866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+mn-lt"/>
                <a:ea typeface="黑体" panose="02010609060101010101" pitchFamily="49" charset="-122"/>
              </a:rPr>
              <a:t>二、线性方程组的解的判定</a:t>
            </a: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55575" y="1171600"/>
            <a:ext cx="6208713" cy="457200"/>
          </a:xfrm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0" dirty="0">
                <a:ea typeface="黑体" panose="02010609060101010101" pitchFamily="49" charset="-122"/>
              </a:rPr>
              <a:t>设有 </a:t>
            </a:r>
            <a:r>
              <a:rPr lang="en-US" altLang="zh-CN" b="0" i="1" dirty="0">
                <a:ea typeface="黑体" panose="02010609060101010101" pitchFamily="49" charset="-122"/>
              </a:rPr>
              <a:t>n</a:t>
            </a:r>
            <a:r>
              <a:rPr lang="en-US" altLang="zh-CN" b="0" dirty="0">
                <a:ea typeface="黑体" panose="02010609060101010101" pitchFamily="49" charset="-122"/>
              </a:rPr>
              <a:t> </a:t>
            </a:r>
            <a:r>
              <a:rPr lang="zh-CN" altLang="en-US" b="0" dirty="0">
                <a:ea typeface="黑体" panose="02010609060101010101" pitchFamily="49" charset="-122"/>
              </a:rPr>
              <a:t>个未知数 </a:t>
            </a:r>
            <a:r>
              <a:rPr lang="en-US" altLang="zh-CN" b="0" i="1" dirty="0">
                <a:ea typeface="黑体" panose="02010609060101010101" pitchFamily="49" charset="-122"/>
              </a:rPr>
              <a:t>m</a:t>
            </a:r>
            <a:r>
              <a:rPr lang="en-US" altLang="zh-CN" b="0" dirty="0">
                <a:ea typeface="黑体" panose="02010609060101010101" pitchFamily="49" charset="-122"/>
              </a:rPr>
              <a:t> </a:t>
            </a:r>
            <a:r>
              <a:rPr lang="zh-CN" altLang="en-US" b="0" dirty="0">
                <a:ea typeface="黑体" panose="02010609060101010101" pitchFamily="49" charset="-122"/>
              </a:rPr>
              <a:t>个方程的线性方程组</a:t>
            </a:r>
          </a:p>
        </p:txBody>
      </p:sp>
      <p:graphicFrame>
        <p:nvGraphicFramePr>
          <p:cNvPr id="235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888475"/>
              </p:ext>
            </p:extLst>
          </p:nvPr>
        </p:nvGraphicFramePr>
        <p:xfrm>
          <a:off x="2478088" y="1693615"/>
          <a:ext cx="4187825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292000" imgH="22555200" progId="Equation.DSMT4">
                  <p:embed/>
                </p:oleObj>
              </mc:Choice>
              <mc:Fallback>
                <p:oleObj name="Equation" r:id="rId3" imgW="50292000" imgH="22555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1693615"/>
                        <a:ext cx="4187825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457201" y="3645024"/>
            <a:ext cx="6779096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定义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线性方程组如果有解，就称它是</a:t>
            </a:r>
            <a:r>
              <a:rPr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相容的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  <a:endParaRPr lang="en-US" altLang="zh-CN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如果无解，就称它是</a:t>
            </a:r>
            <a:r>
              <a:rPr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不相容的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4581128"/>
            <a:ext cx="8231188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问题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方程组是否有解？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问题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若方程组有解，则解是否唯一？</a:t>
            </a: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问题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3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若方程组有解且不唯一，则如何表示所有解？</a:t>
            </a:r>
            <a:endParaRPr lang="en-US" altLang="zh-CN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解之间的关系？</a:t>
            </a:r>
          </a:p>
        </p:txBody>
      </p:sp>
      <p:sp>
        <p:nvSpPr>
          <p:cNvPr id="23565" name="AutoShape 13"/>
          <p:cNvSpPr>
            <a:spLocks noChangeArrowheads="1"/>
          </p:cNvSpPr>
          <p:nvPr/>
        </p:nvSpPr>
        <p:spPr bwMode="auto">
          <a:xfrm>
            <a:off x="6659563" y="620465"/>
            <a:ext cx="2016125" cy="1008062"/>
          </a:xfrm>
          <a:prstGeom prst="cloudCallout">
            <a:avLst>
              <a:gd name="adj1" fmla="val -51023"/>
              <a:gd name="adj2" fmla="val 77245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、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不一定相等！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23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23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tmFilter="0,0; .5, 1; 1, 1"/>
                                        <p:tgtEl>
                                          <p:spTgt spid="23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 tmFilter="0,0; .5, 1; 1, 1"/>
                                        <p:tgtEl>
                                          <p:spTgt spid="23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build="p"/>
      <p:bldP spid="23561" grpId="0"/>
      <p:bldP spid="23563" grpId="0" build="p"/>
      <p:bldP spid="2356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673224" y="533400"/>
            <a:ext cx="7931224" cy="179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元非齐次线性方程组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</a:t>
            </a:r>
            <a:endParaRPr kumimoji="1" lang="en-US" altLang="zh-CN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①无解的充分必要条件是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②有唯一解的充分必要条件是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③有无限多解的充分必要条件是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673224" y="2420888"/>
            <a:ext cx="7931224" cy="378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分析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只需证明条件的充分性，即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Tx/>
              <a:buChar char="•"/>
            </a:pP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     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无解；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Tx/>
              <a:buChar char="•"/>
            </a:pP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      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唯一解；</a:t>
            </a:r>
            <a:endParaRPr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Tx/>
              <a:buChar char="•"/>
            </a:pP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      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无穷多解</a:t>
            </a:r>
            <a:r>
              <a:rPr kumimoji="1" lang="zh-CN" altLang="en-US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Tx/>
              <a:buNone/>
            </a:pPr>
            <a:r>
              <a:rPr kumimoji="1"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事实上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② ③的逆否命题：无解        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① ③的逆否命题：唯一解        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 typeface="Wingdings" panose="05000000000000000000" pitchFamily="2" charset="2"/>
              <a:buChar char="ü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① ②的逆否命题：无穷多解        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graphicFrame>
        <p:nvGraphicFramePr>
          <p:cNvPr id="2663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163014"/>
              </p:ext>
            </p:extLst>
          </p:nvPr>
        </p:nvGraphicFramePr>
        <p:xfrm>
          <a:off x="3378324" y="3001913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76800" imgH="3352800" progId="">
                  <p:embed/>
                </p:oleObj>
              </mc:Choice>
              <mc:Fallback>
                <p:oleObj name="Equation" r:id="rId2" imgW="4876800" imgH="33528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324" y="3001913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717319"/>
              </p:ext>
            </p:extLst>
          </p:nvPr>
        </p:nvGraphicFramePr>
        <p:xfrm>
          <a:off x="3881562" y="3484513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76800" imgH="3352800" progId="">
                  <p:embed/>
                </p:oleObj>
              </mc:Choice>
              <mc:Fallback>
                <p:oleObj name="Equation" r:id="rId4" imgW="4876800" imgH="33528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562" y="3484513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016282"/>
              </p:ext>
            </p:extLst>
          </p:nvPr>
        </p:nvGraphicFramePr>
        <p:xfrm>
          <a:off x="3881562" y="3967113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76800" imgH="3352800" progId="">
                  <p:embed/>
                </p:oleObj>
              </mc:Choice>
              <mc:Fallback>
                <p:oleObj name="Equation" r:id="rId5" imgW="4876800" imgH="33528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562" y="3967113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555515"/>
              </p:ext>
            </p:extLst>
          </p:nvPr>
        </p:nvGraphicFramePr>
        <p:xfrm>
          <a:off x="4572000" y="4894634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76800" imgH="3352800" progId="">
                  <p:embed/>
                </p:oleObj>
              </mc:Choice>
              <mc:Fallback>
                <p:oleObj name="Equation" r:id="rId6" imgW="4876800" imgH="33528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894634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134230"/>
              </p:ext>
            </p:extLst>
          </p:nvPr>
        </p:nvGraphicFramePr>
        <p:xfrm>
          <a:off x="4860031" y="5326682"/>
          <a:ext cx="54750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76800" imgH="3352800" progId="">
                  <p:embed/>
                </p:oleObj>
              </mc:Choice>
              <mc:Fallback>
                <p:oleObj name="Equation" r:id="rId7" imgW="4876800" imgH="33528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1" y="5326682"/>
                        <a:ext cx="547505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435155"/>
              </p:ext>
            </p:extLst>
          </p:nvPr>
        </p:nvGraphicFramePr>
        <p:xfrm>
          <a:off x="5101704" y="582271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76800" imgH="3352800" progId="">
                  <p:embed/>
                </p:oleObj>
              </mc:Choice>
              <mc:Fallback>
                <p:oleObj name="Equation" r:id="rId8" imgW="4876800" imgH="335280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1704" y="582271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66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66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66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66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66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66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build="p"/>
      <p:bldP spid="26631" grpId="0" uiExpand="1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457200" y="533400"/>
            <a:ext cx="8229600" cy="563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证明：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设</a:t>
            </a: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，为叙述方便，不妨设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</a:t>
            </a:r>
            <a:r>
              <a:rPr kumimoji="1"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行最</a:t>
            </a: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简形矩阵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为</a:t>
            </a: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kumimoji="1" lang="zh-CN" altLang="en-US" b="0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第一步：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证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     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无解．</a:t>
            </a: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，即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="0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+1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1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于是 第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+1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行对应矛盾方程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0 = 1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，故原线性方程组无解．</a:t>
            </a:r>
          </a:p>
        </p:txBody>
      </p:sp>
      <p:graphicFrame>
        <p:nvGraphicFramePr>
          <p:cNvPr id="2765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797607"/>
              </p:ext>
            </p:extLst>
          </p:nvPr>
        </p:nvGraphicFramePr>
        <p:xfrm>
          <a:off x="561975" y="1455738"/>
          <a:ext cx="457200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152000" imgH="44805600" progId="">
                  <p:embed/>
                </p:oleObj>
              </mc:Choice>
              <mc:Fallback>
                <p:oleObj name="Equation" r:id="rId2" imgW="73152000" imgH="448056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1455738"/>
                        <a:ext cx="457200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785492"/>
              </p:ext>
            </p:extLst>
          </p:nvPr>
        </p:nvGraphicFramePr>
        <p:xfrm>
          <a:off x="4211960" y="4826000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76800" imgH="3352800" progId="">
                  <p:embed/>
                </p:oleObj>
              </mc:Choice>
              <mc:Fallback>
                <p:oleObj name="Equation" r:id="rId4" imgW="4876800" imgH="33528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4826000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014413" y="1800225"/>
            <a:ext cx="3521075" cy="1420813"/>
            <a:chOff x="1882" y="1032"/>
            <a:chExt cx="2218" cy="895"/>
          </a:xfrm>
        </p:grpSpPr>
        <p:sp>
          <p:nvSpPr>
            <p:cNvPr id="208908" name="Line 9"/>
            <p:cNvSpPr>
              <a:spLocks noChangeShapeType="1"/>
            </p:cNvSpPr>
            <p:nvPr/>
          </p:nvSpPr>
          <p:spPr bwMode="auto">
            <a:xfrm>
              <a:off x="1882" y="1044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8909" name="Line 10"/>
            <p:cNvSpPr>
              <a:spLocks noChangeShapeType="1"/>
            </p:cNvSpPr>
            <p:nvPr/>
          </p:nvSpPr>
          <p:spPr bwMode="auto">
            <a:xfrm>
              <a:off x="2064" y="1032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8910" name="Line 11"/>
            <p:cNvSpPr>
              <a:spLocks noChangeShapeType="1"/>
            </p:cNvSpPr>
            <p:nvPr/>
          </p:nvSpPr>
          <p:spPr bwMode="auto">
            <a:xfrm>
              <a:off x="2057" y="1253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8911" name="Line 13"/>
            <p:cNvSpPr>
              <a:spLocks noChangeShapeType="1"/>
            </p:cNvSpPr>
            <p:nvPr/>
          </p:nvSpPr>
          <p:spPr bwMode="auto">
            <a:xfrm>
              <a:off x="2251" y="1241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8912" name="Line 14"/>
            <p:cNvSpPr>
              <a:spLocks noChangeShapeType="1"/>
            </p:cNvSpPr>
            <p:nvPr/>
          </p:nvSpPr>
          <p:spPr bwMode="auto">
            <a:xfrm>
              <a:off x="2244" y="1462"/>
              <a:ext cx="29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8913" name="Line 16"/>
            <p:cNvSpPr>
              <a:spLocks noChangeShapeType="1"/>
            </p:cNvSpPr>
            <p:nvPr/>
          </p:nvSpPr>
          <p:spPr bwMode="auto">
            <a:xfrm>
              <a:off x="2530" y="1485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8914" name="Line 17"/>
            <p:cNvSpPr>
              <a:spLocks noChangeShapeType="1"/>
            </p:cNvSpPr>
            <p:nvPr/>
          </p:nvSpPr>
          <p:spPr bwMode="auto">
            <a:xfrm>
              <a:off x="2523" y="1706"/>
              <a:ext cx="124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8915" name="Line 18"/>
            <p:cNvSpPr>
              <a:spLocks noChangeShapeType="1"/>
            </p:cNvSpPr>
            <p:nvPr/>
          </p:nvSpPr>
          <p:spPr bwMode="auto">
            <a:xfrm>
              <a:off x="3767" y="1700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8916" name="Line 19"/>
            <p:cNvSpPr>
              <a:spLocks noChangeShapeType="1"/>
            </p:cNvSpPr>
            <p:nvPr/>
          </p:nvSpPr>
          <p:spPr bwMode="auto">
            <a:xfrm>
              <a:off x="3760" y="1921"/>
              <a:ext cx="34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7670" name="AutoShape 22"/>
          <p:cNvSpPr>
            <a:spLocks noChangeArrowheads="1"/>
          </p:cNvSpPr>
          <p:nvPr/>
        </p:nvSpPr>
        <p:spPr bwMode="auto">
          <a:xfrm>
            <a:off x="5003800" y="3068638"/>
            <a:ext cx="3635488" cy="51077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0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≤</a:t>
            </a:r>
            <a:r>
              <a:rPr kumimoji="1" lang="zh-CN" altLang="en-US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≤</a:t>
            </a:r>
            <a:r>
              <a:rPr kumimoji="1" lang="zh-CN" altLang="en-US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1  </a:t>
            </a:r>
          </a:p>
        </p:txBody>
      </p:sp>
      <p:sp>
        <p:nvSpPr>
          <p:cNvPr id="27671" name="AutoShape 23"/>
          <p:cNvSpPr>
            <a:spLocks/>
          </p:cNvSpPr>
          <p:nvPr/>
        </p:nvSpPr>
        <p:spPr bwMode="auto">
          <a:xfrm rot="-5400000">
            <a:off x="1573213" y="3787775"/>
            <a:ext cx="179387" cy="1008063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1139825" y="4292600"/>
            <a:ext cx="962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前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列  </a:t>
            </a:r>
          </a:p>
        </p:txBody>
      </p:sp>
      <p:sp>
        <p:nvSpPr>
          <p:cNvPr id="27673" name="AutoShape 25"/>
          <p:cNvSpPr>
            <a:spLocks/>
          </p:cNvSpPr>
          <p:nvPr/>
        </p:nvSpPr>
        <p:spPr bwMode="auto">
          <a:xfrm rot="-5400000">
            <a:off x="3041650" y="3787776"/>
            <a:ext cx="179387" cy="1008062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7674" name="Text Box 26"/>
          <p:cNvSpPr txBox="1">
            <a:spLocks noChangeArrowheads="1"/>
          </p:cNvSpPr>
          <p:nvPr/>
        </p:nvSpPr>
        <p:spPr bwMode="auto">
          <a:xfrm>
            <a:off x="2443163" y="4292600"/>
            <a:ext cx="1279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后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-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列  </a:t>
            </a:r>
          </a:p>
        </p:txBody>
      </p:sp>
      <p:cxnSp>
        <p:nvCxnSpPr>
          <p:cNvPr id="23" name="直接连接符 22"/>
          <p:cNvCxnSpPr/>
          <p:nvPr/>
        </p:nvCxnSpPr>
        <p:spPr>
          <a:xfrm rot="5400000">
            <a:off x="2631281" y="2829719"/>
            <a:ext cx="2714625" cy="1588"/>
          </a:xfrm>
          <a:prstGeom prst="line">
            <a:avLst/>
          </a:prstGeom>
          <a:ln w="28575">
            <a:solidFill>
              <a:srgbClr val="33CC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9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302"/>
                            </p:stCondLst>
                            <p:childTnLst>
                              <p:par>
                                <p:cTn id="1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802"/>
                            </p:stCondLst>
                            <p:childTnLst>
                              <p:par>
                                <p:cTn id="1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6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76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8" presetClass="entr" presetSubtype="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76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uiExpand="1" build="p"/>
      <p:bldP spid="27670" grpId="0" animBg="1"/>
      <p:bldP spid="27671" grpId="0" animBg="1"/>
      <p:bldP spid="27672" grpId="0"/>
      <p:bldP spid="27673" grpId="0" animBg="1"/>
      <p:bldP spid="27674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34"/>
          <p:cNvSpPr>
            <a:spLocks noChangeArrowheads="1"/>
          </p:cNvSpPr>
          <p:nvPr/>
        </p:nvSpPr>
        <p:spPr bwMode="auto">
          <a:xfrm>
            <a:off x="2373313" y="630907"/>
            <a:ext cx="1512887" cy="266541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8704" name="Text Box 32"/>
          <p:cNvSpPr txBox="1">
            <a:spLocks noChangeArrowheads="1"/>
          </p:cNvSpPr>
          <p:nvPr/>
        </p:nvSpPr>
        <p:spPr bwMode="auto">
          <a:xfrm>
            <a:off x="1101725" y="3482057"/>
            <a:ext cx="1000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前 </a:t>
            </a:r>
            <a:r>
              <a:rPr lang="en-US" altLang="zh-CN" sz="1800" b="0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列</a:t>
            </a:r>
          </a:p>
        </p:txBody>
      </p:sp>
      <p:sp>
        <p:nvSpPr>
          <p:cNvPr id="28692" name="Text Box 20"/>
          <p:cNvSpPr txBox="1">
            <a:spLocks noChangeArrowheads="1"/>
          </p:cNvSpPr>
          <p:nvPr/>
        </p:nvSpPr>
        <p:spPr bwMode="auto">
          <a:xfrm>
            <a:off x="1139825" y="3482057"/>
            <a:ext cx="962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前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列</a:t>
            </a:r>
          </a:p>
        </p:txBody>
      </p:sp>
      <p:graphicFrame>
        <p:nvGraphicFramePr>
          <p:cNvPr id="20992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424371"/>
              </p:ext>
            </p:extLst>
          </p:nvPr>
        </p:nvGraphicFramePr>
        <p:xfrm>
          <a:off x="566738" y="583282"/>
          <a:ext cx="1771650" cy="276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346400" imgH="44196000" progId="">
                  <p:embed/>
                </p:oleObj>
              </mc:Choice>
              <mc:Fallback>
                <p:oleObj name="Equation" r:id="rId2" imgW="28346400" imgH="441960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583282"/>
                        <a:ext cx="1771650" cy="276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991635"/>
              </p:ext>
            </p:extLst>
          </p:nvPr>
        </p:nvGraphicFramePr>
        <p:xfrm>
          <a:off x="4184650" y="583282"/>
          <a:ext cx="93345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35200" imgH="44805600" progId="">
                  <p:embed/>
                </p:oleObj>
              </mc:Choice>
              <mc:Fallback>
                <p:oleObj name="Equation" r:id="rId4" imgW="14935200" imgH="448056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583282"/>
                        <a:ext cx="93345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57200" y="4058319"/>
            <a:ext cx="8229600" cy="145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第二步：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证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      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唯一解．</a:t>
            </a: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故原线性方程组有唯一解．</a:t>
            </a:r>
          </a:p>
        </p:txBody>
      </p:sp>
      <p:graphicFrame>
        <p:nvGraphicFramePr>
          <p:cNvPr id="2867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589973"/>
              </p:ext>
            </p:extLst>
          </p:nvPr>
        </p:nvGraphicFramePr>
        <p:xfrm>
          <a:off x="4669656" y="4211215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76800" imgH="3352800" progId="">
                  <p:embed/>
                </p:oleObj>
              </mc:Choice>
              <mc:Fallback>
                <p:oleObj name="Equation" r:id="rId6" imgW="4876800" imgH="33528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9656" y="4211215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014413" y="927769"/>
            <a:ext cx="3536950" cy="1079500"/>
            <a:chOff x="639" y="460"/>
            <a:chExt cx="2228" cy="680"/>
          </a:xfrm>
        </p:grpSpPr>
        <p:sp>
          <p:nvSpPr>
            <p:cNvPr id="209962" name="Line 6"/>
            <p:cNvSpPr>
              <a:spLocks noChangeShapeType="1"/>
            </p:cNvSpPr>
            <p:nvPr/>
          </p:nvSpPr>
          <p:spPr bwMode="auto">
            <a:xfrm>
              <a:off x="639" y="472"/>
              <a:ext cx="1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63" name="Line 7"/>
            <p:cNvSpPr>
              <a:spLocks noChangeShapeType="1"/>
            </p:cNvSpPr>
            <p:nvPr/>
          </p:nvSpPr>
          <p:spPr bwMode="auto">
            <a:xfrm>
              <a:off x="821" y="460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64" name="Line 8"/>
            <p:cNvSpPr>
              <a:spLocks noChangeShapeType="1"/>
            </p:cNvSpPr>
            <p:nvPr/>
          </p:nvSpPr>
          <p:spPr bwMode="auto">
            <a:xfrm>
              <a:off x="814" y="681"/>
              <a:ext cx="1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65" name="Line 9"/>
            <p:cNvSpPr>
              <a:spLocks noChangeShapeType="1"/>
            </p:cNvSpPr>
            <p:nvPr/>
          </p:nvSpPr>
          <p:spPr bwMode="auto">
            <a:xfrm>
              <a:off x="1008" y="669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66" name="Line 10"/>
            <p:cNvSpPr>
              <a:spLocks noChangeShapeType="1"/>
            </p:cNvSpPr>
            <p:nvPr/>
          </p:nvSpPr>
          <p:spPr bwMode="auto">
            <a:xfrm>
              <a:off x="1001" y="890"/>
              <a:ext cx="29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67" name="Line 11"/>
            <p:cNvSpPr>
              <a:spLocks noChangeShapeType="1"/>
            </p:cNvSpPr>
            <p:nvPr/>
          </p:nvSpPr>
          <p:spPr bwMode="auto">
            <a:xfrm>
              <a:off x="1287" y="913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68" name="Line 12"/>
            <p:cNvSpPr>
              <a:spLocks noChangeShapeType="1"/>
            </p:cNvSpPr>
            <p:nvPr/>
          </p:nvSpPr>
          <p:spPr bwMode="auto">
            <a:xfrm>
              <a:off x="1280" y="1134"/>
              <a:ext cx="158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09930" name="AutoShape 19"/>
          <p:cNvSpPr>
            <a:spLocks/>
          </p:cNvSpPr>
          <p:nvPr/>
        </p:nvSpPr>
        <p:spPr bwMode="auto">
          <a:xfrm rot="-5400000">
            <a:off x="1573213" y="2924844"/>
            <a:ext cx="179387" cy="1008063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8693" name="AutoShape 21"/>
          <p:cNvSpPr>
            <a:spLocks/>
          </p:cNvSpPr>
          <p:nvPr/>
        </p:nvSpPr>
        <p:spPr bwMode="auto">
          <a:xfrm rot="-5400000">
            <a:off x="3041650" y="2924845"/>
            <a:ext cx="179387" cy="1008062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2443163" y="3482057"/>
            <a:ext cx="12795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后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-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列  </a:t>
            </a:r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>
            <a:off x="457200" y="4550444"/>
            <a:ext cx="8164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                            则 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="0" i="1" baseline="-2500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baseline="-2500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+1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0 </a:t>
            </a: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且 </a:t>
            </a:r>
            <a:r>
              <a:rPr kumimoji="1" lang="en-US" altLang="zh-CN" b="0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1014413" y="927769"/>
            <a:ext cx="3521075" cy="1420813"/>
            <a:chOff x="1882" y="1032"/>
            <a:chExt cx="2218" cy="895"/>
          </a:xfrm>
        </p:grpSpPr>
        <p:sp>
          <p:nvSpPr>
            <p:cNvPr id="209953" name="Line 34"/>
            <p:cNvSpPr>
              <a:spLocks noChangeShapeType="1"/>
            </p:cNvSpPr>
            <p:nvPr/>
          </p:nvSpPr>
          <p:spPr bwMode="auto">
            <a:xfrm>
              <a:off x="1882" y="1044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54" name="Line 35"/>
            <p:cNvSpPr>
              <a:spLocks noChangeShapeType="1"/>
            </p:cNvSpPr>
            <p:nvPr/>
          </p:nvSpPr>
          <p:spPr bwMode="auto">
            <a:xfrm>
              <a:off x="2064" y="1032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55" name="Line 36"/>
            <p:cNvSpPr>
              <a:spLocks noChangeShapeType="1"/>
            </p:cNvSpPr>
            <p:nvPr/>
          </p:nvSpPr>
          <p:spPr bwMode="auto">
            <a:xfrm>
              <a:off x="2057" y="1253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56" name="Line 37"/>
            <p:cNvSpPr>
              <a:spLocks noChangeShapeType="1"/>
            </p:cNvSpPr>
            <p:nvPr/>
          </p:nvSpPr>
          <p:spPr bwMode="auto">
            <a:xfrm>
              <a:off x="2251" y="1241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57" name="Line 38"/>
            <p:cNvSpPr>
              <a:spLocks noChangeShapeType="1"/>
            </p:cNvSpPr>
            <p:nvPr/>
          </p:nvSpPr>
          <p:spPr bwMode="auto">
            <a:xfrm>
              <a:off x="2244" y="1462"/>
              <a:ext cx="29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58" name="Line 39"/>
            <p:cNvSpPr>
              <a:spLocks noChangeShapeType="1"/>
            </p:cNvSpPr>
            <p:nvPr/>
          </p:nvSpPr>
          <p:spPr bwMode="auto">
            <a:xfrm>
              <a:off x="2530" y="1485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59" name="Line 40"/>
            <p:cNvSpPr>
              <a:spLocks noChangeShapeType="1"/>
            </p:cNvSpPr>
            <p:nvPr/>
          </p:nvSpPr>
          <p:spPr bwMode="auto">
            <a:xfrm>
              <a:off x="2523" y="1706"/>
              <a:ext cx="124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60" name="Line 41"/>
            <p:cNvSpPr>
              <a:spLocks noChangeShapeType="1"/>
            </p:cNvSpPr>
            <p:nvPr/>
          </p:nvSpPr>
          <p:spPr bwMode="auto">
            <a:xfrm>
              <a:off x="3767" y="1700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61" name="Line 42"/>
            <p:cNvSpPr>
              <a:spLocks noChangeShapeType="1"/>
            </p:cNvSpPr>
            <p:nvPr/>
          </p:nvSpPr>
          <p:spPr bwMode="auto">
            <a:xfrm>
              <a:off x="3760" y="1921"/>
              <a:ext cx="34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1014413" y="927769"/>
            <a:ext cx="1779587" cy="1079500"/>
            <a:chOff x="639" y="460"/>
            <a:chExt cx="1121" cy="680"/>
          </a:xfrm>
        </p:grpSpPr>
        <p:sp>
          <p:nvSpPr>
            <p:cNvPr id="209946" name="Line 44"/>
            <p:cNvSpPr>
              <a:spLocks noChangeShapeType="1"/>
            </p:cNvSpPr>
            <p:nvPr/>
          </p:nvSpPr>
          <p:spPr bwMode="auto">
            <a:xfrm>
              <a:off x="639" y="472"/>
              <a:ext cx="16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47" name="Line 45"/>
            <p:cNvSpPr>
              <a:spLocks noChangeShapeType="1"/>
            </p:cNvSpPr>
            <p:nvPr/>
          </p:nvSpPr>
          <p:spPr bwMode="auto">
            <a:xfrm>
              <a:off x="815" y="460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48" name="Line 46"/>
            <p:cNvSpPr>
              <a:spLocks noChangeShapeType="1"/>
            </p:cNvSpPr>
            <p:nvPr/>
          </p:nvSpPr>
          <p:spPr bwMode="auto">
            <a:xfrm>
              <a:off x="808" y="681"/>
              <a:ext cx="20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49" name="Line 47"/>
            <p:cNvSpPr>
              <a:spLocks noChangeShapeType="1"/>
            </p:cNvSpPr>
            <p:nvPr/>
          </p:nvSpPr>
          <p:spPr bwMode="auto">
            <a:xfrm>
              <a:off x="1004" y="669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50" name="Line 48"/>
            <p:cNvSpPr>
              <a:spLocks noChangeShapeType="1"/>
            </p:cNvSpPr>
            <p:nvPr/>
          </p:nvSpPr>
          <p:spPr bwMode="auto">
            <a:xfrm>
              <a:off x="989" y="890"/>
              <a:ext cx="31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51" name="Line 49"/>
            <p:cNvSpPr>
              <a:spLocks noChangeShapeType="1"/>
            </p:cNvSpPr>
            <p:nvPr/>
          </p:nvSpPr>
          <p:spPr bwMode="auto">
            <a:xfrm>
              <a:off x="1291" y="913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09952" name="Line 50"/>
            <p:cNvSpPr>
              <a:spLocks noChangeShapeType="1"/>
            </p:cNvSpPr>
            <p:nvPr/>
          </p:nvSpPr>
          <p:spPr bwMode="auto">
            <a:xfrm>
              <a:off x="1284" y="1134"/>
              <a:ext cx="47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8725" name="Rectangle 53"/>
          <p:cNvSpPr>
            <a:spLocks noChangeArrowheads="1"/>
          </p:cNvSpPr>
          <p:nvPr/>
        </p:nvSpPr>
        <p:spPr bwMode="auto">
          <a:xfrm>
            <a:off x="5076825" y="654719"/>
            <a:ext cx="248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对应的线性方程组为</a:t>
            </a:r>
          </a:p>
        </p:txBody>
      </p:sp>
      <p:graphicFrame>
        <p:nvGraphicFramePr>
          <p:cNvPr id="2872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852406"/>
              </p:ext>
            </p:extLst>
          </p:nvPr>
        </p:nvGraphicFramePr>
        <p:xfrm>
          <a:off x="5881688" y="1273844"/>
          <a:ext cx="1266825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40000" imgH="22555200" progId="">
                  <p:embed/>
                </p:oleObj>
              </mc:Choice>
              <mc:Fallback>
                <p:oleObj name="Equation" r:id="rId8" imgW="15240000" imgH="2255520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688" y="1273844"/>
                        <a:ext cx="1266825" cy="187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497269"/>
              </p:ext>
            </p:extLst>
          </p:nvPr>
        </p:nvGraphicFramePr>
        <p:xfrm>
          <a:off x="4929188" y="702344"/>
          <a:ext cx="2476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62400" imgH="4876800" progId="">
                  <p:embed/>
                </p:oleObj>
              </mc:Choice>
              <mc:Fallback>
                <p:oleObj name="Equation" r:id="rId10" imgW="3962400" imgH="487680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702344"/>
                        <a:ext cx="2476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6" name="Rectangle 24"/>
          <p:cNvSpPr>
            <a:spLocks noChangeArrowheads="1"/>
          </p:cNvSpPr>
          <p:nvPr/>
        </p:nvSpPr>
        <p:spPr bwMode="auto">
          <a:xfrm>
            <a:off x="457200" y="4550444"/>
            <a:ext cx="8164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                                                              </a:t>
            </a: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从而 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i="1" baseline="-2500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ij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都不出现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873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971323"/>
              </p:ext>
            </p:extLst>
          </p:nvPr>
        </p:nvGraphicFramePr>
        <p:xfrm>
          <a:off x="2451100" y="630907"/>
          <a:ext cx="1447800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164800" imgH="43586400" progId="">
                  <p:embed/>
                </p:oleObj>
              </mc:Choice>
              <mc:Fallback>
                <p:oleObj name="Equation" r:id="rId12" imgW="23164800" imgH="4358640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630907"/>
                        <a:ext cx="1447800" cy="272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599693"/>
              </p:ext>
            </p:extLst>
          </p:nvPr>
        </p:nvGraphicFramePr>
        <p:xfrm>
          <a:off x="4051300" y="592807"/>
          <a:ext cx="106680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068800" imgH="44805600" progId="">
                  <p:embed/>
                </p:oleObj>
              </mc:Choice>
              <mc:Fallback>
                <p:oleObj name="Equation" r:id="rId14" imgW="17068800" imgH="44805600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592807"/>
                        <a:ext cx="106680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矩形 49"/>
          <p:cNvSpPr/>
          <p:nvPr/>
        </p:nvSpPr>
        <p:spPr>
          <a:xfrm>
            <a:off x="6099175" y="1340519"/>
            <a:ext cx="1000125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099175" y="1769144"/>
            <a:ext cx="1000125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099175" y="2197769"/>
            <a:ext cx="1000125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099175" y="2626394"/>
            <a:ext cx="1000125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3" dur="500"/>
                                        <p:tgtEl>
                                          <p:spTgt spid="28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6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9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5" dur="500"/>
                                        <p:tgtEl>
                                          <p:spTgt spid="28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63 -3.7037E-7 L -0.18177 0.00185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07" y="93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28704" grpId="0"/>
      <p:bldP spid="28692" grpId="0"/>
      <p:bldP spid="28674" grpId="0" build="p"/>
      <p:bldP spid="28693" grpId="0" animBg="1"/>
      <p:bldP spid="28694" grpId="0"/>
      <p:bldP spid="28698" grpId="0"/>
      <p:bldP spid="28725" grpId="0"/>
      <p:bldP spid="28696" grpId="0"/>
      <p:bldP spid="50" grpId="0" animBg="1"/>
      <p:bldP spid="51" grpId="0" animBg="1"/>
      <p:bldP spid="52" grpId="0" animBg="1"/>
      <p:bldP spid="5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634875" y="3860800"/>
            <a:ext cx="8229600" cy="145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第三步：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证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      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无穷多解</a:t>
            </a:r>
            <a:r>
              <a:rPr kumimoji="1" lang="zh-CN" altLang="en-US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endParaRPr kumimoji="1" lang="en-US" altLang="zh-CN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对应的线性方程组为</a:t>
            </a:r>
          </a:p>
        </p:txBody>
      </p:sp>
      <p:graphicFrame>
        <p:nvGraphicFramePr>
          <p:cNvPr id="327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521543"/>
              </p:ext>
            </p:extLst>
          </p:nvPr>
        </p:nvGraphicFramePr>
        <p:xfrm>
          <a:off x="4905250" y="3989388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76800" imgH="3352800" progId="Equation.DSMT4">
                  <p:embed/>
                </p:oleObj>
              </mc:Choice>
              <mc:Fallback>
                <p:oleObj name="Equation" r:id="rId2" imgW="4876800" imgH="3352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250" y="3989388"/>
                        <a:ext cx="406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192088" y="730250"/>
            <a:ext cx="3536950" cy="1079500"/>
            <a:chOff x="639" y="460"/>
            <a:chExt cx="2228" cy="680"/>
          </a:xfrm>
        </p:grpSpPr>
        <p:sp>
          <p:nvSpPr>
            <p:cNvPr id="211986" name="Line 8"/>
            <p:cNvSpPr>
              <a:spLocks noChangeShapeType="1"/>
            </p:cNvSpPr>
            <p:nvPr/>
          </p:nvSpPr>
          <p:spPr bwMode="auto">
            <a:xfrm>
              <a:off x="639" y="4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1987" name="Line 9"/>
            <p:cNvSpPr>
              <a:spLocks noChangeShapeType="1"/>
            </p:cNvSpPr>
            <p:nvPr/>
          </p:nvSpPr>
          <p:spPr bwMode="auto">
            <a:xfrm>
              <a:off x="821" y="460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1988" name="Line 10"/>
            <p:cNvSpPr>
              <a:spLocks noChangeShapeType="1"/>
            </p:cNvSpPr>
            <p:nvPr/>
          </p:nvSpPr>
          <p:spPr bwMode="auto">
            <a:xfrm>
              <a:off x="814" y="681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1989" name="Line 11"/>
            <p:cNvSpPr>
              <a:spLocks noChangeShapeType="1"/>
            </p:cNvSpPr>
            <p:nvPr/>
          </p:nvSpPr>
          <p:spPr bwMode="auto">
            <a:xfrm>
              <a:off x="1008" y="669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1990" name="Line 12"/>
            <p:cNvSpPr>
              <a:spLocks noChangeShapeType="1"/>
            </p:cNvSpPr>
            <p:nvPr/>
          </p:nvSpPr>
          <p:spPr bwMode="auto">
            <a:xfrm>
              <a:off x="1001" y="890"/>
              <a:ext cx="29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1991" name="Line 13"/>
            <p:cNvSpPr>
              <a:spLocks noChangeShapeType="1"/>
            </p:cNvSpPr>
            <p:nvPr/>
          </p:nvSpPr>
          <p:spPr bwMode="auto">
            <a:xfrm>
              <a:off x="1287" y="913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1992" name="Line 14"/>
            <p:cNvSpPr>
              <a:spLocks noChangeShapeType="1"/>
            </p:cNvSpPr>
            <p:nvPr/>
          </p:nvSpPr>
          <p:spPr bwMode="auto">
            <a:xfrm>
              <a:off x="1280" y="1134"/>
              <a:ext cx="15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11973" name="AutoShape 15"/>
          <p:cNvSpPr>
            <a:spLocks/>
          </p:cNvSpPr>
          <p:nvPr/>
        </p:nvSpPr>
        <p:spPr bwMode="auto">
          <a:xfrm rot="-5400000">
            <a:off x="1750888" y="2727325"/>
            <a:ext cx="179387" cy="1008063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11974" name="Text Box 16"/>
          <p:cNvSpPr txBox="1">
            <a:spLocks noChangeArrowheads="1"/>
          </p:cNvSpPr>
          <p:nvPr/>
        </p:nvSpPr>
        <p:spPr bwMode="auto">
          <a:xfrm>
            <a:off x="1374650" y="3284538"/>
            <a:ext cx="904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前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列 </a:t>
            </a:r>
          </a:p>
        </p:txBody>
      </p:sp>
      <p:sp>
        <p:nvSpPr>
          <p:cNvPr id="211975" name="AutoShape 17"/>
          <p:cNvSpPr>
            <a:spLocks/>
          </p:cNvSpPr>
          <p:nvPr/>
        </p:nvSpPr>
        <p:spPr bwMode="auto">
          <a:xfrm rot="-5400000">
            <a:off x="3219325" y="2727326"/>
            <a:ext cx="179387" cy="1008062"/>
          </a:xfrm>
          <a:prstGeom prst="leftBrace">
            <a:avLst>
              <a:gd name="adj1" fmla="val 4682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2786" name="Rectangle 18"/>
          <p:cNvSpPr>
            <a:spLocks noChangeArrowheads="1"/>
          </p:cNvSpPr>
          <p:nvPr/>
        </p:nvSpPr>
        <p:spPr bwMode="auto">
          <a:xfrm>
            <a:off x="578045" y="4326425"/>
            <a:ext cx="8164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                                            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则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d</a:t>
            </a:r>
            <a:r>
              <a:rPr kumimoji="1" lang="en-US" altLang="zh-CN" b="0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+1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0 .</a:t>
            </a:r>
          </a:p>
        </p:txBody>
      </p:sp>
      <p:sp>
        <p:nvSpPr>
          <p:cNvPr id="211977" name="Text Box 19"/>
          <p:cNvSpPr txBox="1">
            <a:spLocks noChangeArrowheads="1"/>
          </p:cNvSpPr>
          <p:nvPr/>
        </p:nvSpPr>
        <p:spPr bwMode="auto">
          <a:xfrm>
            <a:off x="2677988" y="3284538"/>
            <a:ext cx="1222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后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 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- </a:t>
            </a:r>
            <a:r>
              <a:rPr lang="en-US" altLang="zh-CN" sz="1800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lang="en-US" altLang="zh-CN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列 </a:t>
            </a:r>
          </a:p>
        </p:txBody>
      </p:sp>
      <p:sp>
        <p:nvSpPr>
          <p:cNvPr id="32788" name="Rectangle 20"/>
          <p:cNvSpPr>
            <a:spLocks noChangeArrowheads="1"/>
          </p:cNvSpPr>
          <p:nvPr/>
        </p:nvSpPr>
        <p:spPr bwMode="auto">
          <a:xfrm>
            <a:off x="535689" y="4343400"/>
            <a:ext cx="8164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                            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即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&lt;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n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   </a:t>
            </a:r>
          </a:p>
        </p:txBody>
      </p:sp>
      <p:graphicFrame>
        <p:nvGraphicFramePr>
          <p:cNvPr id="2119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232682"/>
              </p:ext>
            </p:extLst>
          </p:nvPr>
        </p:nvGraphicFramePr>
        <p:xfrm>
          <a:off x="739650" y="404813"/>
          <a:ext cx="457200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152000" imgH="44805600" progId="">
                  <p:embed/>
                </p:oleObj>
              </mc:Choice>
              <mc:Fallback>
                <p:oleObj name="Equation" r:id="rId4" imgW="73152000" imgH="448056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650" y="404813"/>
                        <a:ext cx="4572000" cy="280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827917"/>
              </p:ext>
            </p:extLst>
          </p:nvPr>
        </p:nvGraphicFramePr>
        <p:xfrm>
          <a:off x="4178175" y="4967288"/>
          <a:ext cx="4602163" cy="170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1569600" imgH="22860000" progId="">
                  <p:embed/>
                </p:oleObj>
              </mc:Choice>
              <mc:Fallback>
                <p:oleObj name="Equation" r:id="rId6" imgW="61569600" imgH="228600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175" y="4967288"/>
                        <a:ext cx="4602163" cy="170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295340"/>
              </p:ext>
            </p:extLst>
          </p:nvPr>
        </p:nvGraphicFramePr>
        <p:xfrm>
          <a:off x="749175" y="4786313"/>
          <a:ext cx="3317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62400" imgH="4876800" progId="">
                  <p:embed/>
                </p:oleObj>
              </mc:Choice>
              <mc:Fallback>
                <p:oleObj name="Equation" r:id="rId8" imgW="3962400" imgH="48768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175" y="4786313"/>
                        <a:ext cx="3317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4392488" y="5000625"/>
            <a:ext cx="457200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92488" y="5429250"/>
            <a:ext cx="457200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92488" y="5857875"/>
            <a:ext cx="457200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92488" y="6286500"/>
            <a:ext cx="457200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build="p"/>
      <p:bldP spid="32786" grpId="0"/>
      <p:bldP spid="32788" grpId="0"/>
      <p:bldP spid="24" grpId="0" animBg="1"/>
      <p:bldP spid="25" grpId="0" animBg="1"/>
      <p:bldP spid="26" grpId="0" animBg="1"/>
      <p:bldP spid="2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9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102336"/>
              </p:ext>
            </p:extLst>
          </p:nvPr>
        </p:nvGraphicFramePr>
        <p:xfrm>
          <a:off x="2393640" y="397594"/>
          <a:ext cx="4099235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569600" imgH="22860000" progId="">
                  <p:embed/>
                </p:oleObj>
              </mc:Choice>
              <mc:Fallback>
                <p:oleObj name="Equation" r:id="rId2" imgW="61569600" imgH="228600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640" y="397594"/>
                        <a:ext cx="4099235" cy="151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103907"/>
              </p:ext>
            </p:extLst>
          </p:nvPr>
        </p:nvGraphicFramePr>
        <p:xfrm>
          <a:off x="2981325" y="2470150"/>
          <a:ext cx="3198813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1206400" imgH="22860000" progId="">
                  <p:embed/>
                </p:oleObj>
              </mc:Choice>
              <mc:Fallback>
                <p:oleObj name="Equation" r:id="rId4" imgW="51206400" imgH="228600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2470150"/>
                        <a:ext cx="3198813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490538" y="1959223"/>
            <a:ext cx="4227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令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x</a:t>
            </a:r>
            <a:r>
              <a:rPr kumimoji="1" lang="en-US" altLang="zh-CN" b="0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+1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…,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x</a:t>
            </a:r>
            <a:r>
              <a:rPr kumimoji="1"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作自由变量，则 </a:t>
            </a: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490538" y="4005262"/>
            <a:ext cx="5665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再令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x</a:t>
            </a:r>
            <a:r>
              <a:rPr kumimoji="1" lang="en-US" altLang="zh-CN" b="0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+1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kumimoji="1" lang="en-US" altLang="zh-CN" b="0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x</a:t>
            </a:r>
            <a:r>
              <a:rPr kumimoji="1" lang="en-US" altLang="zh-CN" b="0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+2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kumimoji="1" lang="en-US" altLang="zh-CN" b="0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 …, 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x</a:t>
            </a:r>
            <a:r>
              <a:rPr kumimoji="1"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c</a:t>
            </a:r>
            <a:r>
              <a:rPr kumimoji="1"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i="1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-r</a:t>
            </a:r>
            <a:r>
              <a:rPr kumimoji="1" lang="en-US" altLang="zh-CN" b="0" baseline="-25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</a:p>
        </p:txBody>
      </p:sp>
      <p:graphicFrame>
        <p:nvGraphicFramePr>
          <p:cNvPr id="348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318987"/>
              </p:ext>
            </p:extLst>
          </p:nvPr>
        </p:nvGraphicFramePr>
        <p:xfrm>
          <a:off x="993775" y="4537075"/>
          <a:ext cx="3541713" cy="209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6692800" imgH="33528000" progId="">
                  <p:embed/>
                </p:oleObj>
              </mc:Choice>
              <mc:Fallback>
                <p:oleObj name="Equation" r:id="rId6" imgW="56692800" imgH="335280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4537075"/>
                        <a:ext cx="3541713" cy="209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427804"/>
              </p:ext>
            </p:extLst>
          </p:nvPr>
        </p:nvGraphicFramePr>
        <p:xfrm>
          <a:off x="4529138" y="4546600"/>
          <a:ext cx="3579812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302400" imgH="33223200" progId="">
                  <p:embed/>
                </p:oleObj>
              </mc:Choice>
              <mc:Fallback>
                <p:oleObj name="Equation" r:id="rId8" imgW="57302400" imgH="332232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4546600"/>
                        <a:ext cx="3579812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AutoShape 10"/>
          <p:cNvSpPr>
            <a:spLocks noChangeArrowheads="1"/>
          </p:cNvSpPr>
          <p:nvPr/>
        </p:nvSpPr>
        <p:spPr bwMode="auto">
          <a:xfrm>
            <a:off x="6804025" y="3141663"/>
            <a:ext cx="2232025" cy="1079500"/>
          </a:xfrm>
          <a:prstGeom prst="cloudCallout">
            <a:avLst>
              <a:gd name="adj1" fmla="val -56755"/>
              <a:gd name="adj2" fmla="val 75296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线性方程组的通解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2484438" y="4076700"/>
            <a:ext cx="1295400" cy="360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3762375" y="4076700"/>
            <a:ext cx="2217738" cy="360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/>
      <p:bldP spid="34823" grpId="0"/>
      <p:bldP spid="34826" grpId="0" animBg="1"/>
      <p:bldP spid="8202" grpId="0" animBg="1"/>
      <p:bldP spid="820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8" name="AutoShape 6"/>
          <p:cNvSpPr>
            <a:spLocks noChangeArrowheads="1"/>
          </p:cNvSpPr>
          <p:nvPr/>
        </p:nvSpPr>
        <p:spPr bwMode="auto">
          <a:xfrm>
            <a:off x="4038600" y="2604447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5662613" y="1999729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283450" y="2972866"/>
            <a:ext cx="611188" cy="431800"/>
            <a:chOff x="4942" y="1456"/>
            <a:chExt cx="385" cy="272"/>
          </a:xfrm>
        </p:grpSpPr>
        <p:sp>
          <p:nvSpPr>
            <p:cNvPr id="214046" name="Line 11"/>
            <p:cNvSpPr>
              <a:spLocks noChangeShapeType="1"/>
            </p:cNvSpPr>
            <p:nvPr/>
          </p:nvSpPr>
          <p:spPr bwMode="auto">
            <a:xfrm>
              <a:off x="4942" y="1456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4047" name="Line 12"/>
            <p:cNvSpPr>
              <a:spLocks noChangeShapeType="1"/>
            </p:cNvSpPr>
            <p:nvPr/>
          </p:nvSpPr>
          <p:spPr bwMode="auto">
            <a:xfrm>
              <a:off x="5327" y="145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65" name="AutoShape 13"/>
          <p:cNvSpPr>
            <a:spLocks noChangeArrowheads="1"/>
          </p:cNvSpPr>
          <p:nvPr/>
        </p:nvSpPr>
        <p:spPr bwMode="auto">
          <a:xfrm flipV="1">
            <a:off x="7356475" y="3411016"/>
            <a:ext cx="1119188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无解</a:t>
            </a:r>
          </a:p>
        </p:txBody>
      </p:sp>
      <p:sp>
        <p:nvSpPr>
          <p:cNvPr id="49166" name="Text Box 14"/>
          <p:cNvSpPr txBox="1">
            <a:spLocks noChangeArrowheads="1"/>
          </p:cNvSpPr>
          <p:nvPr/>
        </p:nvSpPr>
        <p:spPr bwMode="auto">
          <a:xfrm>
            <a:off x="7323138" y="2512491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3427413" y="2945334"/>
            <a:ext cx="611187" cy="431800"/>
            <a:chOff x="1812" y="1459"/>
            <a:chExt cx="385" cy="272"/>
          </a:xfrm>
        </p:grpSpPr>
        <p:sp>
          <p:nvSpPr>
            <p:cNvPr id="214044" name="Line 17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4045" name="Line 18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71" name="Text Box 19"/>
          <p:cNvSpPr txBox="1">
            <a:spLocks noChangeArrowheads="1"/>
          </p:cNvSpPr>
          <p:nvPr/>
        </p:nvSpPr>
        <p:spPr bwMode="auto">
          <a:xfrm>
            <a:off x="3506788" y="2492896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72" name="AutoShape 20"/>
          <p:cNvSpPr>
            <a:spLocks noChangeArrowheads="1"/>
          </p:cNvSpPr>
          <p:nvPr/>
        </p:nvSpPr>
        <p:spPr bwMode="auto">
          <a:xfrm>
            <a:off x="1822450" y="3582347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5081588" y="3950766"/>
            <a:ext cx="611187" cy="431800"/>
            <a:chOff x="4942" y="1456"/>
            <a:chExt cx="385" cy="272"/>
          </a:xfrm>
        </p:grpSpPr>
        <p:sp>
          <p:nvSpPr>
            <p:cNvPr id="214042" name="Line 24"/>
            <p:cNvSpPr>
              <a:spLocks noChangeShapeType="1"/>
            </p:cNvSpPr>
            <p:nvPr/>
          </p:nvSpPr>
          <p:spPr bwMode="auto">
            <a:xfrm>
              <a:off x="4942" y="1456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4043" name="Line 25"/>
            <p:cNvSpPr>
              <a:spLocks noChangeShapeType="1"/>
            </p:cNvSpPr>
            <p:nvPr/>
          </p:nvSpPr>
          <p:spPr bwMode="auto">
            <a:xfrm>
              <a:off x="5327" y="145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78" name="AutoShape 26"/>
          <p:cNvSpPr>
            <a:spLocks noChangeArrowheads="1"/>
          </p:cNvSpPr>
          <p:nvPr/>
        </p:nvSpPr>
        <p:spPr bwMode="auto">
          <a:xfrm flipV="1">
            <a:off x="4672013" y="4404791"/>
            <a:ext cx="2047875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无限多个解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129213" y="3444354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1239838" y="3952354"/>
            <a:ext cx="611187" cy="431800"/>
            <a:chOff x="1812" y="1459"/>
            <a:chExt cx="385" cy="272"/>
          </a:xfrm>
        </p:grpSpPr>
        <p:sp>
          <p:nvSpPr>
            <p:cNvPr id="214040" name="Line 30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4041" name="Line 31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84" name="Text Box 32"/>
          <p:cNvSpPr txBox="1">
            <a:spLocks noChangeArrowheads="1"/>
          </p:cNvSpPr>
          <p:nvPr/>
        </p:nvSpPr>
        <p:spPr bwMode="auto">
          <a:xfrm>
            <a:off x="1312863" y="3449116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85" name="AutoShape 33"/>
          <p:cNvSpPr>
            <a:spLocks noChangeArrowheads="1"/>
          </p:cNvSpPr>
          <p:nvPr/>
        </p:nvSpPr>
        <p:spPr bwMode="auto">
          <a:xfrm flipV="1">
            <a:off x="539750" y="4404791"/>
            <a:ext cx="1408113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唯一解</a:t>
            </a: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5724525" y="4887391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88" name="AutoShape 36"/>
          <p:cNvSpPr>
            <a:spLocks noChangeArrowheads="1"/>
          </p:cNvSpPr>
          <p:nvPr/>
        </p:nvSpPr>
        <p:spPr bwMode="auto">
          <a:xfrm flipV="1">
            <a:off x="3751263" y="5341416"/>
            <a:ext cx="3889375" cy="91440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包含 </a:t>
            </a:r>
            <a:r>
              <a:rPr kumimoji="1" lang="en-US" altLang="zh-CN" b="0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n-R(A</a:t>
            </a:r>
            <a:r>
              <a:rPr kumimoji="1" lang="en-US" altLang="zh-CN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个自由变量</a:t>
            </a:r>
          </a:p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的通解</a:t>
            </a:r>
          </a:p>
        </p:txBody>
      </p:sp>
      <p:graphicFrame>
        <p:nvGraphicFramePr>
          <p:cNvPr id="4918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578428"/>
              </p:ext>
            </p:extLst>
          </p:nvPr>
        </p:nvGraphicFramePr>
        <p:xfrm>
          <a:off x="4787900" y="2726804"/>
          <a:ext cx="17287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26400" imgH="4876800" progId="">
                  <p:embed/>
                </p:oleObj>
              </mc:Choice>
              <mc:Fallback>
                <p:oleObj name="Equation" r:id="rId2" imgW="20726400" imgH="4876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726804"/>
                        <a:ext cx="17287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077276"/>
              </p:ext>
            </p:extLst>
          </p:nvPr>
        </p:nvGraphicFramePr>
        <p:xfrm>
          <a:off x="2822575" y="3745979"/>
          <a:ext cx="1244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35200" imgH="4876800" progId="">
                  <p:embed/>
                </p:oleObj>
              </mc:Choice>
              <mc:Fallback>
                <p:oleObj name="Equation" r:id="rId4" imgW="14935200" imgH="48768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3745979"/>
                        <a:ext cx="1244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1116013" y="1142479"/>
            <a:ext cx="3024187" cy="7921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写出增广矩阵</a:t>
            </a:r>
            <a:endParaRPr lang="en-US" altLang="zh-CN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algn="ctr" eaLnBrk="1" hangingPunct="1">
              <a:defRPr/>
            </a:pPr>
            <a:r>
              <a:rPr lang="en-US" altLang="zh-CN" i="1" dirty="0">
                <a:solidFill>
                  <a:schemeClr val="tx1"/>
                </a:solidFill>
                <a:ea typeface="黑体" panose="02010609060101010101" pitchFamily="49" charset="-122"/>
              </a:rPr>
              <a:t>B=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（</a:t>
            </a:r>
            <a:r>
              <a:rPr lang="zh-CN" altLang="en-US" i="1" dirty="0">
                <a:solidFill>
                  <a:schemeClr val="tx1"/>
                </a:solidFill>
                <a:ea typeface="黑体" panose="02010609060101010101" pitchFamily="49" charset="-122"/>
              </a:rPr>
              <a:t>Ａ</a:t>
            </a:r>
            <a:r>
              <a:rPr lang="en-US" altLang="zh-CN" i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zh-CN" altLang="en-US" i="1" dirty="0">
                <a:solidFill>
                  <a:schemeClr val="tx1"/>
                </a:solidFill>
                <a:ea typeface="黑体" panose="02010609060101010101" pitchFamily="49" charset="-122"/>
              </a:rPr>
              <a:t>ｂ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0" name="矩形 29"/>
          <p:cNvSpPr/>
          <p:nvPr/>
        </p:nvSpPr>
        <p:spPr>
          <a:xfrm>
            <a:off x="4500563" y="1142479"/>
            <a:ext cx="2879725" cy="7921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行最简形矩阵</a:t>
            </a:r>
          </a:p>
        </p:txBody>
      </p:sp>
      <p:sp>
        <p:nvSpPr>
          <p:cNvPr id="31" name="右箭头 30"/>
          <p:cNvSpPr/>
          <p:nvPr/>
        </p:nvSpPr>
        <p:spPr>
          <a:xfrm>
            <a:off x="4140200" y="1429816"/>
            <a:ext cx="360363" cy="730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>
              <a:ea typeface="黑体" panose="02010609060101010101" pitchFamily="49" charset="-122"/>
            </a:endParaRPr>
          </a:p>
        </p:txBody>
      </p:sp>
      <p:sp>
        <p:nvSpPr>
          <p:cNvPr id="214039" name="TextBox 1"/>
          <p:cNvSpPr txBox="1">
            <a:spLocks noChangeArrowheads="1"/>
          </p:cNvSpPr>
          <p:nvPr/>
        </p:nvSpPr>
        <p:spPr bwMode="auto">
          <a:xfrm>
            <a:off x="210369" y="404664"/>
            <a:ext cx="48656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三、求解线性方程组的步骤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10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10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3" dur="10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6" dur="10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 animBg="1"/>
      <p:bldP spid="49160" grpId="0" animBg="1"/>
      <p:bldP spid="49165" grpId="0" animBg="1"/>
      <p:bldP spid="49166" grpId="0"/>
      <p:bldP spid="49171" grpId="0"/>
      <p:bldP spid="49172" grpId="0" animBg="1"/>
      <p:bldP spid="49178" grpId="0" animBg="1"/>
      <p:bldP spid="49179" grpId="0"/>
      <p:bldP spid="49184" grpId="0"/>
      <p:bldP spid="49185" grpId="0" animBg="1"/>
      <p:bldP spid="49187" grpId="0" animBg="1"/>
      <p:bldP spid="49188" grpId="0" animBg="1"/>
      <p:bldP spid="29" grpId="0" animBg="1"/>
      <p:bldP spid="30" grpId="0" animBg="1"/>
      <p:bldP spid="3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17"/>
          <p:cNvSpPr>
            <a:spLocks noChangeArrowheads="1"/>
          </p:cNvSpPr>
          <p:nvPr/>
        </p:nvSpPr>
        <p:spPr bwMode="auto">
          <a:xfrm>
            <a:off x="590872" y="596553"/>
            <a:ext cx="475085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求解非齐次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线性方程组</a:t>
            </a:r>
          </a:p>
        </p:txBody>
      </p:sp>
      <p:graphicFrame>
        <p:nvGraphicFramePr>
          <p:cNvPr id="2150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413935"/>
              </p:ext>
            </p:extLst>
          </p:nvPr>
        </p:nvGraphicFramePr>
        <p:xfrm>
          <a:off x="2961010" y="1003300"/>
          <a:ext cx="3459162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452800" imgH="22555200" progId="">
                  <p:embed/>
                </p:oleObj>
              </mc:Choice>
              <mc:Fallback>
                <p:oleObj name="Equation" r:id="rId2" imgW="41452800" imgH="225552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010" y="1003300"/>
                        <a:ext cx="3459162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411843"/>
              </p:ext>
            </p:extLst>
          </p:nvPr>
        </p:nvGraphicFramePr>
        <p:xfrm>
          <a:off x="1298897" y="3330575"/>
          <a:ext cx="6143625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761600" imgH="22250400" progId="">
                  <p:embed/>
                </p:oleObj>
              </mc:Choice>
              <mc:Fallback>
                <p:oleObj name="Equation" r:id="rId4" imgW="73761600" imgH="222504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897" y="3330575"/>
                        <a:ext cx="6143625" cy="185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529208" y="2924944"/>
            <a:ext cx="5616624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解：</a:t>
            </a: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对增广矩阵进行</a:t>
            </a:r>
            <a:r>
              <a:rPr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初等行变换</a:t>
            </a:r>
            <a:endParaRPr kumimoji="1" lang="zh-CN" altLang="en-US" b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590872" y="5229225"/>
            <a:ext cx="7437512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3 &lt; 4</a:t>
            </a: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，故原线性方程组有无穷多解．</a:t>
            </a:r>
          </a:p>
        </p:txBody>
      </p:sp>
      <p:grpSp>
        <p:nvGrpSpPr>
          <p:cNvPr id="2" name="Group 34"/>
          <p:cNvGrpSpPr>
            <a:grpSpLocks noChangeAspect="1"/>
          </p:cNvGrpSpPr>
          <p:nvPr/>
        </p:nvGrpSpPr>
        <p:grpSpPr bwMode="auto">
          <a:xfrm>
            <a:off x="4950147" y="3787775"/>
            <a:ext cx="2349500" cy="925513"/>
            <a:chOff x="192" y="712"/>
            <a:chExt cx="1728" cy="680"/>
          </a:xfrm>
        </p:grpSpPr>
        <p:sp>
          <p:nvSpPr>
            <p:cNvPr id="215048" name="Line 35"/>
            <p:cNvSpPr>
              <a:spLocks noChangeAspect="1" noChangeShapeType="1"/>
            </p:cNvSpPr>
            <p:nvPr/>
          </p:nvSpPr>
          <p:spPr bwMode="auto">
            <a:xfrm>
              <a:off x="192" y="712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5049" name="Line 36"/>
            <p:cNvSpPr>
              <a:spLocks noChangeAspect="1" noChangeShapeType="1"/>
            </p:cNvSpPr>
            <p:nvPr/>
          </p:nvSpPr>
          <p:spPr bwMode="auto">
            <a:xfrm>
              <a:off x="480" y="720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5050" name="Line 37"/>
            <p:cNvSpPr>
              <a:spLocks noChangeAspect="1" noChangeShapeType="1"/>
            </p:cNvSpPr>
            <p:nvPr/>
          </p:nvSpPr>
          <p:spPr bwMode="auto">
            <a:xfrm>
              <a:off x="480" y="1056"/>
              <a:ext cx="72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5051" name="Line 38"/>
            <p:cNvSpPr>
              <a:spLocks noChangeAspect="1" noChangeShapeType="1"/>
            </p:cNvSpPr>
            <p:nvPr/>
          </p:nvSpPr>
          <p:spPr bwMode="auto">
            <a:xfrm>
              <a:off x="1200" y="1056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5052" name="Line 39"/>
            <p:cNvSpPr>
              <a:spLocks noChangeAspect="1" noChangeShapeType="1"/>
            </p:cNvSpPr>
            <p:nvPr/>
          </p:nvSpPr>
          <p:spPr bwMode="auto">
            <a:xfrm>
              <a:off x="1200" y="1392"/>
              <a:ext cx="72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0"/>
                                        <p:tgtEl>
                                          <p:spTgt spid="29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6" grpId="0"/>
      <p:bldP spid="29720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1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458174"/>
              </p:ext>
            </p:extLst>
          </p:nvPr>
        </p:nvGraphicFramePr>
        <p:xfrm>
          <a:off x="2042336" y="260648"/>
          <a:ext cx="5625003" cy="1696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761600" imgH="22250400" progId="">
                  <p:embed/>
                </p:oleObj>
              </mc:Choice>
              <mc:Fallback>
                <p:oleObj name="Equation" r:id="rId2" imgW="73761600" imgH="222504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2336" y="260648"/>
                        <a:ext cx="5625003" cy="1696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500063" y="925105"/>
            <a:ext cx="8229600" cy="43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解（续）：</a:t>
            </a: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b="0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b="0" dirty="0">
              <a:solidFill>
                <a:srgbClr val="0000FF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即得与原方程组同解的方程组</a:t>
            </a: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lang="en-US" altLang="zh-CN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由此即得</a:t>
            </a: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lang="en-US" altLang="zh-CN" b="0" baseline="-2500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3385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004137"/>
              </p:ext>
            </p:extLst>
          </p:nvPr>
        </p:nvGraphicFramePr>
        <p:xfrm>
          <a:off x="4545806" y="1879765"/>
          <a:ext cx="3078163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80800" imgH="17068800" progId="">
                  <p:embed/>
                </p:oleObj>
              </mc:Choice>
              <mc:Fallback>
                <p:oleObj name="Equation" r:id="rId4" imgW="36880800" imgH="170688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806" y="1879765"/>
                        <a:ext cx="3078163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5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80514"/>
              </p:ext>
            </p:extLst>
          </p:nvPr>
        </p:nvGraphicFramePr>
        <p:xfrm>
          <a:off x="1850477" y="3310744"/>
          <a:ext cx="170497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21600" imgH="17068800" progId="">
                  <p:embed/>
                </p:oleObj>
              </mc:Choice>
              <mc:Fallback>
                <p:oleObj name="Equation" r:id="rId6" imgW="20421600" imgH="170688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0477" y="3310744"/>
                        <a:ext cx="17049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5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368202"/>
              </p:ext>
            </p:extLst>
          </p:nvPr>
        </p:nvGraphicFramePr>
        <p:xfrm>
          <a:off x="5519319" y="4310262"/>
          <a:ext cx="2597150" cy="188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089600" imgH="22555200" progId="">
                  <p:embed/>
                </p:oleObj>
              </mc:Choice>
              <mc:Fallback>
                <p:oleObj name="Equation" r:id="rId8" imgW="31089600" imgH="225552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319" y="4310262"/>
                        <a:ext cx="2597150" cy="188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57" name="Oval 65"/>
          <p:cNvSpPr>
            <a:spLocks noChangeArrowheads="1"/>
          </p:cNvSpPr>
          <p:nvPr/>
        </p:nvSpPr>
        <p:spPr bwMode="auto">
          <a:xfrm>
            <a:off x="5364088" y="292362"/>
            <a:ext cx="361950" cy="361950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3858" name="Oval 66"/>
          <p:cNvSpPr>
            <a:spLocks noChangeArrowheads="1"/>
          </p:cNvSpPr>
          <p:nvPr/>
        </p:nvSpPr>
        <p:spPr bwMode="auto">
          <a:xfrm>
            <a:off x="5724128" y="724410"/>
            <a:ext cx="361950" cy="361950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3859" name="Oval 67"/>
          <p:cNvSpPr>
            <a:spLocks noChangeArrowheads="1"/>
          </p:cNvSpPr>
          <p:nvPr/>
        </p:nvSpPr>
        <p:spPr bwMode="auto">
          <a:xfrm>
            <a:off x="6660232" y="1124744"/>
            <a:ext cx="361950" cy="361950"/>
          </a:xfrm>
          <a:prstGeom prst="ellipse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643202" y="3780765"/>
                <a:ext cx="41594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，得到方程组的通解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202" y="3780765"/>
                <a:ext cx="4159472" cy="461665"/>
              </a:xfrm>
              <a:prstGeom prst="rect">
                <a:avLst/>
              </a:prstGeom>
              <a:blipFill>
                <a:blip r:embed="rId10"/>
                <a:stretch>
                  <a:fillRect l="-2346" t="-14474" r="-14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065905"/>
              </p:ext>
            </p:extLst>
          </p:nvPr>
        </p:nvGraphicFramePr>
        <p:xfrm>
          <a:off x="1850477" y="4686760"/>
          <a:ext cx="1353371" cy="169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1760" imgH="952200" progId="Equation.DSMT4">
                  <p:embed/>
                </p:oleObj>
              </mc:Choice>
              <mc:Fallback>
                <p:oleObj name="Equation" r:id="rId11" imgW="761760" imgH="952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0477" y="4686760"/>
                        <a:ext cx="1353371" cy="169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241898" y="5021610"/>
            <a:ext cx="56505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或写成向量形式                                  ，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4211960" y="6118686"/>
                <a:ext cx="22590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为任意数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.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6118686"/>
                <a:ext cx="2259080" cy="461665"/>
              </a:xfrm>
              <a:prstGeom prst="rect">
                <a:avLst/>
              </a:prstGeom>
              <a:blipFill>
                <a:blip r:embed="rId13"/>
                <a:stretch>
                  <a:fillRect l="-4313" t="-14667" r="-3235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660232" y="6093296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1000"/>
                                        <p:tgtEl>
                                          <p:spTgt spid="3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3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3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38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21" grpId="0" build="p"/>
      <p:bldP spid="33857" grpId="0" animBg="1"/>
      <p:bldP spid="33858" grpId="0" animBg="1"/>
      <p:bldP spid="33859" grpId="0" animBg="1"/>
      <p:bldP spid="2" grpId="0"/>
      <p:bldP spid="4" grpId="0"/>
      <p:bldP spid="13" grpId="0"/>
      <p:bldP spid="3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457200" y="740569"/>
            <a:ext cx="7571184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求解非齐次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线性方程组</a:t>
            </a:r>
          </a:p>
        </p:txBody>
      </p:sp>
      <p:graphicFrame>
        <p:nvGraphicFramePr>
          <p:cNvPr id="21913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729132"/>
              </p:ext>
            </p:extLst>
          </p:nvPr>
        </p:nvGraphicFramePr>
        <p:xfrm>
          <a:off x="2827338" y="1231900"/>
          <a:ext cx="3459162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452800" imgH="17068800" progId="">
                  <p:embed/>
                </p:oleObj>
              </mc:Choice>
              <mc:Fallback>
                <p:oleObj name="Equation" r:id="rId2" imgW="41452800" imgH="17068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1231900"/>
                        <a:ext cx="3459162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981753"/>
              </p:ext>
            </p:extLst>
          </p:nvPr>
        </p:nvGraphicFramePr>
        <p:xfrm>
          <a:off x="1130300" y="3559175"/>
          <a:ext cx="6321425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5895200" imgH="16764000" progId="">
                  <p:embed/>
                </p:oleObj>
              </mc:Choice>
              <mc:Fallback>
                <p:oleObj name="Equation" r:id="rId4" imgW="75895200" imgH="167640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3559175"/>
                        <a:ext cx="6321425" cy="139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495962" y="2852936"/>
            <a:ext cx="724439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解：</a:t>
            </a: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对增广矩阵进行</a:t>
            </a:r>
            <a:r>
              <a:rPr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初等行变换</a:t>
            </a:r>
            <a:endParaRPr kumimoji="1" lang="zh-CN" altLang="en-US" b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529208" y="5229225"/>
            <a:ext cx="6491064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2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3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，故原线性方程组无解．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572001" y="4013200"/>
            <a:ext cx="2808288" cy="914400"/>
            <a:chOff x="2880" y="2528"/>
            <a:chExt cx="1769" cy="576"/>
          </a:xfrm>
        </p:grpSpPr>
        <p:sp>
          <p:nvSpPr>
            <p:cNvPr id="219144" name="Line 8"/>
            <p:cNvSpPr>
              <a:spLocks noChangeAspect="1" noChangeShapeType="1"/>
            </p:cNvSpPr>
            <p:nvPr/>
          </p:nvSpPr>
          <p:spPr bwMode="auto">
            <a:xfrm>
              <a:off x="2880" y="2530"/>
              <a:ext cx="272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9145" name="Line 9"/>
            <p:cNvSpPr>
              <a:spLocks noChangeAspect="1" noChangeShapeType="1"/>
            </p:cNvSpPr>
            <p:nvPr/>
          </p:nvSpPr>
          <p:spPr bwMode="auto">
            <a:xfrm>
              <a:off x="3162" y="2528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9146" name="Line 10"/>
            <p:cNvSpPr>
              <a:spLocks noChangeAspect="1" noChangeShapeType="1"/>
            </p:cNvSpPr>
            <p:nvPr/>
          </p:nvSpPr>
          <p:spPr bwMode="auto">
            <a:xfrm>
              <a:off x="3162" y="2816"/>
              <a:ext cx="1134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9147" name="Line 11"/>
            <p:cNvSpPr>
              <a:spLocks noChangeAspect="1" noChangeShapeType="1"/>
            </p:cNvSpPr>
            <p:nvPr/>
          </p:nvSpPr>
          <p:spPr bwMode="auto">
            <a:xfrm>
              <a:off x="4286" y="2816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3" name="Line 8"/>
            <p:cNvSpPr>
              <a:spLocks noChangeAspect="1" noChangeShapeType="1"/>
            </p:cNvSpPr>
            <p:nvPr/>
          </p:nvSpPr>
          <p:spPr bwMode="auto">
            <a:xfrm>
              <a:off x="4286" y="3104"/>
              <a:ext cx="36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732240" y="5229200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▋</a:t>
            </a:r>
            <a:endParaRPr lang="zh-CN" altLang="en-US" dirty="0">
              <a:solidFill>
                <a:srgbClr val="3103F3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/>
      <p:bldP spid="36870" grpId="0" build="p"/>
      <p:bldP spid="12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ChangeArrowheads="1"/>
          </p:cNvSpPr>
          <p:nvPr/>
        </p:nvSpPr>
        <p:spPr bwMode="auto">
          <a:xfrm>
            <a:off x="518864" y="692696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3 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求解齐次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线性方程组</a:t>
            </a:r>
          </a:p>
        </p:txBody>
      </p:sp>
      <p:graphicFrame>
        <p:nvGraphicFramePr>
          <p:cNvPr id="22016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829613"/>
              </p:ext>
            </p:extLst>
          </p:nvPr>
        </p:nvGraphicFramePr>
        <p:xfrm>
          <a:off x="2840038" y="1290638"/>
          <a:ext cx="3433762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148000" imgH="17068800" progId="">
                  <p:embed/>
                </p:oleObj>
              </mc:Choice>
              <mc:Fallback>
                <p:oleObj name="Equation" r:id="rId2" imgW="41148000" imgH="170688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038" y="1290638"/>
                        <a:ext cx="3433762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500063" y="2924944"/>
            <a:ext cx="8229600" cy="50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分析：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只需对系数矩阵 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进行初等行变换化为</a:t>
            </a:r>
            <a:r>
              <a:rPr lang="zh-CN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行最简形矩阵</a:t>
            </a:r>
            <a:r>
              <a:rPr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.</a:t>
            </a:r>
            <a:endParaRPr kumimoji="1" lang="zh-CN" altLang="en-US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 build="allAtOnce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841977622"/>
              </p:ext>
            </p:extLst>
          </p:nvPr>
        </p:nvGraphicFramePr>
        <p:xfrm>
          <a:off x="785923" y="655932"/>
          <a:ext cx="3816350" cy="184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356800" imgH="17068800" progId="Equation.3">
                  <p:embed/>
                </p:oleObj>
              </mc:Choice>
              <mc:Fallback>
                <p:oleObj name="公式" r:id="rId2" imgW="35356800" imgH="1706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923" y="655932"/>
                        <a:ext cx="3816350" cy="184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062041351"/>
              </p:ext>
            </p:extLst>
          </p:nvPr>
        </p:nvGraphicFramePr>
        <p:xfrm>
          <a:off x="5075795" y="722607"/>
          <a:ext cx="3307159" cy="1649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08160" imgH="736560" progId="Equation.3">
                  <p:embed/>
                </p:oleObj>
              </mc:Choice>
              <mc:Fallback>
                <p:oleObj name="公式" r:id="rId4" imgW="2108160" imgH="736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795" y="722607"/>
                        <a:ext cx="3307159" cy="1649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705761666"/>
              </p:ext>
            </p:extLst>
          </p:nvPr>
        </p:nvGraphicFramePr>
        <p:xfrm>
          <a:off x="467544" y="2516889"/>
          <a:ext cx="303421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31560" imgH="203040" progId="Equation.3">
                  <p:embed/>
                </p:oleObj>
              </mc:Choice>
              <mc:Fallback>
                <p:oleObj name="公式" r:id="rId6" imgW="123156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516889"/>
                        <a:ext cx="303421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189" name="Text Box 9"/>
          <p:cNvSpPr txBox="1">
            <a:spLocks noChangeArrowheads="1"/>
          </p:cNvSpPr>
          <p:nvPr/>
        </p:nvSpPr>
        <p:spPr bwMode="auto">
          <a:xfrm>
            <a:off x="641944" y="295977"/>
            <a:ext cx="58022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解：</a:t>
            </a:r>
            <a:r>
              <a:rPr lang="zh-CN" altLang="en-US" sz="28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对系数矩阵进行</a:t>
            </a:r>
            <a:r>
              <a:rPr lang="zh-CN" altLang="en-US" sz="2800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初等行变换</a:t>
            </a:r>
          </a:p>
        </p:txBody>
      </p:sp>
      <p:graphicFrame>
        <p:nvGraphicFramePr>
          <p:cNvPr id="4" name="Object 1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381671186"/>
              </p:ext>
            </p:extLst>
          </p:nvPr>
        </p:nvGraphicFramePr>
        <p:xfrm>
          <a:off x="3564707" y="2619397"/>
          <a:ext cx="50323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267200" imgH="3962400" progId="Equation.3">
                  <p:embed/>
                </p:oleObj>
              </mc:Choice>
              <mc:Fallback>
                <p:oleObj name="公式" r:id="rId8" imgW="4267200" imgH="3962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4707" y="2619397"/>
                        <a:ext cx="50323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63344" name="Text Box 16"/>
          <p:cNvSpPr txBox="1">
            <a:spLocks noChangeArrowheads="1"/>
          </p:cNvSpPr>
          <p:nvPr/>
        </p:nvSpPr>
        <p:spPr bwMode="auto">
          <a:xfrm>
            <a:off x="4028119" y="2475381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0" dirty="0">
                <a:latin typeface="+mn-lt"/>
                <a:ea typeface="黑体" panose="02010609060101010101" pitchFamily="49" charset="-122"/>
              </a:rPr>
              <a:t>方程组有无穷多解</a:t>
            </a:r>
            <a:r>
              <a:rPr lang="en-US" altLang="zh-CN" sz="2800" b="0" dirty="0"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664372"/>
              </p:ext>
            </p:extLst>
          </p:nvPr>
        </p:nvGraphicFramePr>
        <p:xfrm>
          <a:off x="2459420" y="3742102"/>
          <a:ext cx="3925888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880800" imgH="15849600" progId="Equation.3">
                  <p:embed/>
                </p:oleObj>
              </mc:Choice>
              <mc:Fallback>
                <p:oleObj name="公式" r:id="rId10" imgW="36880800" imgH="15849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420" y="3742102"/>
                        <a:ext cx="3925888" cy="168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63346" name="Text Box 18"/>
          <p:cNvSpPr txBox="1">
            <a:spLocks noChangeArrowheads="1"/>
          </p:cNvSpPr>
          <p:nvPr/>
        </p:nvSpPr>
        <p:spPr bwMode="auto">
          <a:xfrm>
            <a:off x="1111087" y="3164310"/>
            <a:ext cx="5834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0" dirty="0">
                <a:latin typeface="+mn-lt"/>
                <a:ea typeface="黑体" panose="02010609060101010101" pitchFamily="49" charset="-122"/>
              </a:rPr>
              <a:t>与原方程组同解的方程组为 </a:t>
            </a:r>
            <a:endParaRPr lang="en-US" altLang="zh-CN" sz="2800" b="0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676471"/>
              </p:ext>
            </p:extLst>
          </p:nvPr>
        </p:nvGraphicFramePr>
        <p:xfrm>
          <a:off x="1903967" y="5067669"/>
          <a:ext cx="4327953" cy="1601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04760" imgH="711000" progId="Equation.3">
                  <p:embed/>
                </p:oleObj>
              </mc:Choice>
              <mc:Fallback>
                <p:oleObj name="公式" r:id="rId12" imgW="1904760" imgH="7110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967" y="5067669"/>
                        <a:ext cx="4327953" cy="1601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57"/>
          <p:cNvSpPr>
            <a:spLocks/>
          </p:cNvSpPr>
          <p:nvPr/>
        </p:nvSpPr>
        <p:spPr bwMode="auto">
          <a:xfrm>
            <a:off x="4566604" y="1547290"/>
            <a:ext cx="648146" cy="114254"/>
          </a:xfrm>
          <a:custGeom>
            <a:avLst/>
            <a:gdLst>
              <a:gd name="T0" fmla="*/ 0 w 1179"/>
              <a:gd name="T1" fmla="*/ 0 h 273"/>
              <a:gd name="T2" fmla="*/ 3 w 1179"/>
              <a:gd name="T3" fmla="*/ 0 h 273"/>
              <a:gd name="T4" fmla="*/ 3 w 1179"/>
              <a:gd name="T5" fmla="*/ 0 h 273"/>
              <a:gd name="T6" fmla="*/ 3 w 1179"/>
              <a:gd name="T7" fmla="*/ 0 h 273"/>
              <a:gd name="T8" fmla="*/ 3 w 1179"/>
              <a:gd name="T9" fmla="*/ 0 h 2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9"/>
              <a:gd name="T16" fmla="*/ 0 h 273"/>
              <a:gd name="T17" fmla="*/ 1179 w 1179"/>
              <a:gd name="T18" fmla="*/ 273 h 2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9" h="273">
                <a:moveTo>
                  <a:pt x="0" y="139"/>
                </a:moveTo>
                <a:cubicBezTo>
                  <a:pt x="46" y="116"/>
                  <a:pt x="178" y="0"/>
                  <a:pt x="276" y="0"/>
                </a:cubicBezTo>
                <a:cubicBezTo>
                  <a:pt x="374" y="0"/>
                  <a:pt x="485" y="94"/>
                  <a:pt x="589" y="139"/>
                </a:cubicBezTo>
                <a:cubicBezTo>
                  <a:pt x="693" y="184"/>
                  <a:pt x="803" y="273"/>
                  <a:pt x="901" y="273"/>
                </a:cubicBezTo>
                <a:cubicBezTo>
                  <a:pt x="999" y="273"/>
                  <a:pt x="1121" y="167"/>
                  <a:pt x="1179" y="13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9"/>
              <p:cNvSpPr txBox="1">
                <a:spLocks noChangeArrowheads="1"/>
              </p:cNvSpPr>
              <p:nvPr/>
            </p:nvSpPr>
            <p:spPr bwMode="auto">
              <a:xfrm>
                <a:off x="4422364" y="1081197"/>
                <a:ext cx="93662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2800" b="0" dirty="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2364" y="1081197"/>
                <a:ext cx="93662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816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16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63344" grpId="0"/>
      <p:bldP spid="8163346" grpId="0"/>
      <p:bldP spid="12" grpId="0" animBg="1"/>
      <p:bldP spid="13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613951510"/>
              </p:ext>
            </p:extLst>
          </p:nvPr>
        </p:nvGraphicFramePr>
        <p:xfrm>
          <a:off x="1691680" y="3356992"/>
          <a:ext cx="5927725" cy="264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9189600" imgH="27432000" progId="Equation.3">
                  <p:embed/>
                </p:oleObj>
              </mc:Choice>
              <mc:Fallback>
                <p:oleObj name="公式" r:id="rId2" imgW="69189600" imgH="27432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356992"/>
                        <a:ext cx="5927725" cy="264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11" name="Text Box 23"/>
          <p:cNvSpPr txBox="1">
            <a:spLocks noChangeArrowheads="1"/>
          </p:cNvSpPr>
          <p:nvPr/>
        </p:nvSpPr>
        <p:spPr bwMode="auto">
          <a:xfrm>
            <a:off x="923330" y="2736851"/>
            <a:ext cx="6696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0" dirty="0">
                <a:latin typeface="+mn-lt"/>
                <a:ea typeface="黑体" panose="02010609060101010101" pitchFamily="49" charset="-122"/>
              </a:rPr>
              <a:t>线性方程组的通解为</a:t>
            </a:r>
          </a:p>
        </p:txBody>
      </p:sp>
      <p:graphicFrame>
        <p:nvGraphicFramePr>
          <p:cNvPr id="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310514"/>
              </p:ext>
            </p:extLst>
          </p:nvPr>
        </p:nvGraphicFramePr>
        <p:xfrm>
          <a:off x="2101850" y="1384300"/>
          <a:ext cx="3827463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966400" imgH="15849600" progId="Equation.3">
                  <p:embed/>
                </p:oleObj>
              </mc:Choice>
              <mc:Fallback>
                <p:oleObj name="公式" r:id="rId4" imgW="35966400" imgH="15849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0" y="1384300"/>
                        <a:ext cx="3827463" cy="168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970186" y="681038"/>
            <a:ext cx="5834062" cy="544512"/>
            <a:chOff x="1064" y="3103"/>
            <a:chExt cx="3675" cy="343"/>
          </a:xfrm>
        </p:grpSpPr>
        <p:sp>
          <p:nvSpPr>
            <p:cNvPr id="222214" name="Text Box 19"/>
            <p:cNvSpPr txBox="1">
              <a:spLocks noChangeArrowheads="1"/>
            </p:cNvSpPr>
            <p:nvPr/>
          </p:nvSpPr>
          <p:spPr bwMode="auto">
            <a:xfrm>
              <a:off x="1064" y="3103"/>
              <a:ext cx="367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0" dirty="0">
                  <a:latin typeface="+mn-lt"/>
                  <a:ea typeface="黑体" panose="02010609060101010101" pitchFamily="49" charset="-122"/>
                </a:rPr>
                <a:t>取                        ，得</a:t>
              </a:r>
              <a:endParaRPr lang="en-US" altLang="zh-CN" sz="2800" b="0" dirty="0">
                <a:latin typeface="+mn-lt"/>
                <a:ea typeface="黑体" panose="02010609060101010101" pitchFamily="49" charset="-122"/>
              </a:endParaRPr>
            </a:p>
          </p:txBody>
        </p:sp>
        <p:graphicFrame>
          <p:nvGraphicFramePr>
            <p:cNvPr id="222215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2095863"/>
                </p:ext>
              </p:extLst>
            </p:nvPr>
          </p:nvGraphicFramePr>
          <p:xfrm>
            <a:off x="1393" y="3113"/>
            <a:ext cx="1316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1640800" imgH="5486400" progId="Equation.3">
                    <p:embed/>
                  </p:oleObj>
                </mc:Choice>
                <mc:Fallback>
                  <p:oleObj name="公式" r:id="rId6" imgW="21640800" imgH="54864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3" y="3113"/>
                          <a:ext cx="1316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899592" y="5786378"/>
                <a:ext cx="36724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任意数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.</a:t>
                </a:r>
                <a:endParaRPr lang="zh-CN" altLang="en-US" sz="2800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786378"/>
                <a:ext cx="3672408" cy="523220"/>
              </a:xfrm>
              <a:prstGeom prst="rect">
                <a:avLst/>
              </a:prstGeom>
              <a:blipFill>
                <a:blip r:embed="rId8"/>
                <a:stretch>
                  <a:fillRect l="-3488" t="-15116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427984" y="580526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▋</a:t>
            </a:r>
            <a:endParaRPr lang="zh-CN" altLang="en-US" sz="2800" dirty="0">
              <a:solidFill>
                <a:srgbClr val="3103F3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/>
      <p:bldP spid="9" grpId="0"/>
      <p:bldP spid="10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8" name="AutoShape 6"/>
          <p:cNvSpPr>
            <a:spLocks noChangeArrowheads="1"/>
          </p:cNvSpPr>
          <p:nvPr/>
        </p:nvSpPr>
        <p:spPr bwMode="auto">
          <a:xfrm>
            <a:off x="4038600" y="2730232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5662613" y="2125514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283450" y="3098651"/>
            <a:ext cx="611188" cy="431800"/>
            <a:chOff x="4942" y="1456"/>
            <a:chExt cx="385" cy="272"/>
          </a:xfrm>
        </p:grpSpPr>
        <p:sp>
          <p:nvSpPr>
            <p:cNvPr id="214046" name="Line 11"/>
            <p:cNvSpPr>
              <a:spLocks noChangeShapeType="1"/>
            </p:cNvSpPr>
            <p:nvPr/>
          </p:nvSpPr>
          <p:spPr bwMode="auto">
            <a:xfrm>
              <a:off x="4942" y="1456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4047" name="Line 12"/>
            <p:cNvSpPr>
              <a:spLocks noChangeShapeType="1"/>
            </p:cNvSpPr>
            <p:nvPr/>
          </p:nvSpPr>
          <p:spPr bwMode="auto">
            <a:xfrm>
              <a:off x="5327" y="145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65" name="AutoShape 13"/>
          <p:cNvSpPr>
            <a:spLocks noChangeArrowheads="1"/>
          </p:cNvSpPr>
          <p:nvPr/>
        </p:nvSpPr>
        <p:spPr bwMode="auto">
          <a:xfrm flipV="1">
            <a:off x="7356475" y="3536801"/>
            <a:ext cx="1119188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无解</a:t>
            </a:r>
          </a:p>
        </p:txBody>
      </p:sp>
      <p:sp>
        <p:nvSpPr>
          <p:cNvPr id="49166" name="Text Box 14"/>
          <p:cNvSpPr txBox="1">
            <a:spLocks noChangeArrowheads="1"/>
          </p:cNvSpPr>
          <p:nvPr/>
        </p:nvSpPr>
        <p:spPr bwMode="auto">
          <a:xfrm>
            <a:off x="7323138" y="2638276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3427413" y="3068489"/>
            <a:ext cx="611187" cy="431800"/>
            <a:chOff x="1812" y="1459"/>
            <a:chExt cx="385" cy="272"/>
          </a:xfrm>
        </p:grpSpPr>
        <p:sp>
          <p:nvSpPr>
            <p:cNvPr id="214044" name="Line 17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4045" name="Line 18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71" name="Text Box 19"/>
          <p:cNvSpPr txBox="1">
            <a:spLocks noChangeArrowheads="1"/>
          </p:cNvSpPr>
          <p:nvPr/>
        </p:nvSpPr>
        <p:spPr bwMode="auto">
          <a:xfrm>
            <a:off x="3506788" y="2616051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72" name="AutoShape 20"/>
          <p:cNvSpPr>
            <a:spLocks noChangeArrowheads="1"/>
          </p:cNvSpPr>
          <p:nvPr/>
        </p:nvSpPr>
        <p:spPr bwMode="auto">
          <a:xfrm>
            <a:off x="1822450" y="3708132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5081588" y="4076551"/>
            <a:ext cx="611187" cy="431800"/>
            <a:chOff x="4942" y="1456"/>
            <a:chExt cx="385" cy="272"/>
          </a:xfrm>
        </p:grpSpPr>
        <p:sp>
          <p:nvSpPr>
            <p:cNvPr id="214042" name="Line 24"/>
            <p:cNvSpPr>
              <a:spLocks noChangeShapeType="1"/>
            </p:cNvSpPr>
            <p:nvPr/>
          </p:nvSpPr>
          <p:spPr bwMode="auto">
            <a:xfrm>
              <a:off x="4942" y="1456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4043" name="Line 25"/>
            <p:cNvSpPr>
              <a:spLocks noChangeShapeType="1"/>
            </p:cNvSpPr>
            <p:nvPr/>
          </p:nvSpPr>
          <p:spPr bwMode="auto">
            <a:xfrm>
              <a:off x="5327" y="145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78" name="AutoShape 26"/>
          <p:cNvSpPr>
            <a:spLocks noChangeArrowheads="1"/>
          </p:cNvSpPr>
          <p:nvPr/>
        </p:nvSpPr>
        <p:spPr bwMode="auto">
          <a:xfrm flipV="1">
            <a:off x="4672013" y="4530576"/>
            <a:ext cx="2047875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无限多个解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129213" y="3570139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1239838" y="4078139"/>
            <a:ext cx="611187" cy="431800"/>
            <a:chOff x="1812" y="1459"/>
            <a:chExt cx="385" cy="272"/>
          </a:xfrm>
        </p:grpSpPr>
        <p:sp>
          <p:nvSpPr>
            <p:cNvPr id="214040" name="Line 30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14041" name="Line 31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84" name="Text Box 32"/>
          <p:cNvSpPr txBox="1">
            <a:spLocks noChangeArrowheads="1"/>
          </p:cNvSpPr>
          <p:nvPr/>
        </p:nvSpPr>
        <p:spPr bwMode="auto">
          <a:xfrm>
            <a:off x="1312863" y="3574901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85" name="AutoShape 33"/>
          <p:cNvSpPr>
            <a:spLocks noChangeArrowheads="1"/>
          </p:cNvSpPr>
          <p:nvPr/>
        </p:nvSpPr>
        <p:spPr bwMode="auto">
          <a:xfrm flipV="1">
            <a:off x="539750" y="4530576"/>
            <a:ext cx="1408113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唯一解</a:t>
            </a: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5724525" y="5013176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88" name="AutoShape 36"/>
          <p:cNvSpPr>
            <a:spLocks noChangeArrowheads="1"/>
          </p:cNvSpPr>
          <p:nvPr/>
        </p:nvSpPr>
        <p:spPr bwMode="auto">
          <a:xfrm flipV="1">
            <a:off x="3751263" y="5467201"/>
            <a:ext cx="3889375" cy="91440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包含 </a:t>
            </a:r>
            <a:r>
              <a:rPr kumimoji="1" lang="en-US" altLang="zh-CN" b="0" i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n-R(A</a:t>
            </a:r>
            <a:r>
              <a:rPr kumimoji="1" lang="en-US" altLang="zh-CN" b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个自由变量</a:t>
            </a:r>
          </a:p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的通解</a:t>
            </a:r>
          </a:p>
        </p:txBody>
      </p:sp>
      <p:graphicFrame>
        <p:nvGraphicFramePr>
          <p:cNvPr id="4918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795983"/>
              </p:ext>
            </p:extLst>
          </p:nvPr>
        </p:nvGraphicFramePr>
        <p:xfrm>
          <a:off x="4787900" y="2852589"/>
          <a:ext cx="17287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26400" imgH="4876800" progId="">
                  <p:embed/>
                </p:oleObj>
              </mc:Choice>
              <mc:Fallback>
                <p:oleObj name="Equation" r:id="rId2" imgW="20726400" imgH="4876800" progId="">
                  <p:embed/>
                  <p:pic>
                    <p:nvPicPr>
                      <p:cNvPr id="4918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852589"/>
                        <a:ext cx="17287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468653"/>
              </p:ext>
            </p:extLst>
          </p:nvPr>
        </p:nvGraphicFramePr>
        <p:xfrm>
          <a:off x="2822575" y="3871764"/>
          <a:ext cx="1244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35200" imgH="4876800" progId="">
                  <p:embed/>
                </p:oleObj>
              </mc:Choice>
              <mc:Fallback>
                <p:oleObj name="Equation" r:id="rId4" imgW="14935200" imgH="4876800" progId="">
                  <p:embed/>
                  <p:pic>
                    <p:nvPicPr>
                      <p:cNvPr id="4919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3871764"/>
                        <a:ext cx="1244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1116013" y="1268264"/>
            <a:ext cx="3024187" cy="7921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>
                <a:solidFill>
                  <a:schemeClr val="tx1"/>
                </a:solidFill>
                <a:ea typeface="黑体" panose="02010609060101010101" pitchFamily="49" charset="-122"/>
              </a:rPr>
              <a:t>写出增广矩阵</a:t>
            </a:r>
            <a:endParaRPr lang="en-US" altLang="zh-CN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algn="ctr" eaLnBrk="1" hangingPunct="1">
              <a:defRPr/>
            </a:pPr>
            <a:r>
              <a:rPr lang="en-US" altLang="zh-CN" i="1">
                <a:solidFill>
                  <a:schemeClr val="tx1"/>
                </a:solidFill>
                <a:ea typeface="黑体" panose="02010609060101010101" pitchFamily="49" charset="-122"/>
              </a:rPr>
              <a:t>B=</a:t>
            </a:r>
            <a:r>
              <a:rPr lang="zh-CN" altLang="en-US">
                <a:solidFill>
                  <a:schemeClr val="tx1"/>
                </a:solidFill>
                <a:ea typeface="黑体" panose="02010609060101010101" pitchFamily="49" charset="-122"/>
              </a:rPr>
              <a:t>（</a:t>
            </a:r>
            <a:r>
              <a:rPr lang="zh-CN" altLang="en-US" i="1">
                <a:solidFill>
                  <a:schemeClr val="tx1"/>
                </a:solidFill>
                <a:ea typeface="黑体" panose="02010609060101010101" pitchFamily="49" charset="-122"/>
              </a:rPr>
              <a:t>Ａ</a:t>
            </a:r>
            <a:r>
              <a:rPr lang="en-US" altLang="zh-CN" i="1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zh-CN" altLang="en-US" i="1">
                <a:solidFill>
                  <a:schemeClr val="tx1"/>
                </a:solidFill>
                <a:ea typeface="黑体" panose="02010609060101010101" pitchFamily="49" charset="-122"/>
              </a:rPr>
              <a:t>ｂ</a:t>
            </a:r>
            <a:r>
              <a:rPr lang="zh-CN" altLang="en-US">
                <a:solidFill>
                  <a:schemeClr val="tx1"/>
                </a:solidFill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0" name="矩形 29"/>
          <p:cNvSpPr/>
          <p:nvPr/>
        </p:nvSpPr>
        <p:spPr>
          <a:xfrm>
            <a:off x="4500563" y="1268264"/>
            <a:ext cx="2879725" cy="7921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行最简形矩阵</a:t>
            </a:r>
          </a:p>
        </p:txBody>
      </p:sp>
      <p:sp>
        <p:nvSpPr>
          <p:cNvPr id="31" name="右箭头 30"/>
          <p:cNvSpPr/>
          <p:nvPr/>
        </p:nvSpPr>
        <p:spPr>
          <a:xfrm>
            <a:off x="4140200" y="1555601"/>
            <a:ext cx="360363" cy="730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800">
              <a:ea typeface="黑体" panose="02010609060101010101" pitchFamily="49" charset="-122"/>
            </a:endParaRPr>
          </a:p>
        </p:txBody>
      </p:sp>
      <p:sp>
        <p:nvSpPr>
          <p:cNvPr id="214039" name="TextBox 1"/>
          <p:cNvSpPr txBox="1">
            <a:spLocks noChangeArrowheads="1"/>
          </p:cNvSpPr>
          <p:nvPr/>
        </p:nvSpPr>
        <p:spPr bwMode="auto">
          <a:xfrm>
            <a:off x="282377" y="476672"/>
            <a:ext cx="48656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三、求解线性方程组的步骤</a:t>
            </a:r>
          </a:p>
        </p:txBody>
      </p:sp>
    </p:spTree>
    <p:extLst>
      <p:ext uri="{BB962C8B-B14F-4D97-AF65-F5344CB8AC3E}">
        <p14:creationId xmlns:p14="http://schemas.microsoft.com/office/powerpoint/2010/main" val="294935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10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10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3" dur="10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6" dur="10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 animBg="1"/>
      <p:bldP spid="49160" grpId="0" animBg="1"/>
      <p:bldP spid="49165" grpId="0" animBg="1"/>
      <p:bldP spid="49166" grpId="0"/>
      <p:bldP spid="49171" grpId="0"/>
      <p:bldP spid="49172" grpId="0" animBg="1"/>
      <p:bldP spid="49178" grpId="0" animBg="1"/>
      <p:bldP spid="49179" grpId="0"/>
      <p:bldP spid="49184" grpId="0"/>
      <p:bldP spid="49185" grpId="0" animBg="1"/>
      <p:bldP spid="49187" grpId="0" animBg="1"/>
      <p:bldP spid="49188" grpId="0" animBg="1"/>
      <p:bldP spid="29" grpId="0" animBg="1"/>
      <p:bldP spid="30" grpId="0" animBg="1"/>
      <p:bldP spid="31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AutoShape 4"/>
          <p:cNvSpPr>
            <a:spLocks noChangeArrowheads="1"/>
          </p:cNvSpPr>
          <p:nvPr/>
        </p:nvSpPr>
        <p:spPr bwMode="auto">
          <a:xfrm flipV="1">
            <a:off x="4006850" y="858490"/>
            <a:ext cx="3240088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齐次线性方程组</a:t>
            </a:r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5662613" y="1333153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72" name="AutoShape 20"/>
          <p:cNvSpPr>
            <a:spLocks noChangeArrowheads="1"/>
          </p:cNvSpPr>
          <p:nvPr/>
        </p:nvSpPr>
        <p:spPr bwMode="auto">
          <a:xfrm>
            <a:off x="3995738" y="2110908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78" name="AutoShape 26"/>
          <p:cNvSpPr>
            <a:spLocks noChangeArrowheads="1"/>
          </p:cNvSpPr>
          <p:nvPr/>
        </p:nvSpPr>
        <p:spPr bwMode="auto">
          <a:xfrm flipV="1">
            <a:off x="4556125" y="3738215"/>
            <a:ext cx="2047875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有非零解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003800" y="3090515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276600" y="2514253"/>
            <a:ext cx="611188" cy="431800"/>
            <a:chOff x="1812" y="1459"/>
            <a:chExt cx="385" cy="272"/>
          </a:xfrm>
        </p:grpSpPr>
        <p:sp>
          <p:nvSpPr>
            <p:cNvPr id="239630" name="Line 30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9631" name="Line 31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84" name="Text Box 32"/>
          <p:cNvSpPr txBox="1">
            <a:spLocks noChangeArrowheads="1"/>
          </p:cNvSpPr>
          <p:nvPr/>
        </p:nvSpPr>
        <p:spPr bwMode="auto">
          <a:xfrm>
            <a:off x="3276600" y="1937990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85" name="AutoShape 33"/>
          <p:cNvSpPr>
            <a:spLocks noChangeArrowheads="1"/>
          </p:cNvSpPr>
          <p:nvPr/>
        </p:nvSpPr>
        <p:spPr bwMode="auto">
          <a:xfrm flipV="1">
            <a:off x="2500436" y="3024782"/>
            <a:ext cx="1552327" cy="461665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wrap="square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只有零解</a:t>
            </a: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5618163" y="4214465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88" name="AutoShape 36"/>
          <p:cNvSpPr>
            <a:spLocks noChangeArrowheads="1"/>
          </p:cNvSpPr>
          <p:nvPr/>
        </p:nvSpPr>
        <p:spPr bwMode="auto">
          <a:xfrm flipV="1">
            <a:off x="3751263" y="4674840"/>
            <a:ext cx="3889375" cy="91440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包含 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n-R(A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个自由变量</a:t>
            </a:r>
          </a:p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的通解</a:t>
            </a:r>
          </a:p>
        </p:txBody>
      </p:sp>
      <p:graphicFrame>
        <p:nvGraphicFramePr>
          <p:cNvPr id="4919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86224"/>
              </p:ext>
            </p:extLst>
          </p:nvPr>
        </p:nvGraphicFramePr>
        <p:xfrm>
          <a:off x="5003800" y="2298353"/>
          <a:ext cx="1244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35200" imgH="4876800" progId="">
                  <p:embed/>
                </p:oleObj>
              </mc:Choice>
              <mc:Fallback>
                <p:oleObj name="Equation" r:id="rId2" imgW="14935200" imgH="4876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298353"/>
                        <a:ext cx="1244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35"/>
          <p:cNvSpPr>
            <a:spLocks noChangeShapeType="1"/>
          </p:cNvSpPr>
          <p:nvPr/>
        </p:nvSpPr>
        <p:spPr bwMode="auto">
          <a:xfrm>
            <a:off x="5580063" y="3090515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07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10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0" grpId="0" animBg="1"/>
      <p:bldP spid="49172" grpId="0" animBg="1"/>
      <p:bldP spid="49178" grpId="0" animBg="1"/>
      <p:bldP spid="49179" grpId="0"/>
      <p:bldP spid="49184" grpId="0"/>
      <p:bldP spid="49185" grpId="0" animBg="1"/>
      <p:bldP spid="49187" grpId="0" animBg="1"/>
      <p:bldP spid="49188" grpId="0" animBg="1"/>
      <p:bldP spid="2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537270" y="3598986"/>
            <a:ext cx="7911765" cy="2519362"/>
          </a:xfrm>
          <a:prstGeom prst="roundRect">
            <a:avLst>
              <a:gd name="adj" fmla="val 52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223235" name="Rectangle 2"/>
          <p:cNvSpPr>
            <a:spLocks noChangeArrowheads="1"/>
          </p:cNvSpPr>
          <p:nvPr/>
        </p:nvSpPr>
        <p:spPr bwMode="auto">
          <a:xfrm>
            <a:off x="537665" y="620688"/>
            <a:ext cx="707747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4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设有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线性方程组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236" name="Rectangle 4"/>
              <p:cNvSpPr>
                <a:spLocks noChangeArrowheads="1"/>
              </p:cNvSpPr>
              <p:nvPr/>
            </p:nvSpPr>
            <p:spPr bwMode="auto">
              <a:xfrm>
                <a:off x="518864" y="2681362"/>
                <a:ext cx="8229600" cy="8347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609600" indent="-6096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问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</m:oMath>
                </a14:m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取何值时，此方程组有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(1) 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唯一解；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(2) 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无解；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(3) 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有无</a:t>
                </a:r>
              </a:p>
              <a:p>
                <a:pPr eaLnBrk="1" hangingPunct="1">
                  <a:lnSpc>
                    <a:spcPct val="11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限多个解？并在有无限多解时求其通解．</a:t>
                </a:r>
              </a:p>
            </p:txBody>
          </p:sp>
        </mc:Choice>
        <mc:Fallback xmlns="">
          <p:sp>
            <p:nvSpPr>
              <p:cNvPr id="22323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864" y="2681362"/>
                <a:ext cx="8229600" cy="834780"/>
              </a:xfrm>
              <a:prstGeom prst="rect">
                <a:avLst/>
              </a:prstGeom>
              <a:blipFill>
                <a:blip r:embed="rId2"/>
                <a:stretch>
                  <a:fillRect l="-1111" t="-16788" b="-138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32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13785"/>
              </p:ext>
            </p:extLst>
          </p:nvPr>
        </p:nvGraphicFramePr>
        <p:xfrm>
          <a:off x="2109539" y="1091456"/>
          <a:ext cx="4933950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131200" imgH="17068800" progId="">
                  <p:embed/>
                </p:oleObj>
              </mc:Choice>
              <mc:Fallback>
                <p:oleObj name="Equation" r:id="rId3" imgW="59131200" imgH="170688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539" y="1091456"/>
                        <a:ext cx="4933950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682910" y="3944571"/>
            <a:ext cx="7787208" cy="179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：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元线性方程组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</a:t>
            </a:r>
            <a:endParaRPr kumimoji="1" lang="en-US" altLang="zh-CN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有唯一解的充分必要条件是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有无限多解的充分必要条件是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8919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25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567660"/>
              </p:ext>
            </p:extLst>
          </p:nvPr>
        </p:nvGraphicFramePr>
        <p:xfrm>
          <a:off x="2915817" y="918287"/>
          <a:ext cx="3187342" cy="1286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698400" progId="Equation.DSMT4">
                  <p:embed/>
                </p:oleObj>
              </mc:Choice>
              <mc:Fallback>
                <p:oleObj name="Equation" r:id="rId2" imgW="1942920" imgH="6984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7" y="918287"/>
                        <a:ext cx="3187342" cy="12865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307034" y="2123289"/>
            <a:ext cx="8229600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解法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 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对增广矩阵进行初等行变换化为行阶梯形矩阵，得</a:t>
            </a:r>
          </a:p>
        </p:txBody>
      </p:sp>
      <p:graphicFrame>
        <p:nvGraphicFramePr>
          <p:cNvPr id="3176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87813"/>
              </p:ext>
            </p:extLst>
          </p:nvPr>
        </p:nvGraphicFramePr>
        <p:xfrm>
          <a:off x="4606643" y="2780928"/>
          <a:ext cx="4286250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415200" imgH="16764000" progId="">
                  <p:embed/>
                </p:oleObj>
              </mc:Choice>
              <mc:Fallback>
                <p:oleObj name="Equation" r:id="rId4" imgW="45415200" imgH="167640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643" y="2780928"/>
                        <a:ext cx="4286250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95536" y="519063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+mn-lt"/>
                <a:ea typeface="黑体" panose="02010609060101010101" pitchFamily="49" charset="-122"/>
                <a:cs typeface="楷体_GB2312"/>
              </a:rPr>
              <a:t>线性方程组的增广矩阵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363754"/>
              </p:ext>
            </p:extLst>
          </p:nvPr>
        </p:nvGraphicFramePr>
        <p:xfrm>
          <a:off x="287524" y="4570530"/>
          <a:ext cx="4351970" cy="1593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1264800" imgH="16764000" progId="Equation.DSMT4">
                  <p:embed/>
                </p:oleObj>
              </mc:Choice>
              <mc:Fallback>
                <p:oleObj name="Equation" r:id="rId6" imgW="61264800" imgH="1676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24" y="4570530"/>
                        <a:ext cx="4351970" cy="1593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548746"/>
              </p:ext>
            </p:extLst>
          </p:nvPr>
        </p:nvGraphicFramePr>
        <p:xfrm>
          <a:off x="4788024" y="4599974"/>
          <a:ext cx="4104869" cy="1534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131200" imgH="16764000" progId="">
                  <p:embed/>
                </p:oleObj>
              </mc:Choice>
              <mc:Fallback>
                <p:oleObj name="Equation" r:id="rId8" imgW="59131200" imgH="167640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4599974"/>
                        <a:ext cx="4104869" cy="1534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34095"/>
              </p:ext>
            </p:extLst>
          </p:nvPr>
        </p:nvGraphicFramePr>
        <p:xfrm>
          <a:off x="559074" y="2773659"/>
          <a:ext cx="4012926" cy="151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42920" imgH="698400" progId="Equation.DSMT4">
                  <p:embed/>
                </p:oleObj>
              </mc:Choice>
              <mc:Fallback>
                <p:oleObj name="Equation" r:id="rId10" imgW="1942920" imgH="6984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074" y="2773659"/>
                        <a:ext cx="4012926" cy="151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2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576407"/>
              </p:ext>
            </p:extLst>
          </p:nvPr>
        </p:nvGraphicFramePr>
        <p:xfrm>
          <a:off x="334963" y="698154"/>
          <a:ext cx="8443912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193600" imgH="16764000" progId="">
                  <p:embed/>
                </p:oleObj>
              </mc:Choice>
              <mc:Fallback>
                <p:oleObj name="Equation" r:id="rId2" imgW="101193600" imgH="167640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3" y="698154"/>
                        <a:ext cx="8443912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964" name="Rectangle 4"/>
              <p:cNvSpPr>
                <a:spLocks noChangeArrowheads="1"/>
              </p:cNvSpPr>
              <p:nvPr/>
            </p:nvSpPr>
            <p:spPr bwMode="auto">
              <a:xfrm>
                <a:off x="334963" y="2354338"/>
                <a:ext cx="8229600" cy="9455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609600" indent="-6096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FF"/>
                  </a:buClr>
                  <a:buSzTx/>
                  <a:buFontTx/>
                  <a:buNone/>
                </a:pP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(1) 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d>
                      <m:dPr>
                        <m:ctrlP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3+</m:t>
                        </m:r>
                        <m:r>
                          <a:rPr kumimoji="1" lang="en-US" altLang="zh-CN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𝜆</m:t>
                        </m:r>
                      </m:e>
                    </m:d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≠0</m:t>
                    </m:r>
                  </m:oMath>
                </a14:m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，即</a:t>
                </a:r>
                <a:r>
                  <a:rPr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</m:oMath>
                </a14:m>
                <a:r>
                  <a:rPr lang="en-US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≠</a:t>
                </a:r>
                <a:r>
                  <a:rPr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0 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且 </a:t>
                </a:r>
                <a14:m>
                  <m:oMath xmlns:m="http://schemas.openxmlformats.org/officeDocument/2006/math"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≠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－</a:t>
                </a:r>
                <a:r>
                  <a:rPr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3 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时，</a:t>
                </a:r>
                <a:r>
                  <a:rPr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</a:p>
              <a:p>
                <a:pPr eaLnBrk="1" hangingPunct="1">
                  <a:lnSpc>
                    <a:spcPct val="110000"/>
                  </a:lnSpc>
                  <a:buClr>
                    <a:srgbClr val="0000FF"/>
                  </a:buClr>
                  <a:buSzTx/>
                  <a:buFontTx/>
                  <a:buNone/>
                </a:pPr>
                <a:r>
                  <a:rPr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    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得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R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3 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，方程组有唯一解．</a:t>
                </a:r>
              </a:p>
            </p:txBody>
          </p:sp>
        </mc:Choice>
        <mc:Fallback xmlns="">
          <p:sp>
            <p:nvSpPr>
              <p:cNvPr id="4096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963" y="2354338"/>
                <a:ext cx="8229600" cy="945580"/>
              </a:xfrm>
              <a:prstGeom prst="rect">
                <a:avLst/>
              </a:prstGeom>
              <a:blipFill>
                <a:blip r:embed="rId4"/>
                <a:stretch>
                  <a:fillRect l="-1185" t="-6452" b="-148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34963" y="3434458"/>
                <a:ext cx="2333139" cy="4654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10000"/>
                  </a:lnSpc>
                  <a:buClr>
                    <a:srgbClr val="0000FF"/>
                  </a:buClr>
                  <a:buSzTx/>
                  <a:buFontTx/>
                  <a:buNone/>
                </a:pPr>
                <a:r>
                  <a:rPr kumimoji="1"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(2) 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= 0 </a:t>
                </a:r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时，</a:t>
                </a:r>
                <a:endParaRPr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3434458"/>
                <a:ext cx="2333139" cy="465448"/>
              </a:xfrm>
              <a:prstGeom prst="rect">
                <a:avLst/>
              </a:prstGeom>
              <a:blipFill>
                <a:blip r:embed="rId5"/>
                <a:stretch>
                  <a:fillRect l="-4178" t="-12987" r="-2872" b="-2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256083"/>
              </p:ext>
            </p:extLst>
          </p:nvPr>
        </p:nvGraphicFramePr>
        <p:xfrm>
          <a:off x="1835696" y="3794498"/>
          <a:ext cx="434975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120800" imgH="16764000" progId="">
                  <p:embed/>
                </p:oleObj>
              </mc:Choice>
              <mc:Fallback>
                <p:oleObj name="Equation" r:id="rId6" imgW="52120800" imgH="167640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794498"/>
                        <a:ext cx="4349750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755576" y="5450682"/>
            <a:ext cx="5760640" cy="463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Clr>
                <a:srgbClr val="0000FF"/>
              </a:buClr>
              <a:buSz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得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1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2 </a:t>
            </a: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，故方程组无解．</a:t>
            </a:r>
            <a:endParaRPr lang="zh-CN" altLang="en-US" dirty="0"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build="p"/>
      <p:bldP spid="2" grpId="0"/>
      <p:bldP spid="3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9378" name="矩形 1"/>
              <p:cNvSpPr>
                <a:spLocks noChangeArrowheads="1"/>
              </p:cNvSpPr>
              <p:nvPr/>
            </p:nvSpPr>
            <p:spPr bwMode="auto">
              <a:xfrm>
                <a:off x="652141" y="476672"/>
                <a:ext cx="6858000" cy="3379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609600" indent="-6096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FF"/>
                  </a:buClr>
                  <a:buSzTx/>
                  <a:buFontTx/>
                  <a:buNone/>
                </a:pP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(3) 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= 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－</a:t>
                </a:r>
                <a:r>
                  <a:rPr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3 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时，</a:t>
                </a:r>
                <a:endParaRPr lang="en-US" altLang="zh-CN" b="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10000"/>
                  </a:lnSpc>
                  <a:buClr>
                    <a:srgbClr val="0000FF"/>
                  </a:buClr>
                  <a:buSzTx/>
                  <a:buFontTx/>
                  <a:buChar char="•"/>
                </a:pPr>
                <a:endParaRPr kumimoji="1" lang="en-US" altLang="zh-CN" b="0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10000"/>
                  </a:lnSpc>
                  <a:buClr>
                    <a:srgbClr val="0000FF"/>
                  </a:buClr>
                  <a:buSzTx/>
                  <a:buFontTx/>
                  <a:buChar char="•"/>
                </a:pPr>
                <a:endParaRPr kumimoji="1" lang="en-US" altLang="zh-CN" b="0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10000"/>
                  </a:lnSpc>
                  <a:buClr>
                    <a:srgbClr val="0000FF"/>
                  </a:buClr>
                  <a:buSzTx/>
                  <a:buFontTx/>
                  <a:buChar char="•"/>
                </a:pPr>
                <a:endParaRPr kumimoji="1" lang="en-US" altLang="zh-CN" b="0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10000"/>
                  </a:lnSpc>
                  <a:buClr>
                    <a:srgbClr val="0000FF"/>
                  </a:buClr>
                  <a:buSzTx/>
                  <a:buFontTx/>
                  <a:buChar char="•"/>
                </a:pPr>
                <a:endParaRPr kumimoji="1" lang="en-US" altLang="zh-CN" b="0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10000"/>
                  </a:lnSpc>
                  <a:buClr>
                    <a:srgbClr val="0000FF"/>
                  </a:buClr>
                  <a:buSzTx/>
                  <a:buFontTx/>
                  <a:buChar char="•"/>
                </a:pPr>
                <a:endParaRPr kumimoji="1" lang="en-US" altLang="zh-CN" b="0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10000"/>
                  </a:lnSpc>
                  <a:buClr>
                    <a:srgbClr val="0000FF"/>
                  </a:buClr>
                  <a:buSzTx/>
                  <a:buFontTx/>
                  <a:buNone/>
                </a:pPr>
                <a:endParaRPr kumimoji="1" lang="zh-CN" altLang="en-US" b="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9378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141" y="476672"/>
                <a:ext cx="6858000" cy="3379787"/>
              </a:xfrm>
              <a:prstGeom prst="rect">
                <a:avLst/>
              </a:prstGeom>
              <a:blipFill>
                <a:blip r:embed="rId2"/>
                <a:stretch>
                  <a:fillRect l="-1422" t="-180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0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82210"/>
              </p:ext>
            </p:extLst>
          </p:nvPr>
        </p:nvGraphicFramePr>
        <p:xfrm>
          <a:off x="1703859" y="1113260"/>
          <a:ext cx="5468937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5532000" imgH="16764000" progId="">
                  <p:embed/>
                </p:oleObj>
              </mc:Choice>
              <mc:Fallback>
                <p:oleObj name="Equation" r:id="rId3" imgW="65532000" imgH="167640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859" y="1113260"/>
                        <a:ext cx="5468937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734888" y="2753170"/>
            <a:ext cx="7869560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得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2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，故方程组有无限多个解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解同解方程</a:t>
            </a:r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427612"/>
              </p:ext>
            </p:extLst>
          </p:nvPr>
        </p:nvGraphicFramePr>
        <p:xfrm>
          <a:off x="3155553" y="4653136"/>
          <a:ext cx="256857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784800" imgH="17068800" progId="">
                  <p:embed/>
                </p:oleObj>
              </mc:Choice>
              <mc:Fallback>
                <p:oleObj name="Equation" r:id="rId5" imgW="30784800" imgH="170688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553" y="4653136"/>
                        <a:ext cx="25685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8"/>
          <p:cNvGrpSpPr>
            <a:grpSpLocks/>
          </p:cNvGrpSpPr>
          <p:nvPr/>
        </p:nvGrpSpPr>
        <p:grpSpPr bwMode="auto">
          <a:xfrm>
            <a:off x="1580828" y="3334172"/>
            <a:ext cx="4071938" cy="1200329"/>
            <a:chOff x="1714480" y="3857628"/>
            <a:chExt cx="4071966" cy="1200508"/>
          </a:xfrm>
        </p:grpSpPr>
        <p:sp>
          <p:nvSpPr>
            <p:cNvPr id="7" name="左大括号 6"/>
            <p:cNvSpPr/>
            <p:nvPr/>
          </p:nvSpPr>
          <p:spPr>
            <a:xfrm>
              <a:off x="1714480" y="4071972"/>
              <a:ext cx="214314" cy="785930"/>
            </a:xfrm>
            <a:prstGeom prst="leftBrace">
              <a:avLst>
                <a:gd name="adj1" fmla="val 8333"/>
                <a:gd name="adj2" fmla="val 50000"/>
              </a:avLst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00232" y="3857628"/>
              <a:ext cx="3786214" cy="120050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i="1" dirty="0">
                  <a:latin typeface="+mn-lt"/>
                  <a:ea typeface="黑体" panose="02010609060101010101" pitchFamily="49" charset="-122"/>
                </a:rPr>
                <a:t>x</a:t>
              </a:r>
              <a:r>
                <a:rPr lang="en-US" altLang="zh-CN" baseline="-25000" dirty="0">
                  <a:latin typeface="+mn-lt"/>
                  <a:ea typeface="黑体" panose="02010609060101010101" pitchFamily="49" charset="-122"/>
                </a:rPr>
                <a:t>1</a:t>
              </a:r>
              <a:r>
                <a: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– </a:t>
              </a:r>
              <a:r>
                <a:rPr lang="en-US" altLang="zh-CN" i="1" dirty="0">
                  <a:latin typeface="+mn-lt"/>
                  <a:ea typeface="黑体" panose="02010609060101010101" pitchFamily="49" charset="-122"/>
                </a:rPr>
                <a:t>x</a:t>
              </a:r>
              <a:r>
                <a:rPr lang="en-US" altLang="zh-CN" baseline="-25000" dirty="0">
                  <a:latin typeface="+mn-lt"/>
                  <a:ea typeface="黑体" panose="02010609060101010101" pitchFamily="49" charset="-122"/>
                </a:rPr>
                <a:t>3</a:t>
              </a:r>
              <a:r>
                <a:rPr lang="en-US" altLang="zh-CN" dirty="0">
                  <a:latin typeface="+mn-lt"/>
                  <a:ea typeface="黑体" panose="02010609060101010101" pitchFamily="49" charset="-122"/>
                </a:rPr>
                <a:t>=</a:t>
              </a:r>
              <a:r>
                <a: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– </a:t>
              </a:r>
              <a:r>
                <a:rPr lang="en-US" altLang="zh-CN" dirty="0">
                  <a:latin typeface="+mn-lt"/>
                  <a:ea typeface="黑体" panose="02010609060101010101" pitchFamily="49" charset="-122"/>
                </a:rPr>
                <a:t>1</a:t>
              </a:r>
              <a:r>
                <a:rPr lang="zh-CN" altLang="en-US" dirty="0">
                  <a:latin typeface="+mn-lt"/>
                  <a:ea typeface="黑体" panose="02010609060101010101" pitchFamily="49" charset="-122"/>
                </a:rPr>
                <a:t>，</a:t>
              </a:r>
              <a:endParaRPr lang="en-US" altLang="zh-CN" dirty="0">
                <a:latin typeface="+mn-lt"/>
                <a:ea typeface="黑体" panose="02010609060101010101" pitchFamily="49" charset="-122"/>
              </a:endParaRPr>
            </a:p>
            <a:p>
              <a:pPr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</a:rPr>
                <a:t>                        </a:t>
              </a:r>
              <a:r>
                <a:rPr lang="zh-CN" altLang="en-US" dirty="0">
                  <a:latin typeface="+mn-lt"/>
                  <a:ea typeface="黑体" panose="02010609060101010101" pitchFamily="49" charset="-122"/>
                </a:rPr>
                <a:t>得</a:t>
              </a:r>
              <a:endParaRPr lang="en-US" altLang="zh-CN" dirty="0">
                <a:latin typeface="+mn-lt"/>
                <a:ea typeface="黑体" panose="02010609060101010101" pitchFamily="49" charset="-122"/>
              </a:endParaRPr>
            </a:p>
            <a:p>
              <a:pPr eaLnBrk="1" hangingPunct="1">
                <a:defRPr/>
              </a:pPr>
              <a:r>
                <a:rPr lang="en-US" altLang="zh-CN" i="1" dirty="0">
                  <a:latin typeface="+mn-lt"/>
                  <a:ea typeface="黑体" panose="02010609060101010101" pitchFamily="49" charset="-122"/>
                </a:rPr>
                <a:t>x</a:t>
              </a:r>
              <a:r>
                <a:rPr lang="en-US" altLang="zh-CN" baseline="-25000" dirty="0">
                  <a:latin typeface="+mn-lt"/>
                  <a:ea typeface="黑体" panose="02010609060101010101" pitchFamily="49" charset="-122"/>
                </a:rPr>
                <a:t>2</a:t>
              </a:r>
              <a:r>
                <a:rPr kumimoji="1" lang="en-US" altLang="zh-CN" baseline="-2500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–</a:t>
              </a:r>
              <a:r>
                <a:rPr kumimoji="1" lang="en-US" altLang="zh-CN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x</a:t>
              </a:r>
              <a:r>
                <a:rPr kumimoji="1" lang="en-US" altLang="zh-CN" baseline="-2500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3</a:t>
              </a:r>
              <a:r>
                <a: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= –2</a:t>
              </a:r>
              <a:r>
                <a: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，</a:t>
              </a:r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组合 10"/>
          <p:cNvGrpSpPr>
            <a:grpSpLocks/>
          </p:cNvGrpSpPr>
          <p:nvPr/>
        </p:nvGrpSpPr>
        <p:grpSpPr bwMode="auto">
          <a:xfrm>
            <a:off x="4438328" y="3334172"/>
            <a:ext cx="4071938" cy="1200150"/>
            <a:chOff x="1714480" y="3857628"/>
            <a:chExt cx="4071966" cy="1200329"/>
          </a:xfrm>
        </p:grpSpPr>
        <p:sp>
          <p:nvSpPr>
            <p:cNvPr id="12" name="左大括号 11"/>
            <p:cNvSpPr/>
            <p:nvPr/>
          </p:nvSpPr>
          <p:spPr>
            <a:xfrm>
              <a:off x="1714480" y="4071972"/>
              <a:ext cx="214314" cy="785930"/>
            </a:xfrm>
            <a:prstGeom prst="leftBrace">
              <a:avLst>
                <a:gd name="adj1" fmla="val 8333"/>
                <a:gd name="adj2" fmla="val 50000"/>
              </a:avLst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000232" y="3857628"/>
              <a:ext cx="3786214" cy="120032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i="1" dirty="0">
                  <a:latin typeface="+mn-lt"/>
                  <a:ea typeface="黑体" panose="02010609060101010101" pitchFamily="49" charset="-122"/>
                </a:rPr>
                <a:t>x</a:t>
              </a:r>
              <a:r>
                <a:rPr lang="en-US" altLang="zh-CN" baseline="-25000" dirty="0">
                  <a:latin typeface="+mn-lt"/>
                  <a:ea typeface="黑体" panose="02010609060101010101" pitchFamily="49" charset="-122"/>
                </a:rPr>
                <a:t>1</a:t>
              </a:r>
              <a:r>
                <a: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en-US" altLang="zh-CN" dirty="0">
                  <a:latin typeface="+mn-lt"/>
                  <a:ea typeface="黑体" panose="02010609060101010101" pitchFamily="49" charset="-122"/>
                </a:rPr>
                <a:t>=</a:t>
              </a:r>
              <a:r>
                <a: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en-US" altLang="zh-CN" i="1" dirty="0">
                  <a:latin typeface="+mn-lt"/>
                  <a:ea typeface="黑体" panose="02010609060101010101" pitchFamily="49" charset="-122"/>
                </a:rPr>
                <a:t>x</a:t>
              </a:r>
              <a:r>
                <a:rPr lang="en-US" altLang="zh-CN" baseline="-25000" dirty="0">
                  <a:latin typeface="+mn-lt"/>
                  <a:ea typeface="黑体" panose="02010609060101010101" pitchFamily="49" charset="-122"/>
                </a:rPr>
                <a:t>3</a:t>
              </a:r>
              <a:r>
                <a: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– </a:t>
              </a:r>
              <a:r>
                <a:rPr lang="en-US" altLang="zh-CN" dirty="0">
                  <a:latin typeface="+mn-lt"/>
                  <a:ea typeface="黑体" panose="02010609060101010101" pitchFamily="49" charset="-122"/>
                </a:rPr>
                <a:t>1</a:t>
              </a:r>
              <a:r>
                <a:rPr lang="zh-CN" altLang="en-US" dirty="0">
                  <a:latin typeface="+mn-lt"/>
                  <a:ea typeface="黑体" panose="02010609060101010101" pitchFamily="49" charset="-122"/>
                </a:rPr>
                <a:t>，</a:t>
              </a:r>
              <a:endParaRPr lang="en-US" altLang="zh-CN" dirty="0">
                <a:latin typeface="+mn-lt"/>
                <a:ea typeface="黑体" panose="02010609060101010101" pitchFamily="49" charset="-122"/>
              </a:endParaRPr>
            </a:p>
            <a:p>
              <a:pPr eaLnBrk="1" hangingPunct="1">
                <a:defRPr/>
              </a:pPr>
              <a:endParaRPr lang="en-US" altLang="zh-CN" dirty="0">
                <a:latin typeface="+mn-lt"/>
                <a:ea typeface="黑体" panose="02010609060101010101" pitchFamily="49" charset="-122"/>
              </a:endParaRPr>
            </a:p>
            <a:p>
              <a:pPr eaLnBrk="1" hangingPunct="1">
                <a:defRPr/>
              </a:pPr>
              <a:r>
                <a:rPr lang="en-US" altLang="zh-CN" i="1" dirty="0">
                  <a:latin typeface="+mn-lt"/>
                  <a:ea typeface="黑体" panose="02010609060101010101" pitchFamily="49" charset="-122"/>
                </a:rPr>
                <a:t>x</a:t>
              </a:r>
              <a:r>
                <a:rPr lang="en-US" altLang="zh-CN" baseline="-25000" dirty="0">
                  <a:latin typeface="+mn-lt"/>
                  <a:ea typeface="黑体" panose="02010609060101010101" pitchFamily="49" charset="-122"/>
                </a:rPr>
                <a:t>2</a:t>
              </a:r>
              <a:r>
                <a: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= </a:t>
              </a:r>
              <a:r>
                <a:rPr kumimoji="1" lang="en-US" altLang="zh-CN" i="1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x</a:t>
              </a:r>
              <a:r>
                <a:rPr kumimoji="1" lang="en-US" altLang="zh-CN" baseline="-2500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3</a:t>
              </a:r>
              <a:r>
                <a:rPr kumimoji="1" lang="en-US" altLang="zh-CN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 –2</a:t>
              </a:r>
              <a:r>
                <a:rPr kumimoji="1" lang="zh-CN" altLang="en-US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rPr>
                <a:t>，</a:t>
              </a:r>
              <a:endParaRPr lang="zh-CN" altLang="en-US" dirty="0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229384" name="矩形 13"/>
          <p:cNvSpPr>
            <a:spLocks noChangeArrowheads="1"/>
          </p:cNvSpPr>
          <p:nvPr/>
        </p:nvSpPr>
        <p:spPr bwMode="auto">
          <a:xfrm>
            <a:off x="796727" y="5155034"/>
            <a:ext cx="52874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latin typeface="+mn-lt"/>
                <a:ea typeface="黑体" panose="02010609060101010101" pitchFamily="49" charset="-122"/>
              </a:rPr>
              <a:t>故方程组通解为                                   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868144" y="5155332"/>
                <a:ext cx="22590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为任意数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.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5155332"/>
                <a:ext cx="2259080" cy="461665"/>
              </a:xfrm>
              <a:prstGeom prst="rect">
                <a:avLst/>
              </a:prstGeom>
              <a:blipFill>
                <a:blip r:embed="rId7"/>
                <a:stretch>
                  <a:fillRect l="-4324" t="-14667" r="-3514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8172400" y="5127575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▋</a:t>
            </a:r>
            <a:endParaRPr lang="zh-CN" altLang="en-US" dirty="0">
              <a:solidFill>
                <a:srgbClr val="3103F3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29384" grpId="0"/>
      <p:bldP spid="14" grpId="0"/>
      <p:bldP spid="1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4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533193"/>
              </p:ext>
            </p:extLst>
          </p:nvPr>
        </p:nvGraphicFramePr>
        <p:xfrm>
          <a:off x="2476986" y="1124744"/>
          <a:ext cx="3812862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698400" progId="Equation.DSMT4">
                  <p:embed/>
                </p:oleObj>
              </mc:Choice>
              <mc:Fallback>
                <p:oleObj name="Equation" r:id="rId2" imgW="1942920" imgH="698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986" y="1124744"/>
                        <a:ext cx="3812862" cy="1440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590872" y="2654300"/>
            <a:ext cx="8229600" cy="945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解法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：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因为系数矩阵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是方阵，所以方程组有唯一解的</a:t>
            </a: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充分必要条件是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|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| </a:t>
            </a:r>
            <a:r>
              <a:rPr kumimoji="1" lang="en-US" altLang="en-US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≠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0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．而</a:t>
            </a:r>
          </a:p>
        </p:txBody>
      </p:sp>
      <p:graphicFrame>
        <p:nvGraphicFramePr>
          <p:cNvPr id="4198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34507"/>
              </p:ext>
            </p:extLst>
          </p:nvPr>
        </p:nvGraphicFramePr>
        <p:xfrm>
          <a:off x="2584772" y="3759200"/>
          <a:ext cx="4208463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6388000" imgH="16764000" progId="">
                  <p:embed/>
                </p:oleObj>
              </mc:Choice>
              <mc:Fallback>
                <p:oleObj name="Equation" r:id="rId4" imgW="56388000" imgH="167640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772" y="3759200"/>
                        <a:ext cx="4208463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992" name="Rectangle 8"/>
              <p:cNvSpPr>
                <a:spLocks noChangeArrowheads="1"/>
              </p:cNvSpPr>
              <p:nvPr/>
            </p:nvSpPr>
            <p:spPr bwMode="auto">
              <a:xfrm>
                <a:off x="590872" y="5149850"/>
                <a:ext cx="8229600" cy="465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609600" indent="-6096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buClr>
                    <a:srgbClr val="00007D"/>
                  </a:buClr>
                  <a:buNone/>
                </a:pP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于是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≠</a:t>
                </a:r>
                <a:r>
                  <a:rPr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 0 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且 </a:t>
                </a:r>
                <a14:m>
                  <m:oMath xmlns:m="http://schemas.openxmlformats.org/officeDocument/2006/math"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≠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－</a:t>
                </a:r>
                <a:r>
                  <a:rPr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3 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时，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方程组有唯一解．</a:t>
                </a:r>
              </a:p>
            </p:txBody>
          </p:sp>
        </mc:Choice>
        <mc:Fallback xmlns="">
          <p:sp>
            <p:nvSpPr>
              <p:cNvPr id="41992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872" y="5149850"/>
                <a:ext cx="8229600" cy="465448"/>
              </a:xfrm>
              <a:prstGeom prst="rect">
                <a:avLst/>
              </a:prstGeom>
              <a:blipFill>
                <a:blip r:embed="rId6"/>
                <a:stretch>
                  <a:fillRect l="-1185" t="-13158" b="-315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601985" y="591691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+mn-lt"/>
                <a:ea typeface="黑体" panose="02010609060101010101" pitchFamily="49" charset="-122"/>
                <a:cs typeface="楷体_GB2312"/>
              </a:rPr>
              <a:t>线性方程组的增广矩阵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  <p:bldP spid="41992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012" name="Rectangle 4"/>
              <p:cNvSpPr>
                <a:spLocks noChangeArrowheads="1"/>
              </p:cNvSpPr>
              <p:nvPr/>
            </p:nvSpPr>
            <p:spPr bwMode="auto">
              <a:xfrm>
                <a:off x="662880" y="952500"/>
                <a:ext cx="8229600" cy="14957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609600" indent="-6096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buClr>
                    <a:srgbClr val="00007D"/>
                  </a:buClr>
                  <a:buNone/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= 0 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时，</a:t>
                </a:r>
              </a:p>
              <a:p>
                <a:pPr eaLnBrk="1" hangingPunct="1">
                  <a:lnSpc>
                    <a:spcPct val="8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endParaRPr lang="zh-CN" altLang="en-US" b="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8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endParaRPr lang="zh-CN" altLang="en-US" b="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8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1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 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2 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，方程组无解．</a:t>
                </a:r>
              </a:p>
            </p:txBody>
          </p:sp>
        </mc:Choice>
        <mc:Fallback xmlns="">
          <p:sp>
            <p:nvSpPr>
              <p:cNvPr id="4301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880" y="952500"/>
                <a:ext cx="8229600" cy="1495794"/>
              </a:xfrm>
              <a:prstGeom prst="rect">
                <a:avLst/>
              </a:prstGeom>
              <a:blipFill>
                <a:blip r:embed="rId2"/>
                <a:stretch>
                  <a:fillRect l="-1185" t="-9350" b="-85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0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326667"/>
              </p:ext>
            </p:extLst>
          </p:nvPr>
        </p:nvGraphicFramePr>
        <p:xfrm>
          <a:off x="2444055" y="444500"/>
          <a:ext cx="434975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120800" imgH="16764000" progId="">
                  <p:embed/>
                </p:oleObj>
              </mc:Choice>
              <mc:Fallback>
                <p:oleObj name="Equation" r:id="rId3" imgW="52120800" imgH="167640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055" y="444500"/>
                        <a:ext cx="4349750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993580" y="908050"/>
            <a:ext cx="1728788" cy="504825"/>
            <a:chOff x="3016" y="572"/>
            <a:chExt cx="1089" cy="318"/>
          </a:xfrm>
        </p:grpSpPr>
        <p:sp>
          <p:nvSpPr>
            <p:cNvPr id="231436" name="Line 6"/>
            <p:cNvSpPr>
              <a:spLocks noChangeShapeType="1"/>
            </p:cNvSpPr>
            <p:nvPr/>
          </p:nvSpPr>
          <p:spPr bwMode="auto">
            <a:xfrm>
              <a:off x="3016" y="572"/>
              <a:ext cx="81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1437" name="Line 7"/>
            <p:cNvSpPr>
              <a:spLocks noChangeShapeType="1"/>
            </p:cNvSpPr>
            <p:nvPr/>
          </p:nvSpPr>
          <p:spPr bwMode="auto">
            <a:xfrm>
              <a:off x="3833" y="572"/>
              <a:ext cx="0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1438" name="Line 8"/>
            <p:cNvSpPr>
              <a:spLocks noChangeShapeType="1"/>
            </p:cNvSpPr>
            <p:nvPr/>
          </p:nvSpPr>
          <p:spPr bwMode="auto">
            <a:xfrm>
              <a:off x="3833" y="890"/>
              <a:ext cx="2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018" name="Rectangle 10"/>
              <p:cNvSpPr>
                <a:spLocks noChangeArrowheads="1"/>
              </p:cNvSpPr>
              <p:nvPr/>
            </p:nvSpPr>
            <p:spPr bwMode="auto">
              <a:xfrm>
                <a:off x="662880" y="3214688"/>
                <a:ext cx="8229600" cy="14957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609600" indent="-6096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buClr>
                    <a:srgbClr val="00007D"/>
                  </a:buClr>
                  <a:buNone/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= 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－</a:t>
                </a:r>
                <a:r>
                  <a:rPr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3 </a:t>
                </a:r>
                <a:r>
                  <a:rPr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时，</a:t>
                </a:r>
              </a:p>
              <a:p>
                <a:pPr eaLnBrk="1" hangingPunct="1">
                  <a:lnSpc>
                    <a:spcPct val="8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endParaRPr lang="zh-CN" altLang="en-US" b="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8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endParaRPr lang="zh-CN" altLang="en-US" b="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8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A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b="0" i="1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B</a:t>
                </a:r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) = 2 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，方程组有无限多个解，其通解为</a:t>
                </a:r>
              </a:p>
            </p:txBody>
          </p:sp>
        </mc:Choice>
        <mc:Fallback xmlns="">
          <p:sp>
            <p:nvSpPr>
              <p:cNvPr id="43018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880" y="3214688"/>
                <a:ext cx="8229600" cy="1495794"/>
              </a:xfrm>
              <a:prstGeom prst="rect">
                <a:avLst/>
              </a:prstGeom>
              <a:blipFill>
                <a:blip r:embed="rId5"/>
                <a:stretch>
                  <a:fillRect l="-1185" t="-9350" b="-85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0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844179"/>
              </p:ext>
            </p:extLst>
          </p:nvPr>
        </p:nvGraphicFramePr>
        <p:xfrm>
          <a:off x="2764730" y="2736850"/>
          <a:ext cx="5468938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5532000" imgH="16764000" progId="">
                  <p:embed/>
                </p:oleObj>
              </mc:Choice>
              <mc:Fallback>
                <p:oleObj name="Equation" r:id="rId6" imgW="65532000" imgH="167640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730" y="2736850"/>
                        <a:ext cx="5468938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015386"/>
              </p:ext>
            </p:extLst>
          </p:nvPr>
        </p:nvGraphicFramePr>
        <p:xfrm>
          <a:off x="2041376" y="4941168"/>
          <a:ext cx="256857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784800" imgH="17068800" progId="">
                  <p:embed/>
                </p:oleObj>
              </mc:Choice>
              <mc:Fallback>
                <p:oleObj name="Equation" r:id="rId8" imgW="30784800" imgH="170688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376" y="4941168"/>
                        <a:ext cx="25685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6101655" y="3197225"/>
            <a:ext cx="2060575" cy="504825"/>
            <a:chOff x="3714" y="2014"/>
            <a:chExt cx="1298" cy="318"/>
          </a:xfrm>
        </p:grpSpPr>
        <p:sp>
          <p:nvSpPr>
            <p:cNvPr id="231433" name="Line 14"/>
            <p:cNvSpPr>
              <a:spLocks noChangeShapeType="1"/>
            </p:cNvSpPr>
            <p:nvPr/>
          </p:nvSpPr>
          <p:spPr bwMode="auto">
            <a:xfrm>
              <a:off x="3714" y="2023"/>
              <a:ext cx="24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1434" name="Line 15"/>
            <p:cNvSpPr>
              <a:spLocks noChangeShapeType="1"/>
            </p:cNvSpPr>
            <p:nvPr/>
          </p:nvSpPr>
          <p:spPr bwMode="auto">
            <a:xfrm>
              <a:off x="3969" y="2014"/>
              <a:ext cx="0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1435" name="Line 16"/>
            <p:cNvSpPr>
              <a:spLocks noChangeShapeType="1"/>
            </p:cNvSpPr>
            <p:nvPr/>
          </p:nvSpPr>
          <p:spPr bwMode="auto">
            <a:xfrm>
              <a:off x="3969" y="2332"/>
              <a:ext cx="104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489648" y="5445224"/>
                <a:ext cx="26438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为任意数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.</a:t>
                </a:r>
                <a:endParaRPr lang="zh-CN" altLang="en-US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648" y="5445224"/>
                <a:ext cx="2643801" cy="461665"/>
              </a:xfrm>
              <a:prstGeom prst="rect">
                <a:avLst/>
              </a:prstGeom>
              <a:blipFill>
                <a:blip r:embed="rId10"/>
                <a:stretch>
                  <a:fillRect l="-3456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081936" y="5415607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103F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▋</a:t>
            </a:r>
            <a:endParaRPr lang="zh-CN" altLang="en-US" dirty="0">
              <a:solidFill>
                <a:srgbClr val="3103F3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43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3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/>
      <p:bldP spid="43018" grpId="0" build="p"/>
      <p:bldP spid="15" grpId="0"/>
      <p:bldP spid="16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060" name="Rectangle 4"/>
              <p:cNvSpPr>
                <a:spLocks noChangeArrowheads="1"/>
              </p:cNvSpPr>
              <p:nvPr/>
            </p:nvSpPr>
            <p:spPr bwMode="auto">
              <a:xfrm>
                <a:off x="395536" y="620688"/>
                <a:ext cx="8229600" cy="35678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609600" indent="-6096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buClr>
                    <a:srgbClr val="00007D"/>
                  </a:buClr>
                  <a:buFont typeface="Wingdings" panose="05000000000000000000" pitchFamily="2" charset="2"/>
                  <a:buNone/>
                </a:pPr>
                <a:r>
                  <a:rPr lang="zh-CN" altLang="en-US" dirty="0">
                    <a:solidFill>
                      <a:srgbClr val="0000FF"/>
                    </a:solidFill>
                    <a:latin typeface="+mn-lt"/>
                    <a:ea typeface="黑体" panose="02010609060101010101" pitchFamily="49" charset="-122"/>
                  </a:rPr>
                  <a:t>附注：</a:t>
                </a:r>
              </a:p>
              <a:p>
                <a:pPr eaLnBrk="1" hangingPunct="1">
                  <a:lnSpc>
                    <a:spcPct val="150000"/>
                  </a:lnSpc>
                  <a:buClr>
                    <a:srgbClr val="0000FF"/>
                  </a:buClr>
                  <a:buSzTx/>
                  <a:buFont typeface="Wingdings" panose="05000000000000000000" pitchFamily="2" charset="2"/>
                  <a:buChar char="ü"/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对含参数的矩阵作初等变换时，由于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+1</m:t>
                    </m:r>
                  </m:oMath>
                </a14:m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</m:oMath>
                </a14:m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3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等因式可能等于零，故不宜进行下列的变换：</a:t>
                </a:r>
              </a:p>
              <a:p>
                <a:pPr marL="0" indent="0" eaLnBrk="1" hangingPunct="1">
                  <a:lnSpc>
                    <a:spcPct val="150000"/>
                  </a:lnSpc>
                  <a:buClr>
                    <a:srgbClr val="0000FF"/>
                  </a:buClr>
                  <a:buSzTx/>
                  <a:buNone/>
                </a:pPr>
                <a:endParaRPr kumimoji="1" lang="zh-CN" altLang="en-US" b="0" dirty="0">
                  <a:solidFill>
                    <a:srgbClr val="000000"/>
                  </a:solidFill>
                  <a:latin typeface="+mn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50000"/>
                  </a:lnSpc>
                  <a:buClr>
                    <a:srgbClr val="0000FF"/>
                  </a:buClr>
                  <a:buSzTx/>
                  <a:buFont typeface="Wingdings" panose="05000000000000000000" pitchFamily="2" charset="2"/>
                  <a:buChar char="ü"/>
                </a:pP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如果作了这样的变换，则需对 </a:t>
                </a:r>
                <a14:m>
                  <m:oMath xmlns:m="http://schemas.openxmlformats.org/officeDocument/2006/math"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+1 = 0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（或 </a:t>
                </a:r>
                <a14:m>
                  <m:oMath xmlns:m="http://schemas.openxmlformats.org/officeDocument/2006/math"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en-US" altLang="zh-CN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+3 = 0</a:t>
                </a:r>
                <a:r>
                  <a:rPr kumimoji="1" lang="zh-CN" altLang="en-US" b="0" dirty="0">
                    <a:solidFill>
                      <a:srgbClr val="000000"/>
                    </a:solidFill>
                    <a:latin typeface="+mn-lt"/>
                    <a:ea typeface="黑体" panose="02010609060101010101" pitchFamily="49" charset="-122"/>
                  </a:rPr>
                  <a:t>）的情况另作讨论． </a:t>
                </a:r>
              </a:p>
            </p:txBody>
          </p:sp>
        </mc:Choice>
        <mc:Fallback xmlns="">
          <p:sp>
            <p:nvSpPr>
              <p:cNvPr id="45060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620688"/>
                <a:ext cx="8229600" cy="3567836"/>
              </a:xfrm>
              <a:prstGeom prst="rect">
                <a:avLst/>
              </a:prstGeom>
              <a:blipFill>
                <a:blip r:embed="rId2"/>
                <a:stretch>
                  <a:fillRect l="-1185" r="-593" b="-256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506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363090"/>
              </p:ext>
            </p:extLst>
          </p:nvPr>
        </p:nvGraphicFramePr>
        <p:xfrm>
          <a:off x="1685628" y="2348880"/>
          <a:ext cx="1446212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73600" imgH="9753600" progId="">
                  <p:embed/>
                </p:oleObj>
              </mc:Choice>
              <mc:Fallback>
                <p:oleObj name="Equation" r:id="rId3" imgW="17373600" imgH="9753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628" y="2348880"/>
                        <a:ext cx="1446212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760278"/>
              </p:ext>
            </p:extLst>
          </p:nvPr>
        </p:nvGraphicFramePr>
        <p:xfrm>
          <a:off x="3796730" y="2512021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59200" imgH="5486400" progId="">
                  <p:embed/>
                </p:oleObj>
              </mc:Choice>
              <mc:Fallback>
                <p:oleObj name="Equation" r:id="rId5" imgW="16459200" imgH="5486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6730" y="2512021"/>
                        <a:ext cx="1371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581323"/>
              </p:ext>
            </p:extLst>
          </p:nvPr>
        </p:nvGraphicFramePr>
        <p:xfrm>
          <a:off x="5828730" y="2486869"/>
          <a:ext cx="14208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68800" imgH="5486400" progId="">
                  <p:embed/>
                </p:oleObj>
              </mc:Choice>
              <mc:Fallback>
                <p:oleObj name="Equation" r:id="rId7" imgW="17068800" imgH="5486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8730" y="2486869"/>
                        <a:ext cx="14208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23084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23850" y="260350"/>
            <a:ext cx="8280400" cy="21605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232451" name="Rectangle 6"/>
          <p:cNvSpPr>
            <a:spLocks noChangeArrowheads="1"/>
          </p:cNvSpPr>
          <p:nvPr/>
        </p:nvSpPr>
        <p:spPr bwMode="auto">
          <a:xfrm>
            <a:off x="457200" y="533400"/>
            <a:ext cx="8229600" cy="180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元线性方程组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①无解的充分必要条件是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②有唯一解的充分必要条件是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③有无限多解的充分必要条件是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349250" y="3715147"/>
            <a:ext cx="8229600" cy="143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3</a:t>
            </a: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元齐次线性方程组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= 0 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①只有零解的充分必要条件是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  <a:endParaRPr kumimoji="1" lang="en-US" altLang="zh-CN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        ②有非零解的充分必要条件是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391368" y="2748954"/>
            <a:ext cx="8229600" cy="834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线性方程组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有解的充分必要条件是</a:t>
            </a:r>
          </a:p>
          <a:p>
            <a:pPr algn="ctr"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1843257-8831-4112-B1ED-D7618B2C2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5360185"/>
            <a:ext cx="7128792" cy="834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4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矩阵方程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有解的充分必要条件是</a:t>
            </a:r>
          </a:p>
          <a:p>
            <a:pPr algn="ctr"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0" grpId="0"/>
      <p:bldP spid="44041" grpId="0"/>
      <p:bldP spid="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ChangeArrowheads="1"/>
          </p:cNvSpPr>
          <p:nvPr/>
        </p:nvSpPr>
        <p:spPr bwMode="auto">
          <a:xfrm>
            <a:off x="457200" y="911225"/>
            <a:ext cx="82296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定理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>
                <a:solidFill>
                  <a:srgbClr val="000000"/>
                </a:solidFill>
              </a:rPr>
              <a:t>矩阵方程 </a:t>
            </a:r>
            <a:r>
              <a:rPr kumimoji="1" lang="en-US" altLang="zh-CN" i="1" dirty="0">
                <a:solidFill>
                  <a:srgbClr val="FF0000"/>
                </a:solidFill>
              </a:rPr>
              <a:t>AX</a:t>
            </a:r>
            <a:r>
              <a:rPr kumimoji="1" lang="en-US" altLang="zh-CN" dirty="0">
                <a:solidFill>
                  <a:srgbClr val="FF0000"/>
                </a:solidFill>
              </a:rPr>
              <a:t> = 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有解的充分必要条件是</a:t>
            </a:r>
          </a:p>
          <a:p>
            <a:pPr algn="ctr"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, 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楷体_GB2312"/>
              </a:rPr>
              <a:t>．</a:t>
            </a: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457200" y="1909763"/>
            <a:ext cx="8507413" cy="3988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00007D"/>
              </a:buClr>
              <a:buNone/>
            </a:pPr>
            <a:r>
              <a:rPr lang="zh-CN" altLang="en-US" dirty="0">
                <a:solidFill>
                  <a:srgbClr val="0000FF"/>
                </a:solidFill>
              </a:rPr>
              <a:t>证明：</a:t>
            </a:r>
            <a:r>
              <a:rPr lang="zh-CN" altLang="en-US" dirty="0">
                <a:solidFill>
                  <a:srgbClr val="000000"/>
                </a:solidFill>
              </a:rPr>
              <a:t>设 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是 </a:t>
            </a:r>
            <a:r>
              <a:rPr lang="en-US" altLang="zh-CN" i="1" dirty="0" err="1">
                <a:solidFill>
                  <a:srgbClr val="000000"/>
                </a:solidFill>
              </a:rPr>
              <a:t>m</a:t>
            </a:r>
            <a:r>
              <a:rPr lang="en-US" altLang="zh-CN" dirty="0" err="1">
                <a:solidFill>
                  <a:srgbClr val="000000"/>
                </a:solidFill>
              </a:rPr>
              <a:t>×</a:t>
            </a:r>
            <a:r>
              <a:rPr lang="en-US" altLang="zh-CN" i="1" dirty="0" err="1">
                <a:solidFill>
                  <a:srgbClr val="000000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矩阵，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是 </a:t>
            </a:r>
            <a:r>
              <a:rPr lang="en-US" altLang="zh-CN" i="1" dirty="0" err="1">
                <a:solidFill>
                  <a:srgbClr val="000000"/>
                </a:solidFill>
              </a:rPr>
              <a:t>n</a:t>
            </a:r>
            <a:r>
              <a:rPr lang="en-US" altLang="zh-CN" dirty="0" err="1">
                <a:solidFill>
                  <a:srgbClr val="000000"/>
                </a:solidFill>
              </a:rPr>
              <a:t>×</a:t>
            </a:r>
            <a:r>
              <a:rPr lang="en-US" altLang="zh-CN" i="1" dirty="0" err="1">
                <a:solidFill>
                  <a:srgbClr val="000000"/>
                </a:solidFill>
              </a:rPr>
              <a:t>l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矩阵， </a:t>
            </a:r>
            <a:r>
              <a:rPr lang="en-US" altLang="zh-CN" i="1" dirty="0">
                <a:solidFill>
                  <a:srgbClr val="000000"/>
                </a:solidFill>
              </a:rPr>
              <a:t>B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是 </a:t>
            </a:r>
            <a:r>
              <a:rPr lang="en-US" altLang="zh-CN" i="1" dirty="0" err="1">
                <a:solidFill>
                  <a:srgbClr val="000000"/>
                </a:solidFill>
              </a:rPr>
              <a:t>m</a:t>
            </a:r>
            <a:r>
              <a:rPr lang="en-US" altLang="zh-CN" dirty="0" err="1">
                <a:solidFill>
                  <a:srgbClr val="000000"/>
                </a:solidFill>
              </a:rPr>
              <a:t>×</a:t>
            </a:r>
            <a:r>
              <a:rPr lang="en-US" altLang="zh-CN" i="1" dirty="0" err="1">
                <a:solidFill>
                  <a:srgbClr val="000000"/>
                </a:solidFill>
              </a:rPr>
              <a:t>l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矩阵</a:t>
            </a:r>
            <a:r>
              <a:rPr lang="en-US" altLang="zh-CN" dirty="0">
                <a:solidFill>
                  <a:srgbClr val="000000"/>
                </a:solidFill>
                <a:latin typeface="楷体_GB2312"/>
              </a:rPr>
              <a:t>.</a:t>
            </a:r>
          </a:p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把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和 </a:t>
            </a:r>
            <a:r>
              <a:rPr lang="en-US" altLang="zh-CN" i="1" dirty="0">
                <a:solidFill>
                  <a:srgbClr val="000000"/>
                </a:solidFill>
              </a:rPr>
              <a:t>B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按列分块，记作</a:t>
            </a:r>
          </a:p>
          <a:p>
            <a:pPr algn="ctr"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</a:rPr>
              <a:t> = ( </a:t>
            </a:r>
            <a:r>
              <a:rPr lang="en-US" altLang="zh-CN" sz="2800" i="1" dirty="0">
                <a:solidFill>
                  <a:srgbClr val="000000"/>
                </a:solidFill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, </a:t>
            </a:r>
            <a:r>
              <a:rPr lang="en-US" altLang="zh-CN" sz="2800" i="1" dirty="0">
                <a:solidFill>
                  <a:srgbClr val="000000"/>
                </a:solidFill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, …, </a:t>
            </a:r>
            <a:r>
              <a:rPr lang="en-US" altLang="zh-CN" sz="2800" i="1" dirty="0">
                <a:solidFill>
                  <a:srgbClr val="000000"/>
                </a:solidFill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</a:rPr>
              <a:t>l</a:t>
            </a:r>
            <a:r>
              <a:rPr lang="en-US" altLang="zh-CN" sz="2800" i="1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) 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>
                <a:solidFill>
                  <a:srgbClr val="000000"/>
                </a:solidFill>
              </a:rPr>
              <a:t>B</a:t>
            </a:r>
            <a:r>
              <a:rPr lang="en-US" altLang="zh-CN" dirty="0">
                <a:solidFill>
                  <a:srgbClr val="000000"/>
                </a:solidFill>
              </a:rPr>
              <a:t> = ( </a:t>
            </a:r>
            <a:r>
              <a:rPr lang="en-US" altLang="zh-CN" sz="2800" i="1" dirty="0">
                <a:solidFill>
                  <a:srgbClr val="000000"/>
                </a:solidFill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, </a:t>
            </a:r>
            <a:r>
              <a:rPr lang="en-US" altLang="zh-CN" sz="2800" i="1" dirty="0">
                <a:solidFill>
                  <a:srgbClr val="000000"/>
                </a:solidFill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, …, </a:t>
            </a:r>
            <a:r>
              <a:rPr lang="en-US" altLang="zh-CN" sz="2800" i="1" dirty="0" err="1">
                <a:solidFill>
                  <a:srgbClr val="000000"/>
                </a:solidFill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</a:rPr>
              <a:t>l</a:t>
            </a:r>
            <a:r>
              <a:rPr lang="en-US" altLang="zh-CN" sz="2800" i="1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则</a:t>
            </a:r>
          </a:p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即矩阵方程 </a:t>
            </a:r>
            <a:r>
              <a:rPr kumimoji="1" lang="en-US" altLang="zh-CN" i="1" dirty="0">
                <a:solidFill>
                  <a:srgbClr val="FF0000"/>
                </a:solidFill>
              </a:rPr>
              <a:t>AX</a:t>
            </a:r>
            <a:r>
              <a:rPr kumimoji="1" lang="en-US" altLang="zh-CN" dirty="0">
                <a:solidFill>
                  <a:srgbClr val="FF0000"/>
                </a:solidFill>
              </a:rPr>
              <a:t> = 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有解        线性方程组 </a:t>
            </a:r>
            <a:r>
              <a:rPr kumimoji="1" lang="en-US" altLang="zh-CN" i="1" dirty="0" err="1">
                <a:solidFill>
                  <a:srgbClr val="FF0000"/>
                </a:solidFill>
              </a:rPr>
              <a:t>Ax</a:t>
            </a:r>
            <a:r>
              <a:rPr kumimoji="1" lang="en-US" altLang="zh-CN" i="1" baseline="-25000" dirty="0" err="1">
                <a:solidFill>
                  <a:srgbClr val="FF0000"/>
                </a:solidFill>
              </a:rPr>
              <a:t>i</a:t>
            </a:r>
            <a:r>
              <a:rPr kumimoji="1" lang="en-US" altLang="zh-CN" dirty="0">
                <a:solidFill>
                  <a:srgbClr val="FF0000"/>
                </a:solidFill>
              </a:rPr>
              <a:t> = 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en-US" altLang="zh-CN" i="1" baseline="-25000" dirty="0">
                <a:solidFill>
                  <a:srgbClr val="FF0000"/>
                </a:solidFill>
              </a:rPr>
              <a:t>i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有解</a:t>
            </a:r>
          </a:p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i="1" dirty="0">
                <a:solidFill>
                  <a:srgbClr val="000000"/>
                </a:solidFill>
              </a:rPr>
              <a:t>                                                 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 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, 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i="1" baseline="-25000" dirty="0">
                <a:solidFill>
                  <a:srgbClr val="000000"/>
                </a:solidFill>
              </a:rPr>
              <a:t>i </a:t>
            </a:r>
            <a:r>
              <a:rPr kumimoji="1" lang="en-US" altLang="zh-CN" dirty="0">
                <a:solidFill>
                  <a:srgbClr val="000000"/>
                </a:solidFill>
              </a:rPr>
              <a:t>)</a:t>
            </a:r>
          </a:p>
        </p:txBody>
      </p:sp>
      <p:graphicFrame>
        <p:nvGraphicFramePr>
          <p:cNvPr id="4608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282000"/>
              </p:ext>
            </p:extLst>
          </p:nvPr>
        </p:nvGraphicFramePr>
        <p:xfrm>
          <a:off x="833251" y="3717032"/>
          <a:ext cx="2930712" cy="46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360" imgH="228600" progId="Equation.DSMT4">
                  <p:embed/>
                </p:oleObj>
              </mc:Choice>
              <mc:Fallback>
                <p:oleObj name="Equation" r:id="rId2" imgW="142236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251" y="3717032"/>
                        <a:ext cx="2930712" cy="46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971728"/>
              </p:ext>
            </p:extLst>
          </p:nvPr>
        </p:nvGraphicFramePr>
        <p:xfrm>
          <a:off x="3763963" y="3720469"/>
          <a:ext cx="2926578" cy="501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228600" progId="Equation.DSMT4">
                  <p:embed/>
                </p:oleObj>
              </mc:Choice>
              <mc:Fallback>
                <p:oleObj name="Equation" r:id="rId4" imgW="133344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3720469"/>
                        <a:ext cx="2926578" cy="501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873846"/>
              </p:ext>
            </p:extLst>
          </p:nvPr>
        </p:nvGraphicFramePr>
        <p:xfrm>
          <a:off x="3763963" y="4263197"/>
          <a:ext cx="2747840" cy="507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228600" progId="Equation.DSMT4">
                  <p:embed/>
                </p:oleObj>
              </mc:Choice>
              <mc:Fallback>
                <p:oleObj name="Equation" r:id="rId6" imgW="123156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4263197"/>
                        <a:ext cx="2747840" cy="507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335589"/>
              </p:ext>
            </p:extLst>
          </p:nvPr>
        </p:nvGraphicFramePr>
        <p:xfrm>
          <a:off x="3924300" y="4941168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181600" imgH="3352800" progId="">
                  <p:embed/>
                </p:oleObj>
              </mc:Choice>
              <mc:Fallback>
                <p:oleObj name="Equation" r:id="rId8" imgW="5181600" imgH="33528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941168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90245"/>
              </p:ext>
            </p:extLst>
          </p:nvPr>
        </p:nvGraphicFramePr>
        <p:xfrm>
          <a:off x="3924300" y="5501555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181600" imgH="3352800" progId="">
                  <p:embed/>
                </p:oleObj>
              </mc:Choice>
              <mc:Fallback>
                <p:oleObj name="Equation" r:id="rId10" imgW="5181600" imgH="33528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501555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6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60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60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8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457200" y="525463"/>
            <a:ext cx="82296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设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</a:rPr>
              <a:t>r </a:t>
            </a:r>
            <a:r>
              <a:rPr kumimoji="1" lang="zh-CN" altLang="en-US" dirty="0">
                <a:solidFill>
                  <a:srgbClr val="000000"/>
                </a:solidFill>
              </a:rPr>
              <a:t>，</a:t>
            </a:r>
            <a:r>
              <a:rPr kumimoji="1" lang="en-US" altLang="zh-CN" i="1" dirty="0">
                <a:solidFill>
                  <a:srgbClr val="000000"/>
                </a:solidFill>
              </a:rPr>
              <a:t>A </a:t>
            </a:r>
            <a:r>
              <a:rPr kumimoji="1" lang="zh-CN" altLang="en-US" dirty="0">
                <a:solidFill>
                  <a:srgbClr val="000000"/>
                </a:solidFill>
              </a:rPr>
              <a:t>的行最简形矩阵为    ，则      有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个非零行，</a:t>
            </a: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且      的后 </a:t>
            </a:r>
            <a:r>
              <a:rPr kumimoji="1" lang="en-US" altLang="zh-CN" i="1" dirty="0">
                <a:solidFill>
                  <a:srgbClr val="000000"/>
                </a:solidFill>
              </a:rPr>
              <a:t>m</a:t>
            </a:r>
            <a:r>
              <a:rPr kumimoji="1" lang="zh-CN" altLang="en-US" dirty="0">
                <a:solidFill>
                  <a:srgbClr val="000000"/>
                </a:solidFill>
              </a:rPr>
              <a:t>－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行全是零</a:t>
            </a:r>
            <a:r>
              <a:rPr kumimoji="1" lang="zh-CN" altLang="en-US" dirty="0">
                <a:solidFill>
                  <a:srgbClr val="000000"/>
                </a:solidFill>
                <a:latin typeface="楷体_GB2312"/>
              </a:rPr>
              <a:t>．</a:t>
            </a: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楷体_GB2312"/>
              </a:rPr>
              <a:t>再设</a:t>
            </a:r>
          </a:p>
          <a:p>
            <a:pPr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楷体_GB2312"/>
              </a:rPr>
              <a:t>从而             ． </a:t>
            </a:r>
          </a:p>
        </p:txBody>
      </p:sp>
      <p:graphicFrame>
        <p:nvGraphicFramePr>
          <p:cNvPr id="47110" name="Object 26"/>
          <p:cNvGraphicFramePr>
            <a:graphicFrameLocks noChangeAspect="1"/>
          </p:cNvGraphicFramePr>
          <p:nvPr/>
        </p:nvGraphicFramePr>
        <p:xfrm>
          <a:off x="5075238" y="547688"/>
          <a:ext cx="3317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62400" imgH="4876800" progId="">
                  <p:embed/>
                </p:oleObj>
              </mc:Choice>
              <mc:Fallback>
                <p:oleObj name="Equation" r:id="rId2" imgW="3962400" imgH="4876800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547688"/>
                        <a:ext cx="331787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27"/>
          <p:cNvGraphicFramePr>
            <a:graphicFrameLocks noChangeAspect="1"/>
          </p:cNvGraphicFramePr>
          <p:nvPr/>
        </p:nvGraphicFramePr>
        <p:xfrm>
          <a:off x="6111875" y="547688"/>
          <a:ext cx="3317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62400" imgH="4876800" progId="">
                  <p:embed/>
                </p:oleObj>
              </mc:Choice>
              <mc:Fallback>
                <p:oleObj name="Equation" r:id="rId4" imgW="3962400" imgH="4876800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75" y="547688"/>
                        <a:ext cx="3317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28"/>
          <p:cNvGraphicFramePr>
            <a:graphicFrameLocks noChangeAspect="1"/>
          </p:cNvGraphicFramePr>
          <p:nvPr/>
        </p:nvGraphicFramePr>
        <p:xfrm>
          <a:off x="927100" y="1004888"/>
          <a:ext cx="3317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62400" imgH="4876800" progId="">
                  <p:embed/>
                </p:oleObj>
              </mc:Choice>
              <mc:Fallback>
                <p:oleObj name="Equation" r:id="rId5" imgW="3962400" imgH="4876800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1004888"/>
                        <a:ext cx="3317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236489"/>
              </p:ext>
            </p:extLst>
          </p:nvPr>
        </p:nvGraphicFramePr>
        <p:xfrm>
          <a:off x="1308100" y="1352550"/>
          <a:ext cx="4941888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16120" imgH="317160" progId="Equation.DSMT4">
                  <p:embed/>
                </p:oleObj>
              </mc:Choice>
              <mc:Fallback>
                <p:oleObj name="Equation" r:id="rId6" imgW="2616120" imgH="31716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1352550"/>
                        <a:ext cx="4941888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Object 30"/>
          <p:cNvGraphicFramePr>
            <a:graphicFrameLocks noChangeAspect="1"/>
          </p:cNvGraphicFramePr>
          <p:nvPr/>
        </p:nvGraphicFramePr>
        <p:xfrm>
          <a:off x="1230313" y="1812925"/>
          <a:ext cx="188277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555200" imgH="7620000" progId="">
                  <p:embed/>
                </p:oleObj>
              </mc:Choice>
              <mc:Fallback>
                <p:oleObj name="Equation" r:id="rId8" imgW="22555200" imgH="7620000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1812925"/>
                        <a:ext cx="1882775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5" name="Rectangle 11"/>
          <p:cNvSpPr>
            <a:spLocks noChangeArrowheads="1"/>
          </p:cNvSpPr>
          <p:nvPr/>
        </p:nvSpPr>
        <p:spPr bwMode="auto">
          <a:xfrm>
            <a:off x="457200" y="2749550"/>
            <a:ext cx="8229600" cy="275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矩阵方程 </a:t>
            </a:r>
            <a:r>
              <a:rPr kumimoji="1" lang="en-US" altLang="zh-CN" i="1" dirty="0">
                <a:solidFill>
                  <a:srgbClr val="FF0000"/>
                </a:solidFill>
              </a:rPr>
              <a:t>AX</a:t>
            </a:r>
            <a:r>
              <a:rPr kumimoji="1" lang="en-US" altLang="zh-CN" dirty="0">
                <a:solidFill>
                  <a:srgbClr val="FF0000"/>
                </a:solidFill>
              </a:rPr>
              <a:t> = 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有解        线性方程组 </a:t>
            </a:r>
            <a:r>
              <a:rPr kumimoji="1" lang="en-US" altLang="zh-CN" i="1" dirty="0" err="1">
                <a:solidFill>
                  <a:srgbClr val="FF0000"/>
                </a:solidFill>
              </a:rPr>
              <a:t>Ax</a:t>
            </a:r>
            <a:r>
              <a:rPr kumimoji="1" lang="en-US" altLang="zh-CN" i="1" baseline="-25000" dirty="0" err="1">
                <a:solidFill>
                  <a:srgbClr val="FF0000"/>
                </a:solidFill>
              </a:rPr>
              <a:t>i</a:t>
            </a:r>
            <a:r>
              <a:rPr kumimoji="1" lang="en-US" altLang="zh-CN" dirty="0">
                <a:solidFill>
                  <a:srgbClr val="FF0000"/>
                </a:solidFill>
              </a:rPr>
              <a:t> = 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en-US" altLang="zh-CN" i="1" baseline="-25000" dirty="0">
                <a:solidFill>
                  <a:srgbClr val="FF0000"/>
                </a:solidFill>
              </a:rPr>
              <a:t>i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有解</a:t>
            </a:r>
          </a:p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i="1" dirty="0">
                <a:solidFill>
                  <a:srgbClr val="000000"/>
                </a:solidFill>
              </a:rPr>
              <a:t>                                             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 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, 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i="1" baseline="-25000" dirty="0">
                <a:solidFill>
                  <a:srgbClr val="000000"/>
                </a:solidFill>
              </a:rPr>
              <a:t>i </a:t>
            </a:r>
            <a:r>
              <a:rPr kumimoji="1" lang="en-US" altLang="zh-CN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en-US" altLang="zh-CN" dirty="0">
                <a:solidFill>
                  <a:srgbClr val="000000"/>
                </a:solidFill>
              </a:rPr>
              <a:t>                                                   </a:t>
            </a:r>
            <a:r>
              <a:rPr kumimoji="1" lang="zh-CN" altLang="en-US" dirty="0">
                <a:solidFill>
                  <a:srgbClr val="000000"/>
                </a:solidFill>
              </a:rPr>
              <a:t>的后 </a:t>
            </a:r>
            <a:r>
              <a:rPr kumimoji="1" lang="en-US" altLang="zh-CN" i="1" dirty="0">
                <a:solidFill>
                  <a:srgbClr val="000000"/>
                </a:solidFill>
              </a:rPr>
              <a:t>m</a:t>
            </a:r>
            <a:r>
              <a:rPr kumimoji="1" lang="zh-CN" altLang="en-US" dirty="0">
                <a:solidFill>
                  <a:srgbClr val="000000"/>
                </a:solidFill>
              </a:rPr>
              <a:t>－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个元素全是零</a:t>
            </a:r>
          </a:p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                                                                      的后 </a:t>
            </a:r>
            <a:r>
              <a:rPr kumimoji="1" lang="en-US" altLang="zh-CN" i="1" dirty="0">
                <a:solidFill>
                  <a:srgbClr val="000000"/>
                </a:solidFill>
              </a:rPr>
              <a:t>m</a:t>
            </a:r>
            <a:r>
              <a:rPr kumimoji="1" lang="zh-CN" altLang="en-US" dirty="0">
                <a:solidFill>
                  <a:srgbClr val="000000"/>
                </a:solidFill>
              </a:rPr>
              <a:t>－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行全是零</a:t>
            </a:r>
          </a:p>
          <a:p>
            <a:pPr eaLnBrk="1" hangingPunct="1">
              <a:lnSpc>
                <a:spcPct val="13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i="1" dirty="0">
                <a:solidFill>
                  <a:srgbClr val="000000"/>
                </a:solidFill>
              </a:rPr>
              <a:t>                                             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, 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  <a:latin typeface="楷体_GB2312"/>
              </a:rPr>
              <a:t>．</a:t>
            </a:r>
          </a:p>
        </p:txBody>
      </p:sp>
      <p:graphicFrame>
        <p:nvGraphicFramePr>
          <p:cNvPr id="47118" name="Object 31"/>
          <p:cNvGraphicFramePr>
            <a:graphicFrameLocks noChangeAspect="1"/>
          </p:cNvGraphicFramePr>
          <p:nvPr/>
        </p:nvGraphicFramePr>
        <p:xfrm>
          <a:off x="4122738" y="3927475"/>
          <a:ext cx="3048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57600" imgH="6096000" progId="">
                  <p:embed/>
                </p:oleObj>
              </mc:Choice>
              <mc:Fallback>
                <p:oleObj name="Equation" r:id="rId10" imgW="3657600" imgH="6096000" progId="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3927475"/>
                        <a:ext cx="3048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9" name="Object 32"/>
          <p:cNvGraphicFramePr>
            <a:graphicFrameLocks noChangeAspect="1"/>
          </p:cNvGraphicFramePr>
          <p:nvPr/>
        </p:nvGraphicFramePr>
        <p:xfrm>
          <a:off x="3563938" y="2924175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181600" imgH="3352800" progId="">
                  <p:embed/>
                </p:oleObj>
              </mc:Choice>
              <mc:Fallback>
                <p:oleObj name="Equation" r:id="rId12" imgW="5181600" imgH="3352800" progId="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924175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0" name="Object 33"/>
          <p:cNvGraphicFramePr>
            <a:graphicFrameLocks noChangeAspect="1"/>
          </p:cNvGraphicFramePr>
          <p:nvPr/>
        </p:nvGraphicFramePr>
        <p:xfrm>
          <a:off x="3563938" y="3484563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181600" imgH="3352800" progId="">
                  <p:embed/>
                </p:oleObj>
              </mc:Choice>
              <mc:Fallback>
                <p:oleObj name="Equation" r:id="rId14" imgW="5181600" imgH="3352800" progId="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484563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1" name="Object 34"/>
          <p:cNvGraphicFramePr>
            <a:graphicFrameLocks noChangeAspect="1"/>
          </p:cNvGraphicFramePr>
          <p:nvPr/>
        </p:nvGraphicFramePr>
        <p:xfrm>
          <a:off x="3563938" y="4044950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181600" imgH="3352800" progId="">
                  <p:embed/>
                </p:oleObj>
              </mc:Choice>
              <mc:Fallback>
                <p:oleObj name="Equation" r:id="rId15" imgW="5181600" imgH="3352800" progId="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044950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2" name="Object 35"/>
          <p:cNvGraphicFramePr>
            <a:graphicFrameLocks noChangeAspect="1"/>
          </p:cNvGraphicFramePr>
          <p:nvPr/>
        </p:nvGraphicFramePr>
        <p:xfrm>
          <a:off x="3563938" y="4605338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181600" imgH="3352800" progId="">
                  <p:embed/>
                </p:oleObj>
              </mc:Choice>
              <mc:Fallback>
                <p:oleObj name="Equation" r:id="rId16" imgW="5181600" imgH="3352800" progId="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605338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3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038999"/>
              </p:ext>
            </p:extLst>
          </p:nvPr>
        </p:nvGraphicFramePr>
        <p:xfrm>
          <a:off x="4135438" y="4473575"/>
          <a:ext cx="16192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8080" imgH="253800" progId="Equation.DSMT4">
                  <p:embed/>
                </p:oleObj>
              </mc:Choice>
              <mc:Fallback>
                <p:oleObj name="Equation" r:id="rId17" imgW="838080" imgH="2538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4473575"/>
                        <a:ext cx="16192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4" name="Object 37"/>
          <p:cNvGraphicFramePr>
            <a:graphicFrameLocks noChangeAspect="1"/>
          </p:cNvGraphicFramePr>
          <p:nvPr/>
        </p:nvGraphicFramePr>
        <p:xfrm>
          <a:off x="3563938" y="5165725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181600" imgH="3352800" progId="">
                  <p:embed/>
                </p:oleObj>
              </mc:Choice>
              <mc:Fallback>
                <p:oleObj name="Equation" r:id="rId19" imgW="5181600" imgH="3352800" progId="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165725"/>
                        <a:ext cx="431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build="p"/>
      <p:bldP spid="47115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43" name="Rectangle 15"/>
          <p:cNvSpPr>
            <a:spLocks noChangeArrowheads="1"/>
          </p:cNvSpPr>
          <p:nvPr/>
        </p:nvSpPr>
        <p:spPr bwMode="auto">
          <a:xfrm>
            <a:off x="214313" y="69215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       定理</a:t>
            </a:r>
            <a:r>
              <a:rPr lang="en-US" altLang="zh-CN">
                <a:solidFill>
                  <a:srgbClr val="0000FF"/>
                </a:solidFill>
              </a:rPr>
              <a:t>5</a:t>
            </a:r>
            <a:r>
              <a:rPr lang="zh-CN" altLang="en-US">
                <a:solidFill>
                  <a:srgbClr val="0000FF"/>
                </a:solidFill>
              </a:rPr>
              <a:t>：</a:t>
            </a:r>
            <a:r>
              <a:rPr lang="zh-CN" altLang="en-US">
                <a:solidFill>
                  <a:srgbClr val="000000"/>
                </a:solidFill>
              </a:rPr>
              <a:t>设 </a:t>
            </a:r>
            <a:r>
              <a:rPr kumimoji="1" lang="en-US" altLang="zh-CN" i="1">
                <a:solidFill>
                  <a:srgbClr val="000000"/>
                </a:solidFill>
              </a:rPr>
              <a:t>AB</a:t>
            </a:r>
            <a:r>
              <a:rPr kumimoji="1" lang="en-US" altLang="zh-CN">
                <a:solidFill>
                  <a:srgbClr val="000000"/>
                </a:solidFill>
              </a:rPr>
              <a:t> = </a:t>
            </a:r>
            <a:r>
              <a:rPr kumimoji="1" lang="en-US" altLang="zh-CN" i="1">
                <a:solidFill>
                  <a:srgbClr val="000000"/>
                </a:solidFill>
              </a:rPr>
              <a:t>C</a:t>
            </a:r>
            <a:r>
              <a:rPr kumimoji="1" lang="en-US" altLang="zh-CN">
                <a:solidFill>
                  <a:srgbClr val="FF0000"/>
                </a:solidFill>
              </a:rPr>
              <a:t> </a:t>
            </a:r>
            <a:r>
              <a:rPr kumimoji="1" lang="zh-CN" altLang="en-US">
                <a:solidFill>
                  <a:srgbClr val="000000"/>
                </a:solidFill>
              </a:rPr>
              <a:t>，则 </a:t>
            </a:r>
            <a:r>
              <a:rPr kumimoji="1" lang="en-US" altLang="zh-CN" i="1">
                <a:solidFill>
                  <a:srgbClr val="000000"/>
                </a:solidFill>
              </a:rPr>
              <a:t>R</a:t>
            </a:r>
            <a:r>
              <a:rPr kumimoji="1" lang="en-US" altLang="zh-CN">
                <a:solidFill>
                  <a:srgbClr val="000000"/>
                </a:solidFill>
              </a:rPr>
              <a:t>(</a:t>
            </a:r>
            <a:r>
              <a:rPr kumimoji="1" lang="en-US" altLang="zh-CN" i="1">
                <a:solidFill>
                  <a:srgbClr val="000000"/>
                </a:solidFill>
              </a:rPr>
              <a:t>C</a:t>
            </a:r>
            <a:r>
              <a:rPr kumimoji="1" lang="en-US" altLang="zh-CN">
                <a:solidFill>
                  <a:srgbClr val="000000"/>
                </a:solidFill>
              </a:rPr>
              <a:t>) ≤ min{</a:t>
            </a:r>
            <a:r>
              <a:rPr kumimoji="1" lang="en-US" altLang="zh-CN" i="1">
                <a:solidFill>
                  <a:srgbClr val="000000"/>
                </a:solidFill>
              </a:rPr>
              <a:t>R</a:t>
            </a:r>
            <a:r>
              <a:rPr kumimoji="1" lang="en-US" altLang="zh-CN">
                <a:solidFill>
                  <a:srgbClr val="000000"/>
                </a:solidFill>
              </a:rPr>
              <a:t>(</a:t>
            </a:r>
            <a:r>
              <a:rPr kumimoji="1" lang="en-US" altLang="zh-CN" i="1">
                <a:solidFill>
                  <a:srgbClr val="000000"/>
                </a:solidFill>
              </a:rPr>
              <a:t>A</a:t>
            </a:r>
            <a:r>
              <a:rPr kumimoji="1" lang="en-US" altLang="zh-CN">
                <a:solidFill>
                  <a:srgbClr val="000000"/>
                </a:solidFill>
              </a:rPr>
              <a:t>), </a:t>
            </a:r>
            <a:r>
              <a:rPr kumimoji="1" lang="en-US" altLang="zh-CN" i="1">
                <a:solidFill>
                  <a:srgbClr val="000000"/>
                </a:solidFill>
              </a:rPr>
              <a:t>R</a:t>
            </a:r>
            <a:r>
              <a:rPr kumimoji="1" lang="en-US" altLang="zh-CN">
                <a:solidFill>
                  <a:srgbClr val="000000"/>
                </a:solidFill>
              </a:rPr>
              <a:t>(</a:t>
            </a:r>
            <a:r>
              <a:rPr kumimoji="1" lang="en-US" altLang="zh-CN" i="1">
                <a:solidFill>
                  <a:srgbClr val="000000"/>
                </a:solidFill>
              </a:rPr>
              <a:t>B</a:t>
            </a:r>
            <a:r>
              <a:rPr kumimoji="1" lang="en-US" altLang="zh-CN">
                <a:solidFill>
                  <a:srgbClr val="000000"/>
                </a:solidFill>
              </a:rPr>
              <a:t>)} </a:t>
            </a:r>
            <a:r>
              <a:rPr kumimoji="1" lang="zh-CN" altLang="en-US">
                <a:solidFill>
                  <a:srgbClr val="000000"/>
                </a:solidFill>
              </a:rPr>
              <a:t>．</a:t>
            </a:r>
          </a:p>
        </p:txBody>
      </p:sp>
      <p:sp>
        <p:nvSpPr>
          <p:cNvPr id="48144" name="Rectangle 16"/>
          <p:cNvSpPr>
            <a:spLocks noChangeArrowheads="1"/>
          </p:cNvSpPr>
          <p:nvPr/>
        </p:nvSpPr>
        <p:spPr bwMode="auto">
          <a:xfrm>
            <a:off x="285750" y="1382713"/>
            <a:ext cx="8686800" cy="3900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       证明：</a:t>
            </a:r>
            <a:r>
              <a:rPr lang="zh-CN" altLang="en-US" dirty="0">
                <a:solidFill>
                  <a:srgbClr val="000000"/>
                </a:solidFill>
              </a:rPr>
              <a:t>因为 </a:t>
            </a:r>
            <a:r>
              <a:rPr kumimoji="1" lang="en-US" altLang="zh-CN" i="1" dirty="0">
                <a:solidFill>
                  <a:srgbClr val="000000"/>
                </a:solidFill>
              </a:rPr>
              <a:t>AB</a:t>
            </a:r>
            <a:r>
              <a:rPr kumimoji="1" lang="en-US" altLang="zh-CN" dirty="0">
                <a:solidFill>
                  <a:srgbClr val="000000"/>
                </a:solidFill>
              </a:rPr>
              <a:t> = 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，所以矩阵方程 </a:t>
            </a:r>
            <a:r>
              <a:rPr kumimoji="1" lang="en-US" altLang="zh-CN" i="1" dirty="0">
                <a:solidFill>
                  <a:srgbClr val="FF0000"/>
                </a:solidFill>
              </a:rPr>
              <a:t>AX</a:t>
            </a:r>
            <a:r>
              <a:rPr kumimoji="1" lang="en-US" altLang="zh-CN" dirty="0">
                <a:solidFill>
                  <a:srgbClr val="FF0000"/>
                </a:solidFill>
              </a:rPr>
              <a:t> = </a:t>
            </a:r>
            <a:r>
              <a:rPr kumimoji="1" lang="en-US" altLang="zh-CN" i="1" dirty="0">
                <a:solidFill>
                  <a:srgbClr val="FF0000"/>
                </a:solidFill>
              </a:rPr>
              <a:t>C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有解 </a:t>
            </a:r>
            <a:r>
              <a:rPr kumimoji="1" lang="en-US" altLang="zh-CN" i="1" dirty="0">
                <a:solidFill>
                  <a:srgbClr val="000000"/>
                </a:solidFill>
              </a:rPr>
              <a:t>X</a:t>
            </a:r>
            <a:r>
              <a:rPr kumimoji="1" lang="en-US" altLang="zh-CN" dirty="0">
                <a:solidFill>
                  <a:srgbClr val="000000"/>
                </a:solidFill>
              </a:rPr>
              <a:t> = 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zh-CN" altLang="en-US" dirty="0">
                <a:solidFill>
                  <a:srgbClr val="000000"/>
                </a:solidFill>
              </a:rPr>
              <a:t>，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于是 有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) =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, 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dirty="0">
                <a:solidFill>
                  <a:srgbClr val="000000"/>
                </a:solidFill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</a:rPr>
              <a:t>．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en-US" altLang="zh-CN" i="1" dirty="0">
                <a:solidFill>
                  <a:srgbClr val="000000"/>
                </a:solidFill>
              </a:rPr>
              <a:t>       </a:t>
            </a:r>
            <a:r>
              <a:rPr kumimoji="1" lang="zh-CN" altLang="en-US" dirty="0">
                <a:solidFill>
                  <a:srgbClr val="000000"/>
                </a:solidFill>
              </a:rPr>
              <a:t>再由矩阵秩的性质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dirty="0">
                <a:solidFill>
                  <a:srgbClr val="000000"/>
                </a:solidFill>
              </a:rPr>
              <a:t>) ≤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, 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dirty="0">
                <a:solidFill>
                  <a:srgbClr val="000000"/>
                </a:solidFill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</a:rPr>
              <a:t>，故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dirty="0">
                <a:solidFill>
                  <a:srgbClr val="000000"/>
                </a:solidFill>
              </a:rPr>
              <a:t>) ≤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</a:rPr>
              <a:t>．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又 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AB</a:t>
            </a:r>
            <a:r>
              <a:rPr kumimoji="1" lang="en-US" altLang="zh-CN" dirty="0">
                <a:solidFill>
                  <a:srgbClr val="000000"/>
                </a:solidFill>
              </a:rPr>
              <a:t>)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</a:rPr>
              <a:t> = 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</a:t>
            </a:r>
            <a:r>
              <a:rPr kumimoji="1" lang="zh-CN" altLang="en-US" dirty="0">
                <a:solidFill>
                  <a:srgbClr val="000000"/>
                </a:solidFill>
              </a:rPr>
              <a:t>，即 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 </a:t>
            </a:r>
            <a:r>
              <a:rPr kumimoji="1" lang="en-US" altLang="zh-CN" dirty="0">
                <a:solidFill>
                  <a:srgbClr val="000000"/>
                </a:solidFill>
              </a:rPr>
              <a:t>= 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</a:t>
            </a:r>
            <a:r>
              <a:rPr kumimoji="1" lang="zh-CN" altLang="en-US" dirty="0">
                <a:solidFill>
                  <a:srgbClr val="000000"/>
                </a:solidFill>
              </a:rPr>
              <a:t>，所以矩阵方程 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</a:t>
            </a:r>
            <a:r>
              <a:rPr kumimoji="1" lang="en-US" altLang="zh-CN" i="1" dirty="0">
                <a:solidFill>
                  <a:srgbClr val="000000"/>
                </a:solidFill>
              </a:rPr>
              <a:t>X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</a:rPr>
              <a:t>= 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 </a:t>
            </a:r>
            <a:r>
              <a:rPr kumimoji="1" lang="zh-CN" altLang="en-US" dirty="0">
                <a:solidFill>
                  <a:srgbClr val="000000"/>
                </a:solidFill>
              </a:rPr>
              <a:t>有解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 </a:t>
            </a:r>
            <a:r>
              <a:rPr kumimoji="1" lang="en-US" altLang="zh-CN" i="1" dirty="0">
                <a:solidFill>
                  <a:srgbClr val="000000"/>
                </a:solidFill>
              </a:rPr>
              <a:t>X</a:t>
            </a:r>
            <a:r>
              <a:rPr kumimoji="1" lang="en-US" altLang="zh-CN" dirty="0">
                <a:solidFill>
                  <a:srgbClr val="000000"/>
                </a:solidFill>
              </a:rPr>
              <a:t> = 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 </a:t>
            </a:r>
            <a:r>
              <a:rPr kumimoji="1" lang="zh-CN" altLang="en-US" dirty="0">
                <a:solidFill>
                  <a:srgbClr val="000000"/>
                </a:solidFill>
              </a:rPr>
              <a:t>，</a:t>
            </a:r>
            <a:r>
              <a:rPr lang="zh-CN" altLang="en-US" dirty="0">
                <a:solidFill>
                  <a:srgbClr val="000000"/>
                </a:solidFill>
              </a:rPr>
              <a:t>同上证明可得，</a:t>
            </a:r>
            <a:r>
              <a:rPr kumimoji="1" lang="en-US" altLang="zh-CN" i="1" dirty="0">
                <a:solidFill>
                  <a:srgbClr val="000000"/>
                </a:solidFill>
              </a:rPr>
              <a:t> 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</a:rPr>
              <a:t>) ≤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</a:rPr>
              <a:t>，</a:t>
            </a:r>
            <a:r>
              <a:rPr kumimoji="1" lang="en-US" altLang="zh-CN" i="1" dirty="0">
                <a:solidFill>
                  <a:srgbClr val="000000"/>
                </a:solidFill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</a:rPr>
              <a:t>又因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</a:rPr>
              <a:t>) =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</a:rPr>
              <a:t>、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baseline="30000" dirty="0">
                <a:solidFill>
                  <a:srgbClr val="000000"/>
                </a:solidFill>
              </a:rPr>
              <a:t>T</a:t>
            </a:r>
            <a:r>
              <a:rPr kumimoji="1" lang="en-US" altLang="zh-CN" dirty="0">
                <a:solidFill>
                  <a:srgbClr val="000000"/>
                </a:solidFill>
              </a:rPr>
              <a:t>)=</a:t>
            </a:r>
            <a:r>
              <a:rPr kumimoji="1" lang="en-US" altLang="zh-CN" i="1" dirty="0">
                <a:solidFill>
                  <a:srgbClr val="000000"/>
                </a:solidFill>
              </a:rPr>
              <a:t> 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dirty="0">
                <a:solidFill>
                  <a:srgbClr val="000000"/>
                </a:solidFill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</a:rPr>
              <a:t>，所以</a:t>
            </a:r>
            <a:r>
              <a:rPr kumimoji="1" lang="en-US" altLang="zh-CN" dirty="0">
                <a:solidFill>
                  <a:srgbClr val="000000"/>
                </a:solidFill>
              </a:rPr>
              <a:t>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dirty="0">
                <a:solidFill>
                  <a:srgbClr val="000000"/>
                </a:solidFill>
              </a:rPr>
              <a:t>) ≤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</a:rPr>
              <a:t>) </a:t>
            </a:r>
            <a:r>
              <a:rPr kumimoji="1" lang="zh-CN" altLang="en-US" dirty="0">
                <a:solidFill>
                  <a:srgbClr val="000000"/>
                </a:solidFill>
              </a:rPr>
              <a:t>．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       综上所述，可知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C</a:t>
            </a:r>
            <a:r>
              <a:rPr kumimoji="1" lang="en-US" altLang="zh-CN" dirty="0">
                <a:solidFill>
                  <a:srgbClr val="000000"/>
                </a:solidFill>
              </a:rPr>
              <a:t>) ≤ min{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), </a:t>
            </a:r>
            <a:r>
              <a:rPr kumimoji="1" lang="en-US" altLang="zh-CN" i="1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</a:rPr>
              <a:t>B</a:t>
            </a:r>
            <a:r>
              <a:rPr kumimoji="1" lang="en-US" altLang="zh-CN" dirty="0">
                <a:solidFill>
                  <a:srgbClr val="000000"/>
                </a:solidFill>
              </a:rPr>
              <a:t>)} </a:t>
            </a:r>
            <a:r>
              <a:rPr kumimoji="1" lang="zh-CN" altLang="en-US" dirty="0">
                <a:solidFill>
                  <a:srgbClr val="000000"/>
                </a:solidFill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8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8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8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48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48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8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48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3" grpId="0"/>
      <p:bldP spid="48144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6"/>
          <p:cNvSpPr>
            <a:spLocks noChangeArrowheads="1"/>
          </p:cNvSpPr>
          <p:nvPr/>
        </p:nvSpPr>
        <p:spPr bwMode="auto">
          <a:xfrm>
            <a:off x="416876" y="2525387"/>
            <a:ext cx="8229600" cy="180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元线性方程组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①无解的充分必要条件是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②有唯一解的充分必要条件是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③有无限多解的充分必要条件是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395536" y="4653136"/>
            <a:ext cx="8229600" cy="834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线性方程组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有解的充分必要条件是</a:t>
            </a:r>
          </a:p>
          <a:p>
            <a:pPr algn="ctr"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236548" name="TextBox 1"/>
          <p:cNvSpPr txBox="1">
            <a:spLocks noChangeArrowheads="1"/>
          </p:cNvSpPr>
          <p:nvPr/>
        </p:nvSpPr>
        <p:spPr bwMode="auto">
          <a:xfrm>
            <a:off x="1331640" y="496042"/>
            <a:ext cx="60483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内容总结</a:t>
            </a:r>
          </a:p>
        </p:txBody>
      </p:sp>
      <p:sp>
        <p:nvSpPr>
          <p:cNvPr id="236549" name="TextBox 2"/>
          <p:cNvSpPr txBox="1">
            <a:spLocks noChangeArrowheads="1"/>
          </p:cNvSpPr>
          <p:nvPr/>
        </p:nvSpPr>
        <p:spPr bwMode="auto">
          <a:xfrm>
            <a:off x="609594" y="1681926"/>
            <a:ext cx="6977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bg2"/>
                </a:solidFill>
                <a:latin typeface="+mn-lt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solidFill>
                  <a:schemeClr val="bg2"/>
                </a:solidFill>
                <a:latin typeface="+mn-lt"/>
                <a:ea typeface="黑体" panose="02010609060101010101" pitchFamily="49" charset="-122"/>
              </a:rPr>
              <a:t>线性方程组解的存在性，有多少解的问题</a:t>
            </a:r>
            <a:r>
              <a:rPr lang="en-US" altLang="zh-CN" sz="2800" dirty="0">
                <a:solidFill>
                  <a:schemeClr val="bg2"/>
                </a:solidFill>
                <a:latin typeface="+mn-lt"/>
                <a:ea typeface="黑体" panose="02010609060101010101" pitchFamily="49" charset="-122"/>
              </a:rPr>
              <a:t>.</a:t>
            </a:r>
            <a:endParaRPr lang="zh-CN" altLang="en-US" sz="2800" dirty="0">
              <a:solidFill>
                <a:schemeClr val="bg2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/>
          <p:cNvSpPr>
            <a:spLocks noChangeArrowheads="1"/>
          </p:cNvSpPr>
          <p:nvPr/>
        </p:nvSpPr>
        <p:spPr bwMode="auto">
          <a:xfrm>
            <a:off x="878904" y="2708920"/>
            <a:ext cx="7437512" cy="834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4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矩阵方程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有解的充分必要条件是</a:t>
            </a:r>
          </a:p>
          <a:p>
            <a:pPr algn="ctr"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91666" y="908720"/>
            <a:ext cx="7852742" cy="143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3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元齐次线性方程组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= 0 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①只有零解的充分必要条件是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  <a:endParaRPr kumimoji="1" lang="en-US" altLang="zh-CN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②有非零解的充分必要条件是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/>
      <p:bldP spid="9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AutoShape 4"/>
          <p:cNvSpPr>
            <a:spLocks noChangeArrowheads="1"/>
          </p:cNvSpPr>
          <p:nvPr/>
        </p:nvSpPr>
        <p:spPr bwMode="auto">
          <a:xfrm flipV="1">
            <a:off x="4006850" y="1146522"/>
            <a:ext cx="3240088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非齐次线性方程组</a:t>
            </a:r>
          </a:p>
        </p:txBody>
      </p:sp>
      <p:sp>
        <p:nvSpPr>
          <p:cNvPr id="49158" name="AutoShape 6"/>
          <p:cNvSpPr>
            <a:spLocks noChangeArrowheads="1"/>
          </p:cNvSpPr>
          <p:nvPr/>
        </p:nvSpPr>
        <p:spPr bwMode="auto">
          <a:xfrm>
            <a:off x="4038600" y="2225903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5662613" y="1621185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283450" y="2591147"/>
            <a:ext cx="611188" cy="431800"/>
            <a:chOff x="4942" y="1456"/>
            <a:chExt cx="385" cy="272"/>
          </a:xfrm>
        </p:grpSpPr>
        <p:sp>
          <p:nvSpPr>
            <p:cNvPr id="238619" name="Line 11"/>
            <p:cNvSpPr>
              <a:spLocks noChangeShapeType="1"/>
            </p:cNvSpPr>
            <p:nvPr/>
          </p:nvSpPr>
          <p:spPr bwMode="auto">
            <a:xfrm>
              <a:off x="4942" y="1456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8620" name="Line 12"/>
            <p:cNvSpPr>
              <a:spLocks noChangeShapeType="1"/>
            </p:cNvSpPr>
            <p:nvPr/>
          </p:nvSpPr>
          <p:spPr bwMode="auto">
            <a:xfrm>
              <a:off x="5327" y="145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65" name="AutoShape 13"/>
          <p:cNvSpPr>
            <a:spLocks noChangeArrowheads="1"/>
          </p:cNvSpPr>
          <p:nvPr/>
        </p:nvSpPr>
        <p:spPr bwMode="auto">
          <a:xfrm flipV="1">
            <a:off x="7356475" y="3032472"/>
            <a:ext cx="1119188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无解</a:t>
            </a:r>
          </a:p>
        </p:txBody>
      </p:sp>
      <p:sp>
        <p:nvSpPr>
          <p:cNvPr id="49166" name="Text Box 14"/>
          <p:cNvSpPr txBox="1">
            <a:spLocks noChangeArrowheads="1"/>
          </p:cNvSpPr>
          <p:nvPr/>
        </p:nvSpPr>
        <p:spPr bwMode="auto">
          <a:xfrm>
            <a:off x="7323138" y="2133947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3427413" y="2591147"/>
            <a:ext cx="611187" cy="431800"/>
            <a:chOff x="1812" y="1459"/>
            <a:chExt cx="385" cy="272"/>
          </a:xfrm>
        </p:grpSpPr>
        <p:sp>
          <p:nvSpPr>
            <p:cNvPr id="238617" name="Line 17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8618" name="Line 18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71" name="Text Box 19"/>
          <p:cNvSpPr txBox="1">
            <a:spLocks noChangeArrowheads="1"/>
          </p:cNvSpPr>
          <p:nvPr/>
        </p:nvSpPr>
        <p:spPr bwMode="auto">
          <a:xfrm>
            <a:off x="3506788" y="2138710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72" name="AutoShape 20"/>
          <p:cNvSpPr>
            <a:spLocks noChangeArrowheads="1"/>
          </p:cNvSpPr>
          <p:nvPr/>
        </p:nvSpPr>
        <p:spPr bwMode="auto">
          <a:xfrm>
            <a:off x="1822450" y="3203803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5081588" y="3569047"/>
            <a:ext cx="611187" cy="431800"/>
            <a:chOff x="4942" y="1456"/>
            <a:chExt cx="385" cy="272"/>
          </a:xfrm>
        </p:grpSpPr>
        <p:sp>
          <p:nvSpPr>
            <p:cNvPr id="238615" name="Line 24"/>
            <p:cNvSpPr>
              <a:spLocks noChangeShapeType="1"/>
            </p:cNvSpPr>
            <p:nvPr/>
          </p:nvSpPr>
          <p:spPr bwMode="auto">
            <a:xfrm>
              <a:off x="4942" y="1456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8616" name="Line 25"/>
            <p:cNvSpPr>
              <a:spLocks noChangeShapeType="1"/>
            </p:cNvSpPr>
            <p:nvPr/>
          </p:nvSpPr>
          <p:spPr bwMode="auto">
            <a:xfrm>
              <a:off x="5327" y="145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78" name="AutoShape 26"/>
          <p:cNvSpPr>
            <a:spLocks noChangeArrowheads="1"/>
          </p:cNvSpPr>
          <p:nvPr/>
        </p:nvSpPr>
        <p:spPr bwMode="auto">
          <a:xfrm flipV="1">
            <a:off x="4672013" y="4026247"/>
            <a:ext cx="2047875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无限多个解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129213" y="3065810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1239838" y="3573810"/>
            <a:ext cx="611187" cy="431800"/>
            <a:chOff x="1812" y="1459"/>
            <a:chExt cx="385" cy="272"/>
          </a:xfrm>
        </p:grpSpPr>
        <p:sp>
          <p:nvSpPr>
            <p:cNvPr id="238613" name="Line 30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8614" name="Line 31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84" name="Text Box 32"/>
          <p:cNvSpPr txBox="1">
            <a:spLocks noChangeArrowheads="1"/>
          </p:cNvSpPr>
          <p:nvPr/>
        </p:nvSpPr>
        <p:spPr bwMode="auto">
          <a:xfrm>
            <a:off x="1312863" y="3070572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85" name="AutoShape 33"/>
          <p:cNvSpPr>
            <a:spLocks noChangeArrowheads="1"/>
          </p:cNvSpPr>
          <p:nvPr/>
        </p:nvSpPr>
        <p:spPr bwMode="auto">
          <a:xfrm flipV="1">
            <a:off x="539750" y="4026247"/>
            <a:ext cx="1408113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唯一解</a:t>
            </a: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5695950" y="4502497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88" name="AutoShape 36"/>
          <p:cNvSpPr>
            <a:spLocks noChangeArrowheads="1"/>
          </p:cNvSpPr>
          <p:nvPr/>
        </p:nvSpPr>
        <p:spPr bwMode="auto">
          <a:xfrm flipV="1">
            <a:off x="3751263" y="4962872"/>
            <a:ext cx="3889375" cy="91440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包含 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n-R(A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个自由变量</a:t>
            </a:r>
          </a:p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的通解</a:t>
            </a:r>
          </a:p>
        </p:txBody>
      </p:sp>
      <p:graphicFrame>
        <p:nvGraphicFramePr>
          <p:cNvPr id="4918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163278"/>
              </p:ext>
            </p:extLst>
          </p:nvPr>
        </p:nvGraphicFramePr>
        <p:xfrm>
          <a:off x="4797425" y="2387947"/>
          <a:ext cx="172878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26400" imgH="4876800" progId="">
                  <p:embed/>
                </p:oleObj>
              </mc:Choice>
              <mc:Fallback>
                <p:oleObj name="Equation" r:id="rId2" imgW="20726400" imgH="4876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5" y="2387947"/>
                        <a:ext cx="1728788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943336"/>
              </p:ext>
            </p:extLst>
          </p:nvPr>
        </p:nvGraphicFramePr>
        <p:xfrm>
          <a:off x="2822575" y="3367435"/>
          <a:ext cx="1244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35200" imgH="4876800" progId="">
                  <p:embed/>
                </p:oleObj>
              </mc:Choice>
              <mc:Fallback>
                <p:oleObj name="Equation" r:id="rId4" imgW="14935200" imgH="48768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3367435"/>
                        <a:ext cx="1244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"/>
          <p:cNvSpPr txBox="1">
            <a:spLocks noChangeArrowheads="1"/>
          </p:cNvSpPr>
          <p:nvPr/>
        </p:nvSpPr>
        <p:spPr bwMode="auto">
          <a:xfrm>
            <a:off x="306387" y="432148"/>
            <a:ext cx="6977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线性方程组解的求解</a:t>
            </a:r>
            <a:r>
              <a:rPr lang="en-US" altLang="zh-CN" sz="28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.</a:t>
            </a:r>
            <a:endParaRPr lang="zh-CN" altLang="en-US" sz="2800" dirty="0">
              <a:solidFill>
                <a:srgbClr val="3103F3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10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8" dur="10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10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 animBg="1"/>
      <p:bldP spid="49160" grpId="0" animBg="1"/>
      <p:bldP spid="49165" grpId="0" animBg="1"/>
      <p:bldP spid="49166" grpId="0"/>
      <p:bldP spid="49171" grpId="0"/>
      <p:bldP spid="49172" grpId="0" animBg="1"/>
      <p:bldP spid="49178" grpId="0" animBg="1"/>
      <p:bldP spid="49179" grpId="0"/>
      <p:bldP spid="49184" grpId="0"/>
      <p:bldP spid="49185" grpId="0" animBg="1"/>
      <p:bldP spid="49187" grpId="0" animBg="1"/>
      <p:bldP spid="49188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AutoShape 4"/>
          <p:cNvSpPr>
            <a:spLocks noChangeArrowheads="1"/>
          </p:cNvSpPr>
          <p:nvPr/>
        </p:nvSpPr>
        <p:spPr bwMode="auto">
          <a:xfrm flipV="1">
            <a:off x="4006850" y="858490"/>
            <a:ext cx="3240088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齐次线性方程组</a:t>
            </a:r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5662613" y="1333153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72" name="AutoShape 20"/>
          <p:cNvSpPr>
            <a:spLocks noChangeArrowheads="1"/>
          </p:cNvSpPr>
          <p:nvPr/>
        </p:nvSpPr>
        <p:spPr bwMode="auto">
          <a:xfrm>
            <a:off x="3995738" y="2110908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78" name="AutoShape 26"/>
          <p:cNvSpPr>
            <a:spLocks noChangeArrowheads="1"/>
          </p:cNvSpPr>
          <p:nvPr/>
        </p:nvSpPr>
        <p:spPr bwMode="auto">
          <a:xfrm flipV="1">
            <a:off x="4672013" y="3738215"/>
            <a:ext cx="2047875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无穷多个解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003800" y="3090515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276600" y="2514253"/>
            <a:ext cx="611188" cy="431800"/>
            <a:chOff x="1812" y="1459"/>
            <a:chExt cx="385" cy="272"/>
          </a:xfrm>
        </p:grpSpPr>
        <p:sp>
          <p:nvSpPr>
            <p:cNvPr id="239630" name="Line 30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b="1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9631" name="Line 31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b="1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84" name="Text Box 32"/>
          <p:cNvSpPr txBox="1">
            <a:spLocks noChangeArrowheads="1"/>
          </p:cNvSpPr>
          <p:nvPr/>
        </p:nvSpPr>
        <p:spPr bwMode="auto">
          <a:xfrm>
            <a:off x="3276600" y="1937990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85" name="AutoShape 33"/>
          <p:cNvSpPr>
            <a:spLocks noChangeArrowheads="1"/>
          </p:cNvSpPr>
          <p:nvPr/>
        </p:nvSpPr>
        <p:spPr bwMode="auto">
          <a:xfrm flipV="1">
            <a:off x="2587625" y="3017490"/>
            <a:ext cx="1408113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唯一解</a:t>
            </a: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5695950" y="4214465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88" name="AutoShape 36"/>
          <p:cNvSpPr>
            <a:spLocks noChangeArrowheads="1"/>
          </p:cNvSpPr>
          <p:nvPr/>
        </p:nvSpPr>
        <p:spPr bwMode="auto">
          <a:xfrm flipV="1">
            <a:off x="3751263" y="4674840"/>
            <a:ext cx="3889375" cy="91440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包含 </a:t>
            </a:r>
            <a:r>
              <a:rPr kumimoji="1" lang="en-US" altLang="zh-CN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n-R(A</a:t>
            </a:r>
            <a:r>
              <a:rPr kumimoji="1" lang="en-US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个自由变量</a:t>
            </a:r>
          </a:p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的通解</a:t>
            </a:r>
          </a:p>
        </p:txBody>
      </p:sp>
      <p:graphicFrame>
        <p:nvGraphicFramePr>
          <p:cNvPr id="4919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521013"/>
              </p:ext>
            </p:extLst>
          </p:nvPr>
        </p:nvGraphicFramePr>
        <p:xfrm>
          <a:off x="5003800" y="2298353"/>
          <a:ext cx="1244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35200" imgH="4876800" progId="">
                  <p:embed/>
                </p:oleObj>
              </mc:Choice>
              <mc:Fallback>
                <p:oleObj name="Equation" r:id="rId2" imgW="14935200" imgH="48768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298353"/>
                        <a:ext cx="1244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35"/>
          <p:cNvSpPr>
            <a:spLocks noChangeShapeType="1"/>
          </p:cNvSpPr>
          <p:nvPr/>
        </p:nvSpPr>
        <p:spPr bwMode="auto">
          <a:xfrm>
            <a:off x="5580063" y="3090515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b="1"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10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0" grpId="0" animBg="1"/>
      <p:bldP spid="49172" grpId="0" animBg="1"/>
      <p:bldP spid="49178" grpId="0" animBg="1"/>
      <p:bldP spid="49179" grpId="0"/>
      <p:bldP spid="49184" grpId="0"/>
      <p:bldP spid="49185" grpId="0" animBg="1"/>
      <p:bldP spid="49187" grpId="0" animBg="1"/>
      <p:bldP spid="49188" grpId="0" animBg="1"/>
      <p:bldP spid="29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EFC987B1-5CC4-4F59-A6EA-9EC39EC270C5}"/>
              </a:ext>
            </a:extLst>
          </p:cNvPr>
          <p:cNvSpPr txBox="1"/>
          <p:nvPr/>
        </p:nvSpPr>
        <p:spPr>
          <a:xfrm>
            <a:off x="611560" y="2564904"/>
            <a:ext cx="7869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宋体" charset="-122"/>
              </a:rPr>
              <a:t>作业：第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宋体" charset="-122"/>
              </a:rPr>
              <a:t>78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宋体" charset="-122"/>
              </a:rPr>
              <a:t>页 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宋体" charset="-122"/>
              </a:rPr>
              <a:t>13(3),14(3),15,17,18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797540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EFC987B1-5CC4-4F59-A6EA-9EC39EC270C5}"/>
              </a:ext>
            </a:extLst>
          </p:cNvPr>
          <p:cNvSpPr txBox="1"/>
          <p:nvPr/>
        </p:nvSpPr>
        <p:spPr>
          <a:xfrm>
            <a:off x="755576" y="1484784"/>
            <a:ext cx="77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zh-CN" altLang="en-US" sz="3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第三章 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矩阵的初等变换与线性方程组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8E3EDE64-1956-4BB7-86B0-93F708A74200}"/>
              </a:ext>
            </a:extLst>
          </p:cNvPr>
          <p:cNvSpPr txBox="1"/>
          <p:nvPr/>
        </p:nvSpPr>
        <p:spPr>
          <a:xfrm>
            <a:off x="2843808" y="2636912"/>
            <a:ext cx="3456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zh-CN" altLang="en-US" sz="3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内容小结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954979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042988" y="443660"/>
            <a:ext cx="67691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en-US" sz="3600" b="1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§1 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黑体" panose="02010609060101010101" pitchFamily="49" charset="-122"/>
              </a:rPr>
              <a:t>矩阵的初等变换</a:t>
            </a:r>
          </a:p>
        </p:txBody>
      </p: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279400" y="1185863"/>
            <a:ext cx="8558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（一）初等变换与矩阵乘法的关系</a:t>
            </a:r>
            <a:endParaRPr lang="en-US" altLang="zh-CN" sz="28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79400" y="1902768"/>
            <a:ext cx="88646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dirty="0">
                <a:solidFill>
                  <a:srgbClr val="00007D"/>
                </a:solidFill>
                <a:latin typeface="+mn-lt"/>
                <a:ea typeface="黑体" panose="02010609060101010101" pitchFamily="49" charset="-122"/>
              </a:rPr>
              <a:t>   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设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A, B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是一个 </a:t>
            </a:r>
            <a:r>
              <a:rPr lang="en-US" altLang="zh-CN" sz="2400" i="1" dirty="0" err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en-US" sz="2400" dirty="0" err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sz="2400" i="1" dirty="0" err="1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矩阵，则      </a:t>
            </a:r>
            <a:endParaRPr lang="en-US" altLang="zh-CN" sz="2400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(1)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         的充要条件是存在 可逆矩阵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，使得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A=B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(2)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         的充要条件是存在 可逆矩阵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Q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，使得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A Q =B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；</a:t>
            </a:r>
            <a:endParaRPr lang="en-US" altLang="zh-CN" sz="2400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(3)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             的充要条件是存在 可逆矩阵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和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Q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，使得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P A Q =B</a:t>
            </a:r>
            <a:r>
              <a:rPr lang="zh-CN" altLang="en-US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；</a:t>
            </a:r>
            <a:endParaRPr lang="en-US" altLang="zh-CN" sz="2400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+mn-lt"/>
                <a:ea typeface="黑体" panose="02010609060101010101" pitchFamily="49" charset="-122"/>
              </a:rPr>
              <a:t>  </a:t>
            </a:r>
            <a:endParaRPr lang="zh-CN" altLang="en-US" sz="2400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chemeClr val="tx2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698210"/>
              </p:ext>
            </p:extLst>
          </p:nvPr>
        </p:nvGraphicFramePr>
        <p:xfrm>
          <a:off x="1042988" y="2728590"/>
          <a:ext cx="7953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448800" imgH="6400800" progId="">
                  <p:embed/>
                </p:oleObj>
              </mc:Choice>
              <mc:Fallback>
                <p:oleObj name="Equation" r:id="rId2" imgW="9448800" imgH="6400800" progId="">
                  <p:embed/>
                  <p:pic>
                    <p:nvPicPr>
                      <p:cNvPr id="1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728590"/>
                        <a:ext cx="79533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046793"/>
              </p:ext>
            </p:extLst>
          </p:nvPr>
        </p:nvGraphicFramePr>
        <p:xfrm>
          <a:off x="1116013" y="2260277"/>
          <a:ext cx="7667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448800" imgH="6400800" progId="">
                  <p:embed/>
                </p:oleObj>
              </mc:Choice>
              <mc:Fallback>
                <p:oleObj name="Equation" r:id="rId4" imgW="9448800" imgH="6400800" progId="">
                  <p:embed/>
                  <p:pic>
                    <p:nvPicPr>
                      <p:cNvPr id="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260277"/>
                        <a:ext cx="7667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705532"/>
              </p:ext>
            </p:extLst>
          </p:nvPr>
        </p:nvGraphicFramePr>
        <p:xfrm>
          <a:off x="1062038" y="3466777"/>
          <a:ext cx="846137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363200" imgH="3962400" progId="">
                  <p:embed/>
                </p:oleObj>
              </mc:Choice>
              <mc:Fallback>
                <p:oleObj name="Equation" r:id="rId6" imgW="10363200" imgH="3962400" progId="">
                  <p:embed/>
                  <p:pic>
                    <p:nvPicPr>
                      <p:cNvPr id="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3466777"/>
                        <a:ext cx="846137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9"/>
          <p:cNvSpPr txBox="1">
            <a:spLocks noChangeArrowheads="1"/>
          </p:cNvSpPr>
          <p:nvPr/>
        </p:nvSpPr>
        <p:spPr bwMode="auto">
          <a:xfrm>
            <a:off x="423863" y="4124225"/>
            <a:ext cx="776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推论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400" dirty="0">
                <a:solidFill>
                  <a:srgbClr val="FFCC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方阵 </a:t>
            </a:r>
            <a:r>
              <a:rPr lang="en-US" altLang="zh-CN" sz="240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可逆的充要条件是           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3" name="Text Box 29"/>
          <p:cNvSpPr txBox="1">
            <a:spLocks noChangeArrowheads="1"/>
          </p:cNvSpPr>
          <p:nvPr/>
        </p:nvSpPr>
        <p:spPr bwMode="auto">
          <a:xfrm>
            <a:off x="395288" y="4916388"/>
            <a:ext cx="776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推论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400" dirty="0">
                <a:solidFill>
                  <a:srgbClr val="FFCC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方阵 </a:t>
            </a:r>
            <a:r>
              <a:rPr lang="en-US" altLang="zh-CN" sz="240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可逆的充要条件是             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406400" y="5564088"/>
            <a:ext cx="776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推论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3</a:t>
            </a:r>
            <a:r>
              <a:rPr lang="en-US" altLang="zh-CN" sz="2400" dirty="0">
                <a:solidFill>
                  <a:srgbClr val="FFCC66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方阵 </a:t>
            </a:r>
            <a:r>
              <a:rPr lang="en-US" altLang="zh-CN" sz="240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可逆的充要条件是             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284620"/>
              </p:ext>
            </p:extLst>
          </p:nvPr>
        </p:nvGraphicFramePr>
        <p:xfrm>
          <a:off x="4932040" y="3909913"/>
          <a:ext cx="7366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53600" imgH="6400800" progId="">
                  <p:embed/>
                </p:oleObj>
              </mc:Choice>
              <mc:Fallback>
                <p:oleObj name="Equation" r:id="rId8" imgW="9753600" imgH="6400800" progId="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909913"/>
                        <a:ext cx="7366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763471"/>
              </p:ext>
            </p:extLst>
          </p:nvPr>
        </p:nvGraphicFramePr>
        <p:xfrm>
          <a:off x="4860032" y="4659213"/>
          <a:ext cx="969963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144000" imgH="6705600" progId="Equation.3">
                  <p:embed/>
                </p:oleObj>
              </mc:Choice>
              <mc:Fallback>
                <p:oleObj name="公式" r:id="rId10" imgW="9144000" imgH="6705600" progId="Equation.3">
                  <p:embed/>
                  <p:pic>
                    <p:nvPicPr>
                      <p:cNvPr id="30414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4659213"/>
                        <a:ext cx="969963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004208"/>
              </p:ext>
            </p:extLst>
          </p:nvPr>
        </p:nvGraphicFramePr>
        <p:xfrm>
          <a:off x="4826173" y="5521225"/>
          <a:ext cx="9699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753600" imgH="3962400" progId="Equation.3">
                  <p:embed/>
                </p:oleObj>
              </mc:Choice>
              <mc:Fallback>
                <p:oleObj name="公式" r:id="rId12" imgW="9753600" imgH="3962400" progId="Equation.3">
                  <p:embed/>
                  <p:pic>
                    <p:nvPicPr>
                      <p:cNvPr id="30414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173" y="5521225"/>
                        <a:ext cx="9699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955709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4568504"/>
              </p:ext>
            </p:extLst>
          </p:nvPr>
        </p:nvGraphicFramePr>
        <p:xfrm>
          <a:off x="1403350" y="1747838"/>
          <a:ext cx="1804988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972800" imgH="5181600" progId="Equation.3">
                  <p:embed/>
                </p:oleObj>
              </mc:Choice>
              <mc:Fallback>
                <p:oleObj name="公式" r:id="rId2" imgW="10972800" imgH="5181600" progId="Equation.3">
                  <p:embed/>
                  <p:pic>
                    <p:nvPicPr>
                      <p:cNvPr id="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747838"/>
                        <a:ext cx="1804988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36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23399"/>
              </p:ext>
            </p:extLst>
          </p:nvPr>
        </p:nvGraphicFramePr>
        <p:xfrm>
          <a:off x="5292725" y="1700213"/>
          <a:ext cx="20875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411200" imgH="5791200" progId="Equation.3">
                  <p:embed/>
                </p:oleObj>
              </mc:Choice>
              <mc:Fallback>
                <p:oleObj name="公式" r:id="rId4" imgW="13411200" imgH="5791200" progId="Equation.3">
                  <p:embed/>
                  <p:pic>
                    <p:nvPicPr>
                      <p:cNvPr id="71536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700213"/>
                        <a:ext cx="208756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>
            <a:off x="3203575" y="2205038"/>
            <a:ext cx="2089150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419475" y="1628775"/>
            <a:ext cx="1728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+mn-lt"/>
                <a:ea typeface="黑体" panose="02010609060101010101" pitchFamily="49" charset="-122"/>
              </a:rPr>
              <a:t>初等行变换</a:t>
            </a:r>
          </a:p>
        </p:txBody>
      </p: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395288" y="836613"/>
            <a:ext cx="8558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（二）初等变换法求逆矩阵</a:t>
            </a:r>
            <a:endParaRPr lang="en-US" altLang="zh-CN" sz="2800" b="1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710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926682"/>
              </p:ext>
            </p:extLst>
          </p:nvPr>
        </p:nvGraphicFramePr>
        <p:xfrm>
          <a:off x="901700" y="3789363"/>
          <a:ext cx="7861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8671200" imgH="23469600" progId="Equation.3">
                  <p:embed/>
                </p:oleObj>
              </mc:Choice>
              <mc:Fallback>
                <p:oleObj name="Equation" r:id="rId6" imgW="188671200" imgH="23469600" progId="Equation.3">
                  <p:embed/>
                  <p:pic>
                    <p:nvPicPr>
                      <p:cNvPr id="17101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3789363"/>
                        <a:ext cx="78613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6" name="Text Box 29"/>
          <p:cNvSpPr txBox="1">
            <a:spLocks noChangeArrowheads="1"/>
          </p:cNvSpPr>
          <p:nvPr/>
        </p:nvSpPr>
        <p:spPr bwMode="auto">
          <a:xfrm>
            <a:off x="395288" y="2924175"/>
            <a:ext cx="8558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（三）初等变换的其他应用</a:t>
            </a:r>
            <a:endParaRPr lang="en-US" altLang="zh-CN" sz="2800" b="1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022515"/>
              </p:ext>
            </p:extLst>
          </p:nvPr>
        </p:nvGraphicFramePr>
        <p:xfrm>
          <a:off x="1427163" y="4981575"/>
          <a:ext cx="175577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668000" imgH="5181600" progId="Equation.3">
                  <p:embed/>
                </p:oleObj>
              </mc:Choice>
              <mc:Fallback>
                <p:oleObj name="公式" r:id="rId8" imgW="10668000" imgH="5181600" progId="Equation.3">
                  <p:embed/>
                  <p:pic>
                    <p:nvPicPr>
                      <p:cNvPr id="1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63" y="4981575"/>
                        <a:ext cx="1755775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003492"/>
              </p:ext>
            </p:extLst>
          </p:nvPr>
        </p:nvGraphicFramePr>
        <p:xfrm>
          <a:off x="5319713" y="4933950"/>
          <a:ext cx="2420937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544800" imgH="5791200" progId="Equation.3">
                  <p:embed/>
                </p:oleObj>
              </mc:Choice>
              <mc:Fallback>
                <p:oleObj name="公式" r:id="rId10" imgW="15544800" imgH="5791200" progId="Equation.3">
                  <p:embed/>
                  <p:pic>
                    <p:nvPicPr>
                      <p:cNvPr id="1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713" y="4933950"/>
                        <a:ext cx="2420937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>
            <a:cxnSpLocks noChangeShapeType="1"/>
          </p:cNvCxnSpPr>
          <p:nvPr/>
        </p:nvCxnSpPr>
        <p:spPr bwMode="auto">
          <a:xfrm>
            <a:off x="3203575" y="5438775"/>
            <a:ext cx="2089150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419475" y="4862513"/>
            <a:ext cx="1728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+mn-lt"/>
                <a:ea typeface="黑体" panose="02010609060101010101" pitchFamily="49" charset="-122"/>
              </a:rPr>
              <a:t>初等行变换</a:t>
            </a:r>
          </a:p>
        </p:txBody>
      </p:sp>
    </p:spTree>
    <p:extLst>
      <p:ext uri="{BB962C8B-B14F-4D97-AF65-F5344CB8AC3E}">
        <p14:creationId xmlns:p14="http://schemas.microsoft.com/office/powerpoint/2010/main" val="254561263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457200" y="1700213"/>
            <a:ext cx="8231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一、矩阵的秩的定义</a:t>
            </a: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：矩阵最高阶非零子式的阶数</a:t>
            </a:r>
            <a:r>
              <a:rPr kumimoji="1" lang="en-US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.</a:t>
            </a:r>
            <a:endParaRPr kumimoji="1" lang="zh-CN" altLang="en-US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445268" y="620688"/>
            <a:ext cx="8231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00007D"/>
              </a:buClr>
              <a:buNone/>
            </a:pPr>
            <a:r>
              <a:rPr lang="en-US" altLang="en-US" sz="3600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§2 </a:t>
            </a:r>
            <a:r>
              <a:rPr kumimoji="1" lang="zh-CN" altLang="en-US" sz="36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矩阵的秩</a:t>
            </a: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539750" y="4396011"/>
            <a:ext cx="3455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二、求矩阵的秩的方法</a:t>
            </a:r>
          </a:p>
        </p:txBody>
      </p:sp>
      <p:sp>
        <p:nvSpPr>
          <p:cNvPr id="7" name="左大括号 6"/>
          <p:cNvSpPr>
            <a:spLocks/>
          </p:cNvSpPr>
          <p:nvPr/>
        </p:nvSpPr>
        <p:spPr bwMode="auto">
          <a:xfrm>
            <a:off x="3779838" y="4137248"/>
            <a:ext cx="287337" cy="1008063"/>
          </a:xfrm>
          <a:prstGeom prst="leftBrace">
            <a:avLst>
              <a:gd name="adj1" fmla="val 8348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4067175" y="4756373"/>
            <a:ext cx="4249738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矩阵化为行阶梯型矩阵，行阶</a:t>
            </a:r>
            <a:endParaRPr kumimoji="1" lang="en-US" altLang="zh-CN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梯型矩阵的非零行的行数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067175" y="3994373"/>
            <a:ext cx="38893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求最高阶非零子式的阶数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114905" y="2858505"/>
            <a:ext cx="3455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CC"/>
                </a:solidFill>
                <a:latin typeface="+mn-lt"/>
                <a:ea typeface="黑体" panose="02010609060101010101" pitchFamily="49" charset="-122"/>
              </a:rPr>
              <a:t>与秩相关的概念</a:t>
            </a:r>
          </a:p>
        </p:txBody>
      </p:sp>
      <p:sp>
        <p:nvSpPr>
          <p:cNvPr id="17" name="左大括号 16"/>
          <p:cNvSpPr>
            <a:spLocks/>
          </p:cNvSpPr>
          <p:nvPr/>
        </p:nvSpPr>
        <p:spPr bwMode="auto">
          <a:xfrm>
            <a:off x="3483880" y="2493640"/>
            <a:ext cx="288925" cy="1223962"/>
          </a:xfrm>
          <a:prstGeom prst="leftBrace">
            <a:avLst>
              <a:gd name="adj1" fmla="val 8316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3780234" y="2780977"/>
            <a:ext cx="4248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列满秩矩阵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3772805" y="2266627"/>
            <a:ext cx="3887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行满秩矩阵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3780234" y="3328665"/>
            <a:ext cx="4248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00007D"/>
              </a:buClr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满秩矩阵（方阵）</a:t>
            </a:r>
          </a:p>
        </p:txBody>
      </p:sp>
    </p:spTree>
    <p:extLst>
      <p:ext uri="{BB962C8B-B14F-4D97-AF65-F5344CB8AC3E}">
        <p14:creationId xmlns:p14="http://schemas.microsoft.com/office/powerpoint/2010/main" val="280267041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19"/>
          <p:cNvSpPr>
            <a:spLocks noChangeArrowheads="1"/>
          </p:cNvSpPr>
          <p:nvPr/>
        </p:nvSpPr>
        <p:spPr bwMode="auto">
          <a:xfrm>
            <a:off x="467544" y="379512"/>
            <a:ext cx="58326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三、矩阵的秩的性质</a:t>
            </a:r>
            <a:endParaRPr kumimoji="1" lang="zh-CN" altLang="en-US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3028" name="AutoShape 20"/>
          <p:cNvSpPr>
            <a:spLocks noChangeArrowheads="1"/>
          </p:cNvSpPr>
          <p:nvPr/>
        </p:nvSpPr>
        <p:spPr bwMode="auto">
          <a:xfrm>
            <a:off x="323528" y="722216"/>
            <a:ext cx="8610600" cy="5611813"/>
          </a:xfrm>
          <a:prstGeom prst="roundRect">
            <a:avLst>
              <a:gd name="adj" fmla="val 16667"/>
            </a:avLst>
          </a:prstGeom>
          <a:noFill/>
          <a:ln w="2857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</a:t>
            </a:r>
            <a:r>
              <a:rPr kumimoji="1" lang="zh-CN" altLang="en-US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为 </a:t>
            </a:r>
            <a:r>
              <a:rPr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b="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矩阵，则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0≤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)≤min(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m, n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baseline="3000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T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~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P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、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Q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可逆，则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R(PAQ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max{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)}≤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	特别地，当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为非零列向量时，有</a:t>
            </a:r>
          </a:p>
          <a:p>
            <a:pPr algn="ctr"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	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 startAt="6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 startAt="6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)≤min{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)}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  <a:p>
            <a:pPr eaLnBrk="1" hangingPunct="1">
              <a:lnSpc>
                <a:spcPct val="120000"/>
              </a:lnSpc>
              <a:buClr>
                <a:srgbClr val="00007D"/>
              </a:buClr>
              <a:buSzTx/>
              <a:buFont typeface="Wingdings" panose="05000000000000000000" pitchFamily="2" charset="2"/>
              <a:buAutoNum type="circleNumDbPlain" startAt="6"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若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b="0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b="0" i="1" baseline="-25000" dirty="0" err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l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=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O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，则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en-US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)≤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</p:spTree>
    <p:extLst>
      <p:ext uri="{BB962C8B-B14F-4D97-AF65-F5344CB8AC3E}">
        <p14:creationId xmlns:p14="http://schemas.microsoft.com/office/powerpoint/2010/main" val="2874433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6"/>
          <p:cNvSpPr>
            <a:spLocks noChangeArrowheads="1"/>
          </p:cNvSpPr>
          <p:nvPr/>
        </p:nvSpPr>
        <p:spPr bwMode="auto">
          <a:xfrm>
            <a:off x="416876" y="2525387"/>
            <a:ext cx="8229600" cy="180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元线性方程组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①无解的充分必要条件是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②有唯一解的充分必要条件是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Tx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③有无限多解的充分必要条件是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395536" y="4653136"/>
            <a:ext cx="8229600" cy="834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2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线性方程组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有解的充分必要条件是</a:t>
            </a:r>
          </a:p>
          <a:p>
            <a:pPr algn="ctr"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236548" name="TextBox 1"/>
          <p:cNvSpPr txBox="1">
            <a:spLocks noChangeArrowheads="1"/>
          </p:cNvSpPr>
          <p:nvPr/>
        </p:nvSpPr>
        <p:spPr bwMode="auto">
          <a:xfrm>
            <a:off x="1331640" y="496042"/>
            <a:ext cx="60483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en-US" sz="44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§3 </a:t>
            </a:r>
            <a:r>
              <a:rPr lang="zh-CN" altLang="en-US" sz="44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线性方程组的解</a:t>
            </a:r>
          </a:p>
        </p:txBody>
      </p:sp>
      <p:sp>
        <p:nvSpPr>
          <p:cNvPr id="236549" name="TextBox 2"/>
          <p:cNvSpPr txBox="1">
            <a:spLocks noChangeArrowheads="1"/>
          </p:cNvSpPr>
          <p:nvPr/>
        </p:nvSpPr>
        <p:spPr bwMode="auto">
          <a:xfrm>
            <a:off x="609594" y="1681926"/>
            <a:ext cx="6977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线性方程组解的存在性，有多少解的问题</a:t>
            </a:r>
            <a:r>
              <a:rPr lang="en-US" altLang="zh-CN" sz="28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.</a:t>
            </a:r>
            <a:endParaRPr lang="zh-CN" altLang="en-US" sz="2800" dirty="0">
              <a:solidFill>
                <a:srgbClr val="3103F3"/>
              </a:solidFill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241214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/>
          <p:cNvSpPr>
            <a:spLocks noChangeArrowheads="1"/>
          </p:cNvSpPr>
          <p:nvPr/>
        </p:nvSpPr>
        <p:spPr bwMode="auto">
          <a:xfrm>
            <a:off x="971600" y="2708920"/>
            <a:ext cx="7056784" cy="834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4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矩阵方程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=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有解的充分必要条件是</a:t>
            </a:r>
          </a:p>
          <a:p>
            <a:pPr algn="ctr" eaLnBrk="1" hangingPunct="1">
              <a:lnSpc>
                <a:spcPct val="110000"/>
              </a:lnSpc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,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35682" y="908720"/>
            <a:ext cx="8229600" cy="1430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    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3</a:t>
            </a:r>
            <a:r>
              <a:rPr lang="zh-CN" altLang="en-US" b="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元齐次线性方程组 </a:t>
            </a:r>
            <a:r>
              <a:rPr kumimoji="1" lang="en-US" altLang="zh-CN" b="0" i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AX</a:t>
            </a:r>
            <a:r>
              <a:rPr kumimoji="1" lang="en-US" altLang="zh-CN" b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= 0 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①只有零解的充分必要条件是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= 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；</a:t>
            </a:r>
            <a:endParaRPr kumimoji="1" lang="en-US" altLang="zh-CN" b="0" dirty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   ②有非零解的充分必要条件是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kumimoji="1" lang="en-US" altLang="zh-CN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&lt; </a:t>
            </a:r>
            <a:r>
              <a:rPr kumimoji="1" lang="en-US" altLang="zh-CN" b="0" i="1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1" lang="zh-CN" altLang="en-US" b="0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．</a:t>
            </a:r>
          </a:p>
        </p:txBody>
      </p:sp>
    </p:spTree>
    <p:extLst>
      <p:ext uri="{BB962C8B-B14F-4D97-AF65-F5344CB8AC3E}">
        <p14:creationId xmlns:p14="http://schemas.microsoft.com/office/powerpoint/2010/main" val="163531876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AutoShape 4"/>
          <p:cNvSpPr>
            <a:spLocks noChangeArrowheads="1"/>
          </p:cNvSpPr>
          <p:nvPr/>
        </p:nvSpPr>
        <p:spPr bwMode="auto">
          <a:xfrm flipV="1">
            <a:off x="4006850" y="1146522"/>
            <a:ext cx="3240088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非齐次线性方程组</a:t>
            </a:r>
          </a:p>
        </p:txBody>
      </p:sp>
      <p:sp>
        <p:nvSpPr>
          <p:cNvPr id="49158" name="AutoShape 6"/>
          <p:cNvSpPr>
            <a:spLocks noChangeArrowheads="1"/>
          </p:cNvSpPr>
          <p:nvPr/>
        </p:nvSpPr>
        <p:spPr bwMode="auto">
          <a:xfrm>
            <a:off x="4038600" y="2225903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5662613" y="1621185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283450" y="2591147"/>
            <a:ext cx="611188" cy="431800"/>
            <a:chOff x="4942" y="1456"/>
            <a:chExt cx="385" cy="272"/>
          </a:xfrm>
        </p:grpSpPr>
        <p:sp>
          <p:nvSpPr>
            <p:cNvPr id="238619" name="Line 11"/>
            <p:cNvSpPr>
              <a:spLocks noChangeShapeType="1"/>
            </p:cNvSpPr>
            <p:nvPr/>
          </p:nvSpPr>
          <p:spPr bwMode="auto">
            <a:xfrm>
              <a:off x="4942" y="1456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8620" name="Line 12"/>
            <p:cNvSpPr>
              <a:spLocks noChangeShapeType="1"/>
            </p:cNvSpPr>
            <p:nvPr/>
          </p:nvSpPr>
          <p:spPr bwMode="auto">
            <a:xfrm>
              <a:off x="5327" y="145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65" name="AutoShape 13"/>
          <p:cNvSpPr>
            <a:spLocks noChangeArrowheads="1"/>
          </p:cNvSpPr>
          <p:nvPr/>
        </p:nvSpPr>
        <p:spPr bwMode="auto">
          <a:xfrm flipV="1">
            <a:off x="7356475" y="3032472"/>
            <a:ext cx="1119188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无解</a:t>
            </a:r>
          </a:p>
        </p:txBody>
      </p:sp>
      <p:sp>
        <p:nvSpPr>
          <p:cNvPr id="49166" name="Text Box 14"/>
          <p:cNvSpPr txBox="1">
            <a:spLocks noChangeArrowheads="1"/>
          </p:cNvSpPr>
          <p:nvPr/>
        </p:nvSpPr>
        <p:spPr bwMode="auto">
          <a:xfrm>
            <a:off x="7323138" y="2133947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3427413" y="2591147"/>
            <a:ext cx="611187" cy="431800"/>
            <a:chOff x="1812" y="1459"/>
            <a:chExt cx="385" cy="272"/>
          </a:xfrm>
        </p:grpSpPr>
        <p:sp>
          <p:nvSpPr>
            <p:cNvPr id="238617" name="Line 17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8618" name="Line 18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71" name="Text Box 19"/>
          <p:cNvSpPr txBox="1">
            <a:spLocks noChangeArrowheads="1"/>
          </p:cNvSpPr>
          <p:nvPr/>
        </p:nvSpPr>
        <p:spPr bwMode="auto">
          <a:xfrm>
            <a:off x="3506788" y="2138710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72" name="AutoShape 20"/>
          <p:cNvSpPr>
            <a:spLocks noChangeArrowheads="1"/>
          </p:cNvSpPr>
          <p:nvPr/>
        </p:nvSpPr>
        <p:spPr bwMode="auto">
          <a:xfrm>
            <a:off x="1822450" y="3203803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5081588" y="3569047"/>
            <a:ext cx="611187" cy="431800"/>
            <a:chOff x="4942" y="1456"/>
            <a:chExt cx="385" cy="272"/>
          </a:xfrm>
        </p:grpSpPr>
        <p:sp>
          <p:nvSpPr>
            <p:cNvPr id="238615" name="Line 24"/>
            <p:cNvSpPr>
              <a:spLocks noChangeShapeType="1"/>
            </p:cNvSpPr>
            <p:nvPr/>
          </p:nvSpPr>
          <p:spPr bwMode="auto">
            <a:xfrm>
              <a:off x="4942" y="1456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8616" name="Line 25"/>
            <p:cNvSpPr>
              <a:spLocks noChangeShapeType="1"/>
            </p:cNvSpPr>
            <p:nvPr/>
          </p:nvSpPr>
          <p:spPr bwMode="auto">
            <a:xfrm>
              <a:off x="5327" y="145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78" name="AutoShape 26"/>
          <p:cNvSpPr>
            <a:spLocks noChangeArrowheads="1"/>
          </p:cNvSpPr>
          <p:nvPr/>
        </p:nvSpPr>
        <p:spPr bwMode="auto">
          <a:xfrm flipV="1">
            <a:off x="4672013" y="4026247"/>
            <a:ext cx="2047875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无限多个解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129213" y="3065810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1239838" y="3573810"/>
            <a:ext cx="611187" cy="431800"/>
            <a:chOff x="1812" y="1459"/>
            <a:chExt cx="385" cy="272"/>
          </a:xfrm>
        </p:grpSpPr>
        <p:sp>
          <p:nvSpPr>
            <p:cNvPr id="238613" name="Line 30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8614" name="Line 31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84" name="Text Box 32"/>
          <p:cNvSpPr txBox="1">
            <a:spLocks noChangeArrowheads="1"/>
          </p:cNvSpPr>
          <p:nvPr/>
        </p:nvSpPr>
        <p:spPr bwMode="auto">
          <a:xfrm>
            <a:off x="1312863" y="3070572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85" name="AutoShape 33"/>
          <p:cNvSpPr>
            <a:spLocks noChangeArrowheads="1"/>
          </p:cNvSpPr>
          <p:nvPr/>
        </p:nvSpPr>
        <p:spPr bwMode="auto">
          <a:xfrm flipV="1">
            <a:off x="539750" y="4026247"/>
            <a:ext cx="1408113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唯一解</a:t>
            </a: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5695950" y="4502497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88" name="AutoShape 36"/>
          <p:cNvSpPr>
            <a:spLocks noChangeArrowheads="1"/>
          </p:cNvSpPr>
          <p:nvPr/>
        </p:nvSpPr>
        <p:spPr bwMode="auto">
          <a:xfrm flipV="1">
            <a:off x="3751263" y="4962872"/>
            <a:ext cx="3889375" cy="91440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包含 </a:t>
            </a:r>
            <a:r>
              <a:rPr kumimoji="1" lang="en-US" altLang="zh-CN" b="0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n-R(A</a:t>
            </a:r>
            <a:r>
              <a:rPr kumimoji="1" lang="en-US" altLang="zh-CN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个自由变量</a:t>
            </a:r>
          </a:p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b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的通解</a:t>
            </a:r>
          </a:p>
        </p:txBody>
      </p:sp>
      <p:graphicFrame>
        <p:nvGraphicFramePr>
          <p:cNvPr id="49189" name="Object 6"/>
          <p:cNvGraphicFramePr>
            <a:graphicFrameLocks noChangeAspect="1"/>
          </p:cNvGraphicFramePr>
          <p:nvPr/>
        </p:nvGraphicFramePr>
        <p:xfrm>
          <a:off x="4797425" y="2387947"/>
          <a:ext cx="172878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26400" imgH="4876800" progId="">
                  <p:embed/>
                </p:oleObj>
              </mc:Choice>
              <mc:Fallback>
                <p:oleObj name="Equation" r:id="rId2" imgW="20726400" imgH="4876800" progId="">
                  <p:embed/>
                  <p:pic>
                    <p:nvPicPr>
                      <p:cNvPr id="4918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5" y="2387947"/>
                        <a:ext cx="1728788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0" name="Object 7"/>
          <p:cNvGraphicFramePr>
            <a:graphicFrameLocks noChangeAspect="1"/>
          </p:cNvGraphicFramePr>
          <p:nvPr/>
        </p:nvGraphicFramePr>
        <p:xfrm>
          <a:off x="2822575" y="3367435"/>
          <a:ext cx="1244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35200" imgH="4876800" progId="">
                  <p:embed/>
                </p:oleObj>
              </mc:Choice>
              <mc:Fallback>
                <p:oleObj name="Equation" r:id="rId4" imgW="14935200" imgH="4876800" progId="">
                  <p:embed/>
                  <p:pic>
                    <p:nvPicPr>
                      <p:cNvPr id="4919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3367435"/>
                        <a:ext cx="1244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"/>
          <p:cNvSpPr txBox="1">
            <a:spLocks noChangeArrowheads="1"/>
          </p:cNvSpPr>
          <p:nvPr/>
        </p:nvSpPr>
        <p:spPr bwMode="auto">
          <a:xfrm>
            <a:off x="306387" y="432148"/>
            <a:ext cx="6977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线性方程组解的求解</a:t>
            </a:r>
            <a:r>
              <a:rPr lang="en-US" altLang="zh-CN" sz="2800" dirty="0">
                <a:solidFill>
                  <a:srgbClr val="3103F3"/>
                </a:solidFill>
                <a:latin typeface="+mn-lt"/>
                <a:ea typeface="黑体" panose="02010609060101010101" pitchFamily="49" charset="-122"/>
              </a:rPr>
              <a:t>.</a:t>
            </a:r>
            <a:endParaRPr lang="zh-CN" altLang="en-US" sz="2800" dirty="0">
              <a:solidFill>
                <a:srgbClr val="3103F3"/>
              </a:solidFill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459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10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8" dur="10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10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 animBg="1"/>
      <p:bldP spid="49160" grpId="0" animBg="1"/>
      <p:bldP spid="49165" grpId="0" animBg="1"/>
      <p:bldP spid="49166" grpId="0"/>
      <p:bldP spid="49171" grpId="0"/>
      <p:bldP spid="49172" grpId="0" animBg="1"/>
      <p:bldP spid="49178" grpId="0" animBg="1"/>
      <p:bldP spid="49179" grpId="0"/>
      <p:bldP spid="49184" grpId="0"/>
      <p:bldP spid="49185" grpId="0" animBg="1"/>
      <p:bldP spid="49187" grpId="0" animBg="1"/>
      <p:bldP spid="4918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AutoShape 4"/>
          <p:cNvSpPr>
            <a:spLocks noChangeArrowheads="1"/>
          </p:cNvSpPr>
          <p:nvPr/>
        </p:nvSpPr>
        <p:spPr bwMode="auto">
          <a:xfrm flipV="1">
            <a:off x="4006850" y="858490"/>
            <a:ext cx="3240088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齐次线性方程组</a:t>
            </a:r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>
            <a:off x="5662613" y="1333153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72" name="AutoShape 20"/>
          <p:cNvSpPr>
            <a:spLocks noChangeArrowheads="1"/>
          </p:cNvSpPr>
          <p:nvPr/>
        </p:nvSpPr>
        <p:spPr bwMode="auto">
          <a:xfrm>
            <a:off x="3995738" y="2110908"/>
            <a:ext cx="3244850" cy="733663"/>
          </a:xfrm>
          <a:prstGeom prst="flowChartDecision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78" name="AutoShape 26"/>
          <p:cNvSpPr>
            <a:spLocks noChangeArrowheads="1"/>
          </p:cNvSpPr>
          <p:nvPr/>
        </p:nvSpPr>
        <p:spPr bwMode="auto">
          <a:xfrm flipV="1">
            <a:off x="4672013" y="3738215"/>
            <a:ext cx="2047875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无穷多个解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003800" y="3090515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否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276600" y="2514253"/>
            <a:ext cx="611188" cy="431800"/>
            <a:chOff x="1812" y="1459"/>
            <a:chExt cx="385" cy="272"/>
          </a:xfrm>
        </p:grpSpPr>
        <p:sp>
          <p:nvSpPr>
            <p:cNvPr id="239630" name="Line 30"/>
            <p:cNvSpPr>
              <a:spLocks noChangeShapeType="1"/>
            </p:cNvSpPr>
            <p:nvPr/>
          </p:nvSpPr>
          <p:spPr bwMode="auto">
            <a:xfrm>
              <a:off x="1812" y="1459"/>
              <a:ext cx="3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b="1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239631" name="Line 31"/>
            <p:cNvSpPr>
              <a:spLocks noChangeShapeType="1"/>
            </p:cNvSpPr>
            <p:nvPr/>
          </p:nvSpPr>
          <p:spPr bwMode="auto">
            <a:xfrm>
              <a:off x="1822" y="145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b="1">
                <a:latin typeface="+mn-lt"/>
                <a:ea typeface="黑体" panose="02010609060101010101" pitchFamily="49" charset="-122"/>
              </a:endParaRPr>
            </a:p>
          </p:txBody>
        </p:sp>
      </p:grpSp>
      <p:sp>
        <p:nvSpPr>
          <p:cNvPr id="49184" name="Text Box 32"/>
          <p:cNvSpPr txBox="1">
            <a:spLocks noChangeArrowheads="1"/>
          </p:cNvSpPr>
          <p:nvPr/>
        </p:nvSpPr>
        <p:spPr bwMode="auto">
          <a:xfrm>
            <a:off x="3276600" y="1937990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49185" name="AutoShape 33"/>
          <p:cNvSpPr>
            <a:spLocks noChangeArrowheads="1"/>
          </p:cNvSpPr>
          <p:nvPr/>
        </p:nvSpPr>
        <p:spPr bwMode="auto">
          <a:xfrm flipV="1">
            <a:off x="2587625" y="3017490"/>
            <a:ext cx="1408113" cy="47625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唯一解</a:t>
            </a:r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5695950" y="4214465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b="1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9188" name="AutoShape 36"/>
          <p:cNvSpPr>
            <a:spLocks noChangeArrowheads="1"/>
          </p:cNvSpPr>
          <p:nvPr/>
        </p:nvSpPr>
        <p:spPr bwMode="auto">
          <a:xfrm flipV="1">
            <a:off x="3751263" y="4674840"/>
            <a:ext cx="3889375" cy="914400"/>
          </a:xfrm>
          <a:prstGeom prst="flowChartProcess">
            <a:avLst/>
          </a:prstGeom>
          <a:solidFill>
            <a:srgbClr val="FFFF99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rot="1080000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包含 </a:t>
            </a:r>
            <a:r>
              <a:rPr kumimoji="1" lang="en-US" altLang="zh-CN" i="1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n-R(A</a:t>
            </a:r>
            <a:r>
              <a:rPr kumimoji="1" lang="en-US" altLang="zh-CN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) </a:t>
            </a: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个自由变量</a:t>
            </a:r>
          </a:p>
          <a:p>
            <a:pPr algn="ctr" eaLnBrk="1" hangingPunct="1">
              <a:buClr>
                <a:srgbClr val="9999CC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  <a:latin typeface="+mn-lt"/>
                <a:ea typeface="黑体" panose="02010609060101010101" pitchFamily="49" charset="-122"/>
              </a:rPr>
              <a:t>的通解</a:t>
            </a:r>
          </a:p>
        </p:txBody>
      </p:sp>
      <p:graphicFrame>
        <p:nvGraphicFramePr>
          <p:cNvPr id="49190" name="Object 7"/>
          <p:cNvGraphicFramePr>
            <a:graphicFrameLocks noChangeAspect="1"/>
          </p:cNvGraphicFramePr>
          <p:nvPr/>
        </p:nvGraphicFramePr>
        <p:xfrm>
          <a:off x="5003800" y="2298353"/>
          <a:ext cx="1244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35200" imgH="4876800" progId="">
                  <p:embed/>
                </p:oleObj>
              </mc:Choice>
              <mc:Fallback>
                <p:oleObj name="Equation" r:id="rId2" imgW="14935200" imgH="4876800" progId="">
                  <p:embed/>
                  <p:pic>
                    <p:nvPicPr>
                      <p:cNvPr id="4919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298353"/>
                        <a:ext cx="1244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35"/>
          <p:cNvSpPr>
            <a:spLocks noChangeShapeType="1"/>
          </p:cNvSpPr>
          <p:nvPr/>
        </p:nvSpPr>
        <p:spPr bwMode="auto">
          <a:xfrm>
            <a:off x="5580063" y="3090515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 b="1"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821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1000"/>
                                        <p:tgtEl>
                                          <p:spTgt spid="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0" grpId="0" animBg="1"/>
      <p:bldP spid="49172" grpId="0" animBg="1"/>
      <p:bldP spid="49178" grpId="0" animBg="1"/>
      <p:bldP spid="49179" grpId="0"/>
      <p:bldP spid="49184" grpId="0"/>
      <p:bldP spid="49185" grpId="0" animBg="1"/>
      <p:bldP spid="49187" grpId="0" animBg="1"/>
      <p:bldP spid="49188" grpId="0" animBg="1"/>
      <p:bldP spid="29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0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1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2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3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5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6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7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8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ppt/theme/themeOverride2.xml><?xml version="1.0" encoding="utf-8"?>
<a:themeOverride xmlns:a="http://schemas.openxmlformats.org/drawingml/2006/main">
  <a:clrScheme name="1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37546</TotalTime>
  <Words>7671</Words>
  <Application>Microsoft Office PowerPoint</Application>
  <PresentationFormat>全屏显示(4:3)</PresentationFormat>
  <Paragraphs>920</Paragraphs>
  <Slides>124</Slides>
  <Notes>0</Notes>
  <HiddenSlides>4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124</vt:i4>
      </vt:variant>
    </vt:vector>
  </HeadingPairs>
  <TitlesOfParts>
    <vt:vector size="146" baseType="lpstr">
      <vt:lpstr>黑体</vt:lpstr>
      <vt:lpstr>楷体_GB2312</vt:lpstr>
      <vt:lpstr>宋体</vt:lpstr>
      <vt:lpstr>Arial</vt:lpstr>
      <vt:lpstr>Arial Black</vt:lpstr>
      <vt:lpstr>Calibri</vt:lpstr>
      <vt:lpstr>Cambria Math</vt:lpstr>
      <vt:lpstr>Times New Roman</vt:lpstr>
      <vt:lpstr>Wingdings</vt:lpstr>
      <vt:lpstr>Office 主题</vt:lpstr>
      <vt:lpstr>10_Pixel</vt:lpstr>
      <vt:lpstr>11_Pixel</vt:lpstr>
      <vt:lpstr>11_Blends</vt:lpstr>
      <vt:lpstr>12_Blends</vt:lpstr>
      <vt:lpstr>12_Pixel</vt:lpstr>
      <vt:lpstr>13_Pixel</vt:lpstr>
      <vt:lpstr>15_Pixel</vt:lpstr>
      <vt:lpstr>16_Pixel</vt:lpstr>
      <vt:lpstr>17_Pixel</vt:lpstr>
      <vt:lpstr>18_Pixel</vt:lpstr>
      <vt:lpstr>Equation</vt:lpstr>
      <vt:lpstr>公式</vt:lpstr>
      <vt:lpstr>PowerPoint 演示文稿</vt:lpstr>
      <vt:lpstr>第一节 矩阵的初等变换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四、初等矩阵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§3.2  矩阵的秩</vt:lpstr>
      <vt:lpstr>矩阵的秩的引入</vt:lpstr>
      <vt:lpstr>一、矩阵的秩的概念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一、线性方程组的表达式</vt:lpstr>
      <vt:lpstr>二、线性方程组的解的判定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作强 谢</cp:lastModifiedBy>
  <cp:revision>844</cp:revision>
  <dcterms:created xsi:type="dcterms:W3CDTF">2012-04-21T04:49:10Z</dcterms:created>
  <dcterms:modified xsi:type="dcterms:W3CDTF">2024-11-13T14:36:46Z</dcterms:modified>
</cp:coreProperties>
</file>