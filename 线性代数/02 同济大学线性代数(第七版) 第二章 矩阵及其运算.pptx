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0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1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media/audio3.wav" ContentType="audio/x-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  <p:sldMasterId id="2147483839" r:id="rId2"/>
    <p:sldMasterId id="2147483851" r:id="rId3"/>
    <p:sldMasterId id="2147483863" r:id="rId4"/>
    <p:sldMasterId id="2147483887" r:id="rId5"/>
    <p:sldMasterId id="2147483899" r:id="rId6"/>
    <p:sldMasterId id="2147483911" r:id="rId7"/>
    <p:sldMasterId id="2147483923" r:id="rId8"/>
    <p:sldMasterId id="2147484043" r:id="rId9"/>
    <p:sldMasterId id="2147484067" r:id="rId10"/>
    <p:sldMasterId id="2147484091" r:id="rId11"/>
    <p:sldMasterId id="2147484115" r:id="rId12"/>
  </p:sldMasterIdLst>
  <p:notesMasterIdLst>
    <p:notesMasterId r:id="rId138"/>
  </p:notesMasterIdLst>
  <p:sldIdLst>
    <p:sldId id="382" r:id="rId13"/>
    <p:sldId id="383" r:id="rId14"/>
    <p:sldId id="1150" r:id="rId15"/>
    <p:sldId id="1151" r:id="rId16"/>
    <p:sldId id="1152" r:id="rId17"/>
    <p:sldId id="1153" r:id="rId18"/>
    <p:sldId id="1154" r:id="rId19"/>
    <p:sldId id="387" r:id="rId20"/>
    <p:sldId id="388" r:id="rId21"/>
    <p:sldId id="389" r:id="rId22"/>
    <p:sldId id="392" r:id="rId23"/>
    <p:sldId id="390" r:id="rId24"/>
    <p:sldId id="391" r:id="rId25"/>
    <p:sldId id="790" r:id="rId26"/>
    <p:sldId id="792" r:id="rId27"/>
    <p:sldId id="793" r:id="rId28"/>
    <p:sldId id="1289" r:id="rId29"/>
    <p:sldId id="1274" r:id="rId30"/>
    <p:sldId id="1275" r:id="rId31"/>
    <p:sldId id="1160" r:id="rId32"/>
    <p:sldId id="398" r:id="rId33"/>
    <p:sldId id="401" r:id="rId34"/>
    <p:sldId id="403" r:id="rId35"/>
    <p:sldId id="877" r:id="rId36"/>
    <p:sldId id="406" r:id="rId37"/>
    <p:sldId id="407" r:id="rId38"/>
    <p:sldId id="408" r:id="rId39"/>
    <p:sldId id="1304" r:id="rId40"/>
    <p:sldId id="1316" r:id="rId41"/>
    <p:sldId id="412" r:id="rId42"/>
    <p:sldId id="1301" r:id="rId43"/>
    <p:sldId id="1302" r:id="rId44"/>
    <p:sldId id="1303" r:id="rId45"/>
    <p:sldId id="413" r:id="rId46"/>
    <p:sldId id="794" r:id="rId47"/>
    <p:sldId id="414" r:id="rId48"/>
    <p:sldId id="1305" r:id="rId49"/>
    <p:sldId id="415" r:id="rId50"/>
    <p:sldId id="416" r:id="rId51"/>
    <p:sldId id="417" r:id="rId52"/>
    <p:sldId id="878" r:id="rId53"/>
    <p:sldId id="1161" r:id="rId54"/>
    <p:sldId id="1306" r:id="rId55"/>
    <p:sldId id="1307" r:id="rId56"/>
    <p:sldId id="1308" r:id="rId57"/>
    <p:sldId id="1309" r:id="rId58"/>
    <p:sldId id="1310" r:id="rId59"/>
    <p:sldId id="424" r:id="rId60"/>
    <p:sldId id="425" r:id="rId61"/>
    <p:sldId id="426" r:id="rId62"/>
    <p:sldId id="427" r:id="rId63"/>
    <p:sldId id="428" r:id="rId64"/>
    <p:sldId id="429" r:id="rId65"/>
    <p:sldId id="1311" r:id="rId66"/>
    <p:sldId id="1312" r:id="rId67"/>
    <p:sldId id="1318" r:id="rId68"/>
    <p:sldId id="1313" r:id="rId69"/>
    <p:sldId id="1314" r:id="rId70"/>
    <p:sldId id="1315" r:id="rId71"/>
    <p:sldId id="1163" r:id="rId72"/>
    <p:sldId id="1290" r:id="rId73"/>
    <p:sldId id="433" r:id="rId74"/>
    <p:sldId id="435" r:id="rId75"/>
    <p:sldId id="1292" r:id="rId76"/>
    <p:sldId id="436" r:id="rId77"/>
    <p:sldId id="441" r:id="rId78"/>
    <p:sldId id="883" r:id="rId79"/>
    <p:sldId id="1263" r:id="rId80"/>
    <p:sldId id="1265" r:id="rId81"/>
    <p:sldId id="1266" r:id="rId82"/>
    <p:sldId id="1267" r:id="rId83"/>
    <p:sldId id="1319" r:id="rId84"/>
    <p:sldId id="1269" r:id="rId85"/>
    <p:sldId id="1270" r:id="rId86"/>
    <p:sldId id="800" r:id="rId87"/>
    <p:sldId id="893" r:id="rId88"/>
    <p:sldId id="894" r:id="rId89"/>
    <p:sldId id="796" r:id="rId90"/>
    <p:sldId id="798" r:id="rId91"/>
    <p:sldId id="799" r:id="rId92"/>
    <p:sldId id="1293" r:id="rId93"/>
    <p:sldId id="901" r:id="rId94"/>
    <p:sldId id="1284" r:id="rId95"/>
    <p:sldId id="1252" r:id="rId96"/>
    <p:sldId id="1253" r:id="rId97"/>
    <p:sldId id="1254" r:id="rId98"/>
    <p:sldId id="902" r:id="rId99"/>
    <p:sldId id="903" r:id="rId100"/>
    <p:sldId id="906" r:id="rId101"/>
    <p:sldId id="900" r:id="rId102"/>
    <p:sldId id="908" r:id="rId103"/>
    <p:sldId id="1172" r:id="rId104"/>
    <p:sldId id="1173" r:id="rId105"/>
    <p:sldId id="1175" r:id="rId106"/>
    <p:sldId id="1176" r:id="rId107"/>
    <p:sldId id="1294" r:id="rId108"/>
    <p:sldId id="1177" r:id="rId109"/>
    <p:sldId id="1179" r:id="rId110"/>
    <p:sldId id="1180" r:id="rId111"/>
    <p:sldId id="1255" r:id="rId112"/>
    <p:sldId id="1186" r:id="rId113"/>
    <p:sldId id="1188" r:id="rId114"/>
    <p:sldId id="1187" r:id="rId115"/>
    <p:sldId id="445" r:id="rId116"/>
    <p:sldId id="446" r:id="rId117"/>
    <p:sldId id="447" r:id="rId118"/>
    <p:sldId id="449" r:id="rId119"/>
    <p:sldId id="451" r:id="rId120"/>
    <p:sldId id="453" r:id="rId121"/>
    <p:sldId id="454" r:id="rId122"/>
    <p:sldId id="1194" r:id="rId123"/>
    <p:sldId id="1193" r:id="rId124"/>
    <p:sldId id="1295" r:id="rId125"/>
    <p:sldId id="1296" r:id="rId126"/>
    <p:sldId id="1297" r:id="rId127"/>
    <p:sldId id="458" r:id="rId128"/>
    <p:sldId id="1298" r:id="rId129"/>
    <p:sldId id="888" r:id="rId130"/>
    <p:sldId id="889" r:id="rId131"/>
    <p:sldId id="1299" r:id="rId132"/>
    <p:sldId id="1200" r:id="rId133"/>
    <p:sldId id="1201" r:id="rId134"/>
    <p:sldId id="461" r:id="rId135"/>
    <p:sldId id="1317" r:id="rId136"/>
    <p:sldId id="890" r:id="rId1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10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07"/>
  </p:normalViewPr>
  <p:slideViewPr>
    <p:cSldViewPr>
      <p:cViewPr varScale="1">
        <p:scale>
          <a:sx n="110" d="100"/>
          <a:sy n="110" d="100"/>
        </p:scale>
        <p:origin x="8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5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63" Type="http://schemas.openxmlformats.org/officeDocument/2006/relationships/slide" Target="slides/slide51.xml"/><Relationship Id="rId84" Type="http://schemas.openxmlformats.org/officeDocument/2006/relationships/slide" Target="slides/slide72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95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74" Type="http://schemas.openxmlformats.org/officeDocument/2006/relationships/slide" Target="slides/slide62.xml"/><Relationship Id="rId79" Type="http://schemas.openxmlformats.org/officeDocument/2006/relationships/slide" Target="slides/slide67.xml"/><Relationship Id="rId102" Type="http://schemas.openxmlformats.org/officeDocument/2006/relationships/slide" Target="slides/slide90.xml"/><Relationship Id="rId123" Type="http://schemas.openxmlformats.org/officeDocument/2006/relationships/slide" Target="slides/slide111.xml"/><Relationship Id="rId128" Type="http://schemas.openxmlformats.org/officeDocument/2006/relationships/slide" Target="slides/slide116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8.xml"/><Relationship Id="rId95" Type="http://schemas.openxmlformats.org/officeDocument/2006/relationships/slide" Target="slides/slide83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113" Type="http://schemas.openxmlformats.org/officeDocument/2006/relationships/slide" Target="slides/slide101.xml"/><Relationship Id="rId118" Type="http://schemas.openxmlformats.org/officeDocument/2006/relationships/slide" Target="slides/slide106.xml"/><Relationship Id="rId134" Type="http://schemas.openxmlformats.org/officeDocument/2006/relationships/slide" Target="slides/slide122.xml"/><Relationship Id="rId139" Type="http://schemas.openxmlformats.org/officeDocument/2006/relationships/presProps" Target="presProps.xml"/><Relationship Id="rId80" Type="http://schemas.openxmlformats.org/officeDocument/2006/relationships/slide" Target="slides/slide68.xml"/><Relationship Id="rId85" Type="http://schemas.openxmlformats.org/officeDocument/2006/relationships/slide" Target="slides/slide7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59" Type="http://schemas.openxmlformats.org/officeDocument/2006/relationships/slide" Target="slides/slide47.xml"/><Relationship Id="rId103" Type="http://schemas.openxmlformats.org/officeDocument/2006/relationships/slide" Target="slides/slide91.xml"/><Relationship Id="rId108" Type="http://schemas.openxmlformats.org/officeDocument/2006/relationships/slide" Target="slides/slide96.xml"/><Relationship Id="rId124" Type="http://schemas.openxmlformats.org/officeDocument/2006/relationships/slide" Target="slides/slide112.xml"/><Relationship Id="rId129" Type="http://schemas.openxmlformats.org/officeDocument/2006/relationships/slide" Target="slides/slide117.xml"/><Relationship Id="rId54" Type="http://schemas.openxmlformats.org/officeDocument/2006/relationships/slide" Target="slides/slide42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91" Type="http://schemas.openxmlformats.org/officeDocument/2006/relationships/slide" Target="slides/slide79.xml"/><Relationship Id="rId96" Type="http://schemas.openxmlformats.org/officeDocument/2006/relationships/slide" Target="slides/slide84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49" Type="http://schemas.openxmlformats.org/officeDocument/2006/relationships/slide" Target="slides/slide37.xml"/><Relationship Id="rId114" Type="http://schemas.openxmlformats.org/officeDocument/2006/relationships/slide" Target="slides/slide102.xml"/><Relationship Id="rId119" Type="http://schemas.openxmlformats.org/officeDocument/2006/relationships/slide" Target="slides/slide107.xml"/><Relationship Id="rId44" Type="http://schemas.openxmlformats.org/officeDocument/2006/relationships/slide" Target="slides/slide32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81" Type="http://schemas.openxmlformats.org/officeDocument/2006/relationships/slide" Target="slides/slide69.xml"/><Relationship Id="rId86" Type="http://schemas.openxmlformats.org/officeDocument/2006/relationships/slide" Target="slides/slide74.xml"/><Relationship Id="rId130" Type="http://schemas.openxmlformats.org/officeDocument/2006/relationships/slide" Target="slides/slide118.xml"/><Relationship Id="rId135" Type="http://schemas.openxmlformats.org/officeDocument/2006/relationships/slide" Target="slides/slide123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109" Type="http://schemas.openxmlformats.org/officeDocument/2006/relationships/slide" Target="slides/slide9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slide" Target="slides/slide64.xml"/><Relationship Id="rId97" Type="http://schemas.openxmlformats.org/officeDocument/2006/relationships/slide" Target="slides/slide85.xml"/><Relationship Id="rId104" Type="http://schemas.openxmlformats.org/officeDocument/2006/relationships/slide" Target="slides/slide92.xml"/><Relationship Id="rId120" Type="http://schemas.openxmlformats.org/officeDocument/2006/relationships/slide" Target="slides/slide108.xml"/><Relationship Id="rId125" Type="http://schemas.openxmlformats.org/officeDocument/2006/relationships/slide" Target="slides/slide113.xml"/><Relationship Id="rId14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92" Type="http://schemas.openxmlformats.org/officeDocument/2006/relationships/slide" Target="slides/slide8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4" Type="http://schemas.openxmlformats.org/officeDocument/2006/relationships/slide" Target="slides/slide12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66" Type="http://schemas.openxmlformats.org/officeDocument/2006/relationships/slide" Target="slides/slide54.xml"/><Relationship Id="rId87" Type="http://schemas.openxmlformats.org/officeDocument/2006/relationships/slide" Target="slides/slide75.xml"/><Relationship Id="rId110" Type="http://schemas.openxmlformats.org/officeDocument/2006/relationships/slide" Target="slides/slide98.xml"/><Relationship Id="rId115" Type="http://schemas.openxmlformats.org/officeDocument/2006/relationships/slide" Target="slides/slide103.xml"/><Relationship Id="rId131" Type="http://schemas.openxmlformats.org/officeDocument/2006/relationships/slide" Target="slides/slide119.xml"/><Relationship Id="rId136" Type="http://schemas.openxmlformats.org/officeDocument/2006/relationships/slide" Target="slides/slide124.xml"/><Relationship Id="rId61" Type="http://schemas.openxmlformats.org/officeDocument/2006/relationships/slide" Target="slides/slide49.xml"/><Relationship Id="rId82" Type="http://schemas.openxmlformats.org/officeDocument/2006/relationships/slide" Target="slides/slide70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56" Type="http://schemas.openxmlformats.org/officeDocument/2006/relationships/slide" Target="slides/slide44.xml"/><Relationship Id="rId77" Type="http://schemas.openxmlformats.org/officeDocument/2006/relationships/slide" Target="slides/slide65.xml"/><Relationship Id="rId100" Type="http://schemas.openxmlformats.org/officeDocument/2006/relationships/slide" Target="slides/slide88.xml"/><Relationship Id="rId105" Type="http://schemas.openxmlformats.org/officeDocument/2006/relationships/slide" Target="slides/slide93.xml"/><Relationship Id="rId126" Type="http://schemas.openxmlformats.org/officeDocument/2006/relationships/slide" Target="slides/slide114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93" Type="http://schemas.openxmlformats.org/officeDocument/2006/relationships/slide" Target="slides/slide81.xml"/><Relationship Id="rId98" Type="http://schemas.openxmlformats.org/officeDocument/2006/relationships/slide" Target="slides/slide86.xml"/><Relationship Id="rId121" Type="http://schemas.openxmlformats.org/officeDocument/2006/relationships/slide" Target="slides/slide109.xml"/><Relationship Id="rId14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3.xml"/><Relationship Id="rId46" Type="http://schemas.openxmlformats.org/officeDocument/2006/relationships/slide" Target="slides/slide34.xml"/><Relationship Id="rId67" Type="http://schemas.openxmlformats.org/officeDocument/2006/relationships/slide" Target="slides/slide55.xml"/><Relationship Id="rId116" Type="http://schemas.openxmlformats.org/officeDocument/2006/relationships/slide" Target="slides/slide104.xml"/><Relationship Id="rId137" Type="http://schemas.openxmlformats.org/officeDocument/2006/relationships/slide" Target="slides/slide12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62" Type="http://schemas.openxmlformats.org/officeDocument/2006/relationships/slide" Target="slides/slide50.xml"/><Relationship Id="rId83" Type="http://schemas.openxmlformats.org/officeDocument/2006/relationships/slide" Target="slides/slide71.xml"/><Relationship Id="rId88" Type="http://schemas.openxmlformats.org/officeDocument/2006/relationships/slide" Target="slides/slide76.xml"/><Relationship Id="rId111" Type="http://schemas.openxmlformats.org/officeDocument/2006/relationships/slide" Target="slides/slide99.xml"/><Relationship Id="rId132" Type="http://schemas.openxmlformats.org/officeDocument/2006/relationships/slide" Target="slides/slide120.xml"/><Relationship Id="rId15" Type="http://schemas.openxmlformats.org/officeDocument/2006/relationships/slide" Target="slides/slide3.xml"/><Relationship Id="rId36" Type="http://schemas.openxmlformats.org/officeDocument/2006/relationships/slide" Target="slides/slide24.xml"/><Relationship Id="rId57" Type="http://schemas.openxmlformats.org/officeDocument/2006/relationships/slide" Target="slides/slide45.xml"/><Relationship Id="rId106" Type="http://schemas.openxmlformats.org/officeDocument/2006/relationships/slide" Target="slides/slide94.xml"/><Relationship Id="rId127" Type="http://schemas.openxmlformats.org/officeDocument/2006/relationships/slide" Target="slides/slide115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52" Type="http://schemas.openxmlformats.org/officeDocument/2006/relationships/slide" Target="slides/slide40.xml"/><Relationship Id="rId73" Type="http://schemas.openxmlformats.org/officeDocument/2006/relationships/slide" Target="slides/slide61.xml"/><Relationship Id="rId78" Type="http://schemas.openxmlformats.org/officeDocument/2006/relationships/slide" Target="slides/slide66.xml"/><Relationship Id="rId94" Type="http://schemas.openxmlformats.org/officeDocument/2006/relationships/slide" Target="slides/slide82.xml"/><Relationship Id="rId99" Type="http://schemas.openxmlformats.org/officeDocument/2006/relationships/slide" Target="slides/slide87.xml"/><Relationship Id="rId101" Type="http://schemas.openxmlformats.org/officeDocument/2006/relationships/slide" Target="slides/slide89.xml"/><Relationship Id="rId122" Type="http://schemas.openxmlformats.org/officeDocument/2006/relationships/slide" Target="slides/slide1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14.xml"/><Relationship Id="rId47" Type="http://schemas.openxmlformats.org/officeDocument/2006/relationships/slide" Target="slides/slide35.xml"/><Relationship Id="rId68" Type="http://schemas.openxmlformats.org/officeDocument/2006/relationships/slide" Target="slides/slide56.xml"/><Relationship Id="rId89" Type="http://schemas.openxmlformats.org/officeDocument/2006/relationships/slide" Target="slides/slide77.xml"/><Relationship Id="rId112" Type="http://schemas.openxmlformats.org/officeDocument/2006/relationships/slide" Target="slides/slide100.xml"/><Relationship Id="rId133" Type="http://schemas.openxmlformats.org/officeDocument/2006/relationships/slide" Target="slides/slide121.xml"/><Relationship Id="rId1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3FCFE64-CE0B-4752-A16C-9C0DDB5DCFCB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fld id="{B829DA4D-2E80-4C2A-88AE-CEB5B484E7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7248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6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D8F6B0-A786-4147-AAE9-18F1E2F6CE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97675-0766-4484-9C99-C728FD4166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1446E-697F-423C-87AF-4C9D4DA9EB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BF5A47-D1FB-45A1-8CA2-BE15C3B864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AF892-7249-4982-9615-65910BE893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F7FAE-F663-4BFE-908E-475E15228A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4A198-AF23-4885-B5FA-E42B0996F9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58F44-E607-4DF0-A00C-C7703BCB4B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7BB8D-889E-4200-AB15-C0B7F0C773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0B961-B19D-4AA8-8E84-68920048F0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2BC0D-56C2-4B2A-9F98-192936594D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553C0-5AF9-4D42-B6DF-5657311AD6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1C97F4D7-DF09-4055-81AF-AFF4EBE734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055D6-EC21-48B1-9436-EF78B18DD6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7E7AA-F18A-4B7A-9727-9560BDF182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E760A-08DD-420C-98AE-6F2669CBA4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64766-F803-4A37-B63A-7C0D4E7808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C6CF0-6BE2-42B4-B8A0-F2DD0A5F3B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CC4C7-AABF-4402-9358-4A1D744870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C0D91-E36F-4E61-80E8-2C9AA948D0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F9EFF-688B-4642-B93B-914FD56C4F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27FAE-3A14-49EA-9344-16631BA96C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1F8CA-5A5F-4279-A776-9C88B4A9F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kumimoji="1"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kumimoji="1"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kumimoji="1"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kumimoji="1"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3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63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74AAA871-BB74-4A67-BE62-229427A220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C4721-DDE1-4699-8357-4C5080AA2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4DC7F-3E31-4222-878E-CD559C238F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28D4E-9143-4F36-996F-8306427AC5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A92A-E72A-4B01-AA42-9C66F0C417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56F55-5789-491D-95B1-8CD3F5FC33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14B7B-53BF-4F5B-8FA9-A10DDD1473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BC94A4-239A-4FB3-A51F-4A2CE1DEEA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D62A1-ECCE-4FC4-9C87-BE0BC6B6A0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4CA4F-F5AA-49A7-B4E3-7522A25AF9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D7172-2136-4C9E-8591-026CF93869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14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4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5E8D2-3676-4F61-A430-26B81C5A83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32025-EDCC-487E-AE59-1C87177967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B8DBE-6B23-44D6-B693-7304945541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3492EC-CB83-4853-95CC-9BDF7BF1F5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82FE6-4685-4FE9-A567-74020D553E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A69FF-F944-4502-A659-1F61C1A37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786A8-5BDA-4A49-A327-3129C19CCA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89C8F-66A8-40D2-A4F2-EA442DBB3A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5C1B7-5D5D-4B33-AEA9-47BB08AAD6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6925C-B031-4592-95EC-94C31DDF3A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4D338-75AD-4F63-BB0C-59B2396BAB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6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 b="1">
                <a:latin typeface="Times New Roman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76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4B894AE5-C05F-4981-8557-953028C9E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BBBFB-DF6C-4B8E-955C-804C0B5C47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A70E8-F58B-4B38-8E82-D1D896B92C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39488-099A-4B96-B39D-A88FED7E49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20358-66FF-4997-9113-43338E6AF8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2EAC41-3BEB-4342-9EFE-19643D7E29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F6231-A2F8-4C7A-8C98-0F5AA29ECB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ABA61-38E7-4745-A95E-99A5F6FC22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4BFDF-34DE-4081-B995-9FB91467AC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6237E-A99C-48BB-A404-5C79CD1911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EF77E-DB62-4A74-AE82-BB0EB4EEAC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15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D1B1B-4E65-45F1-AF91-9362BC798C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24D5F-B047-4186-B504-2CC88F40D7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3B026-573F-46BF-BFDE-6C756C1557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7CE66-81FD-4F6A-897F-FE99F5A5D7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21339-675B-44CC-9093-650E9B5590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A6D6F-1437-4D54-9E31-10514A5828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B00C7-BBC7-4BD4-B23F-DBEBBD0222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39A56-AAE7-4BDE-A4C7-6E1BCB4D46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2C022-576D-44A2-8F2F-EA80D0B734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CD14E-6D45-4F12-A98F-256F41816F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DCFF9-0F60-4DF6-B69E-A91AE9C7B0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1DD66690-52F7-4580-ABB5-ABA637C17D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A58BC-AE2D-4051-954E-272453AAC9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71491-E446-492C-BCFE-FD3BD8D3B8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DC459B-6906-41D2-AA83-71A2EC2955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8DDC2-8978-40F8-87BA-891132EECF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D44F5-6252-47A3-B727-F6100EEC8A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99CBC-9B04-4CD9-8F25-BEA80EA11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5EEC8-B154-4578-80FE-E73BF20CB4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0F9B26-A3F2-4D37-8052-8882C8EDC2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509B3-3C06-4462-93CA-04B1466105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EFDDF-5BBF-43C5-B293-30F6BB4D9B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2225C6D7-4D1C-4592-8CB9-00EB73CF4A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8C112EF2-B25A-42D0-9311-3607273F47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7DE4592B-2AEB-4E4C-B04C-8270FAF9D0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86F5C787-3F51-4F44-8125-5CC273244C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C2E4BE57-6CFD-4B7A-BE70-D05474ECA4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34511081-FB4B-487B-B92B-18D1C42C55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F1359F62-CCEF-4508-9F97-D3504D9813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A5922B09-1FEA-4DF5-935C-013141BA0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4DE0162E-34A5-4928-A3BF-338DC17496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8E1E6794-B015-4D76-A22C-84D9CB62B8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pPr>
              <a:defRPr/>
            </a:pPr>
            <a:fld id="{38C6FEB8-27D9-4656-8CA7-F6BAEF8E6D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9F4CC-EB67-447D-BF45-AEAD55CE82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418C4-185C-4B87-89F3-9D478138DD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23896-27F5-45F6-B07B-B65DF48A4C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3A095-096E-41BA-B005-660DA170EC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964A7-45E5-41FB-8D76-3148BEA4A6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40D27-2173-4B32-83F4-29311D1D6D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BFCC9-D661-4B01-BAE6-58B8D6D3BA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C260E-37D7-4D50-B15B-EFBDFDC024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29F3F-E834-40A3-9521-A8A9580864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4E091-18F9-438B-8E34-8523973E06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19EB3-3A2F-46D1-99DC-76D40C50BD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7BC47-D237-4BA5-92F7-BB9F2DCA82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62C62-7A55-4E47-86EB-236E0AAB94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F997E-8598-47DA-9EBF-9CF494972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9230F-6C9E-4BD8-9335-8ABD709A1F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6FBB9-9440-4BA8-BB0C-2DB013C0F6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C54F4-CFC8-43B7-876B-52134E8831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178B7-562B-46FB-94BA-2940026C61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0F17E-16A2-4534-98BF-A336B46E6A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43B71-C356-4A2B-8697-9D8541CB3B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5DA63-DF76-45EB-9238-035D3A6BB6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1C5E8-1DF5-4804-AAF4-53EC681B04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ABF67-FA80-4B6E-9D08-30956669F8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62E70-77ED-4B86-ACBD-4B816DFABF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6E4D2-BAB7-48F9-895F-0D8645F1C2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C3376-7B03-425E-87EF-B48575582A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0FE41-18A3-4AA1-852C-4B96C79670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098DF-FBDA-4C99-B9EF-E7F69FC566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0E9BD-7C74-48BC-A10F-8D32074EFB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FC36D-4A01-473A-A48B-D4817044D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DD1C5-BA33-4B20-AF70-F9ECC99B69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7B3C8-E523-474B-A79D-52F9B6A149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0A6BD-548F-4574-A1A7-5142EF199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51D54-AC7F-4771-942C-B278288E27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92D8A-B015-471D-854F-282DAEC840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91E54-0639-4B63-951A-F8FDFC28FF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CB2EE-0EE2-4A5E-A9A0-CE2E00CCB5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F4A53-587A-4585-8208-88FF804912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E4FF7-208D-40C0-99F2-C164FABEF1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60BAE-1E53-4EC1-A62D-CB25A7232B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DBED7-1F69-4566-B08B-F2A8ED24BC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3851B-7914-4FD6-AA26-B993AA0416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5CD91-FD4F-4D40-8399-E6830B156C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A6E3F-C6CB-4125-BC7A-526B77FB13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Arial Black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fld id="{B4E50F22-8E28-4E60-924D-8E5FFBC4D9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57958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746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46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46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747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747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747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747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47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747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57958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7959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7464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7465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7466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753" r:id="rId1"/>
    <p:sldLayoutId id="2147554754" r:id="rId2"/>
    <p:sldLayoutId id="2147554755" r:id="rId3"/>
    <p:sldLayoutId id="2147554756" r:id="rId4"/>
    <p:sldLayoutId id="2147554757" r:id="rId5"/>
    <p:sldLayoutId id="2147554758" r:id="rId6"/>
    <p:sldLayoutId id="2147554759" r:id="rId7"/>
    <p:sldLayoutId id="2147554760" r:id="rId8"/>
    <p:sldLayoutId id="2147554761" r:id="rId9"/>
    <p:sldLayoutId id="2147554762" r:id="rId10"/>
    <p:sldLayoutId id="2147554763" r:id="rId11"/>
    <p:sldLayoutId id="214755476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077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077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077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077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06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806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fld id="{2C9838D1-C8FD-48A4-976C-98B752AC9F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765" r:id="rId1"/>
    <p:sldLayoutId id="2147554766" r:id="rId2"/>
    <p:sldLayoutId id="2147554767" r:id="rId3"/>
    <p:sldLayoutId id="2147554768" r:id="rId4"/>
    <p:sldLayoutId id="2147554769" r:id="rId5"/>
    <p:sldLayoutId id="2147554770" r:id="rId6"/>
    <p:sldLayoutId id="2147554771" r:id="rId7"/>
    <p:sldLayoutId id="2147554772" r:id="rId8"/>
    <p:sldLayoutId id="2147554773" r:id="rId9"/>
    <p:sldLayoutId id="2147554774" r:id="rId10"/>
    <p:sldLayoutId id="214755477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306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306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164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8164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53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fld id="{ED98C882-311F-448E-AD5D-4D5A1B2F73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776" r:id="rId1"/>
    <p:sldLayoutId id="2147554777" r:id="rId2"/>
    <p:sldLayoutId id="2147554778" r:id="rId3"/>
    <p:sldLayoutId id="2147554779" r:id="rId4"/>
    <p:sldLayoutId id="2147554780" r:id="rId5"/>
    <p:sldLayoutId id="2147554781" r:id="rId6"/>
    <p:sldLayoutId id="2147554782" r:id="rId7"/>
    <p:sldLayoutId id="2147554783" r:id="rId8"/>
    <p:sldLayoutId id="2147554784" r:id="rId9"/>
    <p:sldLayoutId id="2147554785" r:id="rId10"/>
    <p:sldLayoutId id="214755478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Arial Black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fld id="{FFEB05A7-9895-4B0C-B9EC-F1B83BD784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58266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8535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35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35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35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35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35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35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35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536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58266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8266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04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787" r:id="rId1"/>
    <p:sldLayoutId id="2147554788" r:id="rId2"/>
    <p:sldLayoutId id="2147554789" r:id="rId3"/>
    <p:sldLayoutId id="2147554790" r:id="rId4"/>
    <p:sldLayoutId id="2147554791" r:id="rId5"/>
    <p:sldLayoutId id="2147554792" r:id="rId6"/>
    <p:sldLayoutId id="2147554793" r:id="rId7"/>
    <p:sldLayoutId id="2147554794" r:id="rId8"/>
    <p:sldLayoutId id="2147554795" r:id="rId9"/>
    <p:sldLayoutId id="2147554796" r:id="rId10"/>
    <p:sldLayoutId id="21475547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9925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9926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9927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9928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8471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8471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6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ahoma" pitchFamily="34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0078591C-043D-4AD6-8803-CAEF99E5A3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809" r:id="rId1"/>
    <p:sldLayoutId id="2147554810" r:id="rId2"/>
    <p:sldLayoutId id="2147554811" r:id="rId3"/>
    <p:sldLayoutId id="2147554812" r:id="rId4"/>
    <p:sldLayoutId id="2147554813" r:id="rId5"/>
    <p:sldLayoutId id="2147554814" r:id="rId6"/>
    <p:sldLayoutId id="2147554815" r:id="rId7"/>
    <p:sldLayoutId id="2147554816" r:id="rId8"/>
    <p:sldLayoutId id="2147554817" r:id="rId9"/>
    <p:sldLayoutId id="2147554818" r:id="rId10"/>
    <p:sldLayoutId id="21475548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3839C752-5B68-4D38-A6D0-768FEF1451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58573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2221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1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1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1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2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2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2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2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222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8573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8573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820" r:id="rId1"/>
    <p:sldLayoutId id="2147554821" r:id="rId2"/>
    <p:sldLayoutId id="2147554822" r:id="rId3"/>
    <p:sldLayoutId id="2147554823" r:id="rId4"/>
    <p:sldLayoutId id="2147554824" r:id="rId5"/>
    <p:sldLayoutId id="2147554825" r:id="rId6"/>
    <p:sldLayoutId id="2147554826" r:id="rId7"/>
    <p:sldLayoutId id="2147554827" r:id="rId8"/>
    <p:sldLayoutId id="2147554828" r:id="rId9"/>
    <p:sldLayoutId id="2147554829" r:id="rId10"/>
    <p:sldLayoutId id="21475548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449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450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450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450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450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450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endParaRPr kumimoji="1" lang="zh-CN" altLang="zh-CN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8676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8676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56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ahoma" pitchFamily="34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5F4E5664-92AB-4F20-B95D-038DFD83FF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831" r:id="rId1"/>
    <p:sldLayoutId id="2147554832" r:id="rId2"/>
    <p:sldLayoutId id="2147554833" r:id="rId3"/>
    <p:sldLayoutId id="2147554834" r:id="rId4"/>
    <p:sldLayoutId id="2147554835" r:id="rId5"/>
    <p:sldLayoutId id="2147554836" r:id="rId6"/>
    <p:sldLayoutId id="2147554837" r:id="rId7"/>
    <p:sldLayoutId id="2147554838" r:id="rId8"/>
    <p:sldLayoutId id="2147554839" r:id="rId9"/>
    <p:sldLayoutId id="2147554840" r:id="rId10"/>
    <p:sldLayoutId id="214755484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Arial Black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fld id="{8B89EDC6-333F-4ABE-A409-8DE91BB5E0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58778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4679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80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58778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8778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9888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842" r:id="rId1"/>
    <p:sldLayoutId id="2147554843" r:id="rId2"/>
    <p:sldLayoutId id="2147554844" r:id="rId3"/>
    <p:sldLayoutId id="2147554845" r:id="rId4"/>
    <p:sldLayoutId id="2147554846" r:id="rId5"/>
    <p:sldLayoutId id="2147554847" r:id="rId6"/>
    <p:sldLayoutId id="2147554848" r:id="rId7"/>
    <p:sldLayoutId id="2147554849" r:id="rId8"/>
    <p:sldLayoutId id="2147554850" r:id="rId9"/>
    <p:sldLayoutId id="2147554851" r:id="rId10"/>
    <p:sldLayoutId id="214755485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19CA2E8C-CE7A-424D-B436-470738CF3F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59802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6967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802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9802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9672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9673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9674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952" r:id="rId1"/>
    <p:sldLayoutId id="2147554953" r:id="rId2"/>
    <p:sldLayoutId id="2147554954" r:id="rId3"/>
    <p:sldLayoutId id="2147554955" r:id="rId4"/>
    <p:sldLayoutId id="2147554956" r:id="rId5"/>
    <p:sldLayoutId id="2147554957" r:id="rId6"/>
    <p:sldLayoutId id="2147554958" r:id="rId7"/>
    <p:sldLayoutId id="2147554959" r:id="rId8"/>
    <p:sldLayoutId id="2147554960" r:id="rId9"/>
    <p:sldLayoutId id="2147554961" r:id="rId10"/>
    <p:sldLayoutId id="214755496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20E0F67B-CAC7-4DC7-B145-6E41E39708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0006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9425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0006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0007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4248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94249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94250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974" r:id="rId1"/>
    <p:sldLayoutId id="2147554975" r:id="rId2"/>
    <p:sldLayoutId id="2147554976" r:id="rId3"/>
    <p:sldLayoutId id="2147554977" r:id="rId4"/>
    <p:sldLayoutId id="2147554978" r:id="rId5"/>
    <p:sldLayoutId id="2147554979" r:id="rId6"/>
    <p:sldLayoutId id="2147554980" r:id="rId7"/>
    <p:sldLayoutId id="2147554981" r:id="rId8"/>
    <p:sldLayoutId id="2147554982" r:id="rId9"/>
    <p:sldLayoutId id="2147554983" r:id="rId10"/>
    <p:sldLayoutId id="21475549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415A87A4-2B46-47A8-A1DA-0D9496BF34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0211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1882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2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2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0211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0211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8824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8825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8826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4996" r:id="rId1"/>
    <p:sldLayoutId id="2147554997" r:id="rId2"/>
    <p:sldLayoutId id="2147554998" r:id="rId3"/>
    <p:sldLayoutId id="2147554999" r:id="rId4"/>
    <p:sldLayoutId id="2147555000" r:id="rId5"/>
    <p:sldLayoutId id="2147555001" r:id="rId6"/>
    <p:sldLayoutId id="2147555002" r:id="rId7"/>
    <p:sldLayoutId id="2147555003" r:id="rId8"/>
    <p:sldLayoutId id="2147555004" r:id="rId9"/>
    <p:sldLayoutId id="2147555005" r:id="rId10"/>
    <p:sldLayoutId id="21475550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45DBF7F4-1FF5-47DA-849D-E578BD8BAC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0416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4340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1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1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0416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0416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3400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3401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3402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5018" r:id="rId1"/>
    <p:sldLayoutId id="2147555019" r:id="rId2"/>
    <p:sldLayoutId id="2147555020" r:id="rId3"/>
    <p:sldLayoutId id="2147555021" r:id="rId4"/>
    <p:sldLayoutId id="2147555022" r:id="rId5"/>
    <p:sldLayoutId id="2147555023" r:id="rId6"/>
    <p:sldLayoutId id="2147555024" r:id="rId7"/>
    <p:sldLayoutId id="2147555025" r:id="rId8"/>
    <p:sldLayoutId id="2147555026" r:id="rId9"/>
    <p:sldLayoutId id="2147555027" r:id="rId10"/>
    <p:sldLayoutId id="214755502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.wmf"/><Relationship Id="rId9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2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3.emf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20.bin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9.w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3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2" Type="http://schemas.openxmlformats.org/officeDocument/2006/relationships/image" Target="../media/image44.png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29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oleObject" Target="../embeddings/oleObject45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Relationship Id="rId27" Type="http://schemas.openxmlformats.org/officeDocument/2006/relationships/oleObject" Target="../embeddings/oleObject44.bin"/><Relationship Id="rId30" Type="http://schemas.openxmlformats.org/officeDocument/2006/relationships/oleObject" Target="../embeddings/oleObject4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3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61.png"/><Relationship Id="rId2" Type="http://schemas.openxmlformats.org/officeDocument/2006/relationships/oleObject" Target="../embeddings/oleObject49.bin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5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4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47.wmf"/><Relationship Id="rId3" Type="http://schemas.openxmlformats.org/officeDocument/2006/relationships/image" Target="../media/image35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62.bin"/><Relationship Id="rId2" Type="http://schemas.openxmlformats.org/officeDocument/2006/relationships/oleObject" Target="../embeddings/oleObject57.bin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6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49.emf"/><Relationship Id="rId7" Type="http://schemas.openxmlformats.org/officeDocument/2006/relationships/image" Target="../media/image51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50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52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5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9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7" Type="http://schemas.openxmlformats.org/officeDocument/2006/relationships/image" Target="../media/image56.wm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95.png"/><Relationship Id="rId4" Type="http://schemas.openxmlformats.org/officeDocument/2006/relationships/image" Target="../media/image5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60.wmf"/><Relationship Id="rId18" Type="http://schemas.openxmlformats.org/officeDocument/2006/relationships/oleObject" Target="../embeddings/oleObject81.bin"/><Relationship Id="rId3" Type="http://schemas.openxmlformats.org/officeDocument/2006/relationships/image" Target="../media/image55.wmf"/><Relationship Id="rId21" Type="http://schemas.openxmlformats.org/officeDocument/2006/relationships/oleObject" Target="../embeddings/oleObject83.bin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62.wmf"/><Relationship Id="rId25" Type="http://schemas.openxmlformats.org/officeDocument/2006/relationships/image" Target="../media/image65.w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59.wmf"/><Relationship Id="rId24" Type="http://schemas.openxmlformats.org/officeDocument/2006/relationships/oleObject" Target="../embeddings/oleObject85.bin"/><Relationship Id="rId5" Type="http://schemas.openxmlformats.org/officeDocument/2006/relationships/image" Target="../media/image56.wmf"/><Relationship Id="rId15" Type="http://schemas.openxmlformats.org/officeDocument/2006/relationships/image" Target="../media/image61.wmf"/><Relationship Id="rId23" Type="http://schemas.openxmlformats.org/officeDocument/2006/relationships/image" Target="../media/image64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63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87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110.png"/><Relationship Id="rId12" Type="http://schemas.openxmlformats.org/officeDocument/2006/relationships/image" Target="../media/image94.png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69.wmf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96.bin"/><Relationship Id="rId3" Type="http://schemas.openxmlformats.org/officeDocument/2006/relationships/image" Target="../media/image70.emf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74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15.png"/><Relationship Id="rId11" Type="http://schemas.openxmlformats.org/officeDocument/2006/relationships/oleObject" Target="../embeddings/oleObject95.bin"/><Relationship Id="rId5" Type="http://schemas.openxmlformats.org/officeDocument/2006/relationships/image" Target="../media/image71.emf"/><Relationship Id="rId10" Type="http://schemas.openxmlformats.org/officeDocument/2006/relationships/image" Target="../media/image73.wmf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5.w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3" Type="http://schemas.openxmlformats.org/officeDocument/2006/relationships/image" Target="../media/image121.png"/><Relationship Id="rId12" Type="http://schemas.openxmlformats.org/officeDocument/2006/relationships/image" Target="../media/image1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08.png"/><Relationship Id="rId15" Type="http://schemas.openxmlformats.org/officeDocument/2006/relationships/image" Target="../media/image126.png"/><Relationship Id="rId10" Type="http://schemas.openxmlformats.org/officeDocument/2006/relationships/image" Target="../media/image109.png"/><Relationship Id="rId4" Type="http://schemas.openxmlformats.org/officeDocument/2006/relationships/image" Target="../media/image107.png"/><Relationship Id="rId9" Type="http://schemas.openxmlformats.org/officeDocument/2006/relationships/image" Target="../media/image12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28.png"/><Relationship Id="rId7" Type="http://schemas.openxmlformats.org/officeDocument/2006/relationships/image" Target="../media/image116.png"/><Relationship Id="rId12" Type="http://schemas.openxmlformats.org/officeDocument/2006/relationships/image" Target="../media/image11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1.xml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0" Type="http://schemas.openxmlformats.org/officeDocument/2006/relationships/image" Target="../media/image1180.png"/><Relationship Id="rId4" Type="http://schemas.openxmlformats.org/officeDocument/2006/relationships/image" Target="../media/image129.png"/><Relationship Id="rId14" Type="http://schemas.openxmlformats.org/officeDocument/2006/relationships/image" Target="../media/image13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6.wmf"/><Relationship Id="rId7" Type="http://schemas.openxmlformats.org/officeDocument/2006/relationships/oleObject" Target="../embeddings/oleObject99.bin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36.png"/><Relationship Id="rId5" Type="http://schemas.openxmlformats.org/officeDocument/2006/relationships/image" Target="../media/image77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3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79.wmf"/><Relationship Id="rId9" Type="http://schemas.openxmlformats.org/officeDocument/2006/relationships/image" Target="../media/image12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4.png"/><Relationship Id="rId5" Type="http://schemas.openxmlformats.org/officeDocument/2006/relationships/image" Target="../media/image134.png"/><Relationship Id="rId4" Type="http://schemas.openxmlformats.org/officeDocument/2006/relationships/image" Target="../media/image1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86.wmf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87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11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113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3" Type="http://schemas.openxmlformats.org/officeDocument/2006/relationships/oleObject" Target="../embeddings/oleObject114.bin"/><Relationship Id="rId7" Type="http://schemas.openxmlformats.org/officeDocument/2006/relationships/image" Target="../media/image150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94.wmf"/><Relationship Id="rId11" Type="http://schemas.openxmlformats.org/officeDocument/2006/relationships/image" Target="../media/image164.png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93.wmf"/><Relationship Id="rId9" Type="http://schemas.openxmlformats.org/officeDocument/2006/relationships/image" Target="../media/image95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122.bin"/><Relationship Id="rId18" Type="http://schemas.openxmlformats.org/officeDocument/2006/relationships/image" Target="../media/image103.wmf"/><Relationship Id="rId26" Type="http://schemas.openxmlformats.org/officeDocument/2006/relationships/image" Target="../media/image107.wmf"/><Relationship Id="rId3" Type="http://schemas.openxmlformats.org/officeDocument/2006/relationships/oleObject" Target="../embeddings/oleObject117.bin"/><Relationship Id="rId21" Type="http://schemas.openxmlformats.org/officeDocument/2006/relationships/oleObject" Target="../embeddings/oleObject126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24.bin"/><Relationship Id="rId25" Type="http://schemas.openxmlformats.org/officeDocument/2006/relationships/oleObject" Target="../embeddings/oleObject128.bin"/><Relationship Id="rId2" Type="http://schemas.openxmlformats.org/officeDocument/2006/relationships/image" Target="../media/image152.png"/><Relationship Id="rId16" Type="http://schemas.openxmlformats.org/officeDocument/2006/relationships/image" Target="../media/image102.wmf"/><Relationship Id="rId20" Type="http://schemas.openxmlformats.org/officeDocument/2006/relationships/image" Target="../media/image104.wmf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121.bin"/><Relationship Id="rId24" Type="http://schemas.openxmlformats.org/officeDocument/2006/relationships/image" Target="../media/image106.wmf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23" Type="http://schemas.openxmlformats.org/officeDocument/2006/relationships/oleObject" Target="../embeddings/oleObject127.bin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125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01.wmf"/><Relationship Id="rId22" Type="http://schemas.openxmlformats.org/officeDocument/2006/relationships/image" Target="../media/image10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32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3" Type="http://schemas.openxmlformats.org/officeDocument/2006/relationships/image" Target="../media/image189.png"/><Relationship Id="rId7" Type="http://schemas.openxmlformats.org/officeDocument/2006/relationships/image" Target="../media/image113.wmf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10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19.wmf"/><Relationship Id="rId18" Type="http://schemas.openxmlformats.org/officeDocument/2006/relationships/image" Target="../media/image179.png"/><Relationship Id="rId3" Type="http://schemas.openxmlformats.org/officeDocument/2006/relationships/image" Target="../media/image114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41.bin"/><Relationship Id="rId17" Type="http://schemas.openxmlformats.org/officeDocument/2006/relationships/image" Target="../media/image121.wmf"/><Relationship Id="rId2" Type="http://schemas.openxmlformats.org/officeDocument/2006/relationships/oleObject" Target="../embeddings/oleObject136.bin"/><Relationship Id="rId16" Type="http://schemas.openxmlformats.org/officeDocument/2006/relationships/oleObject" Target="../embeddings/oleObject143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4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2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31.wmf"/><Relationship Id="rId3" Type="http://schemas.openxmlformats.org/officeDocument/2006/relationships/image" Target="../media/image122.wmf"/><Relationship Id="rId7" Type="http://schemas.openxmlformats.org/officeDocument/2006/relationships/image" Target="../media/image128.wmf"/><Relationship Id="rId12" Type="http://schemas.openxmlformats.org/officeDocument/2006/relationships/oleObject" Target="../embeddings/oleObject154.bin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30.wmf"/><Relationship Id="rId5" Type="http://schemas.openxmlformats.org/officeDocument/2006/relationships/image" Target="../media/image127.wmf"/><Relationship Id="rId15" Type="http://schemas.openxmlformats.org/officeDocument/2006/relationships/image" Target="../media/image132.wmf"/><Relationship Id="rId10" Type="http://schemas.openxmlformats.org/officeDocument/2006/relationships/oleObject" Target="../embeddings/oleObject153.bin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29.wmf"/><Relationship Id="rId14" Type="http://schemas.openxmlformats.org/officeDocument/2006/relationships/oleObject" Target="../embeddings/oleObject15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3" Type="http://schemas.openxmlformats.org/officeDocument/2006/relationships/image" Target="../media/image192.png"/><Relationship Id="rId7" Type="http://schemas.openxmlformats.org/officeDocument/2006/relationships/image" Target="../media/image134.wmf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57.bin"/><Relationship Id="rId5" Type="http://schemas.openxmlformats.org/officeDocument/2006/relationships/image" Target="../media/image133.wmf"/><Relationship Id="rId10" Type="http://schemas.openxmlformats.org/officeDocument/2006/relationships/image" Target="../media/image196.png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35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64.bin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40.wmf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41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oleObject" Target="../embeddings/oleObject165.bin"/><Relationship Id="rId7" Type="http://schemas.openxmlformats.org/officeDocument/2006/relationships/image" Target="../media/image216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42.wmf"/><Relationship Id="rId9" Type="http://schemas.openxmlformats.org/officeDocument/2006/relationships/image" Target="../media/image20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142.wmf"/><Relationship Id="rId7" Type="http://schemas.openxmlformats.org/officeDocument/2006/relationships/image" Target="../media/image208.png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07.png"/><Relationship Id="rId5" Type="http://schemas.openxmlformats.org/officeDocument/2006/relationships/image" Target="../media/image143.w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21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44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52.wmf"/><Relationship Id="rId3" Type="http://schemas.openxmlformats.org/officeDocument/2006/relationships/image" Target="../media/image147.wmf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77.bin"/><Relationship Id="rId2" Type="http://schemas.openxmlformats.org/officeDocument/2006/relationships/oleObject" Target="../embeddings/oleObject172.bin"/><Relationship Id="rId16" Type="http://schemas.openxmlformats.org/officeDocument/2006/relationships/image" Target="../media/image230.png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51.wmf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10" Type="http://schemas.openxmlformats.org/officeDocument/2006/relationships/oleObject" Target="../embeddings/oleObject176.bin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178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51.wmf"/><Relationship Id="rId3" Type="http://schemas.openxmlformats.org/officeDocument/2006/relationships/image" Target="../media/image154.wmf"/><Relationship Id="rId21" Type="http://schemas.openxmlformats.org/officeDocument/2006/relationships/image" Target="../media/image237.png"/><Relationship Id="rId7" Type="http://schemas.openxmlformats.org/officeDocument/2006/relationships/image" Target="../media/image153.wmf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85.bin"/><Relationship Id="rId25" Type="http://schemas.openxmlformats.org/officeDocument/2006/relationships/image" Target="../media/image242.png"/><Relationship Id="rId2" Type="http://schemas.openxmlformats.org/officeDocument/2006/relationships/oleObject" Target="../embeddings/oleObject179.bin"/><Relationship Id="rId16" Type="http://schemas.openxmlformats.org/officeDocument/2006/relationships/image" Target="../media/image150.wmf"/><Relationship Id="rId20" Type="http://schemas.openxmlformats.org/officeDocument/2006/relationships/image" Target="../media/image236.png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80.bin"/><Relationship Id="rId11" Type="http://schemas.openxmlformats.org/officeDocument/2006/relationships/oleObject" Target="../embeddings/oleObject182.bin"/><Relationship Id="rId24" Type="http://schemas.openxmlformats.org/officeDocument/2006/relationships/image" Target="../media/image241.png"/><Relationship Id="rId5" Type="http://schemas.openxmlformats.org/officeDocument/2006/relationships/image" Target="../media/image233.png"/><Relationship Id="rId15" Type="http://schemas.openxmlformats.org/officeDocument/2006/relationships/oleObject" Target="../embeddings/oleObject184.bin"/><Relationship Id="rId23" Type="http://schemas.openxmlformats.org/officeDocument/2006/relationships/image" Target="../media/image240.png"/><Relationship Id="rId10" Type="http://schemas.openxmlformats.org/officeDocument/2006/relationships/image" Target="../media/image239.png"/><Relationship Id="rId19" Type="http://schemas.openxmlformats.org/officeDocument/2006/relationships/image" Target="../media/image235.png"/><Relationship Id="rId4" Type="http://schemas.openxmlformats.org/officeDocument/2006/relationships/image" Target="../media/image232.png"/><Relationship Id="rId9" Type="http://schemas.openxmlformats.org/officeDocument/2006/relationships/image" Target="../media/image152.wmf"/><Relationship Id="rId14" Type="http://schemas.openxmlformats.org/officeDocument/2006/relationships/image" Target="../media/image149.wmf"/><Relationship Id="rId22" Type="http://schemas.openxmlformats.org/officeDocument/2006/relationships/image" Target="../media/image23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51.png"/><Relationship Id="rId7" Type="http://schemas.openxmlformats.org/officeDocument/2006/relationships/image" Target="../media/image156.wmf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186.bin"/><Relationship Id="rId5" Type="http://schemas.openxmlformats.org/officeDocument/2006/relationships/image" Target="../media/image156.wmf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22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3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7" Type="http://schemas.openxmlformats.org/officeDocument/2006/relationships/image" Target="../media/image259.png"/><Relationship Id="rId12" Type="http://schemas.openxmlformats.org/officeDocument/2006/relationships/image" Target="../media/image158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57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0" Type="http://schemas.openxmlformats.org/officeDocument/2006/relationships/image" Target="../media/image262.png"/><Relationship Id="rId9" Type="http://schemas.openxmlformats.org/officeDocument/2006/relationships/image" Target="../media/image26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24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0.png"/><Relationship Id="rId3" Type="http://schemas.openxmlformats.org/officeDocument/2006/relationships/image" Target="../media/image160.png"/><Relationship Id="rId7" Type="http://schemas.openxmlformats.org/officeDocument/2006/relationships/image" Target="../media/image165.png"/><Relationship Id="rId12" Type="http://schemas.openxmlformats.org/officeDocument/2006/relationships/image" Target="../media/image169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63.png"/><Relationship Id="rId11" Type="http://schemas.openxmlformats.org/officeDocument/2006/relationships/image" Target="../media/image157.wmf"/><Relationship Id="rId5" Type="http://schemas.openxmlformats.org/officeDocument/2006/relationships/image" Target="../media/image162.png"/><Relationship Id="rId10" Type="http://schemas.openxmlformats.org/officeDocument/2006/relationships/oleObject" Target="../embeddings/oleObject187.bin"/><Relationship Id="rId4" Type="http://schemas.openxmlformats.org/officeDocument/2006/relationships/image" Target="../media/image161.png"/><Relationship Id="rId9" Type="http://schemas.openxmlformats.org/officeDocument/2006/relationships/image" Target="../media/image167.png"/><Relationship Id="rId14" Type="http://schemas.openxmlformats.org/officeDocument/2006/relationships/image" Target="../media/image17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163.wmf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93.bin"/><Relationship Id="rId2" Type="http://schemas.openxmlformats.org/officeDocument/2006/relationships/oleObject" Target="../embeddings/oleObject188.bin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5" Type="http://schemas.openxmlformats.org/officeDocument/2006/relationships/image" Target="../media/image164.wmf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61.wmf"/><Relationship Id="rId14" Type="http://schemas.openxmlformats.org/officeDocument/2006/relationships/oleObject" Target="../embeddings/oleObject194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1.png"/><Relationship Id="rId7" Type="http://schemas.openxmlformats.org/officeDocument/2006/relationships/image" Target="../media/image18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85.png"/><Relationship Id="rId11" Type="http://schemas.openxmlformats.org/officeDocument/2006/relationships/image" Target="../media/image194.png"/><Relationship Id="rId5" Type="http://schemas.openxmlformats.org/officeDocument/2006/relationships/image" Target="../media/image184.png"/><Relationship Id="rId10" Type="http://schemas.openxmlformats.org/officeDocument/2006/relationships/image" Target="../media/image193.png"/><Relationship Id="rId4" Type="http://schemas.openxmlformats.org/officeDocument/2006/relationships/image" Target="../media/image182.png"/><Relationship Id="rId9" Type="http://schemas.openxmlformats.org/officeDocument/2006/relationships/image" Target="../media/image19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5.bin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65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173.wmf"/><Relationship Id="rId3" Type="http://schemas.openxmlformats.org/officeDocument/2006/relationships/image" Target="../media/image166.wmf"/><Relationship Id="rId21" Type="http://schemas.openxmlformats.org/officeDocument/2006/relationships/image" Target="../media/image211.png"/><Relationship Id="rId7" Type="http://schemas.openxmlformats.org/officeDocument/2006/relationships/image" Target="../media/image168.wmf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203.bin"/><Relationship Id="rId2" Type="http://schemas.openxmlformats.org/officeDocument/2006/relationships/oleObject" Target="../embeddings/oleObject196.bin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198.bin"/><Relationship Id="rId11" Type="http://schemas.openxmlformats.org/officeDocument/2006/relationships/oleObject" Target="../embeddings/oleObject200.bin"/><Relationship Id="rId5" Type="http://schemas.openxmlformats.org/officeDocument/2006/relationships/image" Target="../media/image167.wmf"/><Relationship Id="rId15" Type="http://schemas.openxmlformats.org/officeDocument/2006/relationships/oleObject" Target="../embeddings/oleObject202.bin"/><Relationship Id="rId23" Type="http://schemas.openxmlformats.org/officeDocument/2006/relationships/image" Target="../media/image214.png"/><Relationship Id="rId10" Type="http://schemas.openxmlformats.org/officeDocument/2006/relationships/image" Target="../media/image169.wmf"/><Relationship Id="rId19" Type="http://schemas.openxmlformats.org/officeDocument/2006/relationships/oleObject" Target="../embeddings/oleObject204.bin"/><Relationship Id="rId4" Type="http://schemas.openxmlformats.org/officeDocument/2006/relationships/oleObject" Target="../embeddings/oleObject197.bin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71.wmf"/><Relationship Id="rId22" Type="http://schemas.openxmlformats.org/officeDocument/2006/relationships/image" Target="../media/image21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175.wmf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205.bin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45.png"/><Relationship Id="rId3" Type="http://schemas.openxmlformats.org/officeDocument/2006/relationships/oleObject" Target="../embeddings/oleObject206.bin"/><Relationship Id="rId7" Type="http://schemas.openxmlformats.org/officeDocument/2006/relationships/image" Target="../media/image227.png"/><Relationship Id="rId12" Type="http://schemas.openxmlformats.org/officeDocument/2006/relationships/image" Target="../media/image243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100.png"/><Relationship Id="rId11" Type="http://schemas.openxmlformats.org/officeDocument/2006/relationships/image" Target="../media/image234.png"/><Relationship Id="rId10" Type="http://schemas.openxmlformats.org/officeDocument/2006/relationships/image" Target="../media/image231.png"/><Relationship Id="rId4" Type="http://schemas.openxmlformats.org/officeDocument/2006/relationships/image" Target="../media/image176.wmf"/><Relationship Id="rId9" Type="http://schemas.openxmlformats.org/officeDocument/2006/relationships/image" Target="../media/image229.png"/><Relationship Id="rId14" Type="http://schemas.openxmlformats.org/officeDocument/2006/relationships/image" Target="../media/image24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63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3" Type="http://schemas.openxmlformats.org/officeDocument/2006/relationships/image" Target="../media/image177.wmf"/><Relationship Id="rId7" Type="http://schemas.openxmlformats.org/officeDocument/2006/relationships/image" Target="../media/image264.png"/><Relationship Id="rId12" Type="http://schemas.openxmlformats.org/officeDocument/2006/relationships/image" Target="../media/image3180.png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58.png"/><Relationship Id="rId5" Type="http://schemas.openxmlformats.org/officeDocument/2006/relationships/image" Target="../media/image256.png"/><Relationship Id="rId4" Type="http://schemas.openxmlformats.org/officeDocument/2006/relationships/image" Target="../media/image254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3" Type="http://schemas.openxmlformats.org/officeDocument/2006/relationships/image" Target="../media/image178.wmf"/><Relationship Id="rId7" Type="http://schemas.openxmlformats.org/officeDocument/2006/relationships/image" Target="../media/image180.wmf"/><Relationship Id="rId2" Type="http://schemas.openxmlformats.org/officeDocument/2006/relationships/oleObject" Target="../embeddings/oleObject208.bin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182.wmf"/><Relationship Id="rId5" Type="http://schemas.openxmlformats.org/officeDocument/2006/relationships/image" Target="../media/image179.wmf"/><Relationship Id="rId10" Type="http://schemas.openxmlformats.org/officeDocument/2006/relationships/oleObject" Target="../embeddings/oleObject212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181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13" Type="http://schemas.openxmlformats.org/officeDocument/2006/relationships/image" Target="../media/image282.png"/><Relationship Id="rId3" Type="http://schemas.openxmlformats.org/officeDocument/2006/relationships/image" Target="../media/image272.png"/><Relationship Id="rId7" Type="http://schemas.openxmlformats.org/officeDocument/2006/relationships/image" Target="../media/image276.png"/><Relationship Id="rId12" Type="http://schemas.openxmlformats.org/officeDocument/2006/relationships/image" Target="../media/image281.png"/><Relationship Id="rId17" Type="http://schemas.openxmlformats.org/officeDocument/2006/relationships/image" Target="../media/image286.png"/><Relationship Id="rId2" Type="http://schemas.openxmlformats.org/officeDocument/2006/relationships/image" Target="../media/image271.png"/><Relationship Id="rId16" Type="http://schemas.openxmlformats.org/officeDocument/2006/relationships/image" Target="../media/image285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75.png"/><Relationship Id="rId11" Type="http://schemas.openxmlformats.org/officeDocument/2006/relationships/image" Target="../media/image280.png"/><Relationship Id="rId5" Type="http://schemas.openxmlformats.org/officeDocument/2006/relationships/image" Target="../media/image274.png"/><Relationship Id="rId15" Type="http://schemas.openxmlformats.org/officeDocument/2006/relationships/image" Target="../media/image284.png"/><Relationship Id="rId10" Type="http://schemas.openxmlformats.org/officeDocument/2006/relationships/image" Target="../media/image279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Relationship Id="rId14" Type="http://schemas.openxmlformats.org/officeDocument/2006/relationships/image" Target="../media/image283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217.bin"/><Relationship Id="rId18" Type="http://schemas.openxmlformats.org/officeDocument/2006/relationships/oleObject" Target="../embeddings/oleObject219.bin"/><Relationship Id="rId3" Type="http://schemas.openxmlformats.org/officeDocument/2006/relationships/image" Target="../media/image183.wmf"/><Relationship Id="rId21" Type="http://schemas.openxmlformats.org/officeDocument/2006/relationships/image" Target="../media/image189.wmf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86.wmf"/><Relationship Id="rId17" Type="http://schemas.openxmlformats.org/officeDocument/2006/relationships/image" Target="../media/image293.png"/><Relationship Id="rId2" Type="http://schemas.openxmlformats.org/officeDocument/2006/relationships/oleObject" Target="../embeddings/oleObject213.bin"/><Relationship Id="rId16" Type="http://schemas.openxmlformats.org/officeDocument/2006/relationships/image" Target="../media/image187.wmf"/><Relationship Id="rId20" Type="http://schemas.openxmlformats.org/officeDocument/2006/relationships/oleObject" Target="../embeddings/oleObject220.bin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7.bin"/><Relationship Id="rId23" Type="http://schemas.openxmlformats.org/officeDocument/2006/relationships/image" Target="../media/image297.png"/><Relationship Id="rId10" Type="http://schemas.openxmlformats.org/officeDocument/2006/relationships/image" Target="../media/image186.wmf"/><Relationship Id="rId19" Type="http://schemas.openxmlformats.org/officeDocument/2006/relationships/image" Target="../media/image188.wmf"/><Relationship Id="rId4" Type="http://schemas.openxmlformats.org/officeDocument/2006/relationships/image" Target="../media/image288.png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87.wmf"/><Relationship Id="rId22" Type="http://schemas.openxmlformats.org/officeDocument/2006/relationships/image" Target="../media/image29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226.bin"/><Relationship Id="rId3" Type="http://schemas.openxmlformats.org/officeDocument/2006/relationships/image" Target="../media/image190.wmf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194.wmf"/><Relationship Id="rId2" Type="http://schemas.openxmlformats.org/officeDocument/2006/relationships/oleObject" Target="../embeddings/oleObject221.bin"/><Relationship Id="rId16" Type="http://schemas.openxmlformats.org/officeDocument/2006/relationships/image" Target="../media/image196.wmf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46.png"/><Relationship Id="rId11" Type="http://schemas.openxmlformats.org/officeDocument/2006/relationships/oleObject" Target="../embeddings/oleObject225.bin"/><Relationship Id="rId5" Type="http://schemas.openxmlformats.org/officeDocument/2006/relationships/image" Target="../media/image191.wmf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193.wmf"/><Relationship Id="rId4" Type="http://schemas.openxmlformats.org/officeDocument/2006/relationships/oleObject" Target="../embeddings/oleObject222.bin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195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306.png"/><Relationship Id="rId7" Type="http://schemas.openxmlformats.org/officeDocument/2006/relationships/image" Target="../media/image310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09.png"/><Relationship Id="rId11" Type="http://schemas.openxmlformats.org/officeDocument/2006/relationships/image" Target="../media/image314.png"/><Relationship Id="rId5" Type="http://schemas.openxmlformats.org/officeDocument/2006/relationships/image" Target="../media/image308.png"/><Relationship Id="rId10" Type="http://schemas.openxmlformats.org/officeDocument/2006/relationships/image" Target="../media/image313.png"/><Relationship Id="rId4" Type="http://schemas.openxmlformats.org/officeDocument/2006/relationships/image" Target="../media/image307.png"/><Relationship Id="rId9" Type="http://schemas.openxmlformats.org/officeDocument/2006/relationships/image" Target="../media/image312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7.png"/><Relationship Id="rId3" Type="http://schemas.openxmlformats.org/officeDocument/2006/relationships/image" Target="../media/image315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16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3" Type="http://schemas.openxmlformats.org/officeDocument/2006/relationships/image" Target="../media/image318.png"/><Relationship Id="rId7" Type="http://schemas.openxmlformats.org/officeDocument/2006/relationships/image" Target="../media/image323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21.png"/><Relationship Id="rId11" Type="http://schemas.openxmlformats.org/officeDocument/2006/relationships/image" Target="../media/image327.png"/><Relationship Id="rId5" Type="http://schemas.openxmlformats.org/officeDocument/2006/relationships/image" Target="../media/image320.png"/><Relationship Id="rId10" Type="http://schemas.openxmlformats.org/officeDocument/2006/relationships/image" Target="../media/image326.png"/><Relationship Id="rId4" Type="http://schemas.openxmlformats.org/officeDocument/2006/relationships/image" Target="../media/image319.png"/><Relationship Id="rId9" Type="http://schemas.openxmlformats.org/officeDocument/2006/relationships/image" Target="../media/image325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3" Type="http://schemas.openxmlformats.org/officeDocument/2006/relationships/image" Target="../media/image329.png"/><Relationship Id="rId7" Type="http://schemas.openxmlformats.org/officeDocument/2006/relationships/image" Target="../media/image333.png"/><Relationship Id="rId12" Type="http://schemas.openxmlformats.org/officeDocument/2006/relationships/image" Target="../media/image338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32.png"/><Relationship Id="rId11" Type="http://schemas.openxmlformats.org/officeDocument/2006/relationships/image" Target="../media/image337.png"/><Relationship Id="rId5" Type="http://schemas.openxmlformats.org/officeDocument/2006/relationships/image" Target="../media/image331.png"/><Relationship Id="rId10" Type="http://schemas.openxmlformats.org/officeDocument/2006/relationships/image" Target="../media/image336.png"/><Relationship Id="rId4" Type="http://schemas.openxmlformats.org/officeDocument/2006/relationships/image" Target="../media/image330.png"/><Relationship Id="rId9" Type="http://schemas.openxmlformats.org/officeDocument/2006/relationships/image" Target="../media/image335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png"/><Relationship Id="rId3" Type="http://schemas.openxmlformats.org/officeDocument/2006/relationships/image" Target="../media/image340.png"/><Relationship Id="rId7" Type="http://schemas.openxmlformats.org/officeDocument/2006/relationships/image" Target="../media/image344.png"/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343.png"/><Relationship Id="rId11" Type="http://schemas.openxmlformats.org/officeDocument/2006/relationships/image" Target="../media/image349.png"/><Relationship Id="rId5" Type="http://schemas.openxmlformats.org/officeDocument/2006/relationships/image" Target="../media/image342.png"/><Relationship Id="rId10" Type="http://schemas.openxmlformats.org/officeDocument/2006/relationships/image" Target="../media/image348.png"/><Relationship Id="rId4" Type="http://schemas.openxmlformats.org/officeDocument/2006/relationships/image" Target="../media/image341.png"/><Relationship Id="rId9" Type="http://schemas.openxmlformats.org/officeDocument/2006/relationships/image" Target="../media/image34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7" Type="http://schemas.openxmlformats.org/officeDocument/2006/relationships/image" Target="../media/image199.wmf"/><Relationship Id="rId2" Type="http://schemas.openxmlformats.org/officeDocument/2006/relationships/oleObject" Target="../embeddings/oleObject228.bin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230.bin"/><Relationship Id="rId5" Type="http://schemas.openxmlformats.org/officeDocument/2006/relationships/image" Target="../media/image198.wmf"/><Relationship Id="rId4" Type="http://schemas.openxmlformats.org/officeDocument/2006/relationships/oleObject" Target="../embeddings/oleObject229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7.png"/><Relationship Id="rId2" Type="http://schemas.openxmlformats.org/officeDocument/2006/relationships/image" Target="../media/image406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0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4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5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3.png"/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16.png"/><Relationship Id="rId5" Type="http://schemas.openxmlformats.org/officeDocument/2006/relationships/image" Target="../media/image415.png"/><Relationship Id="rId4" Type="http://schemas.openxmlformats.org/officeDocument/2006/relationships/image" Target="../media/image41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8.png"/><Relationship Id="rId7" Type="http://schemas.openxmlformats.org/officeDocument/2006/relationships/image" Target="../media/image405.pn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421.png"/><Relationship Id="rId5" Type="http://schemas.openxmlformats.org/officeDocument/2006/relationships/image" Target="../media/image420.png"/><Relationship Id="rId4" Type="http://schemas.openxmlformats.org/officeDocument/2006/relationships/image" Target="../media/image40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3.png"/><Relationship Id="rId7" Type="http://schemas.openxmlformats.org/officeDocument/2006/relationships/image" Target="../media/image427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426.png"/><Relationship Id="rId5" Type="http://schemas.openxmlformats.org/officeDocument/2006/relationships/image" Target="../media/image425.png"/><Relationship Id="rId4" Type="http://schemas.openxmlformats.org/officeDocument/2006/relationships/image" Target="../media/image42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png"/><Relationship Id="rId2" Type="http://schemas.openxmlformats.org/officeDocument/2006/relationships/image" Target="../media/image428.png"/><Relationship Id="rId1" Type="http://schemas.openxmlformats.org/officeDocument/2006/relationships/slideLayout" Target="../slideLayouts/slideLayout58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png"/><Relationship Id="rId13" Type="http://schemas.openxmlformats.org/officeDocument/2006/relationships/image" Target="../media/image202.wmf"/><Relationship Id="rId3" Type="http://schemas.openxmlformats.org/officeDocument/2006/relationships/image" Target="../media/image200.wmf"/><Relationship Id="rId7" Type="http://schemas.openxmlformats.org/officeDocument/2006/relationships/image" Target="../media/image360.png"/><Relationship Id="rId12" Type="http://schemas.openxmlformats.org/officeDocument/2006/relationships/oleObject" Target="../embeddings/oleObject233.bin"/><Relationship Id="rId17" Type="http://schemas.openxmlformats.org/officeDocument/2006/relationships/image" Target="../media/image204.wmf"/><Relationship Id="rId2" Type="http://schemas.openxmlformats.org/officeDocument/2006/relationships/oleObject" Target="../embeddings/oleObject231.bin"/><Relationship Id="rId16" Type="http://schemas.openxmlformats.org/officeDocument/2006/relationships/oleObject" Target="../embeddings/oleObject235.bin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59.png"/><Relationship Id="rId11" Type="http://schemas.openxmlformats.org/officeDocument/2006/relationships/image" Target="../media/image365.png"/><Relationship Id="rId5" Type="http://schemas.openxmlformats.org/officeDocument/2006/relationships/image" Target="../media/image201.wmf"/><Relationship Id="rId15" Type="http://schemas.openxmlformats.org/officeDocument/2006/relationships/image" Target="../media/image203.wmf"/><Relationship Id="rId10" Type="http://schemas.openxmlformats.org/officeDocument/2006/relationships/image" Target="../media/image364.png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363.png"/><Relationship Id="rId14" Type="http://schemas.openxmlformats.org/officeDocument/2006/relationships/oleObject" Target="../embeddings/oleObject234.bin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oleObject" Target="../embeddings/oleObject236.bin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443.png"/><Relationship Id="rId4" Type="http://schemas.openxmlformats.org/officeDocument/2006/relationships/image" Target="../media/image44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png"/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48.png"/><Relationship Id="rId5" Type="http://schemas.openxmlformats.org/officeDocument/2006/relationships/image" Target="../media/image447.png"/><Relationship Id="rId4" Type="http://schemas.openxmlformats.org/officeDocument/2006/relationships/image" Target="../media/image446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5.png"/><Relationship Id="rId3" Type="http://schemas.openxmlformats.org/officeDocument/2006/relationships/image" Target="../media/image438.png"/><Relationship Id="rId7" Type="http://schemas.openxmlformats.org/officeDocument/2006/relationships/image" Target="../media/image454.png"/><Relationship Id="rId12" Type="http://schemas.openxmlformats.org/officeDocument/2006/relationships/image" Target="../media/image459.png"/><Relationship Id="rId2" Type="http://schemas.openxmlformats.org/officeDocument/2006/relationships/image" Target="../media/image436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53.png"/><Relationship Id="rId11" Type="http://schemas.openxmlformats.org/officeDocument/2006/relationships/image" Target="../media/image441.png"/><Relationship Id="rId5" Type="http://schemas.openxmlformats.org/officeDocument/2006/relationships/image" Target="../media/image440.png"/><Relationship Id="rId10" Type="http://schemas.openxmlformats.org/officeDocument/2006/relationships/image" Target="../media/image457.png"/><Relationship Id="rId4" Type="http://schemas.openxmlformats.org/officeDocument/2006/relationships/image" Target="../media/image439.png"/><Relationship Id="rId9" Type="http://schemas.openxmlformats.org/officeDocument/2006/relationships/image" Target="../media/image456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63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oleObject" Target="../embeddings/oleObject242.bin"/><Relationship Id="rId18" Type="http://schemas.openxmlformats.org/officeDocument/2006/relationships/image" Target="../media/image213.wmf"/><Relationship Id="rId3" Type="http://schemas.openxmlformats.org/officeDocument/2006/relationships/oleObject" Target="../embeddings/oleObject237.bin"/><Relationship Id="rId7" Type="http://schemas.openxmlformats.org/officeDocument/2006/relationships/oleObject" Target="../embeddings/oleObject239.bin"/><Relationship Id="rId12" Type="http://schemas.openxmlformats.org/officeDocument/2006/relationships/image" Target="../media/image210.wmf"/><Relationship Id="rId17" Type="http://schemas.openxmlformats.org/officeDocument/2006/relationships/oleObject" Target="../embeddings/oleObject244.bin"/><Relationship Id="rId2" Type="http://schemas.openxmlformats.org/officeDocument/2006/relationships/image" Target="../media/image461.png"/><Relationship Id="rId16" Type="http://schemas.openxmlformats.org/officeDocument/2006/relationships/image" Target="../media/image212.wmf"/><Relationship Id="rId20" Type="http://schemas.openxmlformats.org/officeDocument/2006/relationships/image" Target="../media/image214.wmf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41.bin"/><Relationship Id="rId5" Type="http://schemas.openxmlformats.org/officeDocument/2006/relationships/oleObject" Target="../embeddings/oleObject238.bin"/><Relationship Id="rId15" Type="http://schemas.openxmlformats.org/officeDocument/2006/relationships/oleObject" Target="../embeddings/oleObject243.bin"/><Relationship Id="rId10" Type="http://schemas.openxmlformats.org/officeDocument/2006/relationships/image" Target="../media/image209.wmf"/><Relationship Id="rId19" Type="http://schemas.openxmlformats.org/officeDocument/2006/relationships/oleObject" Target="../embeddings/oleObject245.bin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40.bin"/><Relationship Id="rId14" Type="http://schemas.openxmlformats.org/officeDocument/2006/relationships/image" Target="../media/image211.wmf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51.bin"/><Relationship Id="rId3" Type="http://schemas.openxmlformats.org/officeDocument/2006/relationships/image" Target="../media/image215.wmf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19.wmf"/><Relationship Id="rId2" Type="http://schemas.openxmlformats.org/officeDocument/2006/relationships/oleObject" Target="../embeddings/oleObject246.bin"/><Relationship Id="rId16" Type="http://schemas.openxmlformats.org/officeDocument/2006/relationships/image" Target="../media/image221.wmf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10" Type="http://schemas.openxmlformats.org/officeDocument/2006/relationships/image" Target="../media/image218.wmf"/><Relationship Id="rId4" Type="http://schemas.openxmlformats.org/officeDocument/2006/relationships/image" Target="../media/image472.png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20.wm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png"/><Relationship Id="rId3" Type="http://schemas.openxmlformats.org/officeDocument/2006/relationships/image" Target="../media/image467.png"/><Relationship Id="rId7" Type="http://schemas.openxmlformats.org/officeDocument/2006/relationships/image" Target="../media/image471.png"/><Relationship Id="rId2" Type="http://schemas.openxmlformats.org/officeDocument/2006/relationships/image" Target="../media/image466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70.png"/><Relationship Id="rId5" Type="http://schemas.openxmlformats.org/officeDocument/2006/relationships/image" Target="../media/image469.png"/><Relationship Id="rId4" Type="http://schemas.openxmlformats.org/officeDocument/2006/relationships/image" Target="../media/image468.png"/><Relationship Id="rId9" Type="http://schemas.openxmlformats.org/officeDocument/2006/relationships/image" Target="../media/image474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6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.xml"/><Relationship Id="rId1" Type="http://schemas.openxmlformats.org/officeDocument/2006/relationships/themeOverride" Target="../theme/themeOverride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oleObject" Target="../embeddings/oleObject253.bin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223.wmf"/><Relationship Id="rId4" Type="http://schemas.openxmlformats.org/officeDocument/2006/relationships/oleObject" Target="../embeddings/oleObject254.bin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8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5.bin"/><Relationship Id="rId7" Type="http://schemas.openxmlformats.org/officeDocument/2006/relationships/image" Target="../media/image226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225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24.w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3" Type="http://schemas.openxmlformats.org/officeDocument/2006/relationships/image" Target="../media/image481.png"/><Relationship Id="rId7" Type="http://schemas.openxmlformats.org/officeDocument/2006/relationships/image" Target="../media/image228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5.xml"/><Relationship Id="rId6" Type="http://schemas.openxmlformats.org/officeDocument/2006/relationships/oleObject" Target="../embeddings/oleObject258.bin"/><Relationship Id="rId5" Type="http://schemas.openxmlformats.org/officeDocument/2006/relationships/image" Target="../media/image227.wmf"/><Relationship Id="rId4" Type="http://schemas.openxmlformats.org/officeDocument/2006/relationships/oleObject" Target="../embeddings/oleObject257.bin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9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231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30.wmf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png"/><Relationship Id="rId3" Type="http://schemas.openxmlformats.org/officeDocument/2006/relationships/image" Target="../media/image500.png"/><Relationship Id="rId7" Type="http://schemas.openxmlformats.org/officeDocument/2006/relationships/image" Target="../media/image504.png"/><Relationship Id="rId2" Type="http://schemas.openxmlformats.org/officeDocument/2006/relationships/image" Target="../media/image487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503.png"/><Relationship Id="rId5" Type="http://schemas.openxmlformats.org/officeDocument/2006/relationships/image" Target="../media/image502.png"/><Relationship Id="rId10" Type="http://schemas.openxmlformats.org/officeDocument/2006/relationships/image" Target="../media/image507.png"/><Relationship Id="rId4" Type="http://schemas.openxmlformats.org/officeDocument/2006/relationships/image" Target="../media/image501.png"/><Relationship Id="rId9" Type="http://schemas.openxmlformats.org/officeDocument/2006/relationships/image" Target="../media/image506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5.png"/><Relationship Id="rId13" Type="http://schemas.openxmlformats.org/officeDocument/2006/relationships/image" Target="../media/image508.png"/><Relationship Id="rId3" Type="http://schemas.openxmlformats.org/officeDocument/2006/relationships/image" Target="../media/image489.png"/><Relationship Id="rId7" Type="http://schemas.openxmlformats.org/officeDocument/2006/relationships/image" Target="../media/image494.png"/><Relationship Id="rId12" Type="http://schemas.openxmlformats.org/officeDocument/2006/relationships/image" Target="../media/image499.png"/><Relationship Id="rId2" Type="http://schemas.openxmlformats.org/officeDocument/2006/relationships/image" Target="../media/image488.png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493.png"/><Relationship Id="rId11" Type="http://schemas.openxmlformats.org/officeDocument/2006/relationships/image" Target="../media/image498.png"/><Relationship Id="rId5" Type="http://schemas.openxmlformats.org/officeDocument/2006/relationships/image" Target="../media/image492.png"/><Relationship Id="rId10" Type="http://schemas.openxmlformats.org/officeDocument/2006/relationships/image" Target="../media/image497.png"/><Relationship Id="rId4" Type="http://schemas.openxmlformats.org/officeDocument/2006/relationships/image" Target="../media/image491.png"/><Relationship Id="rId9" Type="http://schemas.openxmlformats.org/officeDocument/2006/relationships/image" Target="../media/image496.png"/><Relationship Id="rId14" Type="http://schemas.openxmlformats.org/officeDocument/2006/relationships/image" Target="../media/image509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png"/><Relationship Id="rId3" Type="http://schemas.openxmlformats.org/officeDocument/2006/relationships/image" Target="../media/image522.png"/><Relationship Id="rId7" Type="http://schemas.openxmlformats.org/officeDocument/2006/relationships/image" Target="../media/image525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261.bin"/><Relationship Id="rId4" Type="http://schemas.openxmlformats.org/officeDocument/2006/relationships/image" Target="../media/image52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2" Type="http://schemas.openxmlformats.org/officeDocument/2006/relationships/oleObject" Target="../embeddings/oleObject262.bin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530.png"/><Relationship Id="rId5" Type="http://schemas.openxmlformats.org/officeDocument/2006/relationships/image" Target="../media/image529.png"/><Relationship Id="rId4" Type="http://schemas.openxmlformats.org/officeDocument/2006/relationships/image" Target="../media/image52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3.bin"/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234.w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4.png"/><Relationship Id="rId2" Type="http://schemas.openxmlformats.org/officeDocument/2006/relationships/image" Target="../media/image533.png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36.png"/><Relationship Id="rId4" Type="http://schemas.openxmlformats.org/officeDocument/2006/relationships/image" Target="../media/image535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16.png"/><Relationship Id="rId4" Type="http://schemas.openxmlformats.org/officeDocument/2006/relationships/image" Target="../media/image515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2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44.png"/><Relationship Id="rId4" Type="http://schemas.openxmlformats.org/officeDocument/2006/relationships/image" Target="../media/image543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6.png"/><Relationship Id="rId2" Type="http://schemas.openxmlformats.org/officeDocument/2006/relationships/image" Target="../media/image545.png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48.png"/><Relationship Id="rId4" Type="http://schemas.openxmlformats.org/officeDocument/2006/relationships/image" Target="../media/image547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3.png"/><Relationship Id="rId3" Type="http://schemas.openxmlformats.org/officeDocument/2006/relationships/image" Target="../media/image550.png"/><Relationship Id="rId7" Type="http://schemas.openxmlformats.org/officeDocument/2006/relationships/image" Target="../media/image236.wmf"/><Relationship Id="rId2" Type="http://schemas.openxmlformats.org/officeDocument/2006/relationships/image" Target="../media/image549.png"/><Relationship Id="rId1" Type="http://schemas.openxmlformats.org/officeDocument/2006/relationships/slideLayout" Target="../slideLayouts/slideLayout80.xml"/><Relationship Id="rId6" Type="http://schemas.openxmlformats.org/officeDocument/2006/relationships/oleObject" Target="../embeddings/oleObject265.bin"/><Relationship Id="rId5" Type="http://schemas.openxmlformats.org/officeDocument/2006/relationships/image" Target="../media/image235.wmf"/><Relationship Id="rId4" Type="http://schemas.openxmlformats.org/officeDocument/2006/relationships/oleObject" Target="../embeddings/oleObject264.bin"/><Relationship Id="rId9" Type="http://schemas.openxmlformats.org/officeDocument/2006/relationships/image" Target="../media/image554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1.png"/><Relationship Id="rId3" Type="http://schemas.openxmlformats.org/officeDocument/2006/relationships/image" Target="../media/image556.png"/><Relationship Id="rId7" Type="http://schemas.openxmlformats.org/officeDocument/2006/relationships/image" Target="../media/image560.png"/><Relationship Id="rId2" Type="http://schemas.openxmlformats.org/officeDocument/2006/relationships/image" Target="../media/image555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559.png"/><Relationship Id="rId5" Type="http://schemas.openxmlformats.org/officeDocument/2006/relationships/image" Target="../media/image558.png"/><Relationship Id="rId10" Type="http://schemas.openxmlformats.org/officeDocument/2006/relationships/image" Target="../media/image563.png"/><Relationship Id="rId4" Type="http://schemas.openxmlformats.org/officeDocument/2006/relationships/image" Target="../media/image557.png"/><Relationship Id="rId9" Type="http://schemas.openxmlformats.org/officeDocument/2006/relationships/image" Target="../media/image56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5.png"/><Relationship Id="rId7" Type="http://schemas.openxmlformats.org/officeDocument/2006/relationships/image" Target="../media/image569.png"/><Relationship Id="rId2" Type="http://schemas.openxmlformats.org/officeDocument/2006/relationships/image" Target="../media/image564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568.png"/><Relationship Id="rId5" Type="http://schemas.openxmlformats.org/officeDocument/2006/relationships/image" Target="../media/image567.png"/><Relationship Id="rId4" Type="http://schemas.openxmlformats.org/officeDocument/2006/relationships/image" Target="../media/image566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2" Type="http://schemas.openxmlformats.org/officeDocument/2006/relationships/image" Target="../media/image519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67.bin"/><Relationship Id="rId10" Type="http://schemas.openxmlformats.org/officeDocument/2006/relationships/image" Target="../media/image240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69.bin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4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76.png"/><Relationship Id="rId4" Type="http://schemas.openxmlformats.org/officeDocument/2006/relationships/image" Target="../media/image575.pn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9632" y="756058"/>
            <a:ext cx="6019800" cy="2209800"/>
          </a:xfrm>
        </p:spPr>
        <p:txBody>
          <a:bodyPr/>
          <a:lstStyle/>
          <a:p>
            <a:pPr eaLnBrk="1" hangingPunct="1"/>
            <a:r>
              <a:rPr lang="zh-CN" altLang="en-US" sz="4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/>
                <a:ea typeface="楷体_GB2312"/>
                <a:cs typeface="楷体_GB2312"/>
              </a:rPr>
              <a:t>第二章  矩阵及其运算</a:t>
            </a: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2051720" y="2509030"/>
            <a:ext cx="5101183" cy="569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线性方程组和矩阵</a:t>
            </a:r>
          </a:p>
        </p:txBody>
      </p:sp>
      <p:sp>
        <p:nvSpPr>
          <p:cNvPr id="8" name="标题 1"/>
          <p:cNvSpPr txBox="1">
            <a:spLocks noChangeArrowheads="1"/>
          </p:cNvSpPr>
          <p:nvPr/>
        </p:nvSpPr>
        <p:spPr bwMode="auto">
          <a:xfrm>
            <a:off x="2040335" y="3157102"/>
            <a:ext cx="43180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2.2  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矩阵的运算</a:t>
            </a:r>
          </a:p>
        </p:txBody>
      </p:sp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40335" y="3877182"/>
            <a:ext cx="3372991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2.3  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逆矩阵</a:t>
            </a:r>
          </a:p>
        </p:txBody>
      </p:sp>
      <p:sp>
        <p:nvSpPr>
          <p:cNvPr id="10" name="标题 1"/>
          <p:cNvSpPr txBox="1">
            <a:spLocks noChangeArrowheads="1"/>
          </p:cNvSpPr>
          <p:nvPr/>
        </p:nvSpPr>
        <p:spPr bwMode="auto">
          <a:xfrm>
            <a:off x="2040335" y="4358790"/>
            <a:ext cx="2796927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2.4  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克拉默法则</a:t>
            </a:r>
          </a:p>
        </p:txBody>
      </p:sp>
      <p:sp>
        <p:nvSpPr>
          <p:cNvPr id="11" name="标题 1"/>
          <p:cNvSpPr txBox="1">
            <a:spLocks noChangeArrowheads="1"/>
          </p:cNvSpPr>
          <p:nvPr/>
        </p:nvSpPr>
        <p:spPr bwMode="auto">
          <a:xfrm>
            <a:off x="2040335" y="5078870"/>
            <a:ext cx="2892425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2.5  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矩阵分块法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332656"/>
            <a:ext cx="7772400" cy="1462087"/>
          </a:xfrm>
        </p:spPr>
        <p:txBody>
          <a:bodyPr/>
          <a:lstStyle/>
          <a:p>
            <a:pPr algn="ctr" eaLnBrk="1" hangingPunct="1"/>
            <a:r>
              <a:rPr kumimoji="1" lang="en-US" altLang="zh-CN" sz="3600" b="1" dirty="0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§</a:t>
            </a:r>
            <a:r>
              <a:rPr kumimoji="1" lang="en-US" altLang="zh-CN" sz="3600" b="1" dirty="0">
                <a:solidFill>
                  <a:srgbClr val="CC0099"/>
                </a:solidFill>
                <a:latin typeface="Times New Roman" pitchFamily="18" charset="0"/>
                <a:ea typeface="楷体_GB2312"/>
                <a:cs typeface="楷体_GB2312"/>
              </a:rPr>
              <a:t>1</a:t>
            </a:r>
            <a:r>
              <a:rPr kumimoji="1" lang="en-US" altLang="zh-CN" sz="3600" b="1" dirty="0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  </a:t>
            </a:r>
            <a:r>
              <a:rPr kumimoji="1" lang="zh-CN" altLang="en-US" sz="3600" b="1" dirty="0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线性方程组和矩阵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403648" y="2312005"/>
            <a:ext cx="6913562" cy="3970318"/>
          </a:xfrm>
          <a:prstGeom prst="rect">
            <a:avLst/>
          </a:prstGeom>
          <a:solidFill>
            <a:srgbClr val="2A00DC">
              <a:alpha val="56078"/>
            </a:srgbClr>
          </a:solidFill>
          <a:ln w="76200">
            <a:solidFill>
              <a:srgbClr val="33CC33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FFFFFF"/>
                </a:solidFill>
                <a:latin typeface="楷体_GB2312"/>
                <a:ea typeface="楷体_GB2312"/>
                <a:cs typeface="楷体_GB2312"/>
              </a:rPr>
              <a:t>一、矩阵概念的引入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楷体_GB2312"/>
                <a:ea typeface="楷体_GB2312"/>
                <a:cs typeface="楷体_GB2312"/>
              </a:rPr>
              <a:t>二、矩阵的定义</a:t>
            </a:r>
          </a:p>
          <a:p>
            <a:pPr>
              <a:lnSpc>
                <a:spcPct val="15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楷体_GB2312"/>
                <a:ea typeface="楷体_GB2312"/>
                <a:cs typeface="楷体_GB2312"/>
              </a:rPr>
              <a:t>三、同型矩阵与矩阵相等的概念</a:t>
            </a:r>
            <a:endParaRPr kumimoji="1" lang="en-US" altLang="zh-CN" sz="2800" b="1" dirty="0">
              <a:solidFill>
                <a:schemeClr val="bg1"/>
              </a:solidFill>
              <a:latin typeface="楷体_GB2312"/>
              <a:ea typeface="楷体_GB231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楷体_GB2312"/>
                <a:ea typeface="楷体_GB2312"/>
                <a:cs typeface="楷体_GB2312"/>
              </a:rPr>
              <a:t>四、特殊的矩阵</a:t>
            </a:r>
            <a:endParaRPr lang="en-US" altLang="zh-CN" sz="2800" b="1" dirty="0">
              <a:solidFill>
                <a:srgbClr val="FFFFFF"/>
              </a:solidFill>
              <a:latin typeface="楷体_GB2312"/>
              <a:ea typeface="楷体_GB231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ea typeface="楷体_GB2312"/>
                <a:cs typeface="楷体_GB2312"/>
              </a:rPr>
              <a:t>五、矩阵与线性方程组</a:t>
            </a:r>
            <a:endParaRPr lang="en-US" altLang="zh-CN" sz="2800" b="1" dirty="0">
              <a:solidFill>
                <a:schemeClr val="bg1"/>
              </a:solidFill>
              <a:ea typeface="楷体_GB231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ea typeface="楷体_GB2312"/>
                <a:cs typeface="楷体_GB2312"/>
              </a:rPr>
              <a:t>六、应用举例</a:t>
            </a:r>
            <a:endParaRPr lang="en-US" altLang="zh-CN" sz="2800" b="1" dirty="0">
              <a:solidFill>
                <a:schemeClr val="bg1"/>
              </a:solidFill>
              <a:ea typeface="楷体_GB2312"/>
              <a:cs typeface="楷体_GB231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7"/>
              <p:cNvSpPr txBox="1">
                <a:spLocks noChangeArrowheads="1"/>
              </p:cNvSpPr>
              <p:nvPr/>
            </p:nvSpPr>
            <p:spPr bwMode="auto">
              <a:xfrm>
                <a:off x="335755" y="1042335"/>
                <a:ext cx="8472488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zh-CN" altLang="en-US" sz="2600" b="1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  定义</a:t>
                </a:r>
                <a:r>
                  <a:rPr lang="en-US" altLang="zh-CN" sz="2600" b="1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sz="2600" b="1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2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设有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lang="zh-CN" altLang="en-US" sz="2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个未知数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2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个方程的线性方程组</a:t>
                </a:r>
              </a:p>
            </p:txBody>
          </p:sp>
        </mc:Choice>
        <mc:Fallback xmlns="">
          <p:sp>
            <p:nvSpPr>
              <p:cNvPr id="4" name="Rectangl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755" y="1042335"/>
                <a:ext cx="8472488" cy="492443"/>
              </a:xfrm>
              <a:prstGeom prst="rect">
                <a:avLst/>
              </a:prstGeom>
              <a:blipFill>
                <a:blip r:embed="rId2"/>
                <a:stretch>
                  <a:fillRect t="-13580" b="-2716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056202"/>
              </p:ext>
            </p:extLst>
          </p:nvPr>
        </p:nvGraphicFramePr>
        <p:xfrm>
          <a:off x="2411760" y="1778813"/>
          <a:ext cx="41878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778813"/>
                        <a:ext cx="4187825" cy="187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611560" y="336170"/>
            <a:ext cx="3286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一、线性方程组</a:t>
            </a:r>
            <a:endParaRPr lang="zh-CN" altLang="en-US" sz="3200" b="1" dirty="0">
              <a:solidFill>
                <a:srgbClr val="3103F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 txBox="1">
                <a:spLocks noChangeArrowheads="1"/>
              </p:cNvSpPr>
              <p:nvPr/>
            </p:nvSpPr>
            <p:spPr bwMode="auto">
              <a:xfrm>
                <a:off x="455106" y="3933056"/>
                <a:ext cx="8358187" cy="10046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个方程第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𝑗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个未知数的</a:t>
                </a:r>
                <a:r>
                  <a:rPr lang="zh-CN" altLang="en-US" sz="26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系数</a:t>
                </a:r>
                <a:r>
                  <a:rPr lang="en-US" altLang="zh-CN" sz="26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</a:p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en-US" altLang="zh-CN" sz="26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i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 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是第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个方程的</a:t>
                </a:r>
                <a:r>
                  <a:rPr lang="zh-CN" altLang="en-US" sz="2600" dirty="0">
                    <a:solidFill>
                      <a:srgbClr val="3103F3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常数项</a:t>
                </a:r>
                <a:r>
                  <a:rPr lang="en-US" altLang="zh-CN" sz="2600" dirty="0">
                    <a:solidFill>
                      <a:srgbClr val="3103F3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sz="2600" i="1" dirty="0">
                  <a:solidFill>
                    <a:srgbClr val="3103F3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106" y="3933056"/>
                <a:ext cx="8358187" cy="1004699"/>
              </a:xfrm>
              <a:prstGeom prst="rect">
                <a:avLst/>
              </a:prstGeom>
              <a:blipFill>
                <a:blip r:embed="rId5"/>
                <a:stretch>
                  <a:fillRect l="-1313" t="-6667" b="-1515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7221" name="TextBox 8"/>
          <p:cNvSpPr txBox="1">
            <a:spLocks noChangeArrowheads="1"/>
          </p:cNvSpPr>
          <p:nvPr/>
        </p:nvSpPr>
        <p:spPr bwMode="auto">
          <a:xfrm>
            <a:off x="7143750" y="2420888"/>
            <a:ext cx="7858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ea typeface="楷体_GB2312"/>
                <a:cs typeface="楷体_GB2312"/>
              </a:rPr>
              <a:t>（</a:t>
            </a:r>
            <a:r>
              <a:rPr lang="en-US" altLang="zh-CN" dirty="0">
                <a:ea typeface="楷体_GB2312"/>
                <a:cs typeface="楷体_GB2312"/>
              </a:rPr>
              <a:t>1</a:t>
            </a:r>
            <a:r>
              <a:rPr lang="zh-CN" altLang="en-US" dirty="0">
                <a:ea typeface="楷体_GB2312"/>
                <a:cs typeface="楷体_GB231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09228" y="5014996"/>
                <a:ext cx="7992888" cy="1038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6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  当</a:t>
                </a:r>
                <a:r>
                  <a:rPr lang="en-US" altLang="zh-CN" sz="26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600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… ,</m:t>
                    </m:r>
                    <m:sSub>
                      <m:sSubPr>
                        <m:ctrlPr>
                          <a:rPr lang="en-US" altLang="zh-CN" sz="26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不全为零时，方程组（</a:t>
                </a:r>
                <a:r>
                  <a:rPr lang="en-US" altLang="zh-CN" sz="26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）称为</a:t>
                </a:r>
                <a:endParaRPr lang="en-US" altLang="zh-CN" sz="26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buClr>
                    <a:schemeClr val="folHlink"/>
                  </a:buClr>
                  <a:buSzPct val="60000"/>
                </a:pPr>
                <a14:m>
                  <m:oMath xmlns:m="http://schemas.openxmlformats.org/officeDocument/2006/math">
                    <m:r>
                      <a:rPr lang="en-US" altLang="zh-CN" sz="26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6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元非齐次线性方程组</a:t>
                </a:r>
                <a:r>
                  <a:rPr lang="en-US" altLang="zh-CN" sz="26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28" y="5014996"/>
                <a:ext cx="7992888" cy="1038489"/>
              </a:xfrm>
              <a:prstGeom prst="rect">
                <a:avLst/>
              </a:prstGeom>
              <a:blipFill>
                <a:blip r:embed="rId6"/>
                <a:stretch>
                  <a:fillRect t="-2353" b="-1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8" grpId="0" uiExpand="1" build="p"/>
      <p:bldP spid="777221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7"/>
              <p:cNvSpPr txBox="1">
                <a:spLocks noChangeArrowheads="1"/>
              </p:cNvSpPr>
              <p:nvPr/>
            </p:nvSpPr>
            <p:spPr bwMode="auto">
              <a:xfrm>
                <a:off x="462285" y="785813"/>
                <a:ext cx="8358187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当</a:t>
                </a:r>
                <a:r>
                  <a:rPr lang="en-US" altLang="zh-CN" sz="28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𝑏</m:t>
                    </m:r>
                    <m:r>
                      <a:rPr lang="en-US" altLang="zh-CN" sz="2800" b="0" i="1" baseline="-250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1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𝑏</m:t>
                    </m:r>
                    <m:r>
                      <a:rPr lang="en-US" altLang="zh-CN" sz="2800" b="0" i="1" baseline="-250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2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⋯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</m:t>
                    </m:r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𝑚</m:t>
                        </m:r>
                      </m:sub>
                    </m:sSub>
                    <m:r>
                      <a:rPr lang="en-US" altLang="zh-CN" sz="2800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=0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时，方程组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化为</a:t>
                </a:r>
              </a:p>
            </p:txBody>
          </p:sp>
        </mc:Choice>
        <mc:Fallback xmlns="">
          <p:sp>
            <p:nvSpPr>
              <p:cNvPr id="4" name="Rectangl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285" y="785813"/>
                <a:ext cx="8358187" cy="523220"/>
              </a:xfrm>
              <a:prstGeom prst="rect">
                <a:avLst/>
              </a:prstGeom>
              <a:blipFill>
                <a:blip r:embed="rId2"/>
                <a:stretch>
                  <a:fillRect t="-16279" b="-325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7"/>
              <p:cNvSpPr txBox="1"/>
              <p:nvPr/>
            </p:nvSpPr>
            <p:spPr bwMode="auto">
              <a:xfrm>
                <a:off x="971600" y="1489224"/>
                <a:ext cx="5660504" cy="186776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</m:eqArr>
                        </m:e>
                      </m:d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1489224"/>
                <a:ext cx="5660504" cy="18677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243" name="TextBox 5"/>
          <p:cNvSpPr txBox="1">
            <a:spLocks noChangeArrowheads="1"/>
          </p:cNvSpPr>
          <p:nvPr/>
        </p:nvSpPr>
        <p:spPr bwMode="auto">
          <a:xfrm>
            <a:off x="6876256" y="2132856"/>
            <a:ext cx="7858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ea typeface="楷体_GB2312"/>
                <a:cs typeface="楷体_GB2312"/>
              </a:rPr>
              <a:t>（</a:t>
            </a:r>
            <a:r>
              <a:rPr lang="en-US" altLang="zh-CN" dirty="0">
                <a:ea typeface="楷体_GB2312"/>
                <a:cs typeface="楷体_GB2312"/>
              </a:rPr>
              <a:t>2</a:t>
            </a:r>
            <a:r>
              <a:rPr lang="zh-CN" altLang="en-US" dirty="0">
                <a:ea typeface="楷体_GB2312"/>
                <a:cs typeface="楷体_GB231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539552" y="3501008"/>
                <a:ext cx="8390706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3103F3"/>
                        </a:solidFill>
                        <a:latin typeface="Cambria Math" panose="02040503050406030204" pitchFamily="18" charset="0"/>
                        <a:ea typeface="黑体" pitchFamily="49" charset="-122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lang="zh-CN" altLang="en-US" sz="2800" dirty="0">
                    <a:solidFill>
                      <a:srgbClr val="3103F3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元齐次线性方程组</a:t>
                </a:r>
                <a:r>
                  <a:rPr lang="en-US" altLang="zh-CN" sz="2800" b="1" dirty="0">
                    <a:solidFill>
                      <a:srgbClr val="3103F3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3501008"/>
                <a:ext cx="8390706" cy="523220"/>
              </a:xfrm>
              <a:prstGeom prst="rect">
                <a:avLst/>
              </a:prstGeom>
              <a:blipFill>
                <a:blip r:embed="rId4"/>
                <a:stretch>
                  <a:fillRect l="-1526" t="-15116" b="-325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11560" y="4365104"/>
            <a:ext cx="79208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元线性方程组通常简称为</a:t>
            </a:r>
            <a:r>
              <a:rPr lang="zh-CN" altLang="en-US" sz="2800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线性方程组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sz="2800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方程组</a:t>
            </a:r>
            <a:r>
              <a:rPr lang="en-US" altLang="zh-CN" sz="2800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dirty="0">
              <a:solidFill>
                <a:srgbClr val="3103F3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778243" grpId="0"/>
      <p:bldP spid="7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7"/>
              <p:cNvSpPr txBox="1">
                <a:spLocks noChangeArrowheads="1"/>
              </p:cNvSpPr>
              <p:nvPr/>
            </p:nvSpPr>
            <p:spPr bwMode="auto">
              <a:xfrm>
                <a:off x="501204" y="667549"/>
                <a:ext cx="7887220" cy="34815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i="1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itchFamily="18" charset="0"/>
                  </a:rPr>
                  <a:t>    </a:t>
                </a: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itchFamily="18" charset="0"/>
                  </a:rPr>
                  <a:t>对于齐次线性方程组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itchFamily="18" charset="0"/>
                  </a:rPr>
                  <a:t>(2), 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800" b="0" i="1" baseline="-2500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800" b="0" i="1" baseline="-25000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⋯</m:t>
                      </m:r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一定是它的解，称为方程组的</a:t>
                </a:r>
                <a:r>
                  <a:rPr lang="zh-CN" altLang="en-US" sz="2800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零解；</a:t>
                </a:r>
                <a:endParaRPr lang="en-US" altLang="zh-CN" sz="2800" dirty="0">
                  <a:solidFill>
                    <a:srgbClr val="3103F3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  <a:p>
                <a:pPr algn="just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   如果存在不全为零的数是方程组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(2)</a:t>
                </a: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的解，则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  <a:p>
                <a:pPr algn="just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称为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(2)</a:t>
                </a: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:r>
                  <a:rPr lang="zh-CN" altLang="en-US" sz="2800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非零解</a:t>
                </a:r>
                <a:r>
                  <a:rPr lang="en-US" altLang="zh-CN" sz="2800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  <a:endParaRPr lang="zh-CN" altLang="en-US" sz="2800" dirty="0">
                  <a:solidFill>
                    <a:srgbClr val="3103F3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204" y="667549"/>
                <a:ext cx="7887220" cy="3481531"/>
              </a:xfrm>
              <a:prstGeom prst="rect">
                <a:avLst/>
              </a:prstGeom>
              <a:blipFill>
                <a:blip r:embed="rId2"/>
                <a:stretch>
                  <a:fillRect l="-1546" r="-850" b="-40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9272" name="标题 1"/>
          <p:cNvSpPr>
            <a:spLocks noGrp="1" noChangeArrowheads="1"/>
          </p:cNvSpPr>
          <p:nvPr>
            <p:ph type="title"/>
          </p:nvPr>
        </p:nvSpPr>
        <p:spPr>
          <a:xfrm>
            <a:off x="1187624" y="4388036"/>
            <a:ext cx="6445250" cy="481124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非齐次方程组</a:t>
            </a:r>
            <a:r>
              <a:rPr lang="zh-CN" altLang="en-US" sz="2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可能有解，也可能无解</a:t>
            </a:r>
            <a:r>
              <a:rPr lang="en-US" altLang="zh-CN" sz="2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rgbClr val="3103F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792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标题 1"/>
          <p:cNvSpPr txBox="1">
            <a:spLocks noChangeArrowheads="1"/>
          </p:cNvSpPr>
          <p:nvPr/>
        </p:nvSpPr>
        <p:spPr bwMode="auto">
          <a:xfrm>
            <a:off x="653157" y="116632"/>
            <a:ext cx="4206875" cy="74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0" hangingPunct="0"/>
            <a:r>
              <a:rPr lang="zh-CN" altLang="en-US" sz="2800" b="1" dirty="0">
                <a:solidFill>
                  <a:srgbClr val="3103F3"/>
                </a:solidFill>
                <a:latin typeface="Tahoma" pitchFamily="34" charset="0"/>
              </a:rPr>
              <a:t>线性方程组的研究内容：</a:t>
            </a:r>
          </a:p>
        </p:txBody>
      </p:sp>
      <p:sp>
        <p:nvSpPr>
          <p:cNvPr id="1163267" name="内容占位符 2"/>
          <p:cNvSpPr>
            <a:spLocks noGrp="1" noChangeArrowheads="1"/>
          </p:cNvSpPr>
          <p:nvPr>
            <p:ph idx="1"/>
          </p:nvPr>
        </p:nvSpPr>
        <p:spPr>
          <a:xfrm>
            <a:off x="1043608" y="944438"/>
            <a:ext cx="7772400" cy="1836490"/>
          </a:xfrm>
        </p:spPr>
        <p:txBody>
          <a:bodyPr/>
          <a:lstStyle/>
          <a:p>
            <a:r>
              <a:rPr lang="zh-CN" altLang="en-US" sz="2800" b="1" dirty="0"/>
              <a:t>是否有解？</a:t>
            </a:r>
            <a:endParaRPr lang="en-US" altLang="zh-CN" sz="2800" b="1" dirty="0"/>
          </a:p>
          <a:p>
            <a:r>
              <a:rPr lang="zh-CN" altLang="en-US" sz="2800" b="1" dirty="0"/>
              <a:t>有解时它的解是否唯一？</a:t>
            </a:r>
            <a:endParaRPr lang="en-US" altLang="zh-CN" sz="2800" b="1" dirty="0"/>
          </a:p>
          <a:p>
            <a:r>
              <a:rPr lang="zh-CN" altLang="en-US" sz="2800" b="1" dirty="0"/>
              <a:t>如果有多个解，如何求出其所有解？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3268" name="内容占位符 2"/>
              <p:cNvSpPr txBox="1">
                <a:spLocks noChangeArrowheads="1"/>
              </p:cNvSpPr>
              <p:nvPr/>
            </p:nvSpPr>
            <p:spPr bwMode="auto">
              <a:xfrm>
                <a:off x="688032" y="2636912"/>
                <a:ext cx="7772400" cy="3456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457200" indent="-4572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</a:pP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问题的答案都取决于方程组的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个系数</a:t>
                </a:r>
                <a:endParaRPr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800" i="1" baseline="-25000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800" b="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=1,2,…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=1,2,…,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与常数项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…,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所构成的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28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行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列的矩形数表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6326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032" y="2636912"/>
                <a:ext cx="7772400" cy="3456384"/>
              </a:xfrm>
              <a:prstGeom prst="rect">
                <a:avLst/>
              </a:prstGeom>
              <a:blipFill>
                <a:blip r:embed="rId2"/>
                <a:stretch>
                  <a:fillRect l="-16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3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6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3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63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63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63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32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54" name="Text Box 14"/>
              <p:cNvSpPr txBox="1">
                <a:spLocks noChangeArrowheads="1"/>
              </p:cNvSpPr>
              <p:nvPr/>
            </p:nvSpPr>
            <p:spPr bwMode="auto">
              <a:xfrm>
                <a:off x="857250" y="3143250"/>
                <a:ext cx="6858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齐次方程组的相应问题取决于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列数表</a:t>
                </a:r>
                <a:endParaRPr kumimoji="1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5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50" y="3143250"/>
                <a:ext cx="6858000" cy="461963"/>
              </a:xfrm>
              <a:prstGeom prst="rect">
                <a:avLst/>
              </a:prstGeom>
              <a:blipFill>
                <a:blip r:embed="rId2"/>
                <a:stretch>
                  <a:fillRect l="-1422" t="-14667" b="-2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957" name="组合 11"/>
          <p:cNvGrpSpPr>
            <a:grpSpLocks/>
          </p:cNvGrpSpPr>
          <p:nvPr/>
        </p:nvGrpSpPr>
        <p:grpSpPr bwMode="auto">
          <a:xfrm>
            <a:off x="2123728" y="1052736"/>
            <a:ext cx="3214687" cy="1846263"/>
            <a:chOff x="3071802" y="1082275"/>
            <a:chExt cx="3214710" cy="1846659"/>
          </a:xfrm>
        </p:grpSpPr>
        <p:graphicFrame>
          <p:nvGraphicFramePr>
            <p:cNvPr id="125955" name="Object 4"/>
            <p:cNvGraphicFramePr>
              <a:graphicFrameLocks noChangeAspect="1"/>
            </p:cNvGraphicFramePr>
            <p:nvPr/>
          </p:nvGraphicFramePr>
          <p:xfrm>
            <a:off x="3071802" y="1100134"/>
            <a:ext cx="2486025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0" imgH="0" progId="">
                    <p:embed/>
                  </p:oleObj>
                </mc:Choice>
                <mc:Fallback>
                  <p:oleObj name="Equation" r:id="rId3" imgW="0" imgH="0" progId="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1802" y="1100134"/>
                          <a:ext cx="2486025" cy="182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/>
            <p:nvPr/>
          </p:nvSpPr>
          <p:spPr>
            <a:xfrm>
              <a:off x="5621345" y="1082275"/>
              <a:ext cx="665167" cy="18466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b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b="1" i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</a:t>
              </a:r>
            </a:p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b</a:t>
              </a:r>
              <a:r>
                <a:rPr lang="en-US" altLang="zh-CN" b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b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m</a:t>
              </a:r>
              <a:r>
                <a:rPr lang="zh-CN" altLang="en-US" b="1" kern="0" dirty="0">
                  <a:latin typeface="黑体"/>
                  <a:ea typeface="黑体"/>
                  <a:cs typeface="Times New Roman" pitchFamily="18" charset="0"/>
                </a:rPr>
                <a:t> </a:t>
              </a:r>
              <a:endParaRPr lang="zh-CN" altLang="en-US" dirty="0">
                <a:latin typeface="Arial" charset="0"/>
                <a:ea typeface="楷体_GB2312" pitchFamily="49" charset="-122"/>
              </a:endParaRPr>
            </a:p>
          </p:txBody>
        </p:sp>
      </p:grpSp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4318223" y="4048472"/>
          <a:ext cx="24860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223" y="4048472"/>
                        <a:ext cx="2486025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796136" y="908720"/>
          <a:ext cx="2887862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908720"/>
                        <a:ext cx="2887862" cy="12961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580112" y="764704"/>
            <a:ext cx="3168352" cy="1656184"/>
          </a:xfrm>
          <a:prstGeom prst="rect">
            <a:avLst/>
          </a:prstGeom>
          <a:solidFill>
            <a:schemeClr val="accent1">
              <a:alpha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7"/>
              <p:cNvSpPr txBox="1"/>
              <p:nvPr/>
            </p:nvSpPr>
            <p:spPr bwMode="auto">
              <a:xfrm>
                <a:off x="489480" y="4598813"/>
                <a:ext cx="3506456" cy="1494483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480" y="4598813"/>
                <a:ext cx="3506456" cy="1494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 bwMode="auto">
          <a:xfrm>
            <a:off x="611560" y="4454796"/>
            <a:ext cx="3240360" cy="1494484"/>
          </a:xfrm>
          <a:prstGeom prst="rect">
            <a:avLst/>
          </a:prstGeom>
          <a:solidFill>
            <a:schemeClr val="accent1">
              <a:alpha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4" grpId="0" autoUpdateAnimBg="0"/>
      <p:bldP spid="8" grpId="0" animBg="1"/>
      <p:bldP spid="3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Text Box 4"/>
              <p:cNvSpPr txBox="1">
                <a:spLocks noChangeArrowheads="1"/>
              </p:cNvSpPr>
              <p:nvPr/>
            </p:nvSpPr>
            <p:spPr bwMode="auto">
              <a:xfrm>
                <a:off x="683568" y="1133500"/>
                <a:ext cx="237549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00007D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1"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kumimoji="1" lang="en-US" altLang="zh-CN" i="1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个数</a:t>
                </a:r>
              </a:p>
            </p:txBody>
          </p:sp>
        </mc:Choice>
        <mc:Fallback xmlns="">
          <p:sp>
            <p:nvSpPr>
              <p:cNvPr id="1024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1133500"/>
                <a:ext cx="2375495" cy="461665"/>
              </a:xfrm>
              <a:prstGeom prst="rect">
                <a:avLst/>
              </a:prstGeom>
              <a:blipFill>
                <a:blip r:embed="rId2"/>
                <a:stretch>
                  <a:fillRect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4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624722"/>
              </p:ext>
            </p:extLst>
          </p:nvPr>
        </p:nvGraphicFramePr>
        <p:xfrm>
          <a:off x="2915816" y="1124744"/>
          <a:ext cx="3994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124744"/>
                        <a:ext cx="399415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995381"/>
              </p:ext>
            </p:extLst>
          </p:nvPr>
        </p:nvGraphicFramePr>
        <p:xfrm>
          <a:off x="3054708" y="2132856"/>
          <a:ext cx="24860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708" y="2132856"/>
                        <a:ext cx="2486025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611560" y="4039386"/>
            <a:ext cx="5899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 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kumimoji="1" lang="zh-CN" alt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列矩阵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，简称 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矩阵．   </a:t>
            </a:r>
          </a:p>
        </p:txBody>
      </p:sp>
      <p:sp>
        <p:nvSpPr>
          <p:cNvPr id="126984" name="Rectangle 21"/>
          <p:cNvSpPr>
            <a:spLocks noGrp="1" noChangeAspect="1" noChangeArrowheads="1"/>
          </p:cNvSpPr>
          <p:nvPr>
            <p:ph type="title"/>
          </p:nvPr>
        </p:nvSpPr>
        <p:spPr>
          <a:xfrm>
            <a:off x="467544" y="77262"/>
            <a:ext cx="7773988" cy="1144588"/>
          </a:xfrm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二、矩阵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Matrix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的定义</a:t>
            </a:r>
          </a:p>
        </p:txBody>
      </p:sp>
      <p:sp>
        <p:nvSpPr>
          <p:cNvPr id="13" name="矩形 12"/>
          <p:cNvSpPr/>
          <p:nvPr/>
        </p:nvSpPr>
        <p:spPr>
          <a:xfrm>
            <a:off x="395536" y="1671191"/>
            <a:ext cx="3408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排成的</a:t>
            </a:r>
            <a:r>
              <a:rPr kumimoji="1"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kumimoji="1"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列的数表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5868144" y="4028660"/>
            <a:ext cx="877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记作 </a:t>
            </a:r>
          </a:p>
        </p:txBody>
      </p: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971600" y="4725144"/>
            <a:ext cx="3565525" cy="1828800"/>
            <a:chOff x="2364348" y="4814910"/>
            <a:chExt cx="3564974" cy="1828800"/>
          </a:xfrm>
        </p:grpSpPr>
        <p:graphicFrame>
          <p:nvGraphicFramePr>
            <p:cNvPr id="10" name="Object 12"/>
            <p:cNvGraphicFramePr>
              <a:graphicFrameLocks noChangeAspect="1"/>
            </p:cNvGraphicFramePr>
            <p:nvPr/>
          </p:nvGraphicFramePr>
          <p:xfrm>
            <a:off x="3300421" y="4814910"/>
            <a:ext cx="2486025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0" imgH="0" progId="">
                    <p:embed/>
                  </p:oleObj>
                </mc:Choice>
                <mc:Fallback>
                  <p:oleObj name="Equation" r:id="rId7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421" y="4814910"/>
                          <a:ext cx="2486025" cy="182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左中括号 12"/>
            <p:cNvSpPr>
              <a:spLocks/>
            </p:cNvSpPr>
            <p:nvPr/>
          </p:nvSpPr>
          <p:spPr bwMode="auto">
            <a:xfrm>
              <a:off x="3000364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左中括号 13"/>
            <p:cNvSpPr>
              <a:spLocks/>
            </p:cNvSpPr>
            <p:nvPr/>
          </p:nvSpPr>
          <p:spPr bwMode="auto">
            <a:xfrm flipH="1" flipV="1">
              <a:off x="5786446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4"/>
            <p:cNvSpPr>
              <a:spLocks noChangeArrowheads="1"/>
            </p:cNvSpPr>
            <p:nvPr/>
          </p:nvSpPr>
          <p:spPr bwMode="auto">
            <a:xfrm>
              <a:off x="2364348" y="5396227"/>
              <a:ext cx="58051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i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A=</a:t>
              </a:r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4989076" y="4870185"/>
            <a:ext cx="110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简记为</a:t>
            </a:r>
          </a:p>
        </p:txBody>
      </p:sp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303116"/>
              </p:ext>
            </p:extLst>
          </p:nvPr>
        </p:nvGraphicFramePr>
        <p:xfrm>
          <a:off x="4989076" y="5626886"/>
          <a:ext cx="32496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076" y="5626886"/>
                        <a:ext cx="32496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0251" grpId="0"/>
      <p:bldP spid="13" grpId="0"/>
      <p:bldP spid="8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1058416" y="4560888"/>
            <a:ext cx="4854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元素是实数的矩阵称为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实矩阵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058416" y="5060032"/>
            <a:ext cx="4665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元素是复数的矩阵称为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复矩阵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467544" y="2787352"/>
            <a:ext cx="60676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 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个数称为矩阵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元素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，简称为元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043608" y="5631631"/>
            <a:ext cx="6192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本书中矩阵除特别说明外，都指实矩阵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024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776346"/>
              </p:ext>
            </p:extLst>
          </p:nvPr>
        </p:nvGraphicFramePr>
        <p:xfrm>
          <a:off x="1349262" y="3378448"/>
          <a:ext cx="3994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262" y="3378448"/>
                        <a:ext cx="399415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909602" y="335699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237694" y="3356992"/>
                <a:ext cx="34852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位于矩阵</a:t>
                </a: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行第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列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694" y="3356992"/>
                <a:ext cx="3485249" cy="461665"/>
              </a:xfrm>
              <a:prstGeom prst="rect">
                <a:avLst/>
              </a:prstGeom>
              <a:blipFill>
                <a:blip r:embed="rId4"/>
                <a:stretch>
                  <a:fillRect l="-2622" t="-14667" r="-699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467544" y="3933056"/>
                <a:ext cx="28638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称为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矩阵</a:t>
                </a:r>
                <a:r>
                  <a:rPr lang="en-US" altLang="zh-CN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元</a:t>
                </a:r>
                <a:r>
                  <a:rPr lang="en-US" altLang="zh-CN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933056"/>
                <a:ext cx="2863861" cy="461665"/>
              </a:xfrm>
              <a:prstGeom prst="rect">
                <a:avLst/>
              </a:prstGeom>
              <a:blipFill>
                <a:blip r:embed="rId5"/>
                <a:stretch>
                  <a:fillRect l="-3412" t="-14474" r="-2772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0"/>
          <p:cNvGrpSpPr>
            <a:grpSpLocks/>
          </p:cNvGrpSpPr>
          <p:nvPr/>
        </p:nvGrpSpPr>
        <p:grpSpPr bwMode="auto">
          <a:xfrm>
            <a:off x="2374627" y="580571"/>
            <a:ext cx="3565525" cy="1828800"/>
            <a:chOff x="2364348" y="4814910"/>
            <a:chExt cx="3564974" cy="1828800"/>
          </a:xfrm>
        </p:grpSpPr>
        <p:graphicFrame>
          <p:nvGraphicFramePr>
            <p:cNvPr id="21" name="Object 12"/>
            <p:cNvGraphicFramePr>
              <a:graphicFrameLocks noChangeAspect="1"/>
            </p:cNvGraphicFramePr>
            <p:nvPr/>
          </p:nvGraphicFramePr>
          <p:xfrm>
            <a:off x="3300421" y="4814910"/>
            <a:ext cx="2486025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">
                    <p:embed/>
                  </p:oleObj>
                </mc:Choice>
                <mc:Fallback>
                  <p:oleObj name="Equation" r:id="rId6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421" y="4814910"/>
                          <a:ext cx="2486025" cy="182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左中括号 12"/>
            <p:cNvSpPr>
              <a:spLocks/>
            </p:cNvSpPr>
            <p:nvPr/>
          </p:nvSpPr>
          <p:spPr bwMode="auto">
            <a:xfrm>
              <a:off x="3000364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左中括号 13"/>
            <p:cNvSpPr>
              <a:spLocks/>
            </p:cNvSpPr>
            <p:nvPr/>
          </p:nvSpPr>
          <p:spPr bwMode="auto">
            <a:xfrm flipH="1" flipV="1">
              <a:off x="5786446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矩形 14"/>
            <p:cNvSpPr>
              <a:spLocks noChangeArrowheads="1"/>
            </p:cNvSpPr>
            <p:nvPr/>
          </p:nvSpPr>
          <p:spPr bwMode="auto">
            <a:xfrm>
              <a:off x="2364348" y="5396227"/>
              <a:ext cx="58051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i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A=</a:t>
              </a:r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/>
      <p:bldP spid="11276" grpId="0"/>
      <p:bldP spid="12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30" name="Rectangle 12"/>
          <p:cNvSpPr>
            <a:spLocks noChangeArrowheads="1"/>
          </p:cNvSpPr>
          <p:nvPr/>
        </p:nvSpPr>
        <p:spPr bwMode="auto">
          <a:xfrm>
            <a:off x="5003800" y="5192713"/>
            <a:ext cx="3683000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31" name="Rectangle 11"/>
          <p:cNvSpPr>
            <a:spLocks noChangeArrowheads="1"/>
          </p:cNvSpPr>
          <p:nvPr/>
        </p:nvSpPr>
        <p:spPr bwMode="auto">
          <a:xfrm>
            <a:off x="457200" y="5192713"/>
            <a:ext cx="4546600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5003800" y="3860800"/>
            <a:ext cx="3683000" cy="133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FF0000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行数可不等于列数</a:t>
            </a:r>
          </a:p>
          <a:p>
            <a:pPr>
              <a:spcBef>
                <a:spcPct val="20000"/>
              </a:spcBef>
              <a:buClr>
                <a:srgbClr val="FF0000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个元素</a:t>
            </a:r>
          </a:p>
          <a:p>
            <a:pPr>
              <a:spcBef>
                <a:spcPct val="20000"/>
              </a:spcBef>
              <a:buClr>
                <a:srgbClr val="FF0000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本质上就是一个数表</a:t>
            </a:r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457200" y="3860800"/>
            <a:ext cx="4546600" cy="133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4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行数等于列数</a:t>
            </a:r>
          </a:p>
          <a:p>
            <a:pPr>
              <a:lnSpc>
                <a:spcPct val="14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结果是一个值（或多项式）</a:t>
            </a:r>
          </a:p>
        </p:txBody>
      </p:sp>
      <p:sp>
        <p:nvSpPr>
          <p:cNvPr id="129034" name="Rectangle 8"/>
          <p:cNvSpPr>
            <a:spLocks noChangeArrowheads="1"/>
          </p:cNvSpPr>
          <p:nvPr/>
        </p:nvSpPr>
        <p:spPr bwMode="auto">
          <a:xfrm>
            <a:off x="5003800" y="981075"/>
            <a:ext cx="3683000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35" name="Rectangle 7"/>
          <p:cNvSpPr>
            <a:spLocks noChangeArrowheads="1"/>
          </p:cNvSpPr>
          <p:nvPr/>
        </p:nvSpPr>
        <p:spPr bwMode="auto">
          <a:xfrm>
            <a:off x="457200" y="981075"/>
            <a:ext cx="4546600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36" name="Rectangle 6"/>
          <p:cNvSpPr>
            <a:spLocks noChangeArrowheads="1"/>
          </p:cNvSpPr>
          <p:nvPr/>
        </p:nvSpPr>
        <p:spPr bwMode="auto">
          <a:xfrm>
            <a:off x="5003800" y="476250"/>
            <a:ext cx="36830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</a:t>
            </a:r>
          </a:p>
        </p:txBody>
      </p:sp>
      <p:sp>
        <p:nvSpPr>
          <p:cNvPr id="129037" name="Rectangle 5"/>
          <p:cNvSpPr>
            <a:spLocks noChangeArrowheads="1"/>
          </p:cNvSpPr>
          <p:nvPr/>
        </p:nvSpPr>
        <p:spPr bwMode="auto">
          <a:xfrm>
            <a:off x="457200" y="476250"/>
            <a:ext cx="45466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行列式</a:t>
            </a:r>
          </a:p>
        </p:txBody>
      </p:sp>
      <p:grpSp>
        <p:nvGrpSpPr>
          <p:cNvPr id="129038" name="Group 46"/>
          <p:cNvGrpSpPr>
            <a:grpSpLocks/>
          </p:cNvGrpSpPr>
          <p:nvPr/>
        </p:nvGrpSpPr>
        <p:grpSpPr bwMode="auto">
          <a:xfrm>
            <a:off x="457200" y="476250"/>
            <a:ext cx="8229600" cy="5797550"/>
            <a:chOff x="288" y="300"/>
            <a:chExt cx="5184" cy="3652"/>
          </a:xfrm>
        </p:grpSpPr>
        <p:sp>
          <p:nvSpPr>
            <p:cNvPr id="129043" name="Line 15"/>
            <p:cNvSpPr>
              <a:spLocks noChangeShapeType="1"/>
            </p:cNvSpPr>
            <p:nvPr/>
          </p:nvSpPr>
          <p:spPr bwMode="auto">
            <a:xfrm>
              <a:off x="288" y="300"/>
              <a:ext cx="51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44" name="Line 16"/>
            <p:cNvSpPr>
              <a:spLocks noChangeShapeType="1"/>
            </p:cNvSpPr>
            <p:nvPr/>
          </p:nvSpPr>
          <p:spPr bwMode="auto">
            <a:xfrm>
              <a:off x="288" y="618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45" name="Line 17"/>
            <p:cNvSpPr>
              <a:spLocks noChangeShapeType="1"/>
            </p:cNvSpPr>
            <p:nvPr/>
          </p:nvSpPr>
          <p:spPr bwMode="auto">
            <a:xfrm>
              <a:off x="288" y="2432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46" name="Line 18"/>
            <p:cNvSpPr>
              <a:spLocks noChangeShapeType="1"/>
            </p:cNvSpPr>
            <p:nvPr/>
          </p:nvSpPr>
          <p:spPr bwMode="auto">
            <a:xfrm>
              <a:off x="288" y="3271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47" name="Line 20"/>
            <p:cNvSpPr>
              <a:spLocks noChangeShapeType="1"/>
            </p:cNvSpPr>
            <p:nvPr/>
          </p:nvSpPr>
          <p:spPr bwMode="auto">
            <a:xfrm>
              <a:off x="288" y="3952"/>
              <a:ext cx="51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48" name="Line 21"/>
            <p:cNvSpPr>
              <a:spLocks noChangeShapeType="1"/>
            </p:cNvSpPr>
            <p:nvPr/>
          </p:nvSpPr>
          <p:spPr bwMode="auto">
            <a:xfrm>
              <a:off x="288" y="300"/>
              <a:ext cx="0" cy="36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49" name="Line 22"/>
            <p:cNvSpPr>
              <a:spLocks noChangeShapeType="1"/>
            </p:cNvSpPr>
            <p:nvPr/>
          </p:nvSpPr>
          <p:spPr bwMode="auto">
            <a:xfrm>
              <a:off x="3152" y="300"/>
              <a:ext cx="0" cy="36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50" name="Line 23"/>
            <p:cNvSpPr>
              <a:spLocks noChangeShapeType="1"/>
            </p:cNvSpPr>
            <p:nvPr/>
          </p:nvSpPr>
          <p:spPr bwMode="auto">
            <a:xfrm>
              <a:off x="5472" y="300"/>
              <a:ext cx="0" cy="36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9026" name="Object 15"/>
          <p:cNvGraphicFramePr>
            <a:graphicFrameLocks noChangeAspect="1"/>
          </p:cNvGraphicFramePr>
          <p:nvPr/>
        </p:nvGraphicFramePr>
        <p:xfrm>
          <a:off x="709613" y="1125538"/>
          <a:ext cx="4367212" cy="264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1125538"/>
                        <a:ext cx="4367212" cy="2640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8" name="Object 16"/>
          <p:cNvGraphicFramePr>
            <a:graphicFrameLocks noChangeAspect="1"/>
          </p:cNvGraphicFramePr>
          <p:nvPr/>
        </p:nvGraphicFramePr>
        <p:xfrm>
          <a:off x="1619250" y="5445125"/>
          <a:ext cx="11128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445125"/>
                        <a:ext cx="1112838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15" name="Object 17"/>
          <p:cNvGraphicFramePr>
            <a:graphicFrameLocks noChangeAspect="1"/>
          </p:cNvGraphicFramePr>
          <p:nvPr/>
        </p:nvGraphicFramePr>
        <p:xfrm>
          <a:off x="6380163" y="5468938"/>
          <a:ext cx="9636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163" y="5468938"/>
                        <a:ext cx="963612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16" name="Rectangle 44"/>
          <p:cNvSpPr>
            <a:spLocks noChangeArrowheads="1"/>
          </p:cNvSpPr>
          <p:nvPr/>
        </p:nvSpPr>
        <p:spPr bwMode="auto">
          <a:xfrm>
            <a:off x="571500" y="3077498"/>
            <a:ext cx="4432299" cy="7191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29040" name="组合 24"/>
          <p:cNvGrpSpPr>
            <a:grpSpLocks/>
          </p:cNvGrpSpPr>
          <p:nvPr/>
        </p:nvGrpSpPr>
        <p:grpSpPr bwMode="auto">
          <a:xfrm>
            <a:off x="5500688" y="1171575"/>
            <a:ext cx="2928937" cy="1828800"/>
            <a:chOff x="3000364" y="4814910"/>
            <a:chExt cx="2928958" cy="1828800"/>
          </a:xfrm>
        </p:grpSpPr>
        <p:graphicFrame>
          <p:nvGraphicFramePr>
            <p:cNvPr id="129029" name="Object 12"/>
            <p:cNvGraphicFramePr>
              <a:graphicFrameLocks noChangeAspect="1"/>
            </p:cNvGraphicFramePr>
            <p:nvPr/>
          </p:nvGraphicFramePr>
          <p:xfrm>
            <a:off x="3300421" y="4814910"/>
            <a:ext cx="2486025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">
                    <p:embed/>
                  </p:oleObj>
                </mc:Choice>
                <mc:Fallback>
                  <p:oleObj name="Equation" r:id="rId8" imgW="0" imgH="0" progId="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421" y="4814910"/>
                          <a:ext cx="2486025" cy="182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9041" name="左中括号 26"/>
            <p:cNvSpPr>
              <a:spLocks/>
            </p:cNvSpPr>
            <p:nvPr/>
          </p:nvSpPr>
          <p:spPr bwMode="auto">
            <a:xfrm>
              <a:off x="3000364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42" name="左中括号 27"/>
            <p:cNvSpPr>
              <a:spLocks/>
            </p:cNvSpPr>
            <p:nvPr/>
          </p:nvSpPr>
          <p:spPr bwMode="auto">
            <a:xfrm flipH="1" flipV="1">
              <a:off x="5786446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9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9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9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9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79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2" grpId="0" build="allAtOnce"/>
      <p:bldP spid="79881" grpId="0" uiExpand="1" build="allAtOnce"/>
      <p:bldP spid="799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6" name="Rectangle 5"/>
          <p:cNvSpPr>
            <a:spLocks noChangeArrowheads="1"/>
          </p:cNvSpPr>
          <p:nvPr/>
        </p:nvSpPr>
        <p:spPr bwMode="auto">
          <a:xfrm>
            <a:off x="455613" y="260648"/>
            <a:ext cx="814883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4000" b="1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三、同型矩阵与矩阵相等的概念</a:t>
            </a:r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455613" y="1143000"/>
            <a:ext cx="800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两个矩阵的行数相等、列数相等时，称为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同型矩阵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1066800" y="1916832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</a:p>
        </p:txBody>
      </p:sp>
      <p:graphicFrame>
        <p:nvGraphicFramePr>
          <p:cNvPr id="1640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332254"/>
              </p:ext>
            </p:extLst>
          </p:nvPr>
        </p:nvGraphicFramePr>
        <p:xfrm>
          <a:off x="1979737" y="1628800"/>
          <a:ext cx="2016199" cy="119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37" y="1628800"/>
                        <a:ext cx="2016199" cy="11931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0"/>
          <p:cNvSpPr>
            <a:spLocks noChangeArrowheads="1"/>
          </p:cNvSpPr>
          <p:nvPr/>
        </p:nvSpPr>
        <p:spPr bwMode="auto">
          <a:xfrm>
            <a:off x="4189413" y="1916832"/>
            <a:ext cx="1870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为同型矩阵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455613" y="2960823"/>
            <a:ext cx="7924800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50000"/>
              </a:spcBef>
              <a:buFontTx/>
              <a:buAutoNum type="arabicPeriod" startAt="2"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两个矩阵               与              为同型矩阵，并且对应元</a:t>
            </a:r>
          </a:p>
          <a:p>
            <a:pPr marL="342900" indent="-342900">
              <a:spcBef>
                <a:spcPct val="50000"/>
              </a:spcBef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素相等，即</a:t>
            </a:r>
          </a:p>
          <a:p>
            <a:pPr marL="342900" indent="-342900">
              <a:spcBef>
                <a:spcPct val="50000"/>
              </a:spcBef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则称矩阵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，记作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.</a:t>
            </a:r>
          </a:p>
        </p:txBody>
      </p:sp>
      <p:graphicFrame>
        <p:nvGraphicFramePr>
          <p:cNvPr id="164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622330"/>
              </p:ext>
            </p:extLst>
          </p:nvPr>
        </p:nvGraphicFramePr>
        <p:xfrm>
          <a:off x="2195513" y="3049723"/>
          <a:ext cx="1143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049723"/>
                        <a:ext cx="1143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199338"/>
              </p:ext>
            </p:extLst>
          </p:nvPr>
        </p:nvGraphicFramePr>
        <p:xfrm>
          <a:off x="2478088" y="3597411"/>
          <a:ext cx="45418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3597411"/>
                        <a:ext cx="4541837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817065"/>
              </p:ext>
            </p:extLst>
          </p:nvPr>
        </p:nvGraphicFramePr>
        <p:xfrm>
          <a:off x="3641725" y="3049723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725" y="3049723"/>
                        <a:ext cx="1117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539552" y="4658431"/>
            <a:ext cx="4902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注意：不同型的零矩阵是不相等的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04273"/>
              </p:ext>
            </p:extLst>
          </p:nvPr>
        </p:nvGraphicFramePr>
        <p:xfrm>
          <a:off x="2061344" y="5162487"/>
          <a:ext cx="3158728" cy="1290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344" y="5162487"/>
                        <a:ext cx="3158728" cy="12908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971600" y="5504270"/>
            <a:ext cx="9957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 </a:t>
            </a: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820350"/>
              </p:ext>
            </p:extLst>
          </p:nvPr>
        </p:nvGraphicFramePr>
        <p:xfrm>
          <a:off x="3321695" y="5432262"/>
          <a:ext cx="5302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840" imgH="177840" progId="">
                  <p:embed/>
                </p:oleObj>
              </mc:Choice>
              <mc:Fallback>
                <p:oleObj name="Equation" r:id="rId12" imgW="177840" imgH="17784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695" y="5432262"/>
                        <a:ext cx="53022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6" grpId="0"/>
      <p:bldP spid="16402" grpId="0"/>
      <p:bldP spid="16404" grpId="0"/>
      <p:bldP spid="16406" grpId="0" build="p"/>
      <p:bldP spid="11" grpId="0" autoUpdateAnimBg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455613" y="1407566"/>
            <a:ext cx="8293100" cy="475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70000"/>
              </a:lnSpc>
              <a:buFontTx/>
              <a:buAutoNum type="arabicPeriod"/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行数与列数都等于</a:t>
            </a:r>
            <a:r>
              <a:rPr kumimoji="1"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的矩阵，称为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阶方阵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．可记作  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20000"/>
              </a:lnSpc>
              <a:buFontTx/>
              <a:buAutoNum type="arabicPeriod"/>
            </a:pP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Tx/>
              <a:buAutoNum type="arabicPeriod"/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只有一行的矩阵                              称为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行矩阵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行向量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.</a:t>
            </a:r>
          </a:p>
          <a:p>
            <a:pPr marL="342900" indent="-342900">
              <a:lnSpc>
                <a:spcPct val="120000"/>
              </a:lnSpc>
              <a:buFontTx/>
              <a:buAutoNum type="arabicPeriod"/>
            </a:pP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</a:p>
          <a:p>
            <a:pPr marL="342900" indent="-342900">
              <a:lnSpc>
                <a:spcPct val="120000"/>
              </a:lnSpc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只有一列的矩阵                称为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列矩阵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列向量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.</a:t>
            </a:r>
          </a:p>
          <a:p>
            <a:pPr marL="342900" indent="-342900">
              <a:lnSpc>
                <a:spcPct val="120000"/>
              </a:lnSpc>
            </a:pP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</a:pP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Tx/>
              <a:buAutoNum type="arabicPeriod" startAt="3"/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元素全是零的矩阵称为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零距阵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．可记作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.</a:t>
            </a:r>
          </a:p>
        </p:txBody>
      </p:sp>
      <p:graphicFrame>
        <p:nvGraphicFramePr>
          <p:cNvPr id="13319" name="Object 17"/>
          <p:cNvGraphicFramePr>
            <a:graphicFrameLocks noChangeAspect="1"/>
          </p:cNvGraphicFramePr>
          <p:nvPr/>
        </p:nvGraphicFramePr>
        <p:xfrm>
          <a:off x="3024188" y="2132856"/>
          <a:ext cx="22987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2132856"/>
                        <a:ext cx="2298700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18"/>
          <p:cNvGraphicFramePr>
            <a:graphicFrameLocks noChangeAspect="1"/>
          </p:cNvGraphicFramePr>
          <p:nvPr/>
        </p:nvGraphicFramePr>
        <p:xfrm>
          <a:off x="7956550" y="1363116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1363116"/>
                        <a:ext cx="406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Object 19"/>
          <p:cNvGraphicFramePr>
            <a:graphicFrameLocks noChangeAspect="1"/>
          </p:cNvGraphicFramePr>
          <p:nvPr/>
        </p:nvGraphicFramePr>
        <p:xfrm>
          <a:off x="3024188" y="2780928"/>
          <a:ext cx="1249362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2780928"/>
                        <a:ext cx="1249362" cy="188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755576" y="5276056"/>
            <a:ext cx="1174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例如： </a:t>
            </a:r>
          </a:p>
        </p:txBody>
      </p:sp>
      <p:graphicFrame>
        <p:nvGraphicFramePr>
          <p:cNvPr id="13344" name="Object 20"/>
          <p:cNvGraphicFramePr>
            <a:graphicFrameLocks noChangeAspect="1"/>
          </p:cNvGraphicFramePr>
          <p:nvPr/>
        </p:nvGraphicFramePr>
        <p:xfrm>
          <a:off x="1992089" y="5294337"/>
          <a:ext cx="18351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089" y="5294337"/>
                        <a:ext cx="1835150" cy="94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21"/>
          <p:cNvGraphicFramePr>
            <a:graphicFrameLocks noChangeAspect="1"/>
          </p:cNvGraphicFramePr>
          <p:nvPr/>
        </p:nvGraphicFramePr>
        <p:xfrm>
          <a:off x="4322539" y="5510237"/>
          <a:ext cx="26257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539" y="5510237"/>
                        <a:ext cx="2625725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7" name="Rectangle 34"/>
          <p:cNvSpPr>
            <a:spLocks noChangeAspect="1" noChangeArrowheads="1"/>
          </p:cNvSpPr>
          <p:nvPr/>
        </p:nvSpPr>
        <p:spPr bwMode="auto">
          <a:xfrm>
            <a:off x="467544" y="188640"/>
            <a:ext cx="777398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4000" b="1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四、特殊矩阵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455613" y="455613"/>
            <a:ext cx="8688387" cy="189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kumimoji="1" lang="en-US" altLang="zh-CN" sz="2800" b="1" dirty="0">
              <a:solidFill>
                <a:srgbClr val="00007D"/>
              </a:solidFill>
              <a:latin typeface="Times New Roman" pitchFamily="18" charset="0"/>
              <a:ea typeface="楷体_GB2312"/>
              <a:cs typeface="楷体_GB2312"/>
            </a:endParaRPr>
          </a:p>
          <a:p>
            <a:pPr marL="342900" indent="-342900">
              <a:lnSpc>
                <a:spcPct val="70000"/>
              </a:lnSpc>
            </a:pP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  <a:ea typeface="楷体_GB2312"/>
              <a:cs typeface="楷体_GB2312"/>
            </a:endParaRPr>
          </a:p>
          <a:p>
            <a:pPr marL="342900" indent="-342900">
              <a:buFontTx/>
              <a:buAutoNum type="arabicPeriod" startAt="4"/>
            </a:pP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形如</a:t>
            </a:r>
            <a:endParaRPr kumimoji="1" lang="zh-CN" altLang="en-US" b="1" dirty="0">
              <a:solidFill>
                <a:srgbClr val="D60093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  <a:p>
            <a:pPr marL="342900" indent="-342900">
              <a:lnSpc>
                <a:spcPct val="120000"/>
              </a:lnSpc>
            </a:pPr>
            <a:endParaRPr kumimoji="1" lang="zh-CN" altLang="en-US" b="1" dirty="0">
              <a:solidFill>
                <a:srgbClr val="000000"/>
              </a:solidFill>
              <a:latin typeface="Times New Roman" pitchFamily="18" charset="0"/>
              <a:ea typeface="楷体_GB2312"/>
              <a:cs typeface="楷体_GB2312"/>
            </a:endParaRPr>
          </a:p>
          <a:p>
            <a:pPr>
              <a:lnSpc>
                <a:spcPct val="120000"/>
              </a:lnSpc>
            </a:pPr>
            <a:endParaRPr kumimoji="1" lang="zh-CN" altLang="en-US" b="1" dirty="0">
              <a:solidFill>
                <a:srgbClr val="000000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68611" name="Object 14"/>
          <p:cNvGraphicFramePr>
            <a:graphicFrameLocks noChangeAspect="1"/>
          </p:cNvGraphicFramePr>
          <p:nvPr/>
        </p:nvGraphicFramePr>
        <p:xfrm>
          <a:off x="1969964" y="613296"/>
          <a:ext cx="2386012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964" y="613296"/>
                        <a:ext cx="2386012" cy="187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AutoShape 4"/>
          <p:cNvSpPr>
            <a:spLocks noChangeArrowheads="1"/>
          </p:cNvSpPr>
          <p:nvPr/>
        </p:nvSpPr>
        <p:spPr bwMode="auto">
          <a:xfrm>
            <a:off x="1980257" y="908720"/>
            <a:ext cx="1871663" cy="1440160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8613" name="AutoShape 5"/>
          <p:cNvSpPr>
            <a:spLocks noChangeArrowheads="1"/>
          </p:cNvSpPr>
          <p:nvPr/>
        </p:nvSpPr>
        <p:spPr bwMode="auto">
          <a:xfrm rot="10800000">
            <a:off x="2267645" y="565150"/>
            <a:ext cx="1871662" cy="1368425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6862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712553"/>
              </p:ext>
            </p:extLst>
          </p:nvPr>
        </p:nvGraphicFramePr>
        <p:xfrm>
          <a:off x="3581251" y="4389586"/>
          <a:ext cx="2574925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251" y="4389586"/>
                        <a:ext cx="2574925" cy="206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9" name="AutoShape 21"/>
          <p:cNvSpPr>
            <a:spLocks noChangeArrowheads="1"/>
          </p:cNvSpPr>
          <p:nvPr/>
        </p:nvSpPr>
        <p:spPr bwMode="auto">
          <a:xfrm rot="10800000">
            <a:off x="4070201" y="4516586"/>
            <a:ext cx="2016125" cy="1528762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8631" name="AutoShape 23"/>
          <p:cNvSpPr>
            <a:spLocks noChangeArrowheads="1"/>
          </p:cNvSpPr>
          <p:nvPr/>
        </p:nvSpPr>
        <p:spPr bwMode="auto">
          <a:xfrm>
            <a:off x="3652689" y="4805511"/>
            <a:ext cx="2016125" cy="1528762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248423"/>
              </p:ext>
            </p:extLst>
          </p:nvPr>
        </p:nvGraphicFramePr>
        <p:xfrm>
          <a:off x="2175693" y="3043808"/>
          <a:ext cx="29003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8080" imgH="292320" progId="">
                  <p:embed/>
                </p:oleObj>
              </mc:Choice>
              <mc:Fallback>
                <p:oleObj name="Equation" r:id="rId6" imgW="1918080" imgH="29232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693" y="3043808"/>
                        <a:ext cx="290036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310952" y="3043808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记作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683568" y="3709592"/>
                <a:ext cx="7560840" cy="4977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特别，当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𝝀</m:t>
                        </m:r>
                      </m:e>
                      <m:sub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𝟏</m:t>
                        </m:r>
                      </m:sub>
                    </m:sSub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b>
                      <m:sSubPr>
                        <m:ctrlP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𝝀</m:t>
                        </m:r>
                      </m:e>
                      <m:sub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𝟐</m:t>
                        </m:r>
                      </m:sub>
                    </m:sSub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⋯=</m:t>
                    </m:r>
                    <m:sSub>
                      <m:sSubPr>
                        <m:ctrlP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𝝀</m:t>
                        </m:r>
                      </m:e>
                      <m:sub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𝒏</m:t>
                        </m:r>
                      </m:sub>
                    </m:sSub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=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1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时，称为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𝒏</m:t>
                    </m:r>
                  </m:oMath>
                </a14:m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阶单位矩阵</a:t>
                </a:r>
                <a:r>
                  <a:rPr kumimoji="1" lang="en-US" altLang="zh-CN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,</a:t>
                </a:r>
                <a:endParaRPr kumimoji="1"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709592"/>
                <a:ext cx="7560840" cy="497765"/>
              </a:xfrm>
              <a:prstGeom prst="rect">
                <a:avLst/>
              </a:prstGeom>
              <a:blipFill>
                <a:blip r:embed="rId8"/>
                <a:stretch>
                  <a:fillRect l="-1210" t="-7407" b="-2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24"/>
              <p:cNvSpPr txBox="1">
                <a:spLocks noChangeArrowheads="1"/>
              </p:cNvSpPr>
              <p:nvPr/>
            </p:nvSpPr>
            <p:spPr bwMode="auto">
              <a:xfrm>
                <a:off x="1331640" y="4581128"/>
                <a:ext cx="147501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𝑬</m:t>
                        </m:r>
                      </m:e>
                      <m:sub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 </a:t>
                </a:r>
              </a:p>
            </p:txBody>
          </p:sp>
        </mc:Choice>
        <mc:Fallback xmlns="">
          <p:sp>
            <p:nvSpPr>
              <p:cNvPr id="1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4581128"/>
                <a:ext cx="1475019" cy="461665"/>
              </a:xfrm>
              <a:prstGeom prst="rect">
                <a:avLst/>
              </a:prstGeom>
              <a:blipFill>
                <a:blip r:embed="rId9"/>
                <a:stretch>
                  <a:fillRect l="-6198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600249" y="2461420"/>
            <a:ext cx="6503342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</a:pP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的方阵称为</a:t>
            </a:r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对角阵</a:t>
            </a:r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D60093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diagonal  matrix)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0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6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0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68612" grpId="0" animBg="1"/>
      <p:bldP spid="68613" grpId="0" animBg="1"/>
      <p:bldP spid="68629" grpId="0" animBg="1"/>
      <p:bldP spid="68631" grpId="0" animBg="1"/>
      <p:bldP spid="14" grpId="0"/>
      <p:bldP spid="15" grpId="0"/>
      <p:bldP spid="16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2098" name="Object 2"/>
              <p:cNvSpPr txBox="1"/>
              <p:nvPr/>
            </p:nvSpPr>
            <p:spPr bwMode="auto">
              <a:xfrm>
                <a:off x="5121299" y="1700808"/>
                <a:ext cx="2259013" cy="1944216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209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1299" y="1700808"/>
                <a:ext cx="2259013" cy="19442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099" name="Object 3"/>
              <p:cNvSpPr txBox="1"/>
              <p:nvPr/>
            </p:nvSpPr>
            <p:spPr bwMode="auto">
              <a:xfrm>
                <a:off x="1547664" y="1844825"/>
                <a:ext cx="3456384" cy="194421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⋰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209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1844825"/>
                <a:ext cx="3456384" cy="1944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100" name="矩形 5"/>
          <p:cNvSpPr>
            <a:spLocks noChangeArrowheads="1"/>
          </p:cNvSpPr>
          <p:nvPr/>
        </p:nvSpPr>
        <p:spPr bwMode="auto">
          <a:xfrm>
            <a:off x="539750" y="764704"/>
            <a:ext cx="8280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形如下面两个矩阵的方阵称为</a:t>
            </a: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上三角矩阵</a:t>
            </a:r>
            <a:r>
              <a:rPr kumimoji="1" lang="en-US" altLang="zh-CN" sz="2800" b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upper triangular matrix)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</a:p>
        </p:txBody>
      </p:sp>
      <p:sp>
        <p:nvSpPr>
          <p:cNvPr id="5" name="AutoShape 21"/>
          <p:cNvSpPr>
            <a:spLocks noChangeArrowheads="1"/>
          </p:cNvSpPr>
          <p:nvPr/>
        </p:nvSpPr>
        <p:spPr bwMode="auto">
          <a:xfrm rot="5400000">
            <a:off x="2438770" y="1385765"/>
            <a:ext cx="1170114" cy="2376264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21"/>
          <p:cNvSpPr>
            <a:spLocks noChangeArrowheads="1"/>
          </p:cNvSpPr>
          <p:nvPr/>
        </p:nvSpPr>
        <p:spPr bwMode="auto">
          <a:xfrm rot="10800000">
            <a:off x="5508104" y="1844825"/>
            <a:ext cx="1551994" cy="1200155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"/>
              <p:cNvSpPr txBox="1"/>
              <p:nvPr/>
            </p:nvSpPr>
            <p:spPr bwMode="auto">
              <a:xfrm>
                <a:off x="1331640" y="4605076"/>
                <a:ext cx="2767554" cy="192026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4605076"/>
                <a:ext cx="2767554" cy="19202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/>
              <p:cNvSpPr txBox="1"/>
              <p:nvPr/>
            </p:nvSpPr>
            <p:spPr bwMode="auto">
              <a:xfrm>
                <a:off x="4819273" y="4653136"/>
                <a:ext cx="2849071" cy="1890191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⋰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9273" y="4653136"/>
                <a:ext cx="2849071" cy="18901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684213" y="3699048"/>
            <a:ext cx="8280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形如下面两个矩阵的方阵称为</a:t>
            </a:r>
            <a:r>
              <a:rPr kumimoji="1"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下三角矩阵</a:t>
            </a:r>
            <a:r>
              <a:rPr kumimoji="1" lang="en-US" altLang="zh-CN" sz="2800" b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lower triangular matrix</a:t>
            </a:r>
            <a:r>
              <a:rPr lang="en-US" altLang="zh-CN" sz="2800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 </a:t>
            </a:r>
          </a:p>
        </p:txBody>
      </p:sp>
      <p:sp>
        <p:nvSpPr>
          <p:cNvPr id="11" name="AutoShape 21"/>
          <p:cNvSpPr>
            <a:spLocks noChangeArrowheads="1"/>
          </p:cNvSpPr>
          <p:nvPr/>
        </p:nvSpPr>
        <p:spPr bwMode="auto">
          <a:xfrm>
            <a:off x="1619672" y="4797152"/>
            <a:ext cx="2088232" cy="1152128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21"/>
          <p:cNvSpPr>
            <a:spLocks noChangeArrowheads="1"/>
          </p:cNvSpPr>
          <p:nvPr/>
        </p:nvSpPr>
        <p:spPr bwMode="auto">
          <a:xfrm rot="16200000">
            <a:off x="5589104" y="4158071"/>
            <a:ext cx="1134145" cy="2304258"/>
          </a:xfrm>
          <a:prstGeom prst="rtTriangl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0" grpId="0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63618" name="Object 2"/>
              <p:cNvSpPr txBox="1"/>
              <p:nvPr/>
            </p:nvSpPr>
            <p:spPr bwMode="auto">
              <a:xfrm>
                <a:off x="2908027" y="2204864"/>
                <a:ext cx="2744093" cy="158417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6361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8027" y="2204864"/>
                <a:ext cx="2744093" cy="1584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149" name="组合 9"/>
          <p:cNvGrpSpPr>
            <a:grpSpLocks/>
          </p:cNvGrpSpPr>
          <p:nvPr/>
        </p:nvGrpSpPr>
        <p:grpSpPr bwMode="auto">
          <a:xfrm>
            <a:off x="611560" y="764704"/>
            <a:ext cx="8245475" cy="954087"/>
            <a:chOff x="323528" y="1465620"/>
            <a:chExt cx="8245390" cy="953972"/>
          </a:xfrm>
        </p:grpSpPr>
        <p:sp>
          <p:nvSpPr>
            <p:cNvPr id="134151" name="矩形 3"/>
            <p:cNvSpPr>
              <a:spLocks noChangeArrowheads="1"/>
            </p:cNvSpPr>
            <p:nvPr/>
          </p:nvSpPr>
          <p:spPr bwMode="auto">
            <a:xfrm>
              <a:off x="323528" y="1465620"/>
              <a:ext cx="8245390" cy="9539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/>
              <a:r>
                <a: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6. 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若方阵                     中                 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, 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则称为</a:t>
              </a:r>
              <a:r>
                <a:rPr kumimoji="1" lang="zh-CN" altLang="en-US" sz="2800" dirty="0">
                  <a:solidFill>
                    <a:srgbClr val="0000FF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对称矩阵</a:t>
              </a:r>
              <a:endParaRPr kumimoji="1"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楷体_GB2312"/>
              </a:endParaRPr>
            </a:p>
            <a:p>
              <a:pPr marL="342900" indent="-342900"/>
              <a:r>
                <a:rPr kumimoji="1" lang="en-US" altLang="zh-CN" sz="2800" dirty="0">
                  <a:solidFill>
                    <a:srgbClr val="D60093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(</a:t>
              </a:r>
              <a:r>
                <a:rPr lang="en-US" altLang="zh-CN" sz="2800" i="1" dirty="0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symmetric matrix</a:t>
              </a:r>
              <a:r>
                <a:rPr kumimoji="1" lang="en-US" altLang="zh-CN" sz="2800" dirty="0">
                  <a:solidFill>
                    <a:srgbClr val="D60093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)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楷体_GB2312"/>
                </a:rPr>
                <a:t>．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147" name="Object 5"/>
                <p:cNvSpPr txBox="1"/>
                <p:nvPr/>
              </p:nvSpPr>
              <p:spPr bwMode="auto">
                <a:xfrm>
                  <a:off x="4212031" y="1470197"/>
                  <a:ext cx="1368152" cy="590651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34147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2031" y="1470197"/>
                  <a:ext cx="1368152" cy="59065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148" name="Object 7"/>
                <p:cNvSpPr txBox="1"/>
                <p:nvPr/>
              </p:nvSpPr>
              <p:spPr bwMode="auto">
                <a:xfrm>
                  <a:off x="1979814" y="1469668"/>
                  <a:ext cx="1675878" cy="59118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34148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9814" y="1469668"/>
                  <a:ext cx="1675878" cy="591180"/>
                </a:xfrm>
                <a:prstGeom prst="rect">
                  <a:avLst/>
                </a:prstGeom>
                <a:blipFill>
                  <a:blip r:embed="rId4"/>
                  <a:stretch>
                    <a:fillRect l="-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15665" y="1772816"/>
            <a:ext cx="100806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/>
              <a:t>即</a:t>
            </a:r>
          </a:p>
        </p:txBody>
      </p:sp>
      <p:sp>
        <p:nvSpPr>
          <p:cNvPr id="8" name="矩形 5"/>
          <p:cNvSpPr>
            <a:spLocks noChangeArrowheads="1"/>
          </p:cNvSpPr>
          <p:nvPr/>
        </p:nvSpPr>
        <p:spPr bwMode="auto">
          <a:xfrm>
            <a:off x="756096" y="4149080"/>
            <a:ext cx="136763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/>
              <p:cNvSpPr txBox="1"/>
              <p:nvPr/>
            </p:nvSpPr>
            <p:spPr bwMode="auto">
              <a:xfrm>
                <a:off x="1898997" y="4221089"/>
                <a:ext cx="5121275" cy="1800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8997" y="4221089"/>
                <a:ext cx="5121275" cy="1800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46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3618" grpId="0"/>
      <p:bldP spid="11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"/>
              <p:cNvSpPr txBox="1"/>
              <p:nvPr/>
            </p:nvSpPr>
            <p:spPr bwMode="auto">
              <a:xfrm>
                <a:off x="2699792" y="1652341"/>
                <a:ext cx="2880320" cy="226976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2" y="1652341"/>
                <a:ext cx="2880320" cy="22697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197" name="组合 5"/>
          <p:cNvGrpSpPr>
            <a:grpSpLocks/>
          </p:cNvGrpSpPr>
          <p:nvPr/>
        </p:nvGrpSpPr>
        <p:grpSpPr bwMode="auto">
          <a:xfrm>
            <a:off x="323850" y="692696"/>
            <a:ext cx="8248650" cy="954107"/>
            <a:chOff x="323528" y="1465620"/>
            <a:chExt cx="9001000" cy="954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198" name="矩形 6"/>
                <p:cNvSpPr>
                  <a:spLocks noChangeArrowheads="1"/>
                </p:cNvSpPr>
                <p:nvPr/>
              </p:nvSpPr>
              <p:spPr bwMode="auto">
                <a:xfrm>
                  <a:off x="323528" y="1465620"/>
                  <a:ext cx="9001000" cy="9541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342900" indent="-342900"/>
                  <a:r>
                    <a:rPr kumimoji="1" lang="en-US" altLang="zh-CN" sz="2800" dirty="0">
                      <a:solidFill>
                        <a:srgbClr val="000000"/>
                      </a:solidFill>
                      <a:latin typeface="Times New Roman" pitchFamily="18" charset="0"/>
                      <a:ea typeface="楷体_GB2312"/>
                      <a:cs typeface="楷体_GB2312"/>
                    </a:rPr>
                    <a:t>7. </a:t>
                  </a:r>
                  <a:r>
                    <a:rPr kumimoji="1" lang="zh-CN" altLang="en-US" sz="28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如果方阵         中         </a:t>
                  </a:r>
                  <a:r>
                    <a:rPr kumimoji="1" lang="en-US" altLang="zh-CN" sz="28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, </a:t>
                  </a:r>
                  <a:r>
                    <a:rPr kumimoji="1" lang="zh-CN" altLang="en-US" sz="28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则</a:t>
                  </a:r>
                  <a14:m>
                    <m:oMath xmlns:m="http://schemas.openxmlformats.org/officeDocument/2006/math">
                      <m:r>
                        <a:rPr kumimoji="1" lang="en-US" altLang="zh-CN" sz="2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楷体_GB2312"/>
                        </a:rPr>
                        <m:t>𝐴</m:t>
                      </m:r>
                      <m:r>
                        <a:rPr kumimoji="1" lang="en-US" altLang="zh-CN" sz="2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楷体_GB2312"/>
                        </a:rPr>
                        <m:t> </m:t>
                      </m:r>
                    </m:oMath>
                  </a14:m>
                  <a:r>
                    <a:rPr kumimoji="1" lang="zh-CN" altLang="en-US" sz="28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称为</a:t>
                  </a:r>
                  <a:endParaRPr kumimoji="1" lang="en-US" altLang="zh-CN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endParaRPr>
                </a:p>
                <a:p>
                  <a:pPr marL="342900" indent="-342900"/>
                  <a:r>
                    <a:rPr kumimoji="1" lang="en-US" altLang="zh-CN" sz="28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  </a:t>
                  </a:r>
                  <a:r>
                    <a:rPr kumimoji="1" lang="zh-CN" altLang="en-US" sz="2800" dirty="0">
                      <a:solidFill>
                        <a:srgbClr val="0000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反对称矩阵</a:t>
                  </a:r>
                  <a:r>
                    <a:rPr kumimoji="1" lang="en-US" altLang="zh-CN" sz="2800" dirty="0">
                      <a:solidFill>
                        <a:srgbClr val="D60093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(</a:t>
                  </a:r>
                  <a:r>
                    <a:rPr kumimoji="1" lang="en-US" altLang="zh-CN" sz="2800" i="1" dirty="0">
                      <a:solidFill>
                        <a:srgbClr val="D60093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anti</a:t>
                  </a:r>
                  <a:r>
                    <a:rPr lang="en-US" altLang="zh-CN" sz="2800" i="1" dirty="0">
                      <a:solidFill>
                        <a:srgbClr val="D60093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symmetric matrix</a:t>
                  </a:r>
                  <a:r>
                    <a:rPr kumimoji="1" lang="en-US" altLang="zh-CN" sz="2800" dirty="0">
                      <a:solidFill>
                        <a:srgbClr val="D60093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)</a:t>
                  </a:r>
                  <a:r>
                    <a:rPr kumimoji="1" lang="zh-CN" altLang="en-US" sz="2800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．即</a:t>
                  </a:r>
                </a:p>
              </p:txBody>
            </p:sp>
          </mc:Choice>
          <mc:Fallback xmlns="">
            <p:sp>
              <p:nvSpPr>
                <p:cNvPr id="136198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528" y="1465620"/>
                  <a:ext cx="9001000" cy="954127"/>
                </a:xfrm>
                <a:prstGeom prst="rect">
                  <a:avLst/>
                </a:prstGeom>
                <a:blipFill>
                  <a:blip r:embed="rId4"/>
                  <a:stretch>
                    <a:fillRect l="-1478" t="-8974" b="-17949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195" name="Object 3"/>
                <p:cNvSpPr txBox="1"/>
                <p:nvPr/>
              </p:nvSpPr>
              <p:spPr bwMode="auto">
                <a:xfrm>
                  <a:off x="4644844" y="1470025"/>
                  <a:ext cx="1606550" cy="590550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36195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44844" y="1470025"/>
                  <a:ext cx="1606550" cy="5905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196" name="Object 4"/>
                <p:cNvSpPr txBox="1"/>
                <p:nvPr/>
              </p:nvSpPr>
              <p:spPr bwMode="auto">
                <a:xfrm>
                  <a:off x="2503717" y="1469668"/>
                  <a:ext cx="1675878" cy="591180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3619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03717" y="1469668"/>
                  <a:ext cx="1675878" cy="591180"/>
                </a:xfrm>
                <a:prstGeom prst="rect">
                  <a:avLst/>
                </a:prstGeom>
                <a:blipFill>
                  <a:blip r:embed="rId6"/>
                  <a:stretch>
                    <a:fillRect l="-3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755576" y="4129261"/>
            <a:ext cx="172767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/>
              <p:cNvSpPr txBox="1"/>
              <p:nvPr/>
            </p:nvSpPr>
            <p:spPr bwMode="auto">
              <a:xfrm>
                <a:off x="2196455" y="4279566"/>
                <a:ext cx="4535785" cy="20251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6455" y="4279566"/>
                <a:ext cx="4535785" cy="20251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7"/>
          <p:cNvSpPr txBox="1">
            <a:spLocks noChangeArrowheads="1"/>
          </p:cNvSpPr>
          <p:nvPr/>
        </p:nvSpPr>
        <p:spPr bwMode="auto">
          <a:xfrm>
            <a:off x="559135" y="980728"/>
            <a:ext cx="523700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对于非齐次线性方程组 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0290" name="Object 4"/>
          <p:cNvGraphicFramePr>
            <a:graphicFrameLocks noChangeAspect="1"/>
          </p:cNvGraphicFramePr>
          <p:nvPr/>
        </p:nvGraphicFramePr>
        <p:xfrm>
          <a:off x="1403649" y="1556792"/>
          <a:ext cx="3600400" cy="1615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9" y="1556792"/>
                        <a:ext cx="3600400" cy="16159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3" name="Rectangle 104"/>
          <p:cNvSpPr>
            <a:spLocks noGrp="1" noChangeAspect="1" noChangeArrowheads="1"/>
          </p:cNvSpPr>
          <p:nvPr>
            <p:ph type="title"/>
          </p:nvPr>
        </p:nvSpPr>
        <p:spPr>
          <a:xfrm>
            <a:off x="539552" y="120626"/>
            <a:ext cx="5305722" cy="932110"/>
          </a:xfrm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五、矩阵与线性方程组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79512" y="3284984"/>
            <a:ext cx="3429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有下列几个矩阵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" name="组合 23"/>
          <p:cNvGrpSpPr>
            <a:grpSpLocks/>
          </p:cNvGrpSpPr>
          <p:nvPr/>
        </p:nvGrpSpPr>
        <p:grpSpPr bwMode="auto">
          <a:xfrm>
            <a:off x="530299" y="4676006"/>
            <a:ext cx="3565525" cy="1828800"/>
            <a:chOff x="2364348" y="4814910"/>
            <a:chExt cx="3564974" cy="1828800"/>
          </a:xfrm>
        </p:grpSpPr>
        <p:graphicFrame>
          <p:nvGraphicFramePr>
            <p:cNvPr id="8" name="Object 15"/>
            <p:cNvGraphicFramePr>
              <a:graphicFrameLocks noChangeAspect="1"/>
            </p:cNvGraphicFramePr>
            <p:nvPr/>
          </p:nvGraphicFramePr>
          <p:xfrm>
            <a:off x="3300421" y="4814910"/>
            <a:ext cx="2486025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">
                    <p:embed/>
                  </p:oleObj>
                </mc:Choice>
                <mc:Fallback>
                  <p:oleObj name="Equation" r:id="rId4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421" y="4814910"/>
                          <a:ext cx="2486025" cy="182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左中括号 25"/>
            <p:cNvSpPr>
              <a:spLocks/>
            </p:cNvSpPr>
            <p:nvPr/>
          </p:nvSpPr>
          <p:spPr bwMode="auto">
            <a:xfrm>
              <a:off x="3000364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1" name="左中括号 26"/>
            <p:cNvSpPr>
              <a:spLocks/>
            </p:cNvSpPr>
            <p:nvPr/>
          </p:nvSpPr>
          <p:spPr bwMode="auto">
            <a:xfrm flipH="1" flipV="1">
              <a:off x="5786446" y="4857760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2" name="矩形 27"/>
            <p:cNvSpPr>
              <a:spLocks noChangeArrowheads="1"/>
            </p:cNvSpPr>
            <p:nvPr/>
          </p:nvSpPr>
          <p:spPr bwMode="auto">
            <a:xfrm>
              <a:off x="2364348" y="5396227"/>
              <a:ext cx="5645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rPr>
                <a:t>A=</a:t>
              </a:r>
              <a:endParaRPr lang="zh-CN" altLang="en-US">
                <a:ea typeface="楷体_GB2312"/>
                <a:cs typeface="楷体_GB2312"/>
              </a:endParaRPr>
            </a:p>
          </p:txBody>
        </p:sp>
      </p:grpSp>
      <p:grpSp>
        <p:nvGrpSpPr>
          <p:cNvPr id="13" name="组合 28"/>
          <p:cNvGrpSpPr>
            <a:grpSpLocks/>
          </p:cNvGrpSpPr>
          <p:nvPr/>
        </p:nvGrpSpPr>
        <p:grpSpPr bwMode="auto">
          <a:xfrm>
            <a:off x="4387924" y="4718869"/>
            <a:ext cx="4000500" cy="1857375"/>
            <a:chOff x="4786314" y="4572008"/>
            <a:chExt cx="4000528" cy="1857388"/>
          </a:xfrm>
        </p:grpSpPr>
        <p:grpSp>
          <p:nvGrpSpPr>
            <p:cNvPr id="14" name="组合 11"/>
            <p:cNvGrpSpPr>
              <a:grpSpLocks/>
            </p:cNvGrpSpPr>
            <p:nvPr/>
          </p:nvGrpSpPr>
          <p:grpSpPr bwMode="auto">
            <a:xfrm>
              <a:off x="5572132" y="4583120"/>
              <a:ext cx="3214710" cy="1846276"/>
              <a:chOff x="3071802" y="1011220"/>
              <a:chExt cx="3214710" cy="1846276"/>
            </a:xfrm>
          </p:grpSpPr>
          <p:graphicFrame>
            <p:nvGraphicFramePr>
              <p:cNvPr id="18" name="Object 12"/>
              <p:cNvGraphicFramePr>
                <a:graphicFrameLocks noChangeAspect="1"/>
              </p:cNvGraphicFramePr>
              <p:nvPr/>
            </p:nvGraphicFramePr>
            <p:xfrm>
              <a:off x="3071802" y="1028696"/>
              <a:ext cx="2486025" cy="1828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0" imgH="0" progId="">
                      <p:embed/>
                    </p:oleObj>
                  </mc:Choice>
                  <mc:Fallback>
                    <p:oleObj name="Equation" r:id="rId6" imgW="0" imgH="0" progId="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1802" y="1028696"/>
                            <a:ext cx="2486025" cy="1828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矩形 18"/>
              <p:cNvSpPr/>
              <p:nvPr/>
            </p:nvSpPr>
            <p:spPr>
              <a:xfrm>
                <a:off x="5621344" y="1011220"/>
                <a:ext cx="665168" cy="18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b="1" i="1" kern="0" dirty="0"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b="1" kern="0" baseline="-25000" dirty="0"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</a:t>
                </a:r>
                <a:r>
                  <a:rPr lang="en-US" altLang="zh-CN" b="1" i="1" kern="0" baseline="-25000" dirty="0"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   </a:t>
                </a:r>
              </a:p>
              <a:p>
                <a:pPr>
                  <a:defRPr/>
                </a:pPr>
                <a:r>
                  <a:rPr lang="en-US" altLang="zh-CN" b="1" i="1" kern="0" dirty="0"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 b</a:t>
                </a:r>
                <a:r>
                  <a:rPr lang="en-US" altLang="zh-CN" b="1" kern="0" baseline="-25000" dirty="0"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2</a:t>
                </a:r>
              </a:p>
              <a:p>
                <a:pPr>
                  <a:defRPr/>
                </a:pPr>
                <a:r>
                  <a:rPr lang="en-US" altLang="zh-CN" sz="1400" b="1" kern="0" dirty="0">
                    <a:latin typeface="黑体"/>
                    <a:ea typeface="黑体"/>
                    <a:cs typeface="Times New Roman" pitchFamily="18" charset="0"/>
                  </a:rPr>
                  <a:t> .</a:t>
                </a:r>
              </a:p>
              <a:p>
                <a:pPr>
                  <a:defRPr/>
                </a:pPr>
                <a:r>
                  <a:rPr lang="en-US" altLang="zh-CN" sz="1400" b="1" kern="0" dirty="0">
                    <a:latin typeface="黑体"/>
                    <a:ea typeface="黑体"/>
                    <a:cs typeface="Times New Roman" pitchFamily="18" charset="0"/>
                  </a:rPr>
                  <a:t> .</a:t>
                </a:r>
              </a:p>
              <a:p>
                <a:pPr>
                  <a:defRPr/>
                </a:pPr>
                <a:r>
                  <a:rPr lang="en-US" altLang="zh-CN" sz="1400" b="1" kern="0" dirty="0">
                    <a:latin typeface="黑体"/>
                    <a:ea typeface="黑体"/>
                    <a:cs typeface="Times New Roman" pitchFamily="18" charset="0"/>
                  </a:rPr>
                  <a:t> .</a:t>
                </a:r>
              </a:p>
              <a:p>
                <a:pPr>
                  <a:defRPr/>
                </a:pPr>
                <a:r>
                  <a:rPr lang="en-US" altLang="zh-CN" b="1" i="1" kern="0" dirty="0" err="1"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b="1" kern="0" baseline="-25000" dirty="0" err="1"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m</a:t>
                </a:r>
                <a:r>
                  <a:rPr lang="zh-CN" altLang="en-US" b="1" kern="0" dirty="0">
                    <a:latin typeface="黑体"/>
                    <a:ea typeface="黑体"/>
                    <a:cs typeface="Times New Roman" pitchFamily="18" charset="0"/>
                  </a:rPr>
                  <a:t> </a:t>
                </a:r>
                <a:endParaRPr lang="zh-CN" altLang="en-US" dirty="0">
                  <a:latin typeface="Arial" charset="0"/>
                  <a:ea typeface="楷体_GB2312" pitchFamily="49" charset="-122"/>
                </a:endParaRPr>
              </a:p>
            </p:txBody>
          </p:sp>
        </p:grpSp>
        <p:sp>
          <p:nvSpPr>
            <p:cNvPr id="15" name="左中括号 30"/>
            <p:cNvSpPr>
              <a:spLocks/>
            </p:cNvSpPr>
            <p:nvPr/>
          </p:nvSpPr>
          <p:spPr bwMode="auto">
            <a:xfrm>
              <a:off x="5422330" y="4572008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6" name="左中括号 31"/>
            <p:cNvSpPr>
              <a:spLocks/>
            </p:cNvSpPr>
            <p:nvPr/>
          </p:nvSpPr>
          <p:spPr bwMode="auto">
            <a:xfrm flipH="1" flipV="1">
              <a:off x="8643966" y="4572008"/>
              <a:ext cx="142876" cy="1785950"/>
            </a:xfrm>
            <a:prstGeom prst="leftBracket">
              <a:avLst>
                <a:gd name="adj" fmla="val 8333"/>
              </a:avLst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7" name="矩形 32"/>
            <p:cNvSpPr>
              <a:spLocks noChangeArrowheads="1"/>
            </p:cNvSpPr>
            <p:nvPr/>
          </p:nvSpPr>
          <p:spPr bwMode="auto">
            <a:xfrm>
              <a:off x="4786314" y="5000636"/>
              <a:ext cx="5645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rPr>
                <a:t>B=</a:t>
              </a:r>
              <a:endParaRPr lang="zh-CN" altLang="en-US">
                <a:ea typeface="楷体_GB2312"/>
                <a:cs typeface="楷体_GB2312"/>
              </a:endParaRPr>
            </a:p>
          </p:txBody>
        </p:sp>
      </p:grpSp>
      <p:sp>
        <p:nvSpPr>
          <p:cNvPr id="20" name="圆角矩形标注 19"/>
          <p:cNvSpPr>
            <a:spLocks noChangeArrowheads="1"/>
          </p:cNvSpPr>
          <p:nvPr/>
        </p:nvSpPr>
        <p:spPr bwMode="auto">
          <a:xfrm>
            <a:off x="1458986" y="3933056"/>
            <a:ext cx="2143125" cy="500063"/>
          </a:xfrm>
          <a:prstGeom prst="wedgeRoundRectCallout">
            <a:avLst>
              <a:gd name="adj1" fmla="val -2546"/>
              <a:gd name="adj2" fmla="val 88620"/>
              <a:gd name="adj3" fmla="val 1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lvl="0" algn="ctr"/>
            <a:r>
              <a:rPr lang="zh-CN" altLang="en-US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系数矩阵</a:t>
            </a:r>
            <a:endParaRPr lang="zh-CN" altLang="en-US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圆角矩形标注 20"/>
          <p:cNvSpPr>
            <a:spLocks noChangeArrowheads="1"/>
          </p:cNvSpPr>
          <p:nvPr/>
        </p:nvSpPr>
        <p:spPr bwMode="auto">
          <a:xfrm>
            <a:off x="6102424" y="4004494"/>
            <a:ext cx="2143125" cy="500062"/>
          </a:xfrm>
          <a:prstGeom prst="wedgeRoundRectCallout">
            <a:avLst>
              <a:gd name="adj1" fmla="val -42505"/>
              <a:gd name="adj2" fmla="val 108940"/>
              <a:gd name="adj3" fmla="val 1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lvl="0" algn="ctr"/>
            <a:r>
              <a:rPr lang="zh-CN" altLang="en-US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增广矩阵</a:t>
            </a:r>
            <a:endParaRPr lang="zh-CN" altLang="en-US" i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2" name="组合 15"/>
          <p:cNvGrpSpPr>
            <a:grpSpLocks/>
          </p:cNvGrpSpPr>
          <p:nvPr/>
        </p:nvGrpSpPr>
        <p:grpSpPr bwMode="auto">
          <a:xfrm>
            <a:off x="5202337" y="1262484"/>
            <a:ext cx="1327740" cy="1846659"/>
            <a:chOff x="928662" y="1500174"/>
            <a:chExt cx="1327324" cy="1847055"/>
          </a:xfrm>
        </p:grpSpPr>
        <p:sp>
          <p:nvSpPr>
            <p:cNvPr id="23" name="矩形 22"/>
            <p:cNvSpPr/>
            <p:nvPr/>
          </p:nvSpPr>
          <p:spPr>
            <a:xfrm>
              <a:off x="1571398" y="1500174"/>
              <a:ext cx="684588" cy="1847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x</a:t>
              </a:r>
              <a:r>
                <a:rPr lang="en-US" altLang="zh-CN" b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b="1" i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</a:t>
              </a:r>
            </a:p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x</a:t>
              </a:r>
              <a:r>
                <a:rPr lang="en-US" altLang="zh-CN" b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lang="en-US" altLang="zh-CN" b="1" i="1" kern="0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x</a:t>
              </a:r>
              <a:r>
                <a:rPr lang="en-US" altLang="zh-CN" b="1" kern="0" baseline="-25000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n</a:t>
              </a:r>
              <a:r>
                <a:rPr lang="zh-CN" altLang="en-US" b="1" kern="0" dirty="0">
                  <a:latin typeface="黑体"/>
                  <a:ea typeface="黑体"/>
                  <a:cs typeface="Times New Roman" pitchFamily="18" charset="0"/>
                </a:rPr>
                <a:t> </a:t>
              </a:r>
              <a:endParaRPr lang="zh-CN" altLang="en-US" dirty="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24" name="右中括号 12"/>
            <p:cNvSpPr>
              <a:spLocks/>
            </p:cNvSpPr>
            <p:nvPr/>
          </p:nvSpPr>
          <p:spPr bwMode="auto">
            <a:xfrm flipH="1">
              <a:off x="1500166" y="1571612"/>
              <a:ext cx="142877" cy="1714512"/>
            </a:xfrm>
            <a:prstGeom prst="rightBracket">
              <a:avLst>
                <a:gd name="adj" fmla="val 8333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" name="右中括号 13"/>
            <p:cNvSpPr>
              <a:spLocks/>
            </p:cNvSpPr>
            <p:nvPr/>
          </p:nvSpPr>
          <p:spPr bwMode="auto">
            <a:xfrm flipV="1">
              <a:off x="2071670" y="1581136"/>
              <a:ext cx="142876" cy="1704988"/>
            </a:xfrm>
            <a:prstGeom prst="rightBracket">
              <a:avLst>
                <a:gd name="adj" fmla="val 8342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6" name="矩形 14"/>
            <p:cNvSpPr>
              <a:spLocks noChangeArrowheads="1"/>
            </p:cNvSpPr>
            <p:nvPr/>
          </p:nvSpPr>
          <p:spPr bwMode="auto">
            <a:xfrm>
              <a:off x="928662" y="2143116"/>
              <a:ext cx="51328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rPr>
                <a:t>x=</a:t>
              </a:r>
              <a:endParaRPr lang="zh-CN" altLang="en-US" dirty="0">
                <a:ea typeface="楷体_GB2312"/>
                <a:cs typeface="楷体_GB2312"/>
              </a:endParaRPr>
            </a:p>
          </p:txBody>
        </p:sp>
      </p:grpSp>
      <p:sp>
        <p:nvSpPr>
          <p:cNvPr id="27" name="圆角矩形标注 26"/>
          <p:cNvSpPr>
            <a:spLocks noChangeArrowheads="1"/>
          </p:cNvSpPr>
          <p:nvPr/>
        </p:nvSpPr>
        <p:spPr bwMode="auto">
          <a:xfrm>
            <a:off x="5093171" y="476672"/>
            <a:ext cx="2143125" cy="500062"/>
          </a:xfrm>
          <a:prstGeom prst="wedgeRoundRectCallout">
            <a:avLst>
              <a:gd name="adj1" fmla="val -5255"/>
              <a:gd name="adj2" fmla="val 106037"/>
              <a:gd name="adj3" fmla="val 1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lvl="0" algn="ctr"/>
            <a:r>
              <a:rPr lang="zh-CN" altLang="en-US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未知数矩阵</a:t>
            </a:r>
            <a:endParaRPr lang="zh-CN" altLang="en-US" i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8" name="组合 17"/>
          <p:cNvGrpSpPr>
            <a:grpSpLocks/>
          </p:cNvGrpSpPr>
          <p:nvPr/>
        </p:nvGrpSpPr>
        <p:grpSpPr bwMode="auto">
          <a:xfrm>
            <a:off x="7002537" y="1196752"/>
            <a:ext cx="1385887" cy="1846263"/>
            <a:chOff x="928662" y="1500174"/>
            <a:chExt cx="1385453" cy="1846659"/>
          </a:xfrm>
        </p:grpSpPr>
        <p:sp>
          <p:nvSpPr>
            <p:cNvPr id="29" name="矩形 28"/>
            <p:cNvSpPr/>
            <p:nvPr/>
          </p:nvSpPr>
          <p:spPr>
            <a:xfrm>
              <a:off x="1571398" y="1500174"/>
              <a:ext cx="742717" cy="18466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b</a:t>
              </a:r>
              <a:r>
                <a:rPr lang="en-US" altLang="zh-CN" b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b="1" i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</a:t>
              </a:r>
            </a:p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b</a:t>
              </a:r>
              <a:r>
                <a:rPr lang="en-US" altLang="zh-CN" b="1" kern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sz="1400" b="1" kern="0" dirty="0">
                  <a:latin typeface="黑体"/>
                  <a:ea typeface="黑体"/>
                  <a:cs typeface="Times New Roman" pitchFamily="18" charset="0"/>
                </a:rPr>
                <a:t> .</a:t>
              </a:r>
            </a:p>
            <a:p>
              <a:pPr>
                <a:defRPr/>
              </a:pPr>
              <a:r>
                <a:rPr lang="en-US" altLang="zh-CN" b="1" i="1" kern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lang="en-US" altLang="zh-CN" b="1" i="1" kern="0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b="1" kern="0" baseline="-25000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m</a:t>
              </a:r>
              <a:r>
                <a:rPr lang="zh-CN" altLang="en-US" b="1" kern="0" dirty="0">
                  <a:latin typeface="黑体"/>
                  <a:ea typeface="黑体"/>
                  <a:cs typeface="Times New Roman" pitchFamily="18" charset="0"/>
                </a:rPr>
                <a:t> </a:t>
              </a:r>
              <a:endParaRPr lang="zh-CN" altLang="en-US" dirty="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30" name="右中括号 19"/>
            <p:cNvSpPr>
              <a:spLocks/>
            </p:cNvSpPr>
            <p:nvPr/>
          </p:nvSpPr>
          <p:spPr bwMode="auto">
            <a:xfrm flipH="1">
              <a:off x="1500166" y="1571612"/>
              <a:ext cx="142877" cy="1714512"/>
            </a:xfrm>
            <a:prstGeom prst="rightBracket">
              <a:avLst>
                <a:gd name="adj" fmla="val 8333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1" name="右中括号 20"/>
            <p:cNvSpPr>
              <a:spLocks/>
            </p:cNvSpPr>
            <p:nvPr/>
          </p:nvSpPr>
          <p:spPr bwMode="auto">
            <a:xfrm flipV="1">
              <a:off x="2071670" y="1581136"/>
              <a:ext cx="142876" cy="1704988"/>
            </a:xfrm>
            <a:prstGeom prst="rightBracket">
              <a:avLst>
                <a:gd name="adj" fmla="val 8342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" name="矩形 21"/>
            <p:cNvSpPr>
              <a:spLocks noChangeArrowheads="1"/>
            </p:cNvSpPr>
            <p:nvPr/>
          </p:nvSpPr>
          <p:spPr bwMode="auto">
            <a:xfrm>
              <a:off x="928662" y="2143116"/>
              <a:ext cx="51328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b="1" i="1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rPr>
                <a:t>b=</a:t>
              </a:r>
              <a:endParaRPr lang="zh-CN" altLang="en-US">
                <a:ea typeface="楷体_GB2312"/>
                <a:cs typeface="楷体_GB2312"/>
              </a:endParaRPr>
            </a:p>
          </p:txBody>
        </p:sp>
      </p:grpSp>
      <p:sp>
        <p:nvSpPr>
          <p:cNvPr id="33" name="圆角矩形标注 32"/>
          <p:cNvSpPr>
            <a:spLocks noChangeArrowheads="1"/>
          </p:cNvSpPr>
          <p:nvPr/>
        </p:nvSpPr>
        <p:spPr bwMode="auto">
          <a:xfrm>
            <a:off x="7092280" y="3212976"/>
            <a:ext cx="1944216" cy="500062"/>
          </a:xfrm>
          <a:prstGeom prst="wedgeRoundRectCallout">
            <a:avLst>
              <a:gd name="adj1" fmla="val -14807"/>
              <a:gd name="adj2" fmla="val -87737"/>
              <a:gd name="adj3" fmla="val 1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lvl="0" algn="ctr"/>
            <a:r>
              <a:rPr lang="zh-CN" altLang="en-US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常数项矩阵</a:t>
            </a:r>
            <a:endParaRPr lang="zh-CN" altLang="en-US" i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164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/>
      <p:bldP spid="9" grpId="0"/>
      <p:bldP spid="20" grpId="0" animBg="1"/>
      <p:bldP spid="21" grpId="0" animBg="1"/>
      <p:bldP spid="27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37" name="Text Box 17"/>
              <p:cNvSpPr txBox="1">
                <a:spLocks noChangeArrowheads="1"/>
              </p:cNvSpPr>
              <p:nvPr/>
            </p:nvSpPr>
            <p:spPr bwMode="auto">
              <a:xfrm>
                <a:off x="611560" y="2604353"/>
                <a:ext cx="7416824" cy="968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第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𝑖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市到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𝑗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市有单程航线用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表示，无单程航线用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表示，则得到一个数表：</a:t>
                </a:r>
              </a:p>
            </p:txBody>
          </p:sp>
        </mc:Choice>
        <mc:Fallback xmlns="">
          <p:sp>
            <p:nvSpPr>
              <p:cNvPr id="3073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604353"/>
                <a:ext cx="7416824" cy="968663"/>
              </a:xfrm>
              <a:prstGeom prst="rect">
                <a:avLst/>
              </a:prstGeom>
              <a:blipFill>
                <a:blip r:embed="rId2"/>
                <a:stretch>
                  <a:fillRect l="-1233" t="-2516" b="-1132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00"/>
          <p:cNvGrpSpPr>
            <a:grpSpLocks/>
          </p:cNvGrpSpPr>
          <p:nvPr/>
        </p:nvGrpSpPr>
        <p:grpSpPr bwMode="auto">
          <a:xfrm>
            <a:off x="1219200" y="4096321"/>
            <a:ext cx="6705600" cy="2133600"/>
            <a:chOff x="1296" y="1824"/>
            <a:chExt cx="3120" cy="1344"/>
          </a:xfrm>
        </p:grpSpPr>
        <p:sp>
          <p:nvSpPr>
            <p:cNvPr id="142376" name="Line 101"/>
            <p:cNvSpPr>
              <a:spLocks noChangeShapeType="1"/>
            </p:cNvSpPr>
            <p:nvPr/>
          </p:nvSpPr>
          <p:spPr bwMode="auto">
            <a:xfrm>
              <a:off x="1296" y="1824"/>
              <a:ext cx="312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77" name="Line 102"/>
            <p:cNvSpPr>
              <a:spLocks noChangeShapeType="1"/>
            </p:cNvSpPr>
            <p:nvPr/>
          </p:nvSpPr>
          <p:spPr bwMode="auto">
            <a:xfrm>
              <a:off x="1296" y="2160"/>
              <a:ext cx="312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78" name="Line 103"/>
            <p:cNvSpPr>
              <a:spLocks noChangeShapeType="1"/>
            </p:cNvSpPr>
            <p:nvPr/>
          </p:nvSpPr>
          <p:spPr bwMode="auto">
            <a:xfrm>
              <a:off x="1296" y="2496"/>
              <a:ext cx="312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79" name="Line 104"/>
            <p:cNvSpPr>
              <a:spLocks noChangeShapeType="1"/>
            </p:cNvSpPr>
            <p:nvPr/>
          </p:nvSpPr>
          <p:spPr bwMode="auto">
            <a:xfrm>
              <a:off x="1296" y="2832"/>
              <a:ext cx="312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80" name="Line 105"/>
            <p:cNvSpPr>
              <a:spLocks noChangeShapeType="1"/>
            </p:cNvSpPr>
            <p:nvPr/>
          </p:nvSpPr>
          <p:spPr bwMode="auto">
            <a:xfrm>
              <a:off x="1296" y="3168"/>
              <a:ext cx="312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81" name="Line 106"/>
            <p:cNvSpPr>
              <a:spLocks noChangeShapeType="1"/>
            </p:cNvSpPr>
            <p:nvPr/>
          </p:nvSpPr>
          <p:spPr bwMode="auto">
            <a:xfrm>
              <a:off x="4416" y="1824"/>
              <a:ext cx="0" cy="1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82" name="Line 107"/>
            <p:cNvSpPr>
              <a:spLocks noChangeShapeType="1"/>
            </p:cNvSpPr>
            <p:nvPr/>
          </p:nvSpPr>
          <p:spPr bwMode="auto">
            <a:xfrm>
              <a:off x="1296" y="1824"/>
              <a:ext cx="0" cy="1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83" name="Line 108"/>
            <p:cNvSpPr>
              <a:spLocks noChangeShapeType="1"/>
            </p:cNvSpPr>
            <p:nvPr/>
          </p:nvSpPr>
          <p:spPr bwMode="auto">
            <a:xfrm>
              <a:off x="3696" y="1824"/>
              <a:ext cx="0" cy="1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84" name="Line 109"/>
            <p:cNvSpPr>
              <a:spLocks noChangeShapeType="1"/>
            </p:cNvSpPr>
            <p:nvPr/>
          </p:nvSpPr>
          <p:spPr bwMode="auto">
            <a:xfrm>
              <a:off x="2880" y="1824"/>
              <a:ext cx="0" cy="1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85" name="Line 110"/>
            <p:cNvSpPr>
              <a:spLocks noChangeShapeType="1"/>
            </p:cNvSpPr>
            <p:nvPr/>
          </p:nvSpPr>
          <p:spPr bwMode="auto">
            <a:xfrm>
              <a:off x="2064" y="1824"/>
              <a:ext cx="0" cy="1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40299" name="Object 50"/>
          <p:cNvGraphicFramePr>
            <a:graphicFrameLocks noChangeAspect="1"/>
          </p:cNvGraphicFramePr>
          <p:nvPr/>
        </p:nvGraphicFramePr>
        <p:xfrm>
          <a:off x="3625850" y="4167758"/>
          <a:ext cx="2651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4167758"/>
                        <a:ext cx="2651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0" name="Object 51"/>
          <p:cNvGraphicFramePr>
            <a:graphicFrameLocks noChangeAspect="1"/>
          </p:cNvGraphicFramePr>
          <p:nvPr/>
        </p:nvGraphicFramePr>
        <p:xfrm>
          <a:off x="5424488" y="4167758"/>
          <a:ext cx="2651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88" y="4167758"/>
                        <a:ext cx="2651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3" name="Object 54"/>
          <p:cNvGraphicFramePr>
            <a:graphicFrameLocks noChangeAspect="1"/>
          </p:cNvGraphicFramePr>
          <p:nvPr/>
        </p:nvGraphicFramePr>
        <p:xfrm>
          <a:off x="7058025" y="5204396"/>
          <a:ext cx="2651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5204396"/>
                        <a:ext cx="2651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4" name="Object 55"/>
          <p:cNvGraphicFramePr>
            <a:graphicFrameLocks noChangeAspect="1"/>
          </p:cNvGraphicFramePr>
          <p:nvPr/>
        </p:nvGraphicFramePr>
        <p:xfrm>
          <a:off x="1878013" y="5752083"/>
          <a:ext cx="2651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3" y="5752083"/>
                        <a:ext cx="2651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5" name="Object 56"/>
          <p:cNvGraphicFramePr>
            <a:graphicFrameLocks noChangeAspect="1"/>
          </p:cNvGraphicFramePr>
          <p:nvPr/>
        </p:nvGraphicFramePr>
        <p:xfrm>
          <a:off x="1916113" y="5204396"/>
          <a:ext cx="2651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5204396"/>
                        <a:ext cx="2651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0" name="Object 57"/>
          <p:cNvGraphicFramePr>
            <a:graphicFrameLocks noChangeAspect="1"/>
          </p:cNvGraphicFramePr>
          <p:nvPr/>
        </p:nvGraphicFramePr>
        <p:xfrm>
          <a:off x="1901825" y="4191571"/>
          <a:ext cx="2936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">
                  <p:embed/>
                </p:oleObj>
              </mc:Choice>
              <mc:Fallback>
                <p:oleObj name="Equation" r:id="rId1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4191571"/>
                        <a:ext cx="2936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1" name="Object 58"/>
          <p:cNvGraphicFramePr>
            <a:graphicFrameLocks noChangeAspect="1"/>
          </p:cNvGraphicFramePr>
          <p:nvPr/>
        </p:nvGraphicFramePr>
        <p:xfrm>
          <a:off x="3611563" y="4709096"/>
          <a:ext cx="2936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">
                  <p:embed/>
                </p:oleObj>
              </mc:Choice>
              <mc:Fallback>
                <p:oleObj name="Equation" r:id="rId1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4709096"/>
                        <a:ext cx="29368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2" name="Object 59"/>
          <p:cNvGraphicFramePr>
            <a:graphicFrameLocks noChangeAspect="1"/>
          </p:cNvGraphicFramePr>
          <p:nvPr/>
        </p:nvGraphicFramePr>
        <p:xfrm>
          <a:off x="3635375" y="5775896"/>
          <a:ext cx="2936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">
                  <p:embed/>
                </p:oleObj>
              </mc:Choice>
              <mc:Fallback>
                <p:oleObj name="Equation" r:id="rId1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775896"/>
                        <a:ext cx="2936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3" name="Object 60"/>
          <p:cNvGraphicFramePr>
            <a:graphicFrameLocks noChangeAspect="1"/>
          </p:cNvGraphicFramePr>
          <p:nvPr/>
        </p:nvGraphicFramePr>
        <p:xfrm>
          <a:off x="3611563" y="5228208"/>
          <a:ext cx="2936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">
                  <p:embed/>
                </p:oleObj>
              </mc:Choice>
              <mc:Fallback>
                <p:oleObj name="Equation" r:id="rId1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5228208"/>
                        <a:ext cx="29368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61"/>
          <p:cNvGraphicFramePr>
            <a:graphicFrameLocks noChangeAspect="1"/>
          </p:cNvGraphicFramePr>
          <p:nvPr/>
        </p:nvGraphicFramePr>
        <p:xfrm>
          <a:off x="7043738" y="4191571"/>
          <a:ext cx="2936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">
                  <p:embed/>
                </p:oleObj>
              </mc:Choice>
              <mc:Fallback>
                <p:oleObj name="Equation" r:id="rId2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738" y="4191571"/>
                        <a:ext cx="29368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6" name="Object 63"/>
          <p:cNvGraphicFramePr>
            <a:graphicFrameLocks noChangeAspect="1"/>
          </p:cNvGraphicFramePr>
          <p:nvPr/>
        </p:nvGraphicFramePr>
        <p:xfrm>
          <a:off x="7043738" y="5775896"/>
          <a:ext cx="2936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">
                  <p:embed/>
                </p:oleObj>
              </mc:Choice>
              <mc:Fallback>
                <p:oleObj name="Equation" r:id="rId2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738" y="5775896"/>
                        <a:ext cx="29368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7" name="Object 64"/>
          <p:cNvGraphicFramePr>
            <a:graphicFrameLocks noChangeAspect="1"/>
          </p:cNvGraphicFramePr>
          <p:nvPr/>
        </p:nvGraphicFramePr>
        <p:xfrm>
          <a:off x="5410200" y="5228208"/>
          <a:ext cx="2936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">
                  <p:embed/>
                </p:oleObj>
              </mc:Choice>
              <mc:Fallback>
                <p:oleObj name="Equation" r:id="rId2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228208"/>
                        <a:ext cx="2936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29"/>
          <p:cNvSpPr txBox="1">
            <a:spLocks noChangeArrowheads="1"/>
          </p:cNvSpPr>
          <p:nvPr/>
        </p:nvSpPr>
        <p:spPr bwMode="auto">
          <a:xfrm>
            <a:off x="3454400" y="3501008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②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4" name="Text Box 30"/>
          <p:cNvSpPr txBox="1">
            <a:spLocks noChangeArrowheads="1"/>
          </p:cNvSpPr>
          <p:nvPr/>
        </p:nvSpPr>
        <p:spPr bwMode="auto">
          <a:xfrm>
            <a:off x="1668463" y="3501008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①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5" name="Text Box 31"/>
          <p:cNvSpPr txBox="1">
            <a:spLocks noChangeArrowheads="1"/>
          </p:cNvSpPr>
          <p:nvPr/>
        </p:nvSpPr>
        <p:spPr bwMode="auto">
          <a:xfrm>
            <a:off x="5072063" y="3501008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③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6" name="Text Box 32"/>
          <p:cNvSpPr txBox="1">
            <a:spLocks noChangeArrowheads="1"/>
          </p:cNvSpPr>
          <p:nvPr/>
        </p:nvSpPr>
        <p:spPr bwMode="auto">
          <a:xfrm>
            <a:off x="6811963" y="3524821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④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7" name="Text Box 29"/>
          <p:cNvSpPr txBox="1">
            <a:spLocks noChangeArrowheads="1"/>
          </p:cNvSpPr>
          <p:nvPr/>
        </p:nvSpPr>
        <p:spPr bwMode="auto">
          <a:xfrm>
            <a:off x="668338" y="4596383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②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8" name="Text Box 30"/>
          <p:cNvSpPr txBox="1">
            <a:spLocks noChangeArrowheads="1"/>
          </p:cNvSpPr>
          <p:nvPr/>
        </p:nvSpPr>
        <p:spPr bwMode="auto">
          <a:xfrm>
            <a:off x="668338" y="4024883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①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9" name="Text Box 31"/>
          <p:cNvSpPr txBox="1">
            <a:spLocks noChangeArrowheads="1"/>
          </p:cNvSpPr>
          <p:nvPr/>
        </p:nvSpPr>
        <p:spPr bwMode="auto">
          <a:xfrm>
            <a:off x="642938" y="5167883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③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0" name="Text Box 32"/>
          <p:cNvSpPr txBox="1">
            <a:spLocks noChangeArrowheads="1"/>
          </p:cNvSpPr>
          <p:nvPr/>
        </p:nvSpPr>
        <p:spPr bwMode="auto">
          <a:xfrm>
            <a:off x="642938" y="5739383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④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2364" name="Text Box 5"/>
          <p:cNvSpPr txBox="1">
            <a:spLocks noChangeArrowheads="1"/>
          </p:cNvSpPr>
          <p:nvPr/>
        </p:nvSpPr>
        <p:spPr bwMode="auto">
          <a:xfrm>
            <a:off x="639763" y="816927"/>
            <a:ext cx="5214937" cy="189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例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某航空公司在四座城市之间开辟了若干航线，四座城市之间的航班图如图所示，箭头从始发地指向目的地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2365" name="Text Box 29"/>
          <p:cNvSpPr txBox="1">
            <a:spLocks noChangeArrowheads="1"/>
          </p:cNvSpPr>
          <p:nvPr/>
        </p:nvSpPr>
        <p:spPr bwMode="auto">
          <a:xfrm>
            <a:off x="7473829" y="710161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②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2366" name="Text Box 30"/>
          <p:cNvSpPr txBox="1">
            <a:spLocks noChangeArrowheads="1"/>
          </p:cNvSpPr>
          <p:nvPr/>
        </p:nvSpPr>
        <p:spPr bwMode="auto">
          <a:xfrm>
            <a:off x="5713291" y="638724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①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2367" name="Text Box 31"/>
          <p:cNvSpPr txBox="1">
            <a:spLocks noChangeArrowheads="1"/>
          </p:cNvSpPr>
          <p:nvPr/>
        </p:nvSpPr>
        <p:spPr bwMode="auto">
          <a:xfrm>
            <a:off x="7402391" y="1996036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③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2368" name="Text Box 32"/>
          <p:cNvSpPr txBox="1">
            <a:spLocks noChangeArrowheads="1"/>
          </p:cNvSpPr>
          <p:nvPr/>
        </p:nvSpPr>
        <p:spPr bwMode="auto">
          <a:xfrm>
            <a:off x="5713291" y="2067474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④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42369" name="组合 39"/>
          <p:cNvGrpSpPr>
            <a:grpSpLocks/>
          </p:cNvGrpSpPr>
          <p:nvPr/>
        </p:nvGrpSpPr>
        <p:grpSpPr bwMode="auto">
          <a:xfrm rot="13457289">
            <a:off x="6029204" y="706986"/>
            <a:ext cx="1746250" cy="1790700"/>
            <a:chOff x="6229350" y="619125"/>
            <a:chExt cx="2505075" cy="2519363"/>
          </a:xfrm>
        </p:grpSpPr>
        <p:sp>
          <p:nvSpPr>
            <p:cNvPr id="142371" name="Line 33"/>
            <p:cNvSpPr>
              <a:spLocks noChangeAspect="1" noChangeShapeType="1"/>
            </p:cNvSpPr>
            <p:nvPr/>
          </p:nvSpPr>
          <p:spPr bwMode="auto">
            <a:xfrm flipV="1">
              <a:off x="6229350" y="619125"/>
              <a:ext cx="1150938" cy="1150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lg" len="med"/>
              <a:tailEnd type="arrow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72" name="Line 34"/>
            <p:cNvSpPr>
              <a:spLocks noChangeAspect="1" noChangeShapeType="1"/>
            </p:cNvSpPr>
            <p:nvPr/>
          </p:nvSpPr>
          <p:spPr bwMode="auto">
            <a:xfrm flipV="1">
              <a:off x="7569200" y="1987550"/>
              <a:ext cx="1150938" cy="1150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lg" len="med"/>
              <a:tailEnd type="none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73" name="Line 35"/>
            <p:cNvSpPr>
              <a:spLocks noChangeShapeType="1"/>
            </p:cNvSpPr>
            <p:nvPr/>
          </p:nvSpPr>
          <p:spPr bwMode="auto">
            <a:xfrm>
              <a:off x="7654925" y="692150"/>
              <a:ext cx="1079500" cy="10795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74" name="Line 36"/>
            <p:cNvSpPr>
              <a:spLocks noChangeShapeType="1"/>
            </p:cNvSpPr>
            <p:nvPr/>
          </p:nvSpPr>
          <p:spPr bwMode="auto">
            <a:xfrm>
              <a:off x="6400800" y="1873250"/>
              <a:ext cx="21605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lg" len="med"/>
              <a:tailEnd type="arrow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375" name="Line 37"/>
            <p:cNvSpPr>
              <a:spLocks noChangeShapeType="1"/>
            </p:cNvSpPr>
            <p:nvPr/>
          </p:nvSpPr>
          <p:spPr bwMode="auto">
            <a:xfrm flipH="1" flipV="1">
              <a:off x="7467601" y="720724"/>
              <a:ext cx="46069" cy="22020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" name="Object 30"/>
          <p:cNvGraphicFramePr>
            <a:graphicFrameLocks noChangeAspect="1"/>
          </p:cNvGraphicFramePr>
          <p:nvPr/>
        </p:nvGraphicFramePr>
        <p:xfrm>
          <a:off x="1928813" y="4691633"/>
          <a:ext cx="2936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">
                  <p:embed/>
                </p:oleObj>
              </mc:Choice>
              <mc:Fallback>
                <p:oleObj name="Equation" r:id="rId2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4691633"/>
                        <a:ext cx="29368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1"/>
          <p:cNvGraphicFramePr>
            <a:graphicFrameLocks noChangeAspect="1"/>
          </p:cNvGraphicFramePr>
          <p:nvPr/>
        </p:nvGraphicFramePr>
        <p:xfrm>
          <a:off x="5421313" y="4763071"/>
          <a:ext cx="2936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">
                  <p:embed/>
                </p:oleObj>
              </mc:Choice>
              <mc:Fallback>
                <p:oleObj name="Equation" r:id="rId28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4763071"/>
                        <a:ext cx="29368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2"/>
          <p:cNvGraphicFramePr>
            <a:graphicFrameLocks noChangeAspect="1"/>
          </p:cNvGraphicFramePr>
          <p:nvPr/>
        </p:nvGraphicFramePr>
        <p:xfrm>
          <a:off x="7072313" y="4691633"/>
          <a:ext cx="2651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">
                  <p:embed/>
                </p:oleObj>
              </mc:Choice>
              <mc:Fallback>
                <p:oleObj name="Equation" r:id="rId2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4691633"/>
                        <a:ext cx="2651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3"/>
          <p:cNvGraphicFramePr>
            <a:graphicFrameLocks noChangeAspect="1"/>
          </p:cNvGraphicFramePr>
          <p:nvPr/>
        </p:nvGraphicFramePr>
        <p:xfrm>
          <a:off x="5429250" y="5739383"/>
          <a:ext cx="2651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">
                  <p:embed/>
                </p:oleObj>
              </mc:Choice>
              <mc:Fallback>
                <p:oleObj name="Equation" r:id="rId30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5739383"/>
                        <a:ext cx="2651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34"/>
          <p:cNvSpPr>
            <a:spLocks noChangeAspect="1" noChangeArrowheads="1"/>
          </p:cNvSpPr>
          <p:nvPr/>
        </p:nvSpPr>
        <p:spPr bwMode="auto">
          <a:xfrm>
            <a:off x="686444" y="-49157"/>
            <a:ext cx="3669532" cy="1101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六、应用举例</a:t>
            </a:r>
          </a:p>
        </p:txBody>
      </p:sp>
    </p:spTree>
    <p:extLst>
      <p:ext uri="{BB962C8B-B14F-4D97-AF65-F5344CB8AC3E}">
        <p14:creationId xmlns:p14="http://schemas.microsoft.com/office/powerpoint/2010/main" val="94504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7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50"/>
          <p:cNvSpPr>
            <a:spLocks noChangeArrowheads="1"/>
          </p:cNvSpPr>
          <p:nvPr/>
        </p:nvSpPr>
        <p:spPr bwMode="auto">
          <a:xfrm>
            <a:off x="910244" y="836712"/>
            <a:ext cx="46698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则图中的航线可表示成下列矩阵</a:t>
            </a:r>
            <a:r>
              <a:rPr kumimoji="1"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Object 4"/>
              <p:cNvSpPr txBox="1"/>
              <p:nvPr/>
            </p:nvSpPr>
            <p:spPr bwMode="auto">
              <a:xfrm>
                <a:off x="1979712" y="1604665"/>
                <a:ext cx="4824536" cy="22860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712" y="1604665"/>
                <a:ext cx="4824536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/>
              <p:cNvSpPr txBox="1"/>
              <p:nvPr/>
            </p:nvSpPr>
            <p:spPr bwMode="auto">
              <a:xfrm>
                <a:off x="1937345" y="3171230"/>
                <a:ext cx="5514975" cy="1079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，从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市到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市有一条单向航线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，从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市到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市无单向航线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7345" y="3171230"/>
                <a:ext cx="5514975" cy="1079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50"/>
          <p:cNvSpPr>
            <a:spLocks noChangeArrowheads="1"/>
          </p:cNvSpPr>
          <p:nvPr/>
        </p:nvSpPr>
        <p:spPr bwMode="auto">
          <a:xfrm>
            <a:off x="968926" y="3501008"/>
            <a:ext cx="9541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其中</a:t>
            </a:r>
            <a:r>
              <a:rPr kumimoji="1"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42582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2" grpId="0"/>
      <p:bldP spid="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290" name="Text Box 6"/>
          <p:cNvSpPr txBox="1">
            <a:spLocks noChangeArrowheads="1"/>
          </p:cNvSpPr>
          <p:nvPr/>
        </p:nvSpPr>
        <p:spPr bwMode="auto">
          <a:xfrm>
            <a:off x="2500313" y="642938"/>
            <a:ext cx="3500437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小    结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285875" y="1196752"/>
            <a:ext cx="3500438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矩阵的定义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285875" y="3194050"/>
            <a:ext cx="1785938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2.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特殊矩阵</a:t>
            </a:r>
          </a:p>
        </p:txBody>
      </p:sp>
      <p:sp>
        <p:nvSpPr>
          <p:cNvPr id="1164294" name="左大括号 5"/>
          <p:cNvSpPr>
            <a:spLocks/>
          </p:cNvSpPr>
          <p:nvPr/>
        </p:nvSpPr>
        <p:spPr bwMode="auto">
          <a:xfrm>
            <a:off x="3143250" y="1857375"/>
            <a:ext cx="357188" cy="3071813"/>
          </a:xfrm>
          <a:prstGeom prst="leftBrace">
            <a:avLst>
              <a:gd name="adj1" fmla="val 8321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643313" y="1622425"/>
            <a:ext cx="221456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行（列）矩阵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643313" y="2116782"/>
            <a:ext cx="221456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单位矩阵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714750" y="2564904"/>
            <a:ext cx="2214563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零矩阵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714750" y="4060999"/>
            <a:ext cx="221456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对称矩阵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714750" y="4565055"/>
            <a:ext cx="221456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反对称矩阵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285875" y="5141118"/>
            <a:ext cx="3500438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3.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同型矩阵，矩阵相等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714750" y="3068960"/>
            <a:ext cx="2214563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对角矩阵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714750" y="3573016"/>
            <a:ext cx="221456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三角矩阵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64294" grpId="0" animBg="1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8627" y="260648"/>
            <a:ext cx="7772400" cy="1462087"/>
          </a:xfrm>
        </p:spPr>
        <p:txBody>
          <a:bodyPr/>
          <a:lstStyle/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§2  </a:t>
            </a:r>
            <a:r>
              <a:rPr lang="zh-CN" altLang="en-US" b="1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矩阵的运算</a:t>
            </a:r>
          </a:p>
        </p:txBody>
      </p:sp>
      <p:sp>
        <p:nvSpPr>
          <p:cNvPr id="2" name="矩形 1"/>
          <p:cNvSpPr/>
          <p:nvPr/>
        </p:nvSpPr>
        <p:spPr>
          <a:xfrm>
            <a:off x="2699792" y="1870230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一、矩阵加法</a:t>
            </a:r>
          </a:p>
        </p:txBody>
      </p:sp>
      <p:sp>
        <p:nvSpPr>
          <p:cNvPr id="3" name="矩形 2"/>
          <p:cNvSpPr/>
          <p:nvPr/>
        </p:nvSpPr>
        <p:spPr>
          <a:xfrm>
            <a:off x="2687633" y="2518302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二、数与矩阵相乘</a:t>
            </a:r>
          </a:p>
        </p:txBody>
      </p:sp>
      <p:sp>
        <p:nvSpPr>
          <p:cNvPr id="4" name="矩形 3"/>
          <p:cNvSpPr/>
          <p:nvPr/>
        </p:nvSpPr>
        <p:spPr>
          <a:xfrm>
            <a:off x="2687633" y="3132561"/>
            <a:ext cx="3430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三、矩阵与矩阵相乘</a:t>
            </a:r>
          </a:p>
        </p:txBody>
      </p:sp>
      <p:sp>
        <p:nvSpPr>
          <p:cNvPr id="5" name="矩形 4"/>
          <p:cNvSpPr/>
          <p:nvPr/>
        </p:nvSpPr>
        <p:spPr>
          <a:xfrm>
            <a:off x="2699792" y="3692305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四、矩阵的转置</a:t>
            </a:r>
          </a:p>
        </p:txBody>
      </p:sp>
      <p:sp>
        <p:nvSpPr>
          <p:cNvPr id="6" name="矩形 5"/>
          <p:cNvSpPr/>
          <p:nvPr/>
        </p:nvSpPr>
        <p:spPr>
          <a:xfrm>
            <a:off x="2704214" y="4340331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五、方阵的行列式</a:t>
            </a:r>
          </a:p>
        </p:txBody>
      </p:sp>
      <p:sp>
        <p:nvSpPr>
          <p:cNvPr id="7" name="矩形 6"/>
          <p:cNvSpPr/>
          <p:nvPr/>
        </p:nvSpPr>
        <p:spPr>
          <a:xfrm>
            <a:off x="2699792" y="4988357"/>
            <a:ext cx="3430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六、矩阵与线性变换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13"/>
          <p:cNvSpPr>
            <a:spLocks noChangeAspect="1" noChangeArrowheads="1"/>
          </p:cNvSpPr>
          <p:nvPr/>
        </p:nvSpPr>
        <p:spPr bwMode="auto">
          <a:xfrm>
            <a:off x="686444" y="196180"/>
            <a:ext cx="777398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4000" b="1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一、矩阵的加法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66" name="Text Box 14"/>
              <p:cNvSpPr txBox="1">
                <a:spLocks noChangeArrowheads="1"/>
              </p:cNvSpPr>
              <p:nvPr/>
            </p:nvSpPr>
            <p:spPr bwMode="auto">
              <a:xfrm>
                <a:off x="639763" y="1412776"/>
                <a:ext cx="7905750" cy="1041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定义：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设有两个</a:t>
                </a:r>
                <a14:m>
                  <m:oMath xmlns:m="http://schemas.openxmlformats.org/officeDocument/2006/math">
                    <m:r>
                      <a:rPr kumimoji="1" lang="en-US" alt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𝑚</m:t>
                    </m:r>
                    <m:r>
                      <a:rPr kumimoji="1" lang="en-US" alt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×</m:t>
                    </m:r>
                    <m:r>
                      <a:rPr kumimoji="1" lang="en-US" alt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=(</m:t>
                    </m:r>
                    <m:sSub>
                      <m:sSubPr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𝑖𝑗</m:t>
                        </m:r>
                      </m:sub>
                    </m:sSub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)</m:t>
                    </m:r>
                    <m:r>
                      <a:rPr kumimoji="1" lang="zh-CN" altLang="en-US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，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𝐵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=(</m:t>
                    </m:r>
                    <m:sSub>
                      <m:sSubPr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𝑏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楷体_GB2312"/>
                          </a:rPr>
                          <m:t>𝑖𝑗</m:t>
                        </m:r>
                      </m:sub>
                    </m:sSub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)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那么矩阵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的和记作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kumimoji="1" lang="zh-CN" altLang="en-US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＋</m:t>
                    </m:r>
                    <m:r>
                      <a:rPr kumimoji="1" lang="en-US" altLang="zh-CN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，规定为</a:t>
                </a:r>
              </a:p>
            </p:txBody>
          </p:sp>
        </mc:Choice>
        <mc:Fallback xmlns="">
          <p:sp>
            <p:nvSpPr>
              <p:cNvPr id="7476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763" y="1412776"/>
                <a:ext cx="7905750" cy="1041400"/>
              </a:xfrm>
              <a:prstGeom prst="rect">
                <a:avLst/>
              </a:prstGeom>
              <a:blipFill>
                <a:blip r:embed="rId2"/>
                <a:stretch>
                  <a:fillRect l="-1234" b="-105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7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741601"/>
              </p:ext>
            </p:extLst>
          </p:nvPr>
        </p:nvGraphicFramePr>
        <p:xfrm>
          <a:off x="1582738" y="2708920"/>
          <a:ext cx="59277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708920"/>
                        <a:ext cx="5927725" cy="188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8" name="Text Box 16"/>
          <p:cNvSpPr txBox="1">
            <a:spLocks noChangeArrowheads="1"/>
          </p:cNvSpPr>
          <p:nvPr/>
        </p:nvSpPr>
        <p:spPr bwMode="auto">
          <a:xfrm>
            <a:off x="683568" y="4868863"/>
            <a:ext cx="7907337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说明：</a:t>
            </a: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只有当两个矩阵是</a:t>
            </a:r>
            <a:r>
              <a:rPr kumimoji="1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同型矩阵</a:t>
            </a: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时，才能进行加法运算</a:t>
            </a:r>
            <a:r>
              <a:rPr kumimoji="1"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6" grpId="0"/>
      <p:bldP spid="747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967" name="Group 16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363267"/>
              </p:ext>
            </p:extLst>
          </p:nvPr>
        </p:nvGraphicFramePr>
        <p:xfrm>
          <a:off x="250825" y="1155180"/>
          <a:ext cx="8569647" cy="4866108"/>
        </p:xfrm>
        <a:graphic>
          <a:graphicData uri="http://schemas.openxmlformats.org/drawingml/2006/table">
            <a:tbl>
              <a:tblPr/>
              <a:tblGrid>
                <a:gridCol w="604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6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6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交换律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26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结合律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5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其他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654" name="Rectangle 82"/>
          <p:cNvSpPr>
            <a:spLocks noChangeArrowheads="1"/>
          </p:cNvSpPr>
          <p:nvPr/>
        </p:nvSpPr>
        <p:spPr bwMode="auto">
          <a:xfrm>
            <a:off x="455613" y="455613"/>
            <a:ext cx="502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矩阵加法的运算规律</a:t>
            </a:r>
          </a:p>
        </p:txBody>
      </p:sp>
      <p:graphicFrame>
        <p:nvGraphicFramePr>
          <p:cNvPr id="76945" name="Object 23"/>
          <p:cNvGraphicFramePr>
            <a:graphicFrameLocks noChangeAspect="1"/>
          </p:cNvGraphicFramePr>
          <p:nvPr/>
        </p:nvGraphicFramePr>
        <p:xfrm>
          <a:off x="900113" y="1208088"/>
          <a:ext cx="15224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208088"/>
                        <a:ext cx="15224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46" name="Object 24"/>
          <p:cNvGraphicFramePr>
            <a:graphicFrameLocks noChangeAspect="1"/>
          </p:cNvGraphicFramePr>
          <p:nvPr/>
        </p:nvGraphicFramePr>
        <p:xfrm>
          <a:off x="900113" y="2108200"/>
          <a:ext cx="15986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108200"/>
                        <a:ext cx="1598612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47" name="Object 25"/>
          <p:cNvGraphicFramePr>
            <a:graphicFrameLocks noChangeAspect="1"/>
          </p:cNvGraphicFramePr>
          <p:nvPr/>
        </p:nvGraphicFramePr>
        <p:xfrm>
          <a:off x="900113" y="3238500"/>
          <a:ext cx="28686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238500"/>
                        <a:ext cx="28686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49" name="Object 26"/>
          <p:cNvGraphicFramePr>
            <a:graphicFrameLocks noChangeAspect="1"/>
          </p:cNvGraphicFramePr>
          <p:nvPr/>
        </p:nvGraphicFramePr>
        <p:xfrm>
          <a:off x="4500563" y="2122488"/>
          <a:ext cx="1854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122488"/>
                        <a:ext cx="1854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50" name="Object 27"/>
          <p:cNvGraphicFramePr>
            <a:graphicFrameLocks noChangeAspect="1"/>
          </p:cNvGraphicFramePr>
          <p:nvPr/>
        </p:nvGraphicFramePr>
        <p:xfrm>
          <a:off x="4500563" y="3238500"/>
          <a:ext cx="33766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238500"/>
                        <a:ext cx="33766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6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097372"/>
              </p:ext>
            </p:extLst>
          </p:nvPr>
        </p:nvGraphicFramePr>
        <p:xfrm>
          <a:off x="2771775" y="5182840"/>
          <a:ext cx="1687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182840"/>
                        <a:ext cx="16875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6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136174"/>
              </p:ext>
            </p:extLst>
          </p:nvPr>
        </p:nvGraphicFramePr>
        <p:xfrm>
          <a:off x="4351338" y="5182840"/>
          <a:ext cx="25431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5182840"/>
                        <a:ext cx="25431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6968" name="Text Box 168"/>
              <p:cNvSpPr txBox="1">
                <a:spLocks noChangeArrowheads="1"/>
              </p:cNvSpPr>
              <p:nvPr/>
            </p:nvSpPr>
            <p:spPr bwMode="auto">
              <a:xfrm>
                <a:off x="4486275" y="1196975"/>
                <a:ext cx="3571875" cy="504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,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𝑩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,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𝑪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是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同型矩阵</a:t>
                </a:r>
              </a:p>
            </p:txBody>
          </p:sp>
        </mc:Choice>
        <mc:Fallback xmlns="">
          <p:sp>
            <p:nvSpPr>
              <p:cNvPr id="76968" name="Text Box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6275" y="1196975"/>
                <a:ext cx="3571875" cy="504825"/>
              </a:xfrm>
              <a:prstGeom prst="rect">
                <a:avLst/>
              </a:prstGeom>
              <a:blipFill>
                <a:blip r:embed="rId16"/>
                <a:stretch>
                  <a:fillRect l="-2730" t="-13253" b="-144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969" name="Rectangle 169"/>
              <p:cNvSpPr>
                <a:spLocks noChangeArrowheads="1"/>
              </p:cNvSpPr>
              <p:nvPr/>
            </p:nvSpPr>
            <p:spPr bwMode="auto">
              <a:xfrm>
                <a:off x="844550" y="4190653"/>
                <a:ext cx="8120063" cy="9048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rgbClr val="00007D"/>
                  </a:buClr>
                  <a:buSzPct val="75000"/>
                  <a:buFont typeface="Wingdings" pitchFamily="2" charset="2"/>
                  <a:buNone/>
                </a:pPr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设矩阵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=(</m:t>
                    </m:r>
                    <m:r>
                      <a:rPr lang="en-US" altLang="zh-CN" b="1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𝒂</m:t>
                    </m:r>
                    <m:r>
                      <a:rPr lang="en-US" altLang="zh-CN" b="1" i="1" baseline="-2500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𝒊𝒋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)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，记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－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=(</m:t>
                    </m:r>
                    <m:r>
                      <a:rPr lang="zh-CN" altLang="en-US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－</m:t>
                    </m:r>
                    <m:r>
                      <a:rPr lang="en-US" altLang="zh-CN" b="1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𝒂</m:t>
                    </m:r>
                    <m:r>
                      <a:rPr lang="en-US" altLang="zh-CN" b="1" i="1" baseline="-2500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𝒊𝒋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)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，称为矩阵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负矩阵</a:t>
                </a:r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．</a:t>
                </a:r>
              </a:p>
              <a:p>
                <a:pPr>
                  <a:spcBef>
                    <a:spcPct val="20000"/>
                  </a:spcBef>
                  <a:buClr>
                    <a:srgbClr val="00007D"/>
                  </a:buClr>
                  <a:buSzPct val="75000"/>
                  <a:buFont typeface="Wingdings" pitchFamily="2" charset="2"/>
                  <a:buNone/>
                </a:pPr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显然</a:t>
                </a:r>
              </a:p>
            </p:txBody>
          </p:sp>
        </mc:Choice>
        <mc:Fallback xmlns="">
          <p:sp>
            <p:nvSpPr>
              <p:cNvPr id="76969" name="Rectangle 1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4550" y="4190653"/>
                <a:ext cx="8120063" cy="904863"/>
              </a:xfrm>
              <a:prstGeom prst="rect">
                <a:avLst/>
              </a:prstGeom>
              <a:blipFill>
                <a:blip r:embed="rId17"/>
                <a:stretch>
                  <a:fillRect l="-1201" t="-7383" b="-1409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7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7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68" grpId="0"/>
      <p:bldP spid="769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2581" name="矩形 5"/>
              <p:cNvSpPr>
                <a:spLocks noChangeArrowheads="1"/>
              </p:cNvSpPr>
              <p:nvPr/>
            </p:nvSpPr>
            <p:spPr bwMode="auto">
              <a:xfrm>
                <a:off x="611561" y="620713"/>
                <a:ext cx="3384376" cy="523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/>
                <a:r>
                  <a:rPr kumimoji="1" lang="zh-CN" altLang="en-US" sz="2800" b="1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例</a:t>
                </a:r>
                <a:r>
                  <a:rPr kumimoji="1" lang="en-US" altLang="zh-CN" sz="2800" b="1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1 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求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+</m:t>
                    </m:r>
                    <m:r>
                      <a:rPr kumimoji="1"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</m:oMath>
                </a14:m>
                <a:r>
                  <a:rPr kumimoji="1" lang="zh-CN" alt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，其中 </a:t>
                </a:r>
              </a:p>
            </p:txBody>
          </p:sp>
        </mc:Choice>
        <mc:Fallback xmlns="">
          <p:sp>
            <p:nvSpPr>
              <p:cNvPr id="152581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1" y="620713"/>
                <a:ext cx="3384376" cy="523875"/>
              </a:xfrm>
              <a:prstGeom prst="rect">
                <a:avLst/>
              </a:prstGeom>
              <a:blipFill>
                <a:blip r:embed="rId2"/>
                <a:stretch>
                  <a:fillRect l="-3597" t="-15116" b="-2907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Object 4"/>
              <p:cNvSpPr txBox="1"/>
              <p:nvPr/>
            </p:nvSpPr>
            <p:spPr bwMode="auto">
              <a:xfrm>
                <a:off x="1907704" y="1418315"/>
                <a:ext cx="5184576" cy="129060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2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4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1418315"/>
                <a:ext cx="5184576" cy="12906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 bwMode="auto">
              <a:xfrm>
                <a:off x="978082" y="3946525"/>
                <a:ext cx="5178094" cy="129060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3+2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&amp;−2+3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5−2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0+6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7−4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8082" y="3946525"/>
                <a:ext cx="5178094" cy="12906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683568" y="3265489"/>
            <a:ext cx="10356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kumimoji="1" lang="zh-CN" altLang="en-US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解：</a:t>
            </a:r>
            <a:r>
              <a:rPr kumimoji="1"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/>
              <p:cNvSpPr txBox="1"/>
              <p:nvPr/>
            </p:nvSpPr>
            <p:spPr bwMode="auto">
              <a:xfrm>
                <a:off x="5681761" y="3946525"/>
                <a:ext cx="2274615" cy="121066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&amp;3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&amp;1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&amp;6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1761" y="3946525"/>
                <a:ext cx="2274615" cy="12106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7812360" y="4149080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3103F3"/>
                </a:solidFill>
                <a:latin typeface="Times New Roman" pitchFamily="18" charset="0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2"/>
          <p:cNvSpPr>
            <a:spLocks noChangeAspect="1" noChangeArrowheads="1"/>
          </p:cNvSpPr>
          <p:nvPr/>
        </p:nvSpPr>
        <p:spPr bwMode="auto">
          <a:xfrm>
            <a:off x="686444" y="476721"/>
            <a:ext cx="7773988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40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二、数与矩阵相乘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700" name="Text Box 3"/>
              <p:cNvSpPr txBox="1">
                <a:spLocks noChangeArrowheads="1"/>
              </p:cNvSpPr>
              <p:nvPr/>
            </p:nvSpPr>
            <p:spPr bwMode="auto">
              <a:xfrm>
                <a:off x="668341" y="1700857"/>
                <a:ext cx="7905750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定义：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数</a:t>
                </a:r>
                <a14:m>
                  <m:oMath xmlns:m="http://schemas.openxmlformats.org/officeDocument/2006/math">
                    <m:r>
                      <a:rPr kumimoji="1" lang="zh-CN" altLang="en-US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𝝀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与矩阵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的乘积记作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𝝀</m:t>
                    </m:r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或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𝝀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，规定为</a:t>
                </a:r>
              </a:p>
            </p:txBody>
          </p:sp>
        </mc:Choice>
        <mc:Fallback xmlns="">
          <p:sp>
            <p:nvSpPr>
              <p:cNvPr id="15770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341" y="1700857"/>
                <a:ext cx="7905750" cy="568325"/>
              </a:xfrm>
              <a:prstGeom prst="rect">
                <a:avLst/>
              </a:prstGeom>
              <a:blipFill>
                <a:blip r:embed="rId2"/>
                <a:stretch>
                  <a:fillRect l="-1234" t="-1075" b="-1290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5"/>
          <p:cNvGrpSpPr>
            <a:grpSpLocks/>
          </p:cNvGrpSpPr>
          <p:nvPr/>
        </p:nvGrpSpPr>
        <p:grpSpPr bwMode="auto">
          <a:xfrm>
            <a:off x="1692275" y="2693988"/>
            <a:ext cx="4833938" cy="1887140"/>
            <a:chOff x="2143125" y="2349898"/>
            <a:chExt cx="4833938" cy="1886945"/>
          </a:xfrm>
        </p:grpSpPr>
        <p:graphicFrame>
          <p:nvGraphicFramePr>
            <p:cNvPr id="157698" name="Object 5"/>
            <p:cNvGraphicFramePr>
              <a:graphicFrameLocks noChangeAspect="1"/>
            </p:cNvGraphicFramePr>
            <p:nvPr/>
          </p:nvGraphicFramePr>
          <p:xfrm>
            <a:off x="2143125" y="2349898"/>
            <a:ext cx="4833938" cy="1882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0" imgH="0" progId="">
                    <p:embed/>
                  </p:oleObj>
                </mc:Choice>
                <mc:Fallback>
                  <p:oleObj name="Equation" r:id="rId3" imgW="0" imgH="0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3125" y="2349898"/>
                          <a:ext cx="4833938" cy="18825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7702" name="TextBox 4"/>
            <p:cNvSpPr txBox="1">
              <a:spLocks noChangeArrowheads="1"/>
            </p:cNvSpPr>
            <p:nvPr/>
          </p:nvSpPr>
          <p:spPr bwMode="auto">
            <a:xfrm>
              <a:off x="5072066" y="3929066"/>
              <a:ext cx="35719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>
                  <a:ea typeface="楷体_GB2312"/>
                  <a:cs typeface="楷体_GB2312"/>
                </a:rPr>
                <a:t>2</a:t>
              </a:r>
              <a:endParaRPr lang="zh-CN" altLang="en-US" sz="1400" b="1">
                <a:ea typeface="楷体_GB2312"/>
                <a:cs typeface="楷体_GB231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/>
      <p:bldP spid="15770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60" name="Group 4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218901"/>
              </p:ext>
            </p:extLst>
          </p:nvPr>
        </p:nvGraphicFramePr>
        <p:xfrm>
          <a:off x="250825" y="1147763"/>
          <a:ext cx="8642350" cy="4801724"/>
        </p:xfrm>
        <a:graphic>
          <a:graphicData uri="http://schemas.openxmlformats.org/drawingml/2006/table">
            <a:tbl>
              <a:tblPr/>
              <a:tblGrid>
                <a:gridCol w="604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8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3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结合律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分配律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61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备注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8750" name="Rectangle 23"/>
          <p:cNvSpPr>
            <a:spLocks noChangeArrowheads="1"/>
          </p:cNvSpPr>
          <p:nvPr/>
        </p:nvSpPr>
        <p:spPr bwMode="auto">
          <a:xfrm>
            <a:off x="455613" y="455613"/>
            <a:ext cx="502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数乘矩阵的运算规律</a:t>
            </a:r>
          </a:p>
        </p:txBody>
      </p:sp>
      <p:graphicFrame>
        <p:nvGraphicFramePr>
          <p:cNvPr id="9013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798669"/>
              </p:ext>
            </p:extLst>
          </p:nvPr>
        </p:nvGraphicFramePr>
        <p:xfrm>
          <a:off x="900113" y="1222375"/>
          <a:ext cx="15224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222375"/>
                        <a:ext cx="15224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820059"/>
              </p:ext>
            </p:extLst>
          </p:nvPr>
        </p:nvGraphicFramePr>
        <p:xfrm>
          <a:off x="900113" y="1968500"/>
          <a:ext cx="17510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68500"/>
                        <a:ext cx="17510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110892"/>
              </p:ext>
            </p:extLst>
          </p:nvPr>
        </p:nvGraphicFramePr>
        <p:xfrm>
          <a:off x="900113" y="2995613"/>
          <a:ext cx="23860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95613"/>
                        <a:ext cx="23860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9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78864"/>
              </p:ext>
            </p:extLst>
          </p:nvPr>
        </p:nvGraphicFramePr>
        <p:xfrm>
          <a:off x="4527550" y="1970088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1970088"/>
                        <a:ext cx="2057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40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967671"/>
              </p:ext>
            </p:extLst>
          </p:nvPr>
        </p:nvGraphicFramePr>
        <p:xfrm>
          <a:off x="4527550" y="2997200"/>
          <a:ext cx="2741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2997200"/>
                        <a:ext cx="27416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4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053786"/>
              </p:ext>
            </p:extLst>
          </p:nvPr>
        </p:nvGraphicFramePr>
        <p:xfrm>
          <a:off x="900113" y="3498850"/>
          <a:ext cx="23860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498850"/>
                        <a:ext cx="23860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5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149136"/>
              </p:ext>
            </p:extLst>
          </p:nvPr>
        </p:nvGraphicFramePr>
        <p:xfrm>
          <a:off x="4527550" y="3489325"/>
          <a:ext cx="2741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3489325"/>
                        <a:ext cx="27416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0153" name="Rectangle 41"/>
              <p:cNvSpPr>
                <a:spLocks noChangeArrowheads="1"/>
              </p:cNvSpPr>
              <p:nvPr/>
            </p:nvSpPr>
            <p:spPr bwMode="auto">
              <a:xfrm>
                <a:off x="4454525" y="1196975"/>
                <a:ext cx="405912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rgbClr val="00007D"/>
                  </a:buClr>
                  <a:buSzPct val="75000"/>
                  <a:buFont typeface="Wingdings" pitchFamily="2" charset="2"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,</m:t>
                    </m:r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𝐵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是同型矩阵，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𝜆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,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𝜇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是数</a:t>
                </a:r>
              </a:p>
            </p:txBody>
          </p:sp>
        </mc:Choice>
        <mc:Fallback xmlns="">
          <p:sp>
            <p:nvSpPr>
              <p:cNvPr id="90153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4525" y="1196975"/>
                <a:ext cx="4059125" cy="461665"/>
              </a:xfrm>
              <a:prstGeom prst="rect">
                <a:avLst/>
              </a:prstGeom>
              <a:blipFill>
                <a:blip r:embed="rId16"/>
                <a:stretch>
                  <a:fillRect l="-2402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155" name="Rectangle 43"/>
          <p:cNvSpPr>
            <a:spLocks noChangeArrowheads="1"/>
          </p:cNvSpPr>
          <p:nvPr/>
        </p:nvSpPr>
        <p:spPr bwMode="auto">
          <a:xfrm>
            <a:off x="898525" y="4725144"/>
            <a:ext cx="65277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矩阵加法与数乘矩阵，统称为</a:t>
            </a:r>
            <a:r>
              <a:rPr lang="zh-CN" altLang="en-US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矩阵的线性运算</a:t>
            </a:r>
            <a:r>
              <a:rPr lang="en-US" altLang="zh-CN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9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9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9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9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53" grpId="0"/>
      <p:bldP spid="901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724128"/>
              </p:ext>
            </p:extLst>
          </p:nvPr>
        </p:nvGraphicFramePr>
        <p:xfrm>
          <a:off x="5780088" y="1361257"/>
          <a:ext cx="2320925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640" imgH="939960" progId="">
                  <p:embed/>
                </p:oleObj>
              </mc:Choice>
              <mc:Fallback>
                <p:oleObj name="Equation" r:id="rId2" imgW="1511640" imgH="93996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1361257"/>
                        <a:ext cx="2320925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239643"/>
              </p:ext>
            </p:extLst>
          </p:nvPr>
        </p:nvGraphicFramePr>
        <p:xfrm>
          <a:off x="3132138" y="1361257"/>
          <a:ext cx="2681287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840" imgH="939960" progId="">
                  <p:embed/>
                </p:oleObj>
              </mc:Choice>
              <mc:Fallback>
                <p:oleObj name="Equation" r:id="rId4" imgW="1752840" imgH="93996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361257"/>
                        <a:ext cx="2681287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215384"/>
              </p:ext>
            </p:extLst>
          </p:nvPr>
        </p:nvGraphicFramePr>
        <p:xfrm>
          <a:off x="1042988" y="1361257"/>
          <a:ext cx="2114550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960" imgH="939960" progId="">
                  <p:embed/>
                </p:oleObj>
              </mc:Choice>
              <mc:Fallback>
                <p:oleObj name="Equation" r:id="rId6" imgW="1371960" imgH="93996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361257"/>
                        <a:ext cx="2114550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0" name="Rectangle 3"/>
          <p:cNvSpPr>
            <a:spLocks noChangeArrowheads="1"/>
          </p:cNvSpPr>
          <p:nvPr/>
        </p:nvSpPr>
        <p:spPr bwMode="auto">
          <a:xfrm>
            <a:off x="971600" y="617835"/>
            <a:ext cx="295232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知识点比较</a:t>
            </a:r>
          </a:p>
        </p:txBody>
      </p:sp>
      <p:graphicFrame>
        <p:nvGraphicFramePr>
          <p:cNvPr id="9114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041277"/>
              </p:ext>
            </p:extLst>
          </p:nvPr>
        </p:nvGraphicFramePr>
        <p:xfrm>
          <a:off x="1908175" y="3305472"/>
          <a:ext cx="5232400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720" imgH="939960" progId="">
                  <p:embed/>
                </p:oleObj>
              </mc:Choice>
              <mc:Fallback>
                <p:oleObj name="Equation" r:id="rId8" imgW="3429720" imgH="93996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305472"/>
                        <a:ext cx="5232400" cy="15636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7" name="Rectangle 2"/>
          <p:cNvSpPr>
            <a:spLocks noChangeAspect="1" noChangeArrowheads="1"/>
          </p:cNvSpPr>
          <p:nvPr/>
        </p:nvSpPr>
        <p:spPr bwMode="auto">
          <a:xfrm>
            <a:off x="470420" y="196180"/>
            <a:ext cx="777398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三、矩阵与矩阵相乘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/>
              <p:cNvSpPr txBox="1">
                <a:spLocks noChangeArrowheads="1"/>
              </p:cNvSpPr>
              <p:nvPr/>
            </p:nvSpPr>
            <p:spPr bwMode="auto">
              <a:xfrm>
                <a:off x="395536" y="1150406"/>
                <a:ext cx="4824536" cy="13670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kumimoji="1" lang="en-US" altLang="zh-CN" dirty="0">
                  <a:solidFill>
                    <a:srgbClr val="000000"/>
                  </a:solidFill>
                  <a:latin typeface="楷体_GB2312"/>
                </a:endParaRP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1150406"/>
                <a:ext cx="4824536" cy="1367043"/>
              </a:xfrm>
              <a:prstGeom prst="rect">
                <a:avLst/>
              </a:prstGeom>
              <a:blipFill>
                <a:blip r:embed="rId2"/>
                <a:stretch>
                  <a:fillRect l="-202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5076056" y="1000244"/>
                <a:ext cx="3456384" cy="1800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kumimoji="1" lang="en-US" altLang="zh-CN" dirty="0">
                  <a:solidFill>
                    <a:srgbClr val="000000"/>
                  </a:solidFill>
                  <a:latin typeface="楷体_GB2312"/>
                </a:endParaRP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056" y="1000244"/>
                <a:ext cx="3456384" cy="1800200"/>
              </a:xfrm>
              <a:prstGeom prst="rect">
                <a:avLst/>
              </a:prstGeom>
              <a:blipFill>
                <a:blip r:embed="rId3"/>
                <a:stretch>
                  <a:fillRect l="-282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"/>
              <p:cNvSpPr txBox="1">
                <a:spLocks noChangeArrowheads="1"/>
              </p:cNvSpPr>
              <p:nvPr/>
            </p:nvSpPr>
            <p:spPr bwMode="auto">
              <a:xfrm>
                <a:off x="401832" y="2677469"/>
                <a:ext cx="654756" cy="11607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sz="2000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1" lang="en-US" altLang="zh-CN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kumimoji="1"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kumimoji="1"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kumimoji="1" lang="en-US" altLang="zh-CN" sz="2000" dirty="0">
                  <a:solidFill>
                    <a:srgbClr val="000000"/>
                  </a:solidFill>
                  <a:latin typeface="楷体_GB2312"/>
                </a:endParaRPr>
              </a:p>
              <a:p>
                <a:pPr>
                  <a:lnSpc>
                    <a:spcPct val="130000"/>
                  </a:lnSpc>
                </a:pPr>
                <a:endParaRPr kumimoji="1" lang="zh-CN" altLang="en-US" sz="2000" dirty="0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832" y="2677469"/>
                <a:ext cx="654756" cy="1160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"/>
              <p:cNvSpPr txBox="1">
                <a:spLocks noChangeArrowheads="1"/>
              </p:cNvSpPr>
              <p:nvPr/>
            </p:nvSpPr>
            <p:spPr bwMode="auto">
              <a:xfrm>
                <a:off x="401832" y="2250382"/>
                <a:ext cx="4208959" cy="6556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2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𝑦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𝑦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中，得</a:t>
                </a:r>
                <a:endParaRPr kumimoji="1" lang="en-US" altLang="zh-CN" dirty="0">
                  <a:solidFill>
                    <a:srgbClr val="000000"/>
                  </a:solidFill>
                  <a:latin typeface="楷体_GB2312"/>
                </a:endParaRP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1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832" y="2250382"/>
                <a:ext cx="4208959" cy="655612"/>
              </a:xfrm>
              <a:prstGeom prst="rect">
                <a:avLst/>
              </a:prstGeom>
              <a:blipFill>
                <a:blip r:embed="rId5"/>
                <a:stretch>
                  <a:fillRect l="-2319" b="-9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57202" y="2893493"/>
                <a:ext cx="82662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02" y="2893493"/>
                <a:ext cx="826622" cy="400110"/>
              </a:xfrm>
              <a:prstGeom prst="rect">
                <a:avLst/>
              </a:prstGeom>
              <a:blipFill>
                <a:blip r:embed="rId6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47720" y="3378636"/>
                <a:ext cx="820891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0" y="3378636"/>
                <a:ext cx="8208912" cy="400110"/>
              </a:xfrm>
              <a:prstGeom prst="rect">
                <a:avLst/>
              </a:prstGeom>
              <a:blipFill>
                <a:blip r:embed="rId7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 bwMode="auto">
          <a:xfrm>
            <a:off x="1676896" y="1532239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372200" y="1484784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771800" y="1532239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6372200" y="1858199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3851920" y="1532239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6372200" y="2240313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7380312" y="1484784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380312" y="1858199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7380312" y="2223276"/>
            <a:ext cx="491464" cy="3125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980408" y="2908573"/>
                <a:ext cx="346287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408" y="2908573"/>
                <a:ext cx="3462871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280809" y="2901033"/>
                <a:ext cx="370627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809" y="2901033"/>
                <a:ext cx="3706271" cy="400110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3"/>
              <p:cNvSpPr txBox="1">
                <a:spLocks noChangeArrowheads="1"/>
              </p:cNvSpPr>
              <p:nvPr/>
            </p:nvSpPr>
            <p:spPr bwMode="auto">
              <a:xfrm>
                <a:off x="2331322" y="4094051"/>
                <a:ext cx="2368559" cy="9739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dirty="0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26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1322" y="4094051"/>
                <a:ext cx="2368559" cy="9739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3"/>
              <p:cNvSpPr txBox="1">
                <a:spLocks noChangeArrowheads="1"/>
              </p:cNvSpPr>
              <p:nvPr/>
            </p:nvSpPr>
            <p:spPr bwMode="auto">
              <a:xfrm>
                <a:off x="4372233" y="3627026"/>
                <a:ext cx="2368559" cy="19079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dirty="0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2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233" y="3627026"/>
                <a:ext cx="2368559" cy="19079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539552" y="5420697"/>
                <a:ext cx="8337998" cy="7950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420697"/>
                <a:ext cx="8337998" cy="7950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478382" y="4010091"/>
            <a:ext cx="1934743" cy="6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用矩阵表示：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2483768" y="4149080"/>
            <a:ext cx="2147648" cy="4446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1075489" y="5420697"/>
            <a:ext cx="3364939" cy="4446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4924338" y="3991394"/>
            <a:ext cx="485610" cy="130510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5688465" y="3983238"/>
            <a:ext cx="485610" cy="130510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4644008" y="5428853"/>
            <a:ext cx="3364938" cy="4446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416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2" grpId="0"/>
      <p:bldP spid="3" grpId="0"/>
      <p:bldP spid="4" grpId="0" animBg="1"/>
      <p:bldP spid="4" grpId="1" animBg="1"/>
      <p:bldP spid="4" grpId="3" animBg="1"/>
      <p:bldP spid="4" grpId="4" animBg="1"/>
      <p:bldP spid="15" grpId="0" animBg="1"/>
      <p:bldP spid="15" grpId="1" animBg="1"/>
      <p:bldP spid="16" grpId="0" animBg="1"/>
      <p:bldP spid="16" grpId="2" animBg="1"/>
      <p:bldP spid="16" grpId="3" animBg="1"/>
      <p:bldP spid="16" grpId="4" animBg="1"/>
      <p:bldP spid="17" grpId="0" animBg="1"/>
      <p:bldP spid="17" grpId="1" animBg="1"/>
      <p:bldP spid="18" grpId="0" animBg="1"/>
      <p:bldP spid="18" grpId="2" animBg="1"/>
      <p:bldP spid="18" grpId="3" animBg="1"/>
      <p:bldP spid="18" grpId="4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5" grpId="0"/>
      <p:bldP spid="6" grpId="0"/>
      <p:bldP spid="26" grpId="0"/>
      <p:bldP spid="27" grpId="0"/>
      <p:bldP spid="28" grpId="0"/>
      <p:bldP spid="29" grpId="0"/>
      <p:bldP spid="13" grpId="0" animBg="1"/>
      <p:bldP spid="31" grpId="0" animBg="1"/>
      <p:bldP spid="31" grpId="1" animBg="1"/>
      <p:bldP spid="32" grpId="0" animBg="1"/>
      <p:bldP spid="32" grpId="1" animBg="1"/>
      <p:bldP spid="33" grpId="0" animBg="1"/>
      <p:bldP spid="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7" name="Rectangle 2"/>
          <p:cNvSpPr>
            <a:spLocks noChangeAspect="1" noChangeArrowheads="1"/>
          </p:cNvSpPr>
          <p:nvPr/>
        </p:nvSpPr>
        <p:spPr bwMode="auto">
          <a:xfrm>
            <a:off x="614436" y="268188"/>
            <a:ext cx="777398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36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三、矩阵与矩阵相乘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51" name="Text Box 3"/>
              <p:cNvSpPr txBox="1">
                <a:spLocks noChangeArrowheads="1"/>
              </p:cNvSpPr>
              <p:nvPr/>
            </p:nvSpPr>
            <p:spPr bwMode="auto">
              <a:xfrm>
                <a:off x="639763" y="1303064"/>
                <a:ext cx="7892677" cy="14316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60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定义：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b>
                      <m:sSubPr>
                        <m:ctrlP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  <m:t>𝒊𝒋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𝒎</m:t>
                        </m:r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×</m:t>
                        </m:r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b>
                      <m:sSubPr>
                        <m:ctrlPr>
                          <a:rPr kumimoji="1" lang="en-US" altLang="zh-CN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zh-CN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kumimoji="1" lang="en-US" altLang="zh-CN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  <m:t>𝒊𝒋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kumimoji="1" lang="en-US" altLang="zh-CN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𝒔</m:t>
                        </m:r>
                        <m:r>
                          <a:rPr kumimoji="1" lang="en-US" altLang="zh-CN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×</m:t>
                        </m:r>
                        <m:r>
                          <a:rPr kumimoji="1" lang="en-US" altLang="zh-CN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 panose="02040503050406030204" pitchFamily="18" charset="0"/>
                            <a:cs typeface="楷体_GB2312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，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那么规定矩阵</a:t>
                </a:r>
                <a:r>
                  <a:rPr kumimoji="1" lang="zh-CN" altLang="en-US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与矩阵</a:t>
                </a:r>
                <a:r>
                  <a:rPr kumimoji="1" lang="zh-CN" altLang="en-US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</m:oMath>
                </a14:m>
                <a:r>
                  <a:rPr kumimoji="1" lang="en-US" altLang="zh-CN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的乘积是一个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𝒎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×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𝒏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𝑪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b>
                      <m:sSubPr>
                        <m:ctrlP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楷体_GB2312"/>
                                    <a:cs typeface="楷体_GB2312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楷体_GB2312"/>
                                    <a:cs typeface="楷体_GB2312"/>
                                  </a:rPr>
                                  <m:t>𝒊𝒋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𝒎</m:t>
                        </m:r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×</m:t>
                        </m:r>
                        <m: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𝒏</m:t>
                        </m:r>
                      </m:sub>
                    </m:sSub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，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其中</a:t>
                </a:r>
              </a:p>
            </p:txBody>
          </p:sp>
        </mc:Choice>
        <mc:Fallback xmlns="">
          <p:sp>
            <p:nvSpPr>
              <p:cNvPr id="10445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763" y="1303064"/>
                <a:ext cx="7892677" cy="1431677"/>
              </a:xfrm>
              <a:prstGeom prst="rect">
                <a:avLst/>
              </a:prstGeom>
              <a:blipFill>
                <a:blip r:embed="rId2"/>
                <a:stretch>
                  <a:fillRect l="-1236" b="-114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445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143447"/>
              </p:ext>
            </p:extLst>
          </p:nvPr>
        </p:nvGraphicFramePr>
        <p:xfrm>
          <a:off x="1794482" y="2850833"/>
          <a:ext cx="558323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482" y="2850833"/>
                        <a:ext cx="5583238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60487"/>
              </p:ext>
            </p:extLst>
          </p:nvPr>
        </p:nvGraphicFramePr>
        <p:xfrm>
          <a:off x="2298378" y="3800158"/>
          <a:ext cx="382428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378" y="3800158"/>
                        <a:ext cx="3824288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9" name="Text Box 11"/>
          <p:cNvSpPr txBox="1">
            <a:spLocks noChangeArrowheads="1"/>
          </p:cNvSpPr>
          <p:nvPr/>
        </p:nvSpPr>
        <p:spPr bwMode="auto">
          <a:xfrm>
            <a:off x="639763" y="4339952"/>
            <a:ext cx="4579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并把此乘积记作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C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 = 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AB</a:t>
            </a:r>
            <a:r>
              <a:rPr kumimoji="1" lang="zh-CN" altLang="en-US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．   </a:t>
            </a:r>
          </a:p>
        </p:txBody>
      </p:sp>
    </p:spTree>
    <p:extLst>
      <p:ext uri="{BB962C8B-B14F-4D97-AF65-F5344CB8AC3E}">
        <p14:creationId xmlns:p14="http://schemas.microsoft.com/office/powerpoint/2010/main" val="23774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7" name="Rectangle 2"/>
          <p:cNvSpPr>
            <a:spLocks noChangeAspect="1" noChangeArrowheads="1"/>
          </p:cNvSpPr>
          <p:nvPr/>
        </p:nvSpPr>
        <p:spPr bwMode="auto">
          <a:xfrm>
            <a:off x="614436" y="171028"/>
            <a:ext cx="777398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36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三、矩阵与矩阵相乘（续）</a:t>
            </a: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639763" y="1180753"/>
            <a:ext cx="5948461" cy="613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60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注：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1.</a:t>
            </a:r>
            <a:r>
              <a:rPr kumimoji="1" lang="en-US" altLang="zh-CN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 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A        B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      =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C</a:t>
            </a:r>
          </a:p>
          <a:p>
            <a:pPr>
              <a:lnSpc>
                <a:spcPct val="160000"/>
              </a:lnSpc>
            </a:pP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         </a:t>
            </a:r>
            <a:r>
              <a:rPr kumimoji="1" lang="en-US" altLang="zh-CN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</a:t>
            </a:r>
            <a:endParaRPr kumimoji="1" lang="zh-CN" altLang="en-US" b="1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graphicFrame>
        <p:nvGraphicFramePr>
          <p:cNvPr id="10445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594684"/>
              </p:ext>
            </p:extLst>
          </p:nvPr>
        </p:nvGraphicFramePr>
        <p:xfrm>
          <a:off x="1794482" y="2370584"/>
          <a:ext cx="558323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482" y="2370584"/>
                        <a:ext cx="5583238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4458" name="Object 21"/>
              <p:cNvSpPr txBox="1"/>
              <p:nvPr/>
            </p:nvSpPr>
            <p:spPr bwMode="auto">
              <a:xfrm>
                <a:off x="2178642" y="3378697"/>
                <a:ext cx="3938612" cy="19225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4458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8642" y="3378697"/>
                <a:ext cx="3938612" cy="1922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459" name="Text Box 11"/>
          <p:cNvSpPr txBox="1">
            <a:spLocks noChangeArrowheads="1"/>
          </p:cNvSpPr>
          <p:nvPr/>
        </p:nvSpPr>
        <p:spPr bwMode="auto">
          <a:xfrm>
            <a:off x="985887" y="2612429"/>
            <a:ext cx="8085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rPr>
              <a:t>2.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1043608" y="5517232"/>
            <a:ext cx="4579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矩阵乘法的实质：</a:t>
            </a:r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左行乘右列</a:t>
            </a:r>
            <a:r>
              <a:rPr kumimoji="1" lang="zh-CN" altLang="en-US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．   </a:t>
            </a:r>
          </a:p>
        </p:txBody>
      </p:sp>
      <p:sp>
        <p:nvSpPr>
          <p:cNvPr id="5" name="空心弧 4"/>
          <p:cNvSpPr/>
          <p:nvPr/>
        </p:nvSpPr>
        <p:spPr bwMode="auto">
          <a:xfrm flipV="1">
            <a:off x="2195736" y="2154560"/>
            <a:ext cx="432048" cy="288031"/>
          </a:xfrm>
          <a:prstGeom prst="blockArc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83569" y="1794520"/>
            <a:ext cx="2592286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60000"/>
              </a:lnSpc>
            </a:pP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         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m</a:t>
            </a:r>
            <a:r>
              <a:rPr kumimoji="1" lang="en-US" altLang="en-US" sz="1800" b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×</a:t>
            </a:r>
            <a:r>
              <a:rPr kumimoji="1" lang="en-US" altLang="en-US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s</a:t>
            </a:r>
            <a:r>
              <a:rPr kumimoji="1" lang="en-US" altLang="en-US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 </a:t>
            </a:r>
            <a:r>
              <a:rPr kumimoji="1" lang="en-US" altLang="en-US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s</a:t>
            </a:r>
            <a:r>
              <a:rPr kumimoji="1" lang="en-US" altLang="en-US" sz="1800" b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×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n</a:t>
            </a:r>
            <a:endParaRPr kumimoji="1" lang="zh-CN" altLang="en-US" b="1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275856" y="1794520"/>
            <a:ext cx="144016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60000"/>
              </a:lnSpc>
            </a:pP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  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m</a:t>
            </a:r>
            <a:r>
              <a:rPr kumimoji="1" lang="en-US" altLang="en-US" sz="1800" b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×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</a:t>
            </a:r>
            <a:endParaRPr kumimoji="1" lang="zh-CN" altLang="en-US" b="1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" name="右箭头 5"/>
          <p:cNvSpPr/>
          <p:nvPr/>
        </p:nvSpPr>
        <p:spPr bwMode="auto">
          <a:xfrm>
            <a:off x="3131840" y="2154561"/>
            <a:ext cx="576064" cy="14401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8" grpId="0"/>
      <p:bldP spid="104459" grpId="0"/>
      <p:bldP spid="19" grpId="0"/>
      <p:bldP spid="5" grpId="0" animBg="1"/>
      <p:bldP spid="15" grpId="0"/>
      <p:bldP spid="17" grpId="0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62" name="Rectangle 2"/>
              <p:cNvSpPr>
                <a:spLocks noChangeArrowheads="1"/>
              </p:cNvSpPr>
              <p:nvPr/>
            </p:nvSpPr>
            <p:spPr bwMode="auto">
              <a:xfrm>
                <a:off x="4343400" y="1839913"/>
                <a:ext cx="4116388" cy="968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kumimoji="1" lang="en-US" altLang="zh-CN" i="1" baseline="-2500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𝑖𝑗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表示工厂向第</a:t>
                </a:r>
                <a:r>
                  <a:rPr kumimoji="1" lang="zh-CN" altLang="en-US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家商店</a:t>
                </a:r>
              </a:p>
              <a:p>
                <a:pPr>
                  <a:lnSpc>
                    <a:spcPct val="14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发送第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kumimoji="1"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种货物的数量．        </a:t>
                </a:r>
              </a:p>
            </p:txBody>
          </p:sp>
        </mc:Choice>
        <mc:Fallback xmlns="">
          <p:sp>
            <p:nvSpPr>
              <p:cNvPr id="9216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1839913"/>
                <a:ext cx="4116388" cy="968375"/>
              </a:xfrm>
              <a:prstGeom prst="rect">
                <a:avLst/>
              </a:prstGeom>
              <a:blipFill>
                <a:blip r:embed="rId2"/>
                <a:stretch>
                  <a:fillRect l="-2370" t="-6918" r="-3556" b="-62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773" name="Text Box 3"/>
          <p:cNvSpPr txBox="1">
            <a:spLocks noChangeArrowheads="1"/>
          </p:cNvSpPr>
          <p:nvPr/>
        </p:nvSpPr>
        <p:spPr bwMode="auto">
          <a:xfrm>
            <a:off x="467544" y="431007"/>
            <a:ext cx="8353177" cy="100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某工厂生产四种货物，它向三家商店发送的货物</a:t>
            </a:r>
          </a:p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数量可用数表表示为：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639763" y="3284538"/>
            <a:ext cx="6464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这四种货物的单价及单件重量也可列成数表：    </a:t>
            </a:r>
          </a:p>
        </p:txBody>
      </p:sp>
      <p:graphicFrame>
        <p:nvGraphicFramePr>
          <p:cNvPr id="9216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045401"/>
              </p:ext>
            </p:extLst>
          </p:nvPr>
        </p:nvGraphicFramePr>
        <p:xfrm>
          <a:off x="1173163" y="1531814"/>
          <a:ext cx="2954337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1531814"/>
                        <a:ext cx="2954337" cy="1681162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2166" name="Rectangle 6"/>
              <p:cNvSpPr>
                <a:spLocks noChangeArrowheads="1"/>
              </p:cNvSpPr>
              <p:nvPr/>
            </p:nvSpPr>
            <p:spPr bwMode="auto">
              <a:xfrm>
                <a:off x="3997325" y="4425950"/>
                <a:ext cx="4535488" cy="968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kumimoji="1" lang="en-US" altLang="zh-CN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CN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表示第</a:t>
                </a:r>
                <a:r>
                  <a:rPr kumimoji="1" lang="zh-CN" altLang="en-US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1"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种货物的单价，</a:t>
                </a:r>
              </a:p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kumimoji="1" lang="en-US" altLang="zh-CN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CN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2 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表示第</a:t>
                </a:r>
                <a:r>
                  <a:rPr kumimoji="1" lang="zh-CN" altLang="en-US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1"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种货物的单件重量．  </a:t>
                </a:r>
              </a:p>
            </p:txBody>
          </p:sp>
        </mc:Choice>
        <mc:Fallback xmlns="">
          <p:sp>
            <p:nvSpPr>
              <p:cNvPr id="9216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7325" y="4425950"/>
                <a:ext cx="4535488" cy="968375"/>
              </a:xfrm>
              <a:prstGeom prst="rect">
                <a:avLst/>
              </a:prstGeom>
              <a:blipFill>
                <a:blip r:embed="rId5"/>
                <a:stretch>
                  <a:fillRect l="-2151" t="-6918" r="-1478" b="-62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216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280673"/>
              </p:ext>
            </p:extLst>
          </p:nvPr>
        </p:nvGraphicFramePr>
        <p:xfrm>
          <a:off x="2054225" y="3789363"/>
          <a:ext cx="1306513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3789363"/>
                        <a:ext cx="1306513" cy="224155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639763" y="6092825"/>
            <a:ext cx="6956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试求：工厂向三家商店所发货物的总价值及总重量．    </a:t>
            </a:r>
          </a:p>
        </p:txBody>
      </p:sp>
    </p:spTree>
    <p:extLst>
      <p:ext uri="{BB962C8B-B14F-4D97-AF65-F5344CB8AC3E}">
        <p14:creationId xmlns:p14="http://schemas.microsoft.com/office/powerpoint/2010/main" val="207858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4" grpId="0" autoUpdateAnimBg="0"/>
      <p:bldP spid="92166" grpId="0"/>
      <p:bldP spid="9216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07" name="AutoShape 19"/>
          <p:cNvSpPr>
            <a:spLocks noChangeArrowheads="1"/>
          </p:cNvSpPr>
          <p:nvPr/>
        </p:nvSpPr>
        <p:spPr bwMode="auto">
          <a:xfrm>
            <a:off x="0" y="0"/>
            <a:ext cx="9144000" cy="2997200"/>
          </a:xfrm>
          <a:prstGeom prst="foldedCorner">
            <a:avLst>
              <a:gd name="adj" fmla="val 7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1808" name="Text Box 4"/>
          <p:cNvSpPr txBox="1">
            <a:spLocks noChangeArrowheads="1"/>
          </p:cNvSpPr>
          <p:nvPr/>
        </p:nvSpPr>
        <p:spPr bwMode="auto">
          <a:xfrm>
            <a:off x="611188" y="455613"/>
            <a:ext cx="774858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1794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5845"/>
              </p:ext>
            </p:extLst>
          </p:nvPr>
        </p:nvGraphicFramePr>
        <p:xfrm>
          <a:off x="1463675" y="404813"/>
          <a:ext cx="241141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404813"/>
                        <a:ext cx="2411413" cy="1371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5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983179"/>
              </p:ext>
            </p:extLst>
          </p:nvPr>
        </p:nvGraphicFramePr>
        <p:xfrm>
          <a:off x="6307138" y="115888"/>
          <a:ext cx="1065212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138" y="115888"/>
                        <a:ext cx="1065212" cy="18288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7" name="Rectangle 13"/>
          <p:cNvSpPr>
            <a:spLocks noChangeArrowheads="1"/>
          </p:cNvSpPr>
          <p:nvPr/>
        </p:nvSpPr>
        <p:spPr bwMode="auto">
          <a:xfrm>
            <a:off x="639763" y="3068638"/>
            <a:ext cx="76771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kumimoji="1" lang="zh-CN" altLang="en-US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分别表示工厂向第</a:t>
            </a:r>
            <a:r>
              <a:rPr kumimoji="1" lang="zh-CN" altLang="en-US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家商店所发货物的总值及</a:t>
            </a:r>
          </a:p>
          <a:p>
            <a:pPr>
              <a:lnSpc>
                <a:spcPct val="150000"/>
              </a:lnSpc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总重量，其中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1, 2, 3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．于是</a:t>
            </a:r>
          </a:p>
        </p:txBody>
      </p:sp>
      <p:sp>
        <p:nvSpPr>
          <p:cNvPr id="161810" name="Rectangle 16"/>
          <p:cNvSpPr>
            <a:spLocks noChangeArrowheads="1"/>
          </p:cNvSpPr>
          <p:nvPr/>
        </p:nvSpPr>
        <p:spPr bwMode="auto">
          <a:xfrm>
            <a:off x="611188" y="2060575"/>
            <a:ext cx="4116387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kumimoji="1" lang="en-US" altLang="zh-CN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i="1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表示工厂向第</a:t>
            </a:r>
            <a:r>
              <a:rPr kumimoji="1" lang="zh-CN" altLang="en-US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家商店</a:t>
            </a:r>
          </a:p>
          <a:p>
            <a:pPr>
              <a:lnSpc>
                <a:spcPct val="140000"/>
              </a:lnSpc>
            </a:pP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发送第 </a:t>
            </a:r>
            <a:r>
              <a:rPr kumimoji="1" lang="en-US" altLang="zh-CN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种货物的数量．        </a:t>
            </a:r>
          </a:p>
        </p:txBody>
      </p:sp>
      <p:sp>
        <p:nvSpPr>
          <p:cNvPr id="161811" name="Rectangle 17"/>
          <p:cNvSpPr>
            <a:spLocks noChangeArrowheads="1"/>
          </p:cNvSpPr>
          <p:nvPr/>
        </p:nvSpPr>
        <p:spPr bwMode="auto">
          <a:xfrm>
            <a:off x="4572000" y="2060575"/>
            <a:ext cx="4535488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kumimoji="1" lang="en-US" altLang="zh-CN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200" i="1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en-US" altLang="zh-CN" sz="2200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表示第</a:t>
            </a:r>
            <a:r>
              <a:rPr kumimoji="1" lang="zh-CN" altLang="en-US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种货物的单价，</a:t>
            </a:r>
          </a:p>
          <a:p>
            <a:pPr>
              <a:lnSpc>
                <a:spcPct val="140000"/>
              </a:lnSpc>
            </a:pPr>
            <a:r>
              <a:rPr kumimoji="1" lang="en-US" altLang="zh-CN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200" i="1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en-US" altLang="zh-CN" sz="2200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表示第</a:t>
            </a:r>
            <a:r>
              <a:rPr kumimoji="1" lang="zh-CN" altLang="en-US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种货物的单件重量．  </a:t>
            </a:r>
          </a:p>
        </p:txBody>
      </p:sp>
      <p:graphicFrame>
        <p:nvGraphicFramePr>
          <p:cNvPr id="93210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062570"/>
              </p:ext>
            </p:extLst>
          </p:nvPr>
        </p:nvGraphicFramePr>
        <p:xfrm>
          <a:off x="723900" y="4668838"/>
          <a:ext cx="7254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4668838"/>
                        <a:ext cx="72548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1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107700"/>
              </p:ext>
            </p:extLst>
          </p:nvPr>
        </p:nvGraphicFramePr>
        <p:xfrm>
          <a:off x="1550988" y="4165600"/>
          <a:ext cx="474662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4165600"/>
                        <a:ext cx="474662" cy="15081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2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729408"/>
              </p:ext>
            </p:extLst>
          </p:nvPr>
        </p:nvGraphicFramePr>
        <p:xfrm>
          <a:off x="2536825" y="4165600"/>
          <a:ext cx="5032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4165600"/>
                        <a:ext cx="503238" cy="15081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3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092042"/>
              </p:ext>
            </p:extLst>
          </p:nvPr>
        </p:nvGraphicFramePr>
        <p:xfrm>
          <a:off x="3552825" y="4165600"/>
          <a:ext cx="5032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4165600"/>
                        <a:ext cx="503238" cy="15081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4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655006"/>
              </p:ext>
            </p:extLst>
          </p:nvPr>
        </p:nvGraphicFramePr>
        <p:xfrm>
          <a:off x="4567238" y="4165600"/>
          <a:ext cx="503237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165600"/>
                        <a:ext cx="503237" cy="15081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5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873256"/>
              </p:ext>
            </p:extLst>
          </p:nvPr>
        </p:nvGraphicFramePr>
        <p:xfrm>
          <a:off x="5173663" y="4445000"/>
          <a:ext cx="156368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">
                  <p:embed/>
                </p:oleObj>
              </mc:Choice>
              <mc:Fallback>
                <p:oleObj name="Equation" r:id="rId1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4445000"/>
                        <a:ext cx="156368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6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286531"/>
              </p:ext>
            </p:extLst>
          </p:nvPr>
        </p:nvGraphicFramePr>
        <p:xfrm>
          <a:off x="2127250" y="4765675"/>
          <a:ext cx="3079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">
                  <p:embed/>
                </p:oleObj>
              </mc:Choice>
              <mc:Fallback>
                <p:oleObj name="Equation" r:id="rId18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4765675"/>
                        <a:ext cx="30797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7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692150"/>
              </p:ext>
            </p:extLst>
          </p:nvPr>
        </p:nvGraphicFramePr>
        <p:xfrm>
          <a:off x="3143250" y="4765675"/>
          <a:ext cx="3079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">
                  <p:embed/>
                </p:oleObj>
              </mc:Choice>
              <mc:Fallback>
                <p:oleObj name="Equation" r:id="rId20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765675"/>
                        <a:ext cx="30797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8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460825"/>
              </p:ext>
            </p:extLst>
          </p:nvPr>
        </p:nvGraphicFramePr>
        <p:xfrm>
          <a:off x="4157663" y="4765675"/>
          <a:ext cx="3079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">
                  <p:embed/>
                </p:oleObj>
              </mc:Choice>
              <mc:Fallback>
                <p:oleObj name="Equation" r:id="rId2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663" y="4765675"/>
                        <a:ext cx="30797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9" name="Rectangle 35"/>
          <p:cNvSpPr>
            <a:spLocks noChangeArrowheads="1"/>
          </p:cNvSpPr>
          <p:nvPr/>
        </p:nvSpPr>
        <p:spPr bwMode="auto">
          <a:xfrm>
            <a:off x="1547813" y="4149725"/>
            <a:ext cx="3529012" cy="5032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20" name="Rectangle 36"/>
          <p:cNvSpPr>
            <a:spLocks noChangeArrowheads="1"/>
          </p:cNvSpPr>
          <p:nvPr/>
        </p:nvSpPr>
        <p:spPr bwMode="auto">
          <a:xfrm>
            <a:off x="1547813" y="5157788"/>
            <a:ext cx="3529012" cy="50323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3224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316633"/>
              </p:ext>
            </p:extLst>
          </p:nvPr>
        </p:nvGraphicFramePr>
        <p:xfrm>
          <a:off x="723900" y="5956300"/>
          <a:ext cx="47132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">
                  <p:embed/>
                </p:oleObj>
              </mc:Choice>
              <mc:Fallback>
                <p:oleObj name="Equation" r:id="rId2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5956300"/>
                        <a:ext cx="4713288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26" name="Line 42"/>
          <p:cNvSpPr>
            <a:spLocks noChangeShapeType="1"/>
          </p:cNvSpPr>
          <p:nvPr/>
        </p:nvSpPr>
        <p:spPr bwMode="auto">
          <a:xfrm>
            <a:off x="1692275" y="5734050"/>
            <a:ext cx="166688" cy="287338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27" name="Line 43"/>
          <p:cNvSpPr>
            <a:spLocks noChangeShapeType="1"/>
          </p:cNvSpPr>
          <p:nvPr/>
        </p:nvSpPr>
        <p:spPr bwMode="auto">
          <a:xfrm>
            <a:off x="2747963" y="5734050"/>
            <a:ext cx="166687" cy="287338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28" name="Line 44"/>
          <p:cNvSpPr>
            <a:spLocks noChangeShapeType="1"/>
          </p:cNvSpPr>
          <p:nvPr/>
        </p:nvSpPr>
        <p:spPr bwMode="auto">
          <a:xfrm>
            <a:off x="3803650" y="5734050"/>
            <a:ext cx="166688" cy="287338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229" name="Line 45"/>
          <p:cNvSpPr>
            <a:spLocks noChangeShapeType="1"/>
          </p:cNvSpPr>
          <p:nvPr/>
        </p:nvSpPr>
        <p:spPr bwMode="auto">
          <a:xfrm>
            <a:off x="4859338" y="5734050"/>
            <a:ext cx="166687" cy="287338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3230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190932"/>
              </p:ext>
            </p:extLst>
          </p:nvPr>
        </p:nvGraphicFramePr>
        <p:xfrm>
          <a:off x="5435600" y="5734050"/>
          <a:ext cx="15986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">
                  <p:embed/>
                </p:oleObj>
              </mc:Choice>
              <mc:Fallback>
                <p:oleObj name="Equation" r:id="rId2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734050"/>
                        <a:ext cx="1598613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914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9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9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9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9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0"/>
                                        <p:tgtEl>
                                          <p:spTgt spid="9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9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7" grpId="0" autoUpdateAnimBg="0"/>
      <p:bldP spid="93219" grpId="0" animBg="1"/>
      <p:bldP spid="93220" grpId="0" animBg="1"/>
      <p:bldP spid="93226" grpId="0" animBg="1"/>
      <p:bldP spid="93227" grpId="0" animBg="1"/>
      <p:bldP spid="93228" grpId="0" animBg="1"/>
      <p:bldP spid="932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278250"/>
              </p:ext>
            </p:extLst>
          </p:nvPr>
        </p:nvGraphicFramePr>
        <p:xfrm>
          <a:off x="1409352" y="1076449"/>
          <a:ext cx="61436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352" y="1076449"/>
                        <a:ext cx="6143625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798207"/>
              </p:ext>
            </p:extLst>
          </p:nvPr>
        </p:nvGraphicFramePr>
        <p:xfrm>
          <a:off x="2048520" y="2060699"/>
          <a:ext cx="262413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520" y="2060699"/>
                        <a:ext cx="2624137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29530"/>
              </p:ext>
            </p:extLst>
          </p:nvPr>
        </p:nvGraphicFramePr>
        <p:xfrm>
          <a:off x="1845320" y="3205584"/>
          <a:ext cx="56356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320" y="3205584"/>
                        <a:ext cx="5635625" cy="187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2" name="Rectangle 18"/>
          <p:cNvSpPr>
            <a:spLocks noChangeArrowheads="1"/>
          </p:cNvSpPr>
          <p:nvPr/>
        </p:nvSpPr>
        <p:spPr bwMode="auto">
          <a:xfrm>
            <a:off x="740420" y="2797597"/>
            <a:ext cx="6464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可用矩阵的乘积表示：</a:t>
            </a:r>
          </a:p>
        </p:txBody>
      </p:sp>
      <p:sp>
        <p:nvSpPr>
          <p:cNvPr id="103443" name="Text Box 19"/>
          <p:cNvSpPr txBox="1">
            <a:spLocks noChangeArrowheads="1"/>
          </p:cNvSpPr>
          <p:nvPr/>
        </p:nvSpPr>
        <p:spPr bwMode="auto">
          <a:xfrm>
            <a:off x="711845" y="671637"/>
            <a:ext cx="774858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一般地，</a:t>
            </a:r>
          </a:p>
        </p:txBody>
      </p:sp>
    </p:spTree>
    <p:extLst>
      <p:ext uri="{BB962C8B-B14F-4D97-AF65-F5344CB8AC3E}">
        <p14:creationId xmlns:p14="http://schemas.microsoft.com/office/powerpoint/2010/main" val="140689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0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42" grpId="0" autoUpdateAnimBg="0"/>
      <p:bldP spid="1034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866" name="Object 8"/>
          <p:cNvGraphicFramePr>
            <a:graphicFrameLocks noChangeAspect="1"/>
          </p:cNvGraphicFramePr>
          <p:nvPr/>
        </p:nvGraphicFramePr>
        <p:xfrm>
          <a:off x="1907704" y="476250"/>
          <a:ext cx="51546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76250"/>
                        <a:ext cx="5154612" cy="185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5" name="Text Box 4"/>
          <p:cNvSpPr txBox="1">
            <a:spLocks noChangeArrowheads="1"/>
          </p:cNvSpPr>
          <p:nvPr/>
        </p:nvSpPr>
        <p:spPr bwMode="auto">
          <a:xfrm>
            <a:off x="539750" y="620688"/>
            <a:ext cx="12698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1. </a:t>
            </a:r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"/>
              <p:cNvSpPr txBox="1"/>
              <p:nvPr/>
            </p:nvSpPr>
            <p:spPr bwMode="auto">
              <a:xfrm>
                <a:off x="1116013" y="2830513"/>
                <a:ext cx="5472112" cy="503237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2830513"/>
                <a:ext cx="5472112" cy="503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9" name="Object 11"/>
              <p:cNvSpPr txBox="1"/>
              <p:nvPr/>
            </p:nvSpPr>
            <p:spPr bwMode="auto">
              <a:xfrm>
                <a:off x="1116013" y="3478213"/>
                <a:ext cx="5400675" cy="5048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493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3478213"/>
                <a:ext cx="5400675" cy="504825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>
            <a:off x="2237904" y="876300"/>
            <a:ext cx="2592387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cxnSp>
        <p:nvCxnSpPr>
          <p:cNvPr id="10" name="直接连接符 9"/>
          <p:cNvCxnSpPr>
            <a:cxnSpLocks noChangeShapeType="1"/>
          </p:cNvCxnSpPr>
          <p:nvPr/>
        </p:nvCxnSpPr>
        <p:spPr bwMode="auto">
          <a:xfrm>
            <a:off x="2309341" y="1412776"/>
            <a:ext cx="259238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5693891" y="515938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6197129" y="515938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6701954" y="515938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940" name="Object 12"/>
              <p:cNvSpPr txBox="1"/>
              <p:nvPr/>
            </p:nvSpPr>
            <p:spPr bwMode="auto">
              <a:xfrm>
                <a:off x="1116013" y="4125913"/>
                <a:ext cx="5327650" cy="576262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494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4125913"/>
                <a:ext cx="5327650" cy="5762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882" name="Text Box 4"/>
          <p:cNvSpPr txBox="1">
            <a:spLocks noChangeArrowheads="1"/>
          </p:cNvSpPr>
          <p:nvPr/>
        </p:nvSpPr>
        <p:spPr bwMode="auto">
          <a:xfrm>
            <a:off x="7109941" y="1236663"/>
            <a:ext cx="4953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求</a:t>
            </a:r>
            <a:endParaRPr kumimoji="1" lang="zh-CN" altLang="en-US" b="1" dirty="0">
              <a:solidFill>
                <a:srgbClr val="00007D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870" name="Object 13"/>
              <p:cNvSpPr txBox="1"/>
              <p:nvPr/>
            </p:nvSpPr>
            <p:spPr bwMode="auto">
              <a:xfrm>
                <a:off x="7493818" y="1295400"/>
                <a:ext cx="1194098" cy="401638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4870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3818" y="1295400"/>
                <a:ext cx="1194098" cy="4016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600373" y="2276475"/>
            <a:ext cx="8032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解：</a:t>
            </a:r>
            <a:endParaRPr kumimoji="1" lang="zh-CN" altLang="en-US" b="1" dirty="0">
              <a:solidFill>
                <a:srgbClr val="00007D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3286199" y="2306638"/>
            <a:ext cx="49371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43" name="Object 15"/>
              <p:cNvSpPr txBox="1"/>
              <p:nvPr/>
            </p:nvSpPr>
            <p:spPr bwMode="auto">
              <a:xfrm>
                <a:off x="1116013" y="4775200"/>
                <a:ext cx="6119812" cy="50323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494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4775200"/>
                <a:ext cx="6119812" cy="503238"/>
              </a:xfrm>
              <a:prstGeom prst="rect">
                <a:avLst/>
              </a:prstGeom>
              <a:blipFill>
                <a:blip r:embed="rId9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44" name="Object 16"/>
              <p:cNvSpPr txBox="1"/>
              <p:nvPr/>
            </p:nvSpPr>
            <p:spPr bwMode="auto">
              <a:xfrm>
                <a:off x="1116013" y="5422900"/>
                <a:ext cx="4824412" cy="45402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494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5422900"/>
                <a:ext cx="4824412" cy="4540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45" name="Object 17"/>
              <p:cNvSpPr txBox="1"/>
              <p:nvPr/>
            </p:nvSpPr>
            <p:spPr bwMode="auto">
              <a:xfrm>
                <a:off x="1143000" y="5926138"/>
                <a:ext cx="5373688" cy="5270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494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5926138"/>
                <a:ext cx="5373688" cy="5270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4"/>
              <p:cNvSpPr txBox="1">
                <a:spLocks noChangeArrowheads="1"/>
              </p:cNvSpPr>
              <p:nvPr/>
            </p:nvSpPr>
            <p:spPr bwMode="auto">
              <a:xfrm>
                <a:off x="1259631" y="2276872"/>
                <a:ext cx="2057995" cy="4914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1" y="2276872"/>
                <a:ext cx="2057995" cy="491417"/>
              </a:xfrm>
              <a:prstGeom prst="rect">
                <a:avLst/>
              </a:prstGeom>
              <a:blipFill>
                <a:blip r:embed="rId12"/>
                <a:stretch>
                  <a:fillRect l="-4748" t="-13750" b="-187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2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4939" grpId="0"/>
      <p:bldP spid="124940" grpId="0"/>
      <p:bldP spid="20" grpId="0"/>
      <p:bldP spid="22" grpId="0"/>
      <p:bldP spid="124943" grpId="0"/>
      <p:bldP spid="124944" grpId="0"/>
      <p:bldP spid="124945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Object 2"/>
              <p:cNvSpPr txBox="1"/>
              <p:nvPr/>
            </p:nvSpPr>
            <p:spPr bwMode="auto">
              <a:xfrm>
                <a:off x="2771800" y="4862290"/>
                <a:ext cx="3279072" cy="130301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4862290"/>
                <a:ext cx="3279072" cy="13030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66435" name="Object 3"/>
              <p:cNvSpPr txBox="1"/>
              <p:nvPr/>
            </p:nvSpPr>
            <p:spPr bwMode="auto">
              <a:xfrm>
                <a:off x="1331888" y="2492375"/>
                <a:ext cx="5400352" cy="527050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664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888" y="2492375"/>
                <a:ext cx="5400352" cy="527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66436" name="Object 4"/>
              <p:cNvSpPr txBox="1"/>
              <p:nvPr/>
            </p:nvSpPr>
            <p:spPr bwMode="auto">
              <a:xfrm>
                <a:off x="1331888" y="3140769"/>
                <a:ext cx="5299100" cy="57626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6643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888" y="3140769"/>
                <a:ext cx="5299100" cy="576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66437" name="Object 5"/>
              <p:cNvSpPr txBox="1"/>
              <p:nvPr/>
            </p:nvSpPr>
            <p:spPr bwMode="auto">
              <a:xfrm>
                <a:off x="1330300" y="3785096"/>
                <a:ext cx="5400352" cy="508000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)×(−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6643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0300" y="3785096"/>
                <a:ext cx="5400352" cy="508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5894" name="Object 6"/>
          <p:cNvGraphicFramePr>
            <a:graphicFrameLocks noChangeAspect="1"/>
          </p:cNvGraphicFramePr>
          <p:nvPr/>
        </p:nvGraphicFramePr>
        <p:xfrm>
          <a:off x="1476375" y="476250"/>
          <a:ext cx="51546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76250"/>
                        <a:ext cx="5154613" cy="185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>
            <a:off x="1878013" y="1812925"/>
            <a:ext cx="2592387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cxnSp>
        <p:nvCxnSpPr>
          <p:cNvPr id="10" name="直接连接符 9"/>
          <p:cNvCxnSpPr>
            <a:cxnSpLocks noChangeShapeType="1"/>
          </p:cNvCxnSpPr>
          <p:nvPr/>
        </p:nvCxnSpPr>
        <p:spPr bwMode="auto">
          <a:xfrm>
            <a:off x="5262563" y="515938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5765800" y="515938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6270625" y="515938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888255" y="4437112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因此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6084168" y="5137373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3103F3"/>
                </a:solidFill>
                <a:latin typeface="Times New Roman" pitchFamily="18" charset="0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6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6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6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/>
      <p:bldP spid="5266435" grpId="0"/>
      <p:bldP spid="5266436" grpId="0"/>
      <p:bldP spid="5266437" grpId="0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914" name="Object 20"/>
          <p:cNvGraphicFramePr>
            <a:graphicFrameLocks noChangeAspect="1"/>
          </p:cNvGraphicFramePr>
          <p:nvPr/>
        </p:nvGraphicFramePr>
        <p:xfrm>
          <a:off x="455613" y="1123950"/>
          <a:ext cx="3094037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600" imgH="939960" progId="">
                  <p:embed/>
                </p:oleObj>
              </mc:Choice>
              <mc:Fallback>
                <p:oleObj name="Equation" r:id="rId2" imgW="2019600" imgH="93996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" y="1123950"/>
                        <a:ext cx="3094037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0" name="Rectangle 3"/>
          <p:cNvSpPr>
            <a:spLocks noChangeArrowheads="1"/>
          </p:cNvSpPr>
          <p:nvPr/>
        </p:nvSpPr>
        <p:spPr bwMode="auto">
          <a:xfrm>
            <a:off x="455613" y="455613"/>
            <a:ext cx="502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知识点比较</a:t>
            </a:r>
          </a:p>
        </p:txBody>
      </p:sp>
      <p:graphicFrame>
        <p:nvGraphicFramePr>
          <p:cNvPr id="10547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787955"/>
              </p:ext>
            </p:extLst>
          </p:nvPr>
        </p:nvGraphicFramePr>
        <p:xfrm>
          <a:off x="455613" y="3068960"/>
          <a:ext cx="3532187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920" imgH="939960" progId="">
                  <p:embed/>
                </p:oleObj>
              </mc:Choice>
              <mc:Fallback>
                <p:oleObj name="Equation" r:id="rId4" imgW="2311920" imgH="93996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" y="3068960"/>
                        <a:ext cx="3532187" cy="156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1" name="Rectangle 7"/>
          <p:cNvSpPr>
            <a:spLocks noChangeArrowheads="1"/>
          </p:cNvSpPr>
          <p:nvPr/>
        </p:nvSpPr>
        <p:spPr bwMode="auto">
          <a:xfrm>
            <a:off x="3578225" y="1677988"/>
            <a:ext cx="1354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有意义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  <p:sp>
        <p:nvSpPr>
          <p:cNvPr id="105480" name="Rectangle 8"/>
          <p:cNvSpPr>
            <a:spLocks noChangeArrowheads="1"/>
          </p:cNvSpPr>
          <p:nvPr/>
        </p:nvSpPr>
        <p:spPr bwMode="auto">
          <a:xfrm>
            <a:off x="3995738" y="3621410"/>
            <a:ext cx="1858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没有意义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481" name="AutoShape 9"/>
              <p:cNvSpPr>
                <a:spLocks noChangeArrowheads="1"/>
              </p:cNvSpPr>
              <p:nvPr/>
            </p:nvSpPr>
            <p:spPr bwMode="auto">
              <a:xfrm>
                <a:off x="5292079" y="2132170"/>
                <a:ext cx="3816425" cy="1736646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𝒎</m:t>
                          </m:r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×</m:t>
                          </m:r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𝒏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𝑨</m:t>
                          </m:r>
                        </m:e>
                        <m:sub>
                          <m:r>
                            <a:rPr kumimoji="1"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𝒎</m:t>
                          </m:r>
                          <m:r>
                            <a:rPr kumimoji="1"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×</m:t>
                          </m:r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𝒔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𝑩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𝒔</m:t>
                          </m:r>
                          <m:r>
                            <a:rPr kumimoji="1"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×</m:t>
                          </m:r>
                          <m:r>
                            <a:rPr kumimoji="1"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kumimoji="1" lang="en-US" altLang="zh-CN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endParaRPr>
              </a:p>
              <a:p>
                <a:pPr lvl="0"/>
                <a:r>
                  <a:rPr kumimoji="1"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只有当</a:t>
                </a:r>
                <a:r>
                  <a:rPr kumimoji="1" lang="zh-CN" altLang="en-US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第一个矩阵的列数</a:t>
                </a:r>
              </a:p>
              <a:p>
                <a:pPr lvl="0"/>
                <a:r>
                  <a:rPr kumimoji="1" lang="zh-CN" altLang="en-US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等于第二个矩阵的行数</a:t>
                </a:r>
                <a:r>
                  <a:rPr kumimoji="1"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时，两个矩阵才能相乘</a:t>
                </a:r>
                <a:r>
                  <a:rPr kumimoji="1" lang="en-US" altLang="zh-CN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105481" name="AutoShap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079" y="2132170"/>
                <a:ext cx="3816425" cy="1736646"/>
              </a:xfrm>
              <a:prstGeom prst="roundRect">
                <a:avLst>
                  <a:gd name="adj" fmla="val 16667"/>
                </a:avLst>
              </a:prstGeom>
              <a:blipFill>
                <a:blip r:embed="rId6"/>
                <a:stretch>
                  <a:fillRect r="-4913" b="-1379"/>
                </a:stretch>
              </a:blipFill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4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732715"/>
              </p:ext>
            </p:extLst>
          </p:nvPr>
        </p:nvGraphicFramePr>
        <p:xfrm>
          <a:off x="968375" y="4852714"/>
          <a:ext cx="183197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4852714"/>
                        <a:ext cx="1831975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624652"/>
              </p:ext>
            </p:extLst>
          </p:nvPr>
        </p:nvGraphicFramePr>
        <p:xfrm>
          <a:off x="2843213" y="5363889"/>
          <a:ext cx="10160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363889"/>
                        <a:ext cx="101600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127100"/>
              </p:ext>
            </p:extLst>
          </p:nvPr>
        </p:nvGraphicFramePr>
        <p:xfrm>
          <a:off x="4427984" y="4797152"/>
          <a:ext cx="183197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797152"/>
                        <a:ext cx="1831975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039817"/>
              </p:ext>
            </p:extLst>
          </p:nvPr>
        </p:nvGraphicFramePr>
        <p:xfrm>
          <a:off x="6223447" y="4798739"/>
          <a:ext cx="19192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">
                  <p:embed/>
                </p:oleObj>
              </mc:Choice>
              <mc:Fallback>
                <p:oleObj name="Equation" r:id="rId13" imgW="0" imgH="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447" y="4798739"/>
                        <a:ext cx="1919287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0" grpId="0"/>
      <p:bldP spid="10548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64" name="Rectangle 24"/>
              <p:cNvSpPr>
                <a:spLocks noChangeArrowheads="1"/>
              </p:cNvSpPr>
              <p:nvPr/>
            </p:nvSpPr>
            <p:spPr bwMode="auto">
              <a:xfrm>
                <a:off x="672405" y="3863186"/>
                <a:ext cx="8220075" cy="21236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说明：</a:t>
                </a:r>
              </a:p>
              <a:p>
                <a:pPr marL="625475" indent="-354013">
                  <a:lnSpc>
                    <a:spcPct val="150000"/>
                  </a:lnSpc>
                  <a:buFontTx/>
                  <a:buAutoNum type="arabicPeriod"/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矩阵乘法不一定满足交换律，即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𝑨𝑩</m:t>
                    </m:r>
                    <m:r>
                      <a:rPr kumimoji="1"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≠</m:t>
                    </m:r>
                    <m:r>
                      <a:rPr kumimoji="1"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𝑩𝑨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.</a:t>
                </a:r>
              </a:p>
              <a:p>
                <a:pPr marL="457200" indent="-185738">
                  <a:lnSpc>
                    <a:spcPct val="125000"/>
                  </a:lnSpc>
                  <a:buFontTx/>
                  <a:buAutoNum type="arabicPeriod"/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,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可能会有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𝑨𝑩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.</a:t>
                </a:r>
                <a:endParaRPr kumimoji="1" lang="zh-CN" altLang="en-US" b="1" dirty="0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  <a:p>
                <a:pPr marL="457200" indent="-457200">
                  <a:lnSpc>
                    <a:spcPct val="125000"/>
                  </a:lnSpc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	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从而不能由 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𝑨𝑩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得出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或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的结论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．</a:t>
                </a:r>
              </a:p>
            </p:txBody>
          </p:sp>
        </mc:Choice>
        <mc:Fallback xmlns="">
          <p:sp>
            <p:nvSpPr>
              <p:cNvPr id="10264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405" y="3863186"/>
                <a:ext cx="8220075" cy="2123658"/>
              </a:xfrm>
              <a:prstGeom prst="rect">
                <a:avLst/>
              </a:prstGeom>
              <a:blipFill>
                <a:blip r:embed="rId2"/>
                <a:stretch>
                  <a:fillRect l="-1112" b="-373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"/>
              <p:cNvSpPr txBox="1">
                <a:spLocks noChangeArrowheads="1"/>
              </p:cNvSpPr>
              <p:nvPr/>
            </p:nvSpPr>
            <p:spPr bwMode="auto">
              <a:xfrm>
                <a:off x="611560" y="620688"/>
                <a:ext cx="7598344" cy="7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例</a:t>
                </a:r>
                <a:r>
                  <a:rPr kumimoji="1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2</a:t>
                </a:r>
                <a:r>
                  <a:rPr kumimoji="1" lang="en-US" altLang="zh-CN" b="1" dirty="0">
                    <a:solidFill>
                      <a:schemeClr val="tx1"/>
                    </a:solidFill>
                    <a:latin typeface="楷体_GB2312"/>
                    <a:ea typeface="楷体_GB2312"/>
                    <a:cs typeface="楷体_GB2312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b="1" dirty="0">
                    <a:solidFill>
                      <a:schemeClr val="tx1"/>
                    </a:solidFill>
                    <a:latin typeface="楷体_GB2312"/>
                    <a:ea typeface="楷体_GB2312"/>
                    <a:cs typeface="楷体_GB231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zh-CN" altLang="en-US" b="1" dirty="0">
                    <a:solidFill>
                      <a:schemeClr val="tx1"/>
                    </a:solidFill>
                    <a:latin typeface="楷体_GB2312"/>
                    <a:ea typeface="楷体_GB2312"/>
                    <a:cs typeface="楷体_GB2312"/>
                  </a:rPr>
                  <a:t>，</a:t>
                </a:r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求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𝑨𝑩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 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𝑩𝑨</m:t>
                    </m:r>
                  </m:oMath>
                </a14:m>
                <a:r>
                  <a:rPr kumimoji="1" lang="en-US" altLang="zh-CN" b="1" dirty="0">
                    <a:solidFill>
                      <a:schemeClr val="tx1"/>
                    </a:solidFill>
                    <a:latin typeface="楷体_GB2312"/>
                    <a:ea typeface="楷体_GB2312"/>
                    <a:cs typeface="楷体_GB2312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620688"/>
                <a:ext cx="7598344" cy="792088"/>
              </a:xfrm>
              <a:prstGeom prst="rect">
                <a:avLst/>
              </a:prstGeom>
              <a:blipFill>
                <a:blip r:embed="rId3"/>
                <a:stretch>
                  <a:fillRect l="-120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0"/>
              <p:cNvSpPr txBox="1"/>
              <p:nvPr/>
            </p:nvSpPr>
            <p:spPr bwMode="auto">
              <a:xfrm>
                <a:off x="4799121" y="2996952"/>
                <a:ext cx="1789103" cy="79208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9121" y="2996952"/>
                <a:ext cx="1789103" cy="7920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2"/>
              <p:cNvSpPr txBox="1"/>
              <p:nvPr/>
            </p:nvSpPr>
            <p:spPr bwMode="auto">
              <a:xfrm>
                <a:off x="4788024" y="1772816"/>
                <a:ext cx="1449880" cy="7920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024" y="1772816"/>
                <a:ext cx="1449880" cy="792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187624" y="1887215"/>
                <a:ext cx="10107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𝑨𝑩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1887215"/>
                <a:ext cx="1010726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1"/>
              <p:cNvSpPr txBox="1"/>
              <p:nvPr/>
            </p:nvSpPr>
            <p:spPr bwMode="auto">
              <a:xfrm>
                <a:off x="2123728" y="3068960"/>
                <a:ext cx="2777611" cy="79208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3728" y="3068960"/>
                <a:ext cx="2777611" cy="7920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187624" y="3141310"/>
                <a:ext cx="10107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𝑩𝑨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141310"/>
                <a:ext cx="1010726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1"/>
              <p:cNvSpPr txBox="1"/>
              <p:nvPr/>
            </p:nvSpPr>
            <p:spPr bwMode="auto">
              <a:xfrm>
                <a:off x="2082421" y="1772816"/>
                <a:ext cx="2777611" cy="79208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2421" y="1772816"/>
                <a:ext cx="2777611" cy="7920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042506" y="1887214"/>
                <a:ext cx="8103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506" y="1887214"/>
                <a:ext cx="810350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544891" y="1476237"/>
            <a:ext cx="894797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1" lang="en-US" altLang="zh-CN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解：</a:t>
            </a: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6732240" y="3068960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3103F3"/>
                </a:solidFill>
                <a:latin typeface="Times New Roman" pitchFamily="18" charset="0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6424400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0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4" grpId="0" uiExpand="1" build="p" autoUpdateAnimBg="0"/>
      <p:bldP spid="10" grpId="0"/>
      <p:bldP spid="12" grpId="0"/>
      <p:bldP spid="2" grpId="0"/>
      <p:bldP spid="14" grpId="0"/>
      <p:bldP spid="15" grpId="0"/>
      <p:bldP spid="16" grpId="0"/>
      <p:bldP spid="17" grpId="0"/>
      <p:bldP spid="4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64" name="Rectangle 24"/>
              <p:cNvSpPr>
                <a:spLocks noChangeArrowheads="1"/>
              </p:cNvSpPr>
              <p:nvPr/>
            </p:nvSpPr>
            <p:spPr bwMode="auto">
              <a:xfrm>
                <a:off x="678892" y="3573016"/>
                <a:ext cx="6439036" cy="11310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indent="-457200">
                  <a:lnSpc>
                    <a:spcPct val="150000"/>
                  </a:lnSpc>
                </a:pP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说明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虽然满足</a:t>
                </a:r>
                <a14:m>
                  <m:oMath xmlns:m="http://schemas.openxmlformats.org/officeDocument/2006/math">
                    <m:r>
                      <a:rPr kumimoji="1" lang="en-US" altLang="zh-CN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kumimoji="1"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𝑨𝑩</m:t>
                    </m:r>
                    <m:r>
                      <a:rPr kumimoji="1" lang="en-US" altLang="zh-CN" b="1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𝑨𝑪</m:t>
                    </m:r>
                    <m:r>
                      <a:rPr kumimoji="1" lang="zh-CN" altLang="en-US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/>
                        <a:ea typeface="楷体_GB2312"/>
                        <a:cs typeface="楷体_GB2312"/>
                      </a:rPr>
                      <m:t>，</m:t>
                    </m:r>
                    <m:r>
                      <a:rPr kumimoji="1"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≠</m:t>
                    </m:r>
                  </m:oMath>
                </a14:m>
                <a:r>
                  <a:rPr kumimoji="1" lang="en-US" altLang="zh-CN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楷体_GB2312"/>
                    <a:ea typeface="楷体_GB2312"/>
                    <a:cs typeface="楷体_GB2312"/>
                  </a:rPr>
                  <a:t>0</a:t>
                </a:r>
                <a:r>
                  <a:rPr kumimoji="1" lang="en-US" altLang="zh-CN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,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但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≠</m:t>
                    </m:r>
                    <m:r>
                      <a:rPr kumimoji="1" lang="en-US" altLang="zh-CN" b="1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𝑪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．</a:t>
                </a:r>
              </a:p>
              <a:p>
                <a:pPr indent="-457200">
                  <a:lnSpc>
                    <a:spcPct val="150000"/>
                  </a:lnSpc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        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故，矩阵乘法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不满足消去律</a:t>
                </a:r>
                <a:r>
                  <a:rPr kumimoji="1"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	</a:t>
                </a:r>
              </a:p>
            </p:txBody>
          </p:sp>
        </mc:Choice>
        <mc:Fallback xmlns="">
          <p:sp>
            <p:nvSpPr>
              <p:cNvPr id="10264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892" y="3573016"/>
                <a:ext cx="6439036" cy="1131079"/>
              </a:xfrm>
              <a:prstGeom prst="rect">
                <a:avLst/>
              </a:prstGeom>
              <a:blipFill>
                <a:blip r:embed="rId2"/>
                <a:stretch>
                  <a:fillRect l="-1419" b="-967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"/>
              <p:cNvSpPr txBox="1">
                <a:spLocks noChangeArrowheads="1"/>
              </p:cNvSpPr>
              <p:nvPr/>
            </p:nvSpPr>
            <p:spPr bwMode="auto">
              <a:xfrm>
                <a:off x="678892" y="404664"/>
                <a:ext cx="7598344" cy="7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例</a:t>
                </a:r>
                <a:r>
                  <a:rPr kumimoji="1" lang="en-US" altLang="zh-CN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3 </a:t>
                </a:r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b="1" dirty="0">
                    <a:solidFill>
                      <a:schemeClr val="tx1"/>
                    </a:solidFill>
                    <a:latin typeface="楷体_GB2312"/>
                    <a:ea typeface="楷体_GB2312"/>
                    <a:cs typeface="楷体_GB231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b="1" dirty="0">
                    <a:solidFill>
                      <a:schemeClr val="tx1"/>
                    </a:solidFill>
                    <a:latin typeface="楷体_GB2312"/>
                    <a:ea typeface="楷体_GB2312"/>
                    <a:cs typeface="楷体_GB231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𝑪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ctrlPr>
                          <a:rPr kumimoji="1"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  <m:r>
                      <a:rPr kumimoji="1" lang="zh-CN" alt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kumimoji="1" lang="en-US" altLang="zh-CN" b="1" dirty="0">
                  <a:solidFill>
                    <a:srgbClr val="0000FF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8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892" y="404664"/>
                <a:ext cx="7598344" cy="792088"/>
              </a:xfrm>
              <a:prstGeom prst="rect">
                <a:avLst/>
              </a:prstGeom>
              <a:blipFill>
                <a:blip r:embed="rId3"/>
                <a:stretch>
                  <a:fillRect l="-120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331640" y="1196752"/>
                <a:ext cx="16097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求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 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𝑪</m:t>
                    </m:r>
                  </m:oMath>
                </a14:m>
                <a:r>
                  <a:rPr kumimoji="1" lang="en-US" altLang="zh-CN" b="1" dirty="0">
                    <a:solidFill>
                      <a:schemeClr val="tx1"/>
                    </a:solidFill>
                    <a:latin typeface="楷体_GB2312"/>
                    <a:ea typeface="楷体_GB2312"/>
                    <a:cs typeface="楷体_GB2312"/>
                  </a:rPr>
                  <a:t>. 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1196752"/>
                <a:ext cx="1609736" cy="461665"/>
              </a:xfrm>
              <a:prstGeom prst="rect">
                <a:avLst/>
              </a:prstGeom>
              <a:blipFill>
                <a:blip r:embed="rId4"/>
                <a:stretch>
                  <a:fillRect l="-5660" t="-14474" r="-4528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2"/>
              <p:cNvSpPr txBox="1"/>
              <p:nvPr/>
            </p:nvSpPr>
            <p:spPr bwMode="auto">
              <a:xfrm>
                <a:off x="4896039" y="2780928"/>
                <a:ext cx="1764193" cy="837821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6039" y="2780928"/>
                <a:ext cx="1764193" cy="8378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652735" y="2887068"/>
                <a:ext cx="9802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𝑨𝑪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35" y="2887068"/>
                <a:ext cx="9802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1"/>
              <p:cNvSpPr txBox="1"/>
              <p:nvPr/>
            </p:nvSpPr>
            <p:spPr bwMode="auto">
              <a:xfrm>
                <a:off x="2483768" y="1766397"/>
                <a:ext cx="2681287" cy="654491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1766397"/>
                <a:ext cx="2681287" cy="6544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610519" y="1886058"/>
                <a:ext cx="10107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𝑨𝑩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519" y="1886058"/>
                <a:ext cx="101072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1"/>
              <p:cNvSpPr txBox="1"/>
              <p:nvPr/>
            </p:nvSpPr>
            <p:spPr bwMode="auto">
              <a:xfrm>
                <a:off x="2483768" y="2748086"/>
                <a:ext cx="2520280" cy="76118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2748086"/>
                <a:ext cx="2520280" cy="7611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598619" y="1772816"/>
            <a:ext cx="805029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kumimoji="1"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</a:t>
            </a:r>
            <a:r>
              <a:rPr kumimoji="1" lang="en-US" altLang="zh-CN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:</a:t>
            </a:r>
            <a:endParaRPr kumimoji="1" lang="zh-CN" altLang="en-US" b="1" dirty="0">
              <a:solidFill>
                <a:schemeClr val="bg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2"/>
              <p:cNvSpPr txBox="1"/>
              <p:nvPr/>
            </p:nvSpPr>
            <p:spPr bwMode="auto">
              <a:xfrm>
                <a:off x="5138093" y="1762916"/>
                <a:ext cx="1882179" cy="66897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8093" y="1762916"/>
                <a:ext cx="1882179" cy="6689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1979712" y="4653136"/>
            <a:ext cx="4320480" cy="1413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457200">
              <a:lnSpc>
                <a:spcPct val="125000"/>
              </a:lnSpc>
            </a:pP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1.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矩阵乘法不满足交换律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;</a:t>
            </a:r>
          </a:p>
          <a:p>
            <a:pPr indent="-457200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2.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矩阵乘法不满足消去律；</a:t>
            </a:r>
            <a:endParaRPr kumimoji="1"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  <a:p>
            <a:pPr indent="-457200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3.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矩阵有非零的零因子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  <a:endParaRPr kumimoji="1" lang="zh-CN" altLang="en-US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24264" y="4797152"/>
            <a:ext cx="504056" cy="1200329"/>
          </a:xfrm>
          <a:prstGeom prst="rect">
            <a:avLst/>
          </a:prstGeom>
          <a:ln w="19050" cmpd="dbl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请记住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24"/>
              <p:cNvSpPr>
                <a:spLocks noChangeArrowheads="1"/>
              </p:cNvSpPr>
              <p:nvPr/>
            </p:nvSpPr>
            <p:spPr bwMode="auto">
              <a:xfrm>
                <a:off x="1979713" y="5939232"/>
                <a:ext cx="5328592" cy="5732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由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𝑨𝑩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/>
                        <a:ea typeface="楷体_GB2312"/>
                        <a:cs typeface="楷体_GB2312"/>
                      </a:rPr>
                      <m:t>      </m:t>
                    </m:r>
                    <m:r>
                      <a:rPr kumimoji="1" lang="en-US" altLang="zh-CN" b="1" i="0" smtClean="0">
                        <a:solidFill>
                          <a:srgbClr val="000000"/>
                        </a:solidFill>
                        <a:latin typeface="Cambria Math"/>
                        <a:ea typeface="楷体_GB2312"/>
                        <a:cs typeface="楷体_GB2312"/>
                      </a:rPr>
                      <m:t>             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或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𝟎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．</a:t>
                </a:r>
              </a:p>
            </p:txBody>
          </p:sp>
        </mc:Choice>
        <mc:Fallback xmlns="">
          <p:sp>
            <p:nvSpPr>
              <p:cNvPr id="19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713" y="5939232"/>
                <a:ext cx="5328592" cy="573298"/>
              </a:xfrm>
              <a:prstGeom prst="rect">
                <a:avLst/>
              </a:prstGeom>
              <a:blipFill>
                <a:blip r:embed="rId14"/>
                <a:stretch>
                  <a:fillRect l="-1831" b="-2553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4"/>
          <p:cNvSpPr/>
          <p:nvPr/>
        </p:nvSpPr>
        <p:spPr bwMode="auto">
          <a:xfrm>
            <a:off x="3563888" y="6188713"/>
            <a:ext cx="1080120" cy="16302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3923928" y="6093296"/>
            <a:ext cx="410120" cy="38206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 16">
            <a:extLst>
              <a:ext uri="{FF2B5EF4-FFF2-40B4-BE49-F238E27FC236}">
                <a16:creationId xmlns:a16="http://schemas.microsoft.com/office/drawing/2014/main" id="{4DF878D3-2EE7-A3D0-9AE1-68FA466F1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232" y="2833117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3103F3"/>
                </a:solidFill>
                <a:latin typeface="Times New Roman" pitchFamily="18" charset="0"/>
              </a:rPr>
              <a:t>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4" grpId="0"/>
      <p:bldP spid="14" grpId="0"/>
      <p:bldP spid="15" grpId="0"/>
      <p:bldP spid="16" grpId="0"/>
      <p:bldP spid="17" grpId="0"/>
      <p:bldP spid="20" grpId="0"/>
      <p:bldP spid="22" grpId="0" build="p" autoUpdateAnimBg="0"/>
      <p:bldP spid="3" grpId="0" animBg="1"/>
      <p:bldP spid="19" grpId="0"/>
      <p:bldP spid="5" grpId="0" animBg="1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6" name="Rectangle 4"/>
          <p:cNvSpPr>
            <a:spLocks noChangeArrowheads="1"/>
          </p:cNvSpPr>
          <p:nvPr/>
        </p:nvSpPr>
        <p:spPr bwMode="auto">
          <a:xfrm>
            <a:off x="455613" y="455613"/>
            <a:ext cx="47275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矩阵乘法的运算规律    </a:t>
            </a: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455613" y="1255304"/>
            <a:ext cx="2892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(1)</a:t>
            </a:r>
            <a:r>
              <a:rPr kumimoji="1"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乘法结合律 </a:t>
            </a:r>
          </a:p>
        </p:txBody>
      </p:sp>
      <p:graphicFrame>
        <p:nvGraphicFramePr>
          <p:cNvPr id="4403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430792"/>
              </p:ext>
            </p:extLst>
          </p:nvPr>
        </p:nvGraphicFramePr>
        <p:xfrm>
          <a:off x="3482975" y="1280704"/>
          <a:ext cx="21828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975" y="1280704"/>
                        <a:ext cx="21828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455613" y="2311512"/>
            <a:ext cx="4044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(3)</a:t>
            </a:r>
            <a:r>
              <a:rPr kumimoji="1"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乘法对加法的分配律</a:t>
            </a:r>
          </a:p>
        </p:txBody>
      </p:sp>
      <p:graphicFrame>
        <p:nvGraphicFramePr>
          <p:cNvPr id="4404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049228"/>
              </p:ext>
            </p:extLst>
          </p:nvPr>
        </p:nvGraphicFramePr>
        <p:xfrm>
          <a:off x="1619250" y="2887576"/>
          <a:ext cx="5891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887576"/>
                        <a:ext cx="58912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040" name="Rectangle 8"/>
              <p:cNvSpPr>
                <a:spLocks noChangeArrowheads="1"/>
              </p:cNvSpPr>
              <p:nvPr/>
            </p:nvSpPr>
            <p:spPr bwMode="auto">
              <a:xfrm>
                <a:off x="455613" y="1807456"/>
                <a:ext cx="836453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(2)</a:t>
                </a:r>
                <a:r>
                  <a:rPr kumimoji="1"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数乘和乘法的结合律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𝝀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𝑨𝑩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𝝀</m:t>
                        </m:r>
                        <m: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𝑨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,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𝝀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是数</a:t>
                </a:r>
              </a:p>
            </p:txBody>
          </p:sp>
        </mc:Choice>
        <mc:Fallback xmlns="">
          <p:sp>
            <p:nvSpPr>
              <p:cNvPr id="44040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613" y="1807456"/>
                <a:ext cx="8364537" cy="461665"/>
              </a:xfrm>
              <a:prstGeom prst="rect">
                <a:avLst/>
              </a:prstGeom>
              <a:blipFill>
                <a:blip r:embed="rId6"/>
                <a:stretch>
                  <a:fillRect l="-1166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460846" y="3463640"/>
            <a:ext cx="6775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(4) 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单位矩阵在矩阵乘法中的作用类似于数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，即</a:t>
            </a:r>
          </a:p>
        </p:txBody>
      </p:sp>
      <p:graphicFrame>
        <p:nvGraphicFramePr>
          <p:cNvPr id="4404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492420"/>
              </p:ext>
            </p:extLst>
          </p:nvPr>
        </p:nvGraphicFramePr>
        <p:xfrm>
          <a:off x="2640261" y="4111340"/>
          <a:ext cx="284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261" y="4111340"/>
                        <a:ext cx="2844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046" name="Rectangle 14"/>
              <p:cNvSpPr>
                <a:spLocks noChangeArrowheads="1"/>
              </p:cNvSpPr>
              <p:nvPr/>
            </p:nvSpPr>
            <p:spPr bwMode="auto">
              <a:xfrm>
                <a:off x="528389" y="4831792"/>
                <a:ext cx="8220075" cy="9734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注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矩阵乘法</a:t>
                </a: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不满足交换律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，但是纯量阵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𝝀</m:t>
                    </m:r>
                    <m:r>
                      <a:rPr kumimoji="1"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𝑬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与任何同阶方阵都是可交换的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44046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389" y="4831792"/>
                <a:ext cx="8220075" cy="973472"/>
              </a:xfrm>
              <a:prstGeom prst="rect">
                <a:avLst/>
              </a:prstGeom>
              <a:blipFill>
                <a:blip r:embed="rId9"/>
                <a:stretch>
                  <a:fillRect l="-1187" t="-2516" b="-1132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/>
      <p:bldP spid="44041" grpId="0"/>
      <p:bldP spid="44040" grpId="0"/>
      <p:bldP spid="44045" grpId="0"/>
      <p:bldP spid="440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9989" name="Rectangle 2"/>
              <p:cNvSpPr>
                <a:spLocks noChangeArrowheads="1"/>
              </p:cNvSpPr>
              <p:nvPr/>
            </p:nvSpPr>
            <p:spPr bwMode="auto">
              <a:xfrm>
                <a:off x="685800" y="812800"/>
                <a:ext cx="569739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(5) 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方阵的幂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  若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是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𝒏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方阵</a:t>
                </a:r>
                <a:r>
                  <a:rPr kumimoji="1" lang="zh-CN" altLang="en-US" b="1" dirty="0">
                    <a:solidFill>
                      <a:srgbClr val="00007D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定义：</a:t>
                </a:r>
              </a:p>
            </p:txBody>
          </p:sp>
        </mc:Choice>
        <mc:Fallback xmlns="">
          <p:sp>
            <p:nvSpPr>
              <p:cNvPr id="169989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812800"/>
                <a:ext cx="5697394" cy="461665"/>
              </a:xfrm>
              <a:prstGeom prst="rect">
                <a:avLst/>
              </a:prstGeom>
              <a:blipFill>
                <a:blip r:embed="rId2"/>
                <a:stretch>
                  <a:fillRect l="-1713" t="-14474" r="-642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322" name="Object 11"/>
          <p:cNvGraphicFramePr>
            <a:graphicFrameLocks noChangeAspect="1"/>
          </p:cNvGraphicFramePr>
          <p:nvPr/>
        </p:nvGraphicFramePr>
        <p:xfrm>
          <a:off x="3059832" y="1412875"/>
          <a:ext cx="195738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412875"/>
                        <a:ext cx="1957387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1185863" y="2301503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显然</a:t>
            </a:r>
          </a:p>
        </p:txBody>
      </p:sp>
      <p:graphicFrame>
        <p:nvGraphicFramePr>
          <p:cNvPr id="45061" name="Object 12"/>
          <p:cNvGraphicFramePr>
            <a:graphicFrameLocks noChangeAspect="1"/>
          </p:cNvGraphicFramePr>
          <p:nvPr/>
        </p:nvGraphicFramePr>
        <p:xfrm>
          <a:off x="2100263" y="2277690"/>
          <a:ext cx="36242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2277690"/>
                        <a:ext cx="3624262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976118"/>
              </p:ext>
            </p:extLst>
          </p:nvPr>
        </p:nvGraphicFramePr>
        <p:xfrm>
          <a:off x="1761481" y="3840832"/>
          <a:ext cx="3890962" cy="162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481" y="3840832"/>
                        <a:ext cx="3890962" cy="162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800149" y="3240757"/>
            <a:ext cx="4779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思考：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下列等式在什么时候成立？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66" name="Text Box 10"/>
              <p:cNvSpPr txBox="1">
                <a:spLocks noChangeArrowheads="1"/>
              </p:cNvSpPr>
              <p:nvPr/>
            </p:nvSpPr>
            <p:spPr bwMode="auto">
              <a:xfrm>
                <a:off x="5828656" y="4425032"/>
                <a:ext cx="27733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3103F3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smtClean="0">
                        <a:solidFill>
                          <a:srgbClr val="3103F3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r>
                      <a:rPr kumimoji="1" lang="en-US" altLang="zh-CN" b="1" i="1" smtClean="0">
                        <a:solidFill>
                          <a:srgbClr val="3103F3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</m:oMath>
                </a14:m>
                <a:r>
                  <a:rPr kumimoji="1" lang="zh-CN" altLang="en-US" b="1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可交换时成立</a:t>
                </a:r>
              </a:p>
            </p:txBody>
          </p:sp>
        </mc:Choice>
        <mc:Fallback xmlns="">
          <p:sp>
            <p:nvSpPr>
              <p:cNvPr id="45066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8656" y="4425032"/>
                <a:ext cx="2773362" cy="461665"/>
              </a:xfrm>
              <a:prstGeom prst="rect">
                <a:avLst/>
              </a:prstGeom>
              <a:blipFill>
                <a:blip r:embed="rId9"/>
                <a:stretch>
                  <a:fillRect l="-440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72" name="AutoShape 16"/>
          <p:cNvSpPr>
            <a:spLocks/>
          </p:cNvSpPr>
          <p:nvPr/>
        </p:nvSpPr>
        <p:spPr bwMode="auto">
          <a:xfrm>
            <a:off x="5587356" y="3788445"/>
            <a:ext cx="144462" cy="1728787"/>
          </a:xfrm>
          <a:prstGeom prst="rightBrace">
            <a:avLst>
              <a:gd name="adj1" fmla="val 99726"/>
              <a:gd name="adj2" fmla="val 52523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3" grpId="0"/>
      <p:bldP spid="45066" grpId="0"/>
      <p:bldP spid="4507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58211" name="Object 3"/>
              <p:cNvSpPr txBox="1"/>
              <p:nvPr/>
            </p:nvSpPr>
            <p:spPr bwMode="auto">
              <a:xfrm>
                <a:off x="899220" y="1794507"/>
                <a:ext cx="4608884" cy="6955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5821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220" y="1794507"/>
                <a:ext cx="4608884" cy="695575"/>
              </a:xfrm>
              <a:prstGeom prst="rect">
                <a:avLst/>
              </a:prstGeom>
              <a:blipFill>
                <a:blip r:embed="rId2"/>
                <a:stretch>
                  <a:fillRect l="-1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8212" name="Object 4"/>
              <p:cNvSpPr txBox="1"/>
              <p:nvPr/>
            </p:nvSpPr>
            <p:spPr bwMode="auto">
              <a:xfrm>
                <a:off x="2483768" y="2568140"/>
                <a:ext cx="4149948" cy="50445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𝐵𝐵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582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2568140"/>
                <a:ext cx="4149948" cy="5044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8213" name="Object 5"/>
              <p:cNvSpPr txBox="1"/>
              <p:nvPr/>
            </p:nvSpPr>
            <p:spPr bwMode="auto">
              <a:xfrm>
                <a:off x="2483297" y="3136014"/>
                <a:ext cx="4176935" cy="6562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5821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297" y="3136014"/>
                <a:ext cx="4176935" cy="6562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8214" name="Object 6"/>
              <p:cNvSpPr txBox="1"/>
              <p:nvPr/>
            </p:nvSpPr>
            <p:spPr bwMode="auto">
              <a:xfrm>
                <a:off x="971922" y="4008300"/>
                <a:ext cx="6552406" cy="5760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5821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922" y="4008300"/>
                <a:ext cx="6552406" cy="576063"/>
              </a:xfrm>
              <a:prstGeom prst="rect">
                <a:avLst/>
              </a:prstGeom>
              <a:blipFill>
                <a:blip r:embed="rId5"/>
                <a:stretch>
                  <a:fillRect l="-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"/>
              <p:cNvSpPr txBox="1"/>
              <p:nvPr/>
            </p:nvSpPr>
            <p:spPr bwMode="auto">
              <a:xfrm>
                <a:off x="899363" y="1110432"/>
                <a:ext cx="3672401" cy="5760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𝐴𝐵𝐴𝐵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363" y="1110432"/>
                <a:ext cx="3672401" cy="576063"/>
              </a:xfrm>
              <a:prstGeom prst="rect">
                <a:avLst/>
              </a:prstGeom>
              <a:blipFill>
                <a:blip r:embed="rId6"/>
                <a:stretch>
                  <a:fillRect l="-1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9" name="TextBox 1"/>
          <p:cNvSpPr txBox="1">
            <a:spLocks noChangeArrowheads="1"/>
          </p:cNvSpPr>
          <p:nvPr/>
        </p:nvSpPr>
        <p:spPr bwMode="auto">
          <a:xfrm>
            <a:off x="3786188" y="500063"/>
            <a:ext cx="18659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  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42" name="Object 14"/>
              <p:cNvSpPr txBox="1"/>
              <p:nvPr/>
            </p:nvSpPr>
            <p:spPr bwMode="auto">
              <a:xfrm>
                <a:off x="449263" y="1531939"/>
                <a:ext cx="4914825" cy="8889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已知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&amp;−2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&amp;3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94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263" y="1531939"/>
                <a:ext cx="4914825" cy="888950"/>
              </a:xfrm>
              <a:prstGeom prst="rect">
                <a:avLst/>
              </a:prstGeom>
              <a:blipFill>
                <a:blip r:embed="rId2"/>
                <a:stretch>
                  <a:fillRect l="-1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035" name="Object 3"/>
              <p:cNvSpPr txBox="1"/>
              <p:nvPr/>
            </p:nvSpPr>
            <p:spPr bwMode="auto">
              <a:xfrm>
                <a:off x="5279529" y="1500188"/>
                <a:ext cx="2316807" cy="1082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3 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20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9529" y="1500188"/>
                <a:ext cx="2316807" cy="1082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28625" y="2564904"/>
            <a:ext cx="300037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 </a:t>
            </a:r>
            <a:r>
              <a:rPr lang="en-US" altLang="zh-CN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 </a:t>
            </a:r>
            <a:r>
              <a:rPr lang="en-US" altLang="zh-CN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BC.</a:t>
            </a:r>
            <a:endParaRPr lang="zh-CN" altLang="en-US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/>
              <p:cNvSpPr txBox="1"/>
              <p:nvPr/>
            </p:nvSpPr>
            <p:spPr bwMode="auto">
              <a:xfrm>
                <a:off x="1259632" y="3645024"/>
                <a:ext cx="4608512" cy="10081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3645024"/>
                <a:ext cx="4608512" cy="1008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/>
              <p:cNvSpPr txBox="1"/>
              <p:nvPr/>
            </p:nvSpPr>
            <p:spPr bwMode="auto">
              <a:xfrm>
                <a:off x="5651451" y="3645024"/>
                <a:ext cx="1872877" cy="93610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；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1451" y="3645024"/>
                <a:ext cx="1872877" cy="9361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 bwMode="auto">
              <a:xfrm>
                <a:off x="2751063" y="4869160"/>
                <a:ext cx="3405113" cy="10810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&amp;13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eqAr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▋</a:t>
                </a:r>
                <a:endParaRPr lang="zh-CN" altLang="en-US" dirty="0">
                  <a:solidFill>
                    <a:srgbClr val="3103F3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1063" y="4869160"/>
                <a:ext cx="3405113" cy="10810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39552" y="328498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lang="zh-CN" altLang="en-US" dirty="0">
              <a:solidFill>
                <a:srgbClr val="3103F3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2" name="Rectangle 2"/>
          <p:cNvSpPr>
            <a:spLocks noChangeAspect="1" noChangeArrowheads="1"/>
          </p:cNvSpPr>
          <p:nvPr/>
        </p:nvSpPr>
        <p:spPr bwMode="auto">
          <a:xfrm>
            <a:off x="611560" y="44624"/>
            <a:ext cx="519492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40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四、矩阵的转置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499" name="Text Box 3"/>
              <p:cNvSpPr txBox="1">
                <a:spLocks noChangeArrowheads="1"/>
              </p:cNvSpPr>
              <p:nvPr/>
            </p:nvSpPr>
            <p:spPr bwMode="auto">
              <a:xfrm>
                <a:off x="639763" y="1052736"/>
                <a:ext cx="7905750" cy="1041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定义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把矩阵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的行换成同序数的列得到的新矩阵，叫做 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转置矩阵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，记作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kumimoji="1" lang="en-US" altLang="zh-CN" b="1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𝑻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10649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763" y="1052736"/>
                <a:ext cx="7905750" cy="1041400"/>
              </a:xfrm>
              <a:prstGeom prst="rect">
                <a:avLst/>
              </a:prstGeom>
              <a:blipFill>
                <a:blip r:embed="rId2"/>
                <a:stretch>
                  <a:fillRect l="-1234" t="-585" b="-701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09" name="Text Box 13"/>
          <p:cNvSpPr txBox="1">
            <a:spLocks noChangeArrowheads="1"/>
          </p:cNvSpPr>
          <p:nvPr/>
        </p:nvSpPr>
        <p:spPr bwMode="auto">
          <a:xfrm>
            <a:off x="683568" y="2530748"/>
            <a:ext cx="6477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4</a:t>
            </a:r>
            <a:endParaRPr kumimoji="1" lang="zh-CN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106510" name="Object 14"/>
          <p:cNvGraphicFramePr>
            <a:graphicFrameLocks noChangeAspect="1"/>
          </p:cNvGraphicFramePr>
          <p:nvPr/>
        </p:nvGraphicFramePr>
        <p:xfrm>
          <a:off x="1951509" y="2289448"/>
          <a:ext cx="20812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509" y="2289448"/>
                        <a:ext cx="2081213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2" name="Object 16"/>
          <p:cNvGraphicFramePr>
            <a:graphicFrameLocks noChangeAspect="1"/>
          </p:cNvGraphicFramePr>
          <p:nvPr/>
        </p:nvGraphicFramePr>
        <p:xfrm>
          <a:off x="4759821" y="2060848"/>
          <a:ext cx="18018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821" y="2060848"/>
                        <a:ext cx="1801812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724272" y="3510072"/>
            <a:ext cx="4495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转置矩阵的运算性质</a:t>
            </a:r>
            <a:r>
              <a:rPr kumimoji="1" lang="en-US" altLang="zh-CN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:</a:t>
            </a:r>
            <a:endParaRPr kumimoji="1" lang="zh-CN" altLang="en-US" sz="2800" b="1" dirty="0">
              <a:solidFill>
                <a:srgbClr val="3103F3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1660376" y="4077072"/>
          <a:ext cx="21145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376" y="4077072"/>
                        <a:ext cx="2114550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/>
          <p:cNvGraphicFramePr>
            <a:graphicFrameLocks noChangeAspect="1"/>
          </p:cNvGraphicFramePr>
          <p:nvPr/>
        </p:nvGraphicFramePr>
        <p:xfrm>
          <a:off x="1660376" y="4653136"/>
          <a:ext cx="340201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376" y="4653136"/>
                        <a:ext cx="3402013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1660376" y="5244554"/>
          <a:ext cx="25511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376" y="5244554"/>
                        <a:ext cx="2551113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1660376" y="5805264"/>
          <a:ext cx="27162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">
                  <p:embed/>
                </p:oleObj>
              </mc:Choice>
              <mc:Fallback>
                <p:oleObj name="Equation" r:id="rId1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376" y="5805264"/>
                        <a:ext cx="2716213" cy="4905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4592638" y="5799953"/>
            <a:ext cx="449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3103F3"/>
                </a:solidFill>
                <a:latin typeface="Times New Roman" pitchFamily="18" charset="0"/>
                <a:ea typeface="楷体_GB2312"/>
                <a:cs typeface="楷体_GB2312"/>
              </a:rPr>
              <a:t>Dressing-undressing principle</a:t>
            </a:r>
            <a:endParaRPr kumimoji="1" lang="zh-CN" altLang="en-US" b="1" dirty="0">
              <a:solidFill>
                <a:srgbClr val="3103F3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5401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/>
      <p:bldP spid="106509" grpId="0"/>
      <p:bldP spid="9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2"/>
          <p:cNvSpPr>
            <a:spLocks noChangeArrowheads="1"/>
          </p:cNvSpPr>
          <p:nvPr/>
        </p:nvSpPr>
        <p:spPr bwMode="auto">
          <a:xfrm>
            <a:off x="611560" y="404664"/>
            <a:ext cx="16289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4 </a:t>
            </a:r>
            <a:r>
              <a:rPr kumimoji="1" lang="zh-CN" altLang="en-US" sz="28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已知</a:t>
            </a:r>
          </a:p>
        </p:txBody>
      </p:sp>
      <p:graphicFrame>
        <p:nvGraphicFramePr>
          <p:cNvPr id="176130" name="Object 11"/>
          <p:cNvGraphicFramePr>
            <a:graphicFrameLocks noChangeAspect="1"/>
          </p:cNvGraphicFramePr>
          <p:nvPr/>
        </p:nvGraphicFramePr>
        <p:xfrm>
          <a:off x="1143000" y="1106488"/>
          <a:ext cx="7316788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06488"/>
                        <a:ext cx="7316788" cy="171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26679" y="2743200"/>
            <a:ext cx="5391152" cy="3148013"/>
            <a:chOff x="576" y="1728"/>
            <a:chExt cx="3396" cy="1983"/>
          </a:xfrm>
        </p:grpSpPr>
        <p:sp>
          <p:nvSpPr>
            <p:cNvPr id="176135" name="Text Box 5"/>
            <p:cNvSpPr txBox="1">
              <a:spLocks noChangeArrowheads="1"/>
            </p:cNvSpPr>
            <p:nvPr/>
          </p:nvSpPr>
          <p:spPr bwMode="auto">
            <a:xfrm>
              <a:off x="576" y="1728"/>
              <a:ext cx="6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rPr>
                <a:t>解法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rPr>
                <a:t>1</a:t>
              </a:r>
            </a:p>
          </p:txBody>
        </p:sp>
        <p:graphicFrame>
          <p:nvGraphicFramePr>
            <p:cNvPr id="176132" name="Object 12"/>
            <p:cNvGraphicFramePr>
              <a:graphicFrameLocks noChangeAspect="1"/>
            </p:cNvGraphicFramePr>
            <p:nvPr/>
          </p:nvGraphicFramePr>
          <p:xfrm>
            <a:off x="776" y="1888"/>
            <a:ext cx="3196" cy="18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">
                    <p:embed/>
                  </p:oleObj>
                </mc:Choice>
                <mc:Fallback>
                  <p:oleObj name="Equation" r:id="rId4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1888"/>
                          <a:ext cx="3196" cy="18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125596"/>
              </p:ext>
            </p:extLst>
          </p:nvPr>
        </p:nvGraphicFramePr>
        <p:xfrm>
          <a:off x="5148064" y="4653136"/>
          <a:ext cx="3021013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653136"/>
                        <a:ext cx="3021013" cy="167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6">
            <a:extLst>
              <a:ext uri="{FF2B5EF4-FFF2-40B4-BE49-F238E27FC236}">
                <a16:creationId xmlns:a16="http://schemas.microsoft.com/office/drawing/2014/main" id="{ECF637D4-22A0-B34E-2158-83E0F126A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0320" y="5229200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3103F3"/>
                </a:solidFill>
                <a:latin typeface="Times New Roman" pitchFamily="18" charset="0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356703818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2"/>
          <p:cNvSpPr>
            <a:spLocks noChangeArrowheads="1"/>
          </p:cNvSpPr>
          <p:nvPr/>
        </p:nvSpPr>
        <p:spPr bwMode="auto">
          <a:xfrm>
            <a:off x="611188" y="762000"/>
            <a:ext cx="10871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解法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</a:p>
        </p:txBody>
      </p:sp>
      <p:graphicFrame>
        <p:nvGraphicFramePr>
          <p:cNvPr id="25603" name="Object 8"/>
          <p:cNvGraphicFramePr>
            <a:graphicFrameLocks noChangeAspect="1"/>
          </p:cNvGraphicFramePr>
          <p:nvPr/>
        </p:nvGraphicFramePr>
        <p:xfrm>
          <a:off x="1259632" y="1484784"/>
          <a:ext cx="24638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484784"/>
                        <a:ext cx="24638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9"/>
          <p:cNvGraphicFramePr>
            <a:graphicFrameLocks noChangeAspect="1"/>
          </p:cNvGraphicFramePr>
          <p:nvPr/>
        </p:nvGraphicFramePr>
        <p:xfrm>
          <a:off x="2339975" y="2328863"/>
          <a:ext cx="5842000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328863"/>
                        <a:ext cx="5842000" cy="178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6">
            <a:extLst>
              <a:ext uri="{FF2B5EF4-FFF2-40B4-BE49-F238E27FC236}">
                <a16:creationId xmlns:a16="http://schemas.microsoft.com/office/drawing/2014/main" id="{AABE5FA1-1E45-2285-82CC-EE9071FA2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416" y="2905125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3103F3"/>
                </a:solidFill>
                <a:latin typeface="Times New Roman" pitchFamily="18" charset="0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38951812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8548" name="Text Box 4"/>
              <p:cNvSpPr txBox="1">
                <a:spLocks noChangeArrowheads="1"/>
              </p:cNvSpPr>
              <p:nvPr/>
            </p:nvSpPr>
            <p:spPr bwMode="auto">
              <a:xfrm>
                <a:off x="639763" y="548681"/>
                <a:ext cx="8035925" cy="15125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设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阶方阵，如果满足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，即</a:t>
                </a: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那么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称为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对称阵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854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763" y="548681"/>
                <a:ext cx="8035925" cy="1512540"/>
              </a:xfrm>
              <a:prstGeom prst="rect">
                <a:avLst/>
              </a:prstGeom>
              <a:blipFill>
                <a:blip r:embed="rId2"/>
                <a:stretch>
                  <a:fillRect l="-1214" t="-403" b="-3830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854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109737"/>
              </p:ext>
            </p:extLst>
          </p:nvPr>
        </p:nvGraphicFramePr>
        <p:xfrm>
          <a:off x="2770188" y="1268413"/>
          <a:ext cx="35306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1268413"/>
                        <a:ext cx="353060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489171"/>
              </p:ext>
            </p:extLst>
          </p:nvPr>
        </p:nvGraphicFramePr>
        <p:xfrm>
          <a:off x="1068388" y="3983038"/>
          <a:ext cx="2424112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388" y="3983038"/>
                        <a:ext cx="2424112" cy="160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2" name="Line 8"/>
          <p:cNvSpPr>
            <a:spLocks noChangeShapeType="1"/>
          </p:cNvSpPr>
          <p:nvPr/>
        </p:nvSpPr>
        <p:spPr bwMode="auto">
          <a:xfrm>
            <a:off x="2259013" y="4357688"/>
            <a:ext cx="871537" cy="871537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8553" name="Line 9"/>
          <p:cNvSpPr>
            <a:spLocks noChangeShapeType="1"/>
          </p:cNvSpPr>
          <p:nvPr/>
        </p:nvSpPr>
        <p:spPr bwMode="auto">
          <a:xfrm flipH="1">
            <a:off x="2166938" y="4294188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8554" name="Line 10"/>
          <p:cNvSpPr>
            <a:spLocks noChangeShapeType="1"/>
          </p:cNvSpPr>
          <p:nvPr/>
        </p:nvSpPr>
        <p:spPr bwMode="auto">
          <a:xfrm flipH="1">
            <a:off x="2051050" y="4294188"/>
            <a:ext cx="106680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8555" name="Line 11"/>
          <p:cNvSpPr>
            <a:spLocks noChangeShapeType="1"/>
          </p:cNvSpPr>
          <p:nvPr/>
        </p:nvSpPr>
        <p:spPr bwMode="auto">
          <a:xfrm flipH="1">
            <a:off x="2699792" y="4868863"/>
            <a:ext cx="3810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60" name="Text Box 16"/>
              <p:cNvSpPr txBox="1">
                <a:spLocks noChangeArrowheads="1"/>
              </p:cNvSpPr>
              <p:nvPr/>
            </p:nvSpPr>
            <p:spPr bwMode="auto">
              <a:xfrm>
                <a:off x="1259632" y="2708920"/>
                <a:ext cx="712879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如果满足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𝑖𝑗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=−</m:t>
                    </m:r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(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𝑖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𝑗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=1,2,⋯,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𝑛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56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2708920"/>
                <a:ext cx="7128792" cy="457200"/>
              </a:xfrm>
              <a:prstGeom prst="rect">
                <a:avLst/>
              </a:prstGeom>
              <a:blipFill>
                <a:blip r:embed="rId7"/>
                <a:stretch>
                  <a:fillRect l="-1369" t="-14667" b="-2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562" name="Rectangle 18"/>
          <p:cNvSpPr>
            <a:spLocks noChangeArrowheads="1"/>
          </p:cNvSpPr>
          <p:nvPr/>
        </p:nvSpPr>
        <p:spPr bwMode="auto">
          <a:xfrm>
            <a:off x="1746845" y="5708104"/>
            <a:ext cx="1255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对称阵  </a:t>
            </a:r>
          </a:p>
        </p:txBody>
      </p:sp>
      <p:graphicFrame>
        <p:nvGraphicFramePr>
          <p:cNvPr id="10856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718279"/>
              </p:ext>
            </p:extLst>
          </p:nvPr>
        </p:nvGraphicFramePr>
        <p:xfrm>
          <a:off x="4860032" y="3983038"/>
          <a:ext cx="2657475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3983038"/>
                        <a:ext cx="2657475" cy="160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64" name="Rectangle 20"/>
          <p:cNvSpPr>
            <a:spLocks noChangeArrowheads="1"/>
          </p:cNvSpPr>
          <p:nvPr/>
        </p:nvSpPr>
        <p:spPr bwMode="auto">
          <a:xfrm>
            <a:off x="5602188" y="5708104"/>
            <a:ext cx="1562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反对称阵  </a:t>
            </a:r>
          </a:p>
        </p:txBody>
      </p:sp>
      <p:sp>
        <p:nvSpPr>
          <p:cNvPr id="108565" name="Line 21"/>
          <p:cNvSpPr>
            <a:spLocks noChangeShapeType="1"/>
          </p:cNvSpPr>
          <p:nvPr/>
        </p:nvSpPr>
        <p:spPr bwMode="auto">
          <a:xfrm>
            <a:off x="6004620" y="4284663"/>
            <a:ext cx="1058862" cy="944562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8566" name="Line 22"/>
          <p:cNvSpPr>
            <a:spLocks noChangeShapeType="1"/>
          </p:cNvSpPr>
          <p:nvPr/>
        </p:nvSpPr>
        <p:spPr bwMode="auto">
          <a:xfrm flipH="1">
            <a:off x="5962799" y="4221088"/>
            <a:ext cx="554631" cy="530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8567" name="Line 23"/>
          <p:cNvSpPr>
            <a:spLocks noChangeShapeType="1"/>
          </p:cNvSpPr>
          <p:nvPr/>
        </p:nvSpPr>
        <p:spPr bwMode="auto">
          <a:xfrm flipH="1">
            <a:off x="6055420" y="4221163"/>
            <a:ext cx="106680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8568" name="Line 24"/>
          <p:cNvSpPr>
            <a:spLocks noChangeShapeType="1"/>
          </p:cNvSpPr>
          <p:nvPr/>
        </p:nvSpPr>
        <p:spPr bwMode="auto">
          <a:xfrm flipH="1">
            <a:off x="6732240" y="4797152"/>
            <a:ext cx="43180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6">
                <a:extLst>
                  <a:ext uri="{FF2B5EF4-FFF2-40B4-BE49-F238E27FC236}">
                    <a16:creationId xmlns:a16="http://schemas.microsoft.com/office/drawing/2014/main" id="{2CEB1D2B-610D-F3DB-A431-844E3E8D3B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3568" y="3356992"/>
                <a:ext cx="4102248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那么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1"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称为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反对称阵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    </a:t>
                </a:r>
              </a:p>
            </p:txBody>
          </p:sp>
        </mc:Choice>
        <mc:Fallback xmlns="">
          <p:sp>
            <p:nvSpPr>
              <p:cNvPr id="3" name="Text Box 16">
                <a:extLst>
                  <a:ext uri="{FF2B5EF4-FFF2-40B4-BE49-F238E27FC236}">
                    <a16:creationId xmlns:a16="http://schemas.microsoft.com/office/drawing/2014/main" id="{2CEB1D2B-610D-F3DB-A431-844E3E8D3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3356992"/>
                <a:ext cx="4102248" cy="457200"/>
              </a:xfrm>
              <a:prstGeom prst="rect">
                <a:avLst/>
              </a:prstGeom>
              <a:blipFill>
                <a:blip r:embed="rId11"/>
                <a:stretch>
                  <a:fillRect l="-2229" t="-14667" b="-32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91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0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0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10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3" dur="500"/>
                                        <p:tgtEl>
                                          <p:spTgt spid="10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build="p"/>
      <p:bldP spid="108552" grpId="0" animBg="1"/>
      <p:bldP spid="108553" grpId="0" animBg="1"/>
      <p:bldP spid="108554" grpId="0" animBg="1"/>
      <p:bldP spid="108555" grpId="0" animBg="1"/>
      <p:bldP spid="108560" grpId="0"/>
      <p:bldP spid="108562" grpId="0"/>
      <p:bldP spid="108564" grpId="0"/>
      <p:bldP spid="108565" grpId="0" animBg="1"/>
      <p:bldP spid="108566" grpId="0" animBg="1"/>
      <p:bldP spid="108567" grpId="0" animBg="1"/>
      <p:bldP spid="108568" grpId="0" animBg="1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9214" name="Text Box 2"/>
              <p:cNvSpPr txBox="1">
                <a:spLocks noChangeArrowheads="1"/>
              </p:cNvSpPr>
              <p:nvPr/>
            </p:nvSpPr>
            <p:spPr bwMode="auto">
              <a:xfrm>
                <a:off x="639763" y="693316"/>
                <a:ext cx="8108701" cy="10795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例</a:t>
                </a:r>
                <a:r>
                  <a:rPr kumimoji="1"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kumimoji="1"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设列矩阵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=( 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1" lang="en-US" altLang="zh-CN" b="0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1" lang="en-US" altLang="zh-CN" b="0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⋯,</m:t>
                    </m:r>
                    <m:sSub>
                      <m:sSubPr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kumimoji="1" lang="en-US" altLang="zh-CN" b="0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CN" b="0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kumimoji="1" lang="en-US" altLang="zh-CN" b="0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=1</m:t>
                    </m:r>
                    <m:r>
                      <a:rPr kumimoji="1" lang="zh-CN" altLang="en-US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阶单位阵，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𝐻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1" lang="en-US" altLang="en-US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－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sSup>
                      <m:sSupPr>
                        <m:ctrlP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kumimoji="1"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，试证明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是对称阵，且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𝐻</m:t>
                    </m:r>
                    <m:sSup>
                      <m:sSupPr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9214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763" y="693316"/>
                <a:ext cx="8108701" cy="1079500"/>
              </a:xfrm>
              <a:prstGeom prst="rect">
                <a:avLst/>
              </a:prstGeom>
              <a:blipFill>
                <a:blip r:embed="rId2"/>
                <a:stretch>
                  <a:fillRect l="-1203" t="-565" r="-602" b="-33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586" name="Text Box 18"/>
          <p:cNvSpPr txBox="1">
            <a:spLocks noChangeArrowheads="1"/>
          </p:cNvSpPr>
          <p:nvPr/>
        </p:nvSpPr>
        <p:spPr bwMode="auto">
          <a:xfrm>
            <a:off x="639763" y="1749847"/>
            <a:ext cx="8180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证明：因</a:t>
            </a:r>
            <a:endParaRPr kumimoji="1"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9587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197483"/>
              </p:ext>
            </p:extLst>
          </p:nvPr>
        </p:nvGraphicFramePr>
        <p:xfrm>
          <a:off x="1143843" y="2348409"/>
          <a:ext cx="2514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843" y="2348409"/>
                        <a:ext cx="2514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596711"/>
              </p:ext>
            </p:extLst>
          </p:nvPr>
        </p:nvGraphicFramePr>
        <p:xfrm>
          <a:off x="5877768" y="2351584"/>
          <a:ext cx="200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7768" y="2351584"/>
                        <a:ext cx="2006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944179"/>
              </p:ext>
            </p:extLst>
          </p:nvPr>
        </p:nvGraphicFramePr>
        <p:xfrm>
          <a:off x="3602880" y="2351584"/>
          <a:ext cx="233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880" y="2351584"/>
                        <a:ext cx="2336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433122"/>
              </p:ext>
            </p:extLst>
          </p:nvPr>
        </p:nvGraphicFramePr>
        <p:xfrm>
          <a:off x="1688355" y="3000871"/>
          <a:ext cx="223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355" y="3000871"/>
                        <a:ext cx="2235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524129"/>
              </p:ext>
            </p:extLst>
          </p:nvPr>
        </p:nvGraphicFramePr>
        <p:xfrm>
          <a:off x="3894980" y="3015159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980" y="3015159"/>
                        <a:ext cx="1625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421404"/>
              </p:ext>
            </p:extLst>
          </p:nvPr>
        </p:nvGraphicFramePr>
        <p:xfrm>
          <a:off x="5520580" y="3062784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">
                  <p:embed/>
                </p:oleObj>
              </mc:Choice>
              <mc:Fallback>
                <p:oleObj name="Equation" r:id="rId1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580" y="3062784"/>
                        <a:ext cx="6350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00" name="Rectangle 32"/>
          <p:cNvSpPr>
            <a:spLocks noChangeArrowheads="1"/>
          </p:cNvSpPr>
          <p:nvPr/>
        </p:nvSpPr>
        <p:spPr bwMode="auto">
          <a:xfrm>
            <a:off x="639763" y="3500537"/>
            <a:ext cx="4579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kumimoji="1"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是对称阵．  </a:t>
            </a:r>
          </a:p>
        </p:txBody>
      </p:sp>
      <p:graphicFrame>
        <p:nvGraphicFramePr>
          <p:cNvPr id="109601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228443"/>
              </p:ext>
            </p:extLst>
          </p:nvPr>
        </p:nvGraphicFramePr>
        <p:xfrm>
          <a:off x="999306" y="4085927"/>
          <a:ext cx="318237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">
                  <p:embed/>
                </p:oleObj>
              </mc:Choice>
              <mc:Fallback>
                <p:oleObj name="Equation" r:id="rId1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306" y="4085927"/>
                        <a:ext cx="318237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2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577068"/>
              </p:ext>
            </p:extLst>
          </p:nvPr>
        </p:nvGraphicFramePr>
        <p:xfrm>
          <a:off x="4211960" y="4060775"/>
          <a:ext cx="306537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">
                  <p:embed/>
                </p:oleObj>
              </mc:Choice>
              <mc:Fallback>
                <p:oleObj name="Equation" r:id="rId1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4060775"/>
                        <a:ext cx="3065371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3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906681"/>
              </p:ext>
            </p:extLst>
          </p:nvPr>
        </p:nvGraphicFramePr>
        <p:xfrm>
          <a:off x="1774006" y="4738390"/>
          <a:ext cx="304197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">
                  <p:embed/>
                </p:oleObj>
              </mc:Choice>
              <mc:Fallback>
                <p:oleObj name="Equation" r:id="rId1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006" y="4738390"/>
                        <a:ext cx="3041971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4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37397"/>
              </p:ext>
            </p:extLst>
          </p:nvPr>
        </p:nvGraphicFramePr>
        <p:xfrm>
          <a:off x="4788024" y="4724102"/>
          <a:ext cx="336956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">
                  <p:embed/>
                </p:oleObj>
              </mc:Choice>
              <mc:Fallback>
                <p:oleObj name="Equation" r:id="rId2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724102"/>
                        <a:ext cx="336956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5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411481"/>
              </p:ext>
            </p:extLst>
          </p:nvPr>
        </p:nvGraphicFramePr>
        <p:xfrm>
          <a:off x="1762893" y="5314652"/>
          <a:ext cx="2480376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">
                  <p:embed/>
                </p:oleObj>
              </mc:Choice>
              <mc:Fallback>
                <p:oleObj name="Equation" r:id="rId2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893" y="5314652"/>
                        <a:ext cx="2480376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6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64046"/>
              </p:ext>
            </p:extLst>
          </p:nvPr>
        </p:nvGraphicFramePr>
        <p:xfrm>
          <a:off x="4356100" y="5373688"/>
          <a:ext cx="5381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">
                  <p:embed/>
                </p:oleObj>
              </mc:Choice>
              <mc:Fallback>
                <p:oleObj name="Equation" r:id="rId2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5373688"/>
                        <a:ext cx="538163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466060" y="5280918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66190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0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0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09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0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0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1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1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6" grpId="0"/>
      <p:bldP spid="109600" grpId="0"/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30" name="Rectangle 2"/>
          <p:cNvSpPr>
            <a:spLocks noChangeAspect="1" noChangeArrowheads="1"/>
          </p:cNvSpPr>
          <p:nvPr/>
        </p:nvSpPr>
        <p:spPr bwMode="auto">
          <a:xfrm>
            <a:off x="614436" y="306908"/>
            <a:ext cx="777398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36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五、方阵的行列式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3" name="Text Box 3"/>
              <p:cNvSpPr txBox="1">
                <a:spLocks noChangeArrowheads="1"/>
              </p:cNvSpPr>
              <p:nvPr/>
            </p:nvSpPr>
            <p:spPr bwMode="auto">
              <a:xfrm>
                <a:off x="639763" y="1451496"/>
                <a:ext cx="8035925" cy="1041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定义：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由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𝒏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阶方阵的元素所构成的行列式，叫做</a:t>
                </a:r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方阵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:endParaRPr kumimoji="1" lang="en-US" altLang="zh-CN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行列式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，记作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|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|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det</m:t>
                    </m:r>
                    <m:r>
                      <a:rPr kumimoji="1" lang="zh-CN" altLang="en-US" b="1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⁡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10752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763" y="1451496"/>
                <a:ext cx="8035925" cy="1041400"/>
              </a:xfrm>
              <a:prstGeom prst="rect">
                <a:avLst/>
              </a:prstGeom>
              <a:blipFill>
                <a:blip r:embed="rId2"/>
                <a:stretch>
                  <a:fillRect l="-1214" t="-585" b="-701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34" name="Rectangle 14"/>
          <p:cNvSpPr>
            <a:spLocks noChangeArrowheads="1"/>
          </p:cNvSpPr>
          <p:nvPr/>
        </p:nvSpPr>
        <p:spPr bwMode="auto">
          <a:xfrm>
            <a:off x="639763" y="2780928"/>
            <a:ext cx="1577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运算性质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:</a:t>
            </a:r>
            <a:endParaRPr kumimoji="1" lang="zh-CN" altLang="en-US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107535" name="Object 14"/>
          <p:cNvGraphicFramePr>
            <a:graphicFrameLocks noChangeAspect="1"/>
          </p:cNvGraphicFramePr>
          <p:nvPr/>
        </p:nvGraphicFramePr>
        <p:xfrm>
          <a:off x="1979712" y="3446264"/>
          <a:ext cx="1803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446264"/>
                        <a:ext cx="18034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6" name="Object 15"/>
          <p:cNvGraphicFramePr>
            <a:graphicFrameLocks noChangeAspect="1"/>
          </p:cNvGraphicFramePr>
          <p:nvPr/>
        </p:nvGraphicFramePr>
        <p:xfrm>
          <a:off x="1982539" y="4098528"/>
          <a:ext cx="21574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539" y="4098528"/>
                        <a:ext cx="21574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967503"/>
              </p:ext>
            </p:extLst>
          </p:nvPr>
        </p:nvGraphicFramePr>
        <p:xfrm>
          <a:off x="1982540" y="4797152"/>
          <a:ext cx="21574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540" y="4797152"/>
                        <a:ext cx="2157412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8" name="Object 17"/>
          <p:cNvGraphicFramePr>
            <a:graphicFrameLocks noChangeAspect="1"/>
          </p:cNvGraphicFramePr>
          <p:nvPr/>
        </p:nvGraphicFramePr>
        <p:xfrm>
          <a:off x="4427984" y="4797152"/>
          <a:ext cx="1930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797152"/>
                        <a:ext cx="1930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/>
      <p:bldP spid="10753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8786" name="Text Box 2"/>
              <p:cNvSpPr txBox="1">
                <a:spLocks noChangeArrowheads="1"/>
              </p:cNvSpPr>
              <p:nvPr/>
            </p:nvSpPr>
            <p:spPr bwMode="auto">
              <a:xfrm>
                <a:off x="1143819" y="1036736"/>
                <a:ext cx="7028582" cy="650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要使得 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Times New Roman" pitchFamily="18" charset="0"/>
                    <a:ea typeface="楷体_GB2312"/>
                    <a:cs typeface="楷体_GB2312"/>
                  </a:rPr>
                  <a:t>|</a:t>
                </a:r>
                <a:r>
                  <a:rPr kumimoji="1" lang="en-US" altLang="zh-CN" b="1" i="1" dirty="0">
                    <a:solidFill>
                      <a:srgbClr val="000000"/>
                    </a:solidFill>
                    <a:latin typeface="Times New Roman" pitchFamily="18" charset="0"/>
                    <a:ea typeface="楷体_GB2312"/>
                    <a:cs typeface="楷体_GB2312"/>
                  </a:rPr>
                  <a:t>AB| 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Times New Roman" pitchFamily="18" charset="0"/>
                    <a:ea typeface="楷体_GB2312"/>
                    <a:cs typeface="楷体_GB2312"/>
                  </a:rPr>
                  <a:t>= 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Times New Roman" pitchFamily="18" charset="0"/>
                  </a:rPr>
                  <a:t>|</a:t>
                </a:r>
                <a:r>
                  <a:rPr kumimoji="1" lang="en-US" altLang="zh-CN" b="1" i="1" dirty="0">
                    <a:solidFill>
                      <a:srgbClr val="000000"/>
                    </a:solidFill>
                    <a:latin typeface="Times New Roman" pitchFamily="18" charset="0"/>
                  </a:rPr>
                  <a:t>A| |B|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有意义，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𝑩</m:t>
                    </m:r>
                  </m:oMath>
                </a14:m>
                <a:r>
                  <a:rPr kumimoji="1" lang="en-US" altLang="zh-CN" b="1" dirty="0">
                    <a:solidFill>
                      <a:srgbClr val="000000"/>
                    </a:solidFill>
                    <a:latin typeface="Times New Roman" pitchFamily="18" charset="0"/>
                    <a:ea typeface="楷体_GB2312"/>
                    <a:cs typeface="楷体_GB2312"/>
                  </a:rPr>
                  <a:t>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必为同阶方阵，</a:t>
                </a:r>
              </a:p>
            </p:txBody>
          </p:sp>
        </mc:Choice>
        <mc:Fallback xmlns="">
          <p:sp>
            <p:nvSpPr>
              <p:cNvPr id="11878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819" y="1036736"/>
                <a:ext cx="7028582" cy="650255"/>
              </a:xfrm>
              <a:prstGeom prst="rect">
                <a:avLst/>
              </a:prstGeom>
              <a:blipFill>
                <a:blip r:embed="rId2"/>
                <a:stretch>
                  <a:fillRect l="-1388" t="-935" r="-173" b="-186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787" name="Text Box 3"/>
              <p:cNvSpPr txBox="1">
                <a:spLocks noChangeArrowheads="1"/>
              </p:cNvSpPr>
              <p:nvPr/>
            </p:nvSpPr>
            <p:spPr bwMode="auto">
              <a:xfrm>
                <a:off x="1143819" y="2179712"/>
                <a:ext cx="587645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我们以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𝒏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 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𝟑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为例，构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造一个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6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行列式</a:t>
                </a:r>
              </a:p>
            </p:txBody>
          </p:sp>
        </mc:Choice>
        <mc:Fallback xmlns="">
          <p:sp>
            <p:nvSpPr>
              <p:cNvPr id="11878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819" y="2179712"/>
                <a:ext cx="5876453" cy="457200"/>
              </a:xfrm>
              <a:prstGeom prst="rect">
                <a:avLst/>
              </a:prstGeom>
              <a:blipFill>
                <a:blip r:embed="rId3"/>
                <a:stretch>
                  <a:fillRect l="-1660" t="-8000" b="-3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7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633878"/>
              </p:ext>
            </p:extLst>
          </p:nvPr>
        </p:nvGraphicFramePr>
        <p:xfrm>
          <a:off x="1691680" y="2924175"/>
          <a:ext cx="4292600" cy="279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924175"/>
                        <a:ext cx="4292600" cy="279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02" name="Rectangle 18"/>
          <p:cNvSpPr>
            <a:spLocks noChangeArrowheads="1"/>
          </p:cNvSpPr>
          <p:nvPr/>
        </p:nvSpPr>
        <p:spPr bwMode="auto">
          <a:xfrm>
            <a:off x="2312392" y="2981325"/>
            <a:ext cx="1800225" cy="13684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8803" name="Rectangle 19"/>
          <p:cNvSpPr>
            <a:spLocks noChangeArrowheads="1"/>
          </p:cNvSpPr>
          <p:nvPr/>
        </p:nvSpPr>
        <p:spPr bwMode="auto">
          <a:xfrm>
            <a:off x="4112617" y="4349750"/>
            <a:ext cx="1800225" cy="13684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188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44735"/>
              </p:ext>
            </p:extLst>
          </p:nvPr>
        </p:nvGraphicFramePr>
        <p:xfrm>
          <a:off x="5992217" y="4119563"/>
          <a:ext cx="134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217" y="4119563"/>
                        <a:ext cx="1346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551699"/>
              </p:ext>
            </p:extLst>
          </p:nvPr>
        </p:nvGraphicFramePr>
        <p:xfrm>
          <a:off x="1635918" y="548680"/>
          <a:ext cx="21574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918" y="548680"/>
                        <a:ext cx="21574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87416" y="548680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证明：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4564" y="1555750"/>
            <a:ext cx="3785652" cy="5216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设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</a:rPr>
              <a:t>A =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 (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itchFamily="18" charset="0"/>
              </a:rPr>
              <a:t>ij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kumimoji="1" lang="zh-CN" altLang="zh-CN" b="1" baseline="-250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×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</a:rPr>
              <a:t>B =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 (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itchFamily="18" charset="0"/>
              </a:rPr>
              <a:t>ij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kumimoji="1" lang="zh-CN" altLang="zh-CN" b="1" baseline="-250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×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n </a:t>
            </a:r>
            <a:r>
              <a:rPr kumimoji="1" lang="en-US" altLang="zh-CN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11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/>
      <p:bldP spid="118787" grpId="0"/>
      <p:bldP spid="118802" grpId="0" animBg="1"/>
      <p:bldP spid="118803" grpId="0" animBg="1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815" name="Object 29"/>
          <p:cNvGraphicFramePr>
            <a:graphicFrameLocks noChangeAspect="1"/>
          </p:cNvGraphicFramePr>
          <p:nvPr/>
        </p:nvGraphicFramePr>
        <p:xfrm>
          <a:off x="4716463" y="750888"/>
          <a:ext cx="4249737" cy="251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750888"/>
                        <a:ext cx="4249737" cy="2513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6" name="Object 30"/>
          <p:cNvGraphicFramePr>
            <a:graphicFrameLocks noChangeAspect="1"/>
          </p:cNvGraphicFramePr>
          <p:nvPr/>
        </p:nvGraphicFramePr>
        <p:xfrm>
          <a:off x="3543300" y="1487488"/>
          <a:ext cx="10493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1487488"/>
                        <a:ext cx="104933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6" name="Object 31"/>
          <p:cNvGraphicFramePr>
            <a:graphicFrameLocks noChangeAspect="1"/>
          </p:cNvGraphicFramePr>
          <p:nvPr/>
        </p:nvGraphicFramePr>
        <p:xfrm>
          <a:off x="34925" y="620713"/>
          <a:ext cx="3360738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620713"/>
                        <a:ext cx="3360738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3" name="Rectangle 5"/>
          <p:cNvSpPr>
            <a:spLocks noChangeAspect="1" noChangeArrowheads="1"/>
          </p:cNvSpPr>
          <p:nvPr/>
        </p:nvSpPr>
        <p:spPr bwMode="auto">
          <a:xfrm>
            <a:off x="111125" y="677863"/>
            <a:ext cx="1619250" cy="1230312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2284" name="Rectangle 6"/>
          <p:cNvSpPr>
            <a:spLocks noChangeAspect="1" noChangeArrowheads="1"/>
          </p:cNvSpPr>
          <p:nvPr/>
        </p:nvSpPr>
        <p:spPr bwMode="auto">
          <a:xfrm>
            <a:off x="1728788" y="1911350"/>
            <a:ext cx="1619250" cy="1230313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19819" name="Object 32"/>
          <p:cNvGraphicFramePr>
            <a:graphicFrameLocks noChangeAspect="1"/>
          </p:cNvGraphicFramePr>
          <p:nvPr/>
        </p:nvGraphicFramePr>
        <p:xfrm>
          <a:off x="3554413" y="1081088"/>
          <a:ext cx="10287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1081088"/>
                        <a:ext cx="10287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492500" y="1901825"/>
            <a:ext cx="1152525" cy="57150"/>
            <a:chOff x="2562" y="2623"/>
            <a:chExt cx="726" cy="36"/>
          </a:xfrm>
        </p:grpSpPr>
        <p:sp>
          <p:nvSpPr>
            <p:cNvPr id="182295" name="Line 13"/>
            <p:cNvSpPr>
              <a:spLocks noChangeShapeType="1"/>
            </p:cNvSpPr>
            <p:nvPr/>
          </p:nvSpPr>
          <p:spPr bwMode="auto">
            <a:xfrm>
              <a:off x="2562" y="2623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2296" name="Line 14"/>
            <p:cNvSpPr>
              <a:spLocks noChangeShapeType="1"/>
            </p:cNvSpPr>
            <p:nvPr/>
          </p:nvSpPr>
          <p:spPr bwMode="auto">
            <a:xfrm>
              <a:off x="2562" y="2659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19823" name="Rectangle 15"/>
          <p:cNvSpPr>
            <a:spLocks noChangeArrowheads="1"/>
          </p:cNvSpPr>
          <p:nvPr/>
        </p:nvSpPr>
        <p:spPr bwMode="auto">
          <a:xfrm>
            <a:off x="6429375" y="765175"/>
            <a:ext cx="792163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9824" name="Rectangle 16"/>
          <p:cNvSpPr>
            <a:spLocks noChangeArrowheads="1"/>
          </p:cNvSpPr>
          <p:nvPr/>
        </p:nvSpPr>
        <p:spPr bwMode="auto">
          <a:xfrm>
            <a:off x="7250113" y="765175"/>
            <a:ext cx="792162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9825" name="Rectangle 17"/>
          <p:cNvSpPr>
            <a:spLocks noChangeArrowheads="1"/>
          </p:cNvSpPr>
          <p:nvPr/>
        </p:nvSpPr>
        <p:spPr bwMode="auto">
          <a:xfrm>
            <a:off x="8072438" y="765175"/>
            <a:ext cx="792162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19827" name="Object 33"/>
          <p:cNvGraphicFramePr>
            <a:graphicFrameLocks noChangeAspect="1"/>
          </p:cNvGraphicFramePr>
          <p:nvPr/>
        </p:nvGraphicFramePr>
        <p:xfrm>
          <a:off x="3543300" y="1893888"/>
          <a:ext cx="10493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1893888"/>
                        <a:ext cx="104933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8" name="Object 34"/>
          <p:cNvGraphicFramePr>
            <a:graphicFrameLocks noChangeAspect="1"/>
          </p:cNvGraphicFramePr>
          <p:nvPr/>
        </p:nvGraphicFramePr>
        <p:xfrm>
          <a:off x="938213" y="4340225"/>
          <a:ext cx="10715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4340225"/>
                        <a:ext cx="107156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9" name="Object 35"/>
          <p:cNvGraphicFramePr>
            <a:graphicFrameLocks noChangeAspect="1"/>
          </p:cNvGraphicFramePr>
          <p:nvPr/>
        </p:nvGraphicFramePr>
        <p:xfrm>
          <a:off x="2111375" y="3579813"/>
          <a:ext cx="6854825" cy="251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3579813"/>
                        <a:ext cx="6854825" cy="2513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30" name="Object 36"/>
          <p:cNvGraphicFramePr>
            <a:graphicFrameLocks noChangeAspect="1"/>
          </p:cNvGraphicFramePr>
          <p:nvPr/>
        </p:nvGraphicFramePr>
        <p:xfrm>
          <a:off x="949325" y="3933825"/>
          <a:ext cx="10509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">
                  <p:embed/>
                </p:oleObj>
              </mc:Choice>
              <mc:Fallback>
                <p:oleObj name="Equation" r:id="rId16" imgW="0" imgH="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933825"/>
                        <a:ext cx="10509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898525" y="4730750"/>
            <a:ext cx="1152525" cy="57150"/>
            <a:chOff x="2562" y="2623"/>
            <a:chExt cx="726" cy="36"/>
          </a:xfrm>
        </p:grpSpPr>
        <p:sp>
          <p:nvSpPr>
            <p:cNvPr id="182293" name="Line 24"/>
            <p:cNvSpPr>
              <a:spLocks noChangeShapeType="1"/>
            </p:cNvSpPr>
            <p:nvPr/>
          </p:nvSpPr>
          <p:spPr bwMode="auto">
            <a:xfrm>
              <a:off x="2562" y="2623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2294" name="Line 25"/>
            <p:cNvSpPr>
              <a:spLocks noChangeShapeType="1"/>
            </p:cNvSpPr>
            <p:nvPr/>
          </p:nvSpPr>
          <p:spPr bwMode="auto">
            <a:xfrm>
              <a:off x="2562" y="2659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19838" name="Rectangle 30"/>
          <p:cNvSpPr>
            <a:spLocks noChangeArrowheads="1"/>
          </p:cNvSpPr>
          <p:nvPr/>
        </p:nvSpPr>
        <p:spPr bwMode="auto">
          <a:xfrm>
            <a:off x="3924300" y="3602038"/>
            <a:ext cx="1570038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9839" name="Rectangle 31"/>
          <p:cNvSpPr>
            <a:spLocks noChangeArrowheads="1"/>
          </p:cNvSpPr>
          <p:nvPr/>
        </p:nvSpPr>
        <p:spPr bwMode="auto">
          <a:xfrm>
            <a:off x="5616575" y="3602038"/>
            <a:ext cx="1570038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9840" name="Rectangle 32"/>
          <p:cNvSpPr>
            <a:spLocks noChangeArrowheads="1"/>
          </p:cNvSpPr>
          <p:nvPr/>
        </p:nvSpPr>
        <p:spPr bwMode="auto">
          <a:xfrm>
            <a:off x="7308850" y="3602038"/>
            <a:ext cx="1570038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9238" name="Object 6"/>
              <p:cNvSpPr txBox="1"/>
              <p:nvPr/>
            </p:nvSpPr>
            <p:spPr bwMode="auto">
              <a:xfrm>
                <a:off x="898525" y="4857751"/>
                <a:ext cx="1152525" cy="371450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592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8525" y="4857751"/>
                <a:ext cx="1152525" cy="37145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119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19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1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1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1" dur="500"/>
                                        <p:tgtEl>
                                          <p:spTgt spid="1198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11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1" dur="500"/>
                                        <p:tgtEl>
                                          <p:spTgt spid="119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5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1" dur="500"/>
                                        <p:tgtEl>
                                          <p:spTgt spid="119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23" grpId="0" animBg="1"/>
      <p:bldP spid="119824" grpId="0" animBg="1"/>
      <p:bldP spid="119825" grpId="0" animBg="1"/>
      <p:bldP spid="119838" grpId="0" animBg="1"/>
      <p:bldP spid="119839" grpId="0" animBg="1"/>
      <p:bldP spid="119840" grpId="0" animBg="1"/>
      <p:bldP spid="175923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47" name="Object 17"/>
          <p:cNvGraphicFramePr>
            <a:graphicFrameLocks noChangeAspect="1"/>
          </p:cNvGraphicFramePr>
          <p:nvPr/>
        </p:nvGraphicFramePr>
        <p:xfrm>
          <a:off x="82550" y="3800475"/>
          <a:ext cx="8953500" cy="235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3800475"/>
                        <a:ext cx="8953500" cy="235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6" name="Object 18"/>
          <p:cNvGraphicFramePr>
            <a:graphicFrameLocks noChangeAspect="1"/>
          </p:cNvGraphicFramePr>
          <p:nvPr/>
        </p:nvGraphicFramePr>
        <p:xfrm>
          <a:off x="7346950" y="1316038"/>
          <a:ext cx="107156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6950" y="1316038"/>
                        <a:ext cx="1071563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19"/>
          <p:cNvGraphicFramePr>
            <a:graphicFrameLocks noChangeAspect="1"/>
          </p:cNvGraphicFramePr>
          <p:nvPr/>
        </p:nvGraphicFramePr>
        <p:xfrm>
          <a:off x="468313" y="476250"/>
          <a:ext cx="6854825" cy="251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76250"/>
                        <a:ext cx="6854825" cy="2513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20"/>
          <p:cNvGraphicFramePr>
            <a:graphicFrameLocks noChangeAspect="1"/>
          </p:cNvGraphicFramePr>
          <p:nvPr/>
        </p:nvGraphicFramePr>
        <p:xfrm>
          <a:off x="7358063" y="909638"/>
          <a:ext cx="10509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909638"/>
                        <a:ext cx="10509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307263" y="1685925"/>
            <a:ext cx="1152525" cy="57150"/>
            <a:chOff x="2562" y="2623"/>
            <a:chExt cx="726" cy="36"/>
          </a:xfrm>
        </p:grpSpPr>
        <p:sp>
          <p:nvSpPr>
            <p:cNvPr id="183307" name="Line 8"/>
            <p:cNvSpPr>
              <a:spLocks noChangeShapeType="1"/>
            </p:cNvSpPr>
            <p:nvPr/>
          </p:nvSpPr>
          <p:spPr bwMode="auto">
            <a:xfrm>
              <a:off x="2562" y="2623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3308" name="Line 9"/>
            <p:cNvSpPr>
              <a:spLocks noChangeShapeType="1"/>
            </p:cNvSpPr>
            <p:nvPr/>
          </p:nvSpPr>
          <p:spPr bwMode="auto">
            <a:xfrm>
              <a:off x="2562" y="2659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120842" name="Object 21"/>
          <p:cNvGraphicFramePr>
            <a:graphicFrameLocks noChangeAspect="1"/>
          </p:cNvGraphicFramePr>
          <p:nvPr/>
        </p:nvGraphicFramePr>
        <p:xfrm>
          <a:off x="7346950" y="1722438"/>
          <a:ext cx="107156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6950" y="1722438"/>
                        <a:ext cx="1071563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3" name="Rectangle 11"/>
          <p:cNvSpPr>
            <a:spLocks noChangeArrowheads="1"/>
          </p:cNvSpPr>
          <p:nvPr/>
        </p:nvSpPr>
        <p:spPr bwMode="auto">
          <a:xfrm>
            <a:off x="1763713" y="3789363"/>
            <a:ext cx="2290762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0844" name="Rectangle 12"/>
          <p:cNvSpPr>
            <a:spLocks noChangeArrowheads="1"/>
          </p:cNvSpPr>
          <p:nvPr/>
        </p:nvSpPr>
        <p:spPr bwMode="auto">
          <a:xfrm>
            <a:off x="4211638" y="3789363"/>
            <a:ext cx="2290762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0845" name="Rectangle 13"/>
          <p:cNvSpPr>
            <a:spLocks noChangeArrowheads="1"/>
          </p:cNvSpPr>
          <p:nvPr/>
        </p:nvSpPr>
        <p:spPr bwMode="auto">
          <a:xfrm>
            <a:off x="6659563" y="3789363"/>
            <a:ext cx="2290762" cy="2447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6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3" grpId="0" animBg="1"/>
      <p:bldP spid="120844" grpId="0" animBg="1"/>
      <p:bldP spid="12084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22" name="Object 23"/>
          <p:cNvGraphicFramePr>
            <a:graphicFrameLocks noChangeAspect="1"/>
          </p:cNvGraphicFramePr>
          <p:nvPr/>
        </p:nvGraphicFramePr>
        <p:xfrm>
          <a:off x="82550" y="474663"/>
          <a:ext cx="8953500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474663"/>
                        <a:ext cx="8953500" cy="2351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1" name="Object 24"/>
          <p:cNvGraphicFramePr>
            <a:graphicFrameLocks noChangeAspect="1"/>
          </p:cNvGraphicFramePr>
          <p:nvPr/>
        </p:nvGraphicFramePr>
        <p:xfrm>
          <a:off x="176213" y="4173538"/>
          <a:ext cx="3387725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3" y="4173538"/>
                        <a:ext cx="3387725" cy="2351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2" name="Object 25"/>
          <p:cNvGraphicFramePr>
            <a:graphicFrameLocks noChangeAspect="1"/>
          </p:cNvGraphicFramePr>
          <p:nvPr/>
        </p:nvGraphicFramePr>
        <p:xfrm>
          <a:off x="3705225" y="4868863"/>
          <a:ext cx="8667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4868863"/>
                        <a:ext cx="8667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3" name="Object 26"/>
          <p:cNvGraphicFramePr>
            <a:graphicFrameLocks noChangeAspect="1"/>
          </p:cNvGraphicFramePr>
          <p:nvPr/>
        </p:nvGraphicFramePr>
        <p:xfrm>
          <a:off x="3717925" y="4462463"/>
          <a:ext cx="8445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4462463"/>
                        <a:ext cx="8445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63938" y="5311775"/>
            <a:ext cx="1152525" cy="57150"/>
            <a:chOff x="2562" y="2623"/>
            <a:chExt cx="726" cy="36"/>
          </a:xfrm>
        </p:grpSpPr>
        <p:sp>
          <p:nvSpPr>
            <p:cNvPr id="184333" name="Line 9"/>
            <p:cNvSpPr>
              <a:spLocks noChangeShapeType="1"/>
            </p:cNvSpPr>
            <p:nvPr/>
          </p:nvSpPr>
          <p:spPr bwMode="auto">
            <a:xfrm>
              <a:off x="2562" y="2623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334" name="Line 10"/>
            <p:cNvSpPr>
              <a:spLocks noChangeShapeType="1"/>
            </p:cNvSpPr>
            <p:nvPr/>
          </p:nvSpPr>
          <p:spPr bwMode="auto">
            <a:xfrm>
              <a:off x="2562" y="2659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121867" name="Object 27"/>
          <p:cNvGraphicFramePr>
            <a:graphicFrameLocks noChangeAspect="1"/>
          </p:cNvGraphicFramePr>
          <p:nvPr/>
        </p:nvGraphicFramePr>
        <p:xfrm>
          <a:off x="3705225" y="5275263"/>
          <a:ext cx="8667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5275263"/>
                        <a:ext cx="8667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8" name="Rectangle 12"/>
          <p:cNvSpPr>
            <a:spLocks noChangeAspect="1" noChangeArrowheads="1"/>
          </p:cNvSpPr>
          <p:nvPr/>
        </p:nvSpPr>
        <p:spPr bwMode="auto">
          <a:xfrm>
            <a:off x="139700" y="549275"/>
            <a:ext cx="1619250" cy="1157288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69" name="Rectangle 13"/>
          <p:cNvSpPr>
            <a:spLocks noChangeAspect="1" noChangeArrowheads="1"/>
          </p:cNvSpPr>
          <p:nvPr/>
        </p:nvSpPr>
        <p:spPr bwMode="auto">
          <a:xfrm>
            <a:off x="1757363" y="1700213"/>
            <a:ext cx="7207250" cy="115728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70" name="Rectangle 14"/>
          <p:cNvSpPr>
            <a:spLocks noChangeArrowheads="1"/>
          </p:cNvSpPr>
          <p:nvPr/>
        </p:nvSpPr>
        <p:spPr bwMode="auto">
          <a:xfrm>
            <a:off x="639763" y="3265488"/>
            <a:ext cx="537239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令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                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，则</a:t>
            </a:r>
            <a:r>
              <a:rPr kumimoji="1" lang="zh-CN" altLang="en-US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C =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c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ij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)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= AB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．  </a:t>
            </a:r>
          </a:p>
        </p:txBody>
      </p:sp>
      <p:graphicFrame>
        <p:nvGraphicFramePr>
          <p:cNvPr id="121871" name="Object 28"/>
          <p:cNvGraphicFramePr>
            <a:graphicFrameLocks noChangeAspect="1"/>
          </p:cNvGraphicFramePr>
          <p:nvPr/>
        </p:nvGraphicFramePr>
        <p:xfrm>
          <a:off x="1042988" y="3127375"/>
          <a:ext cx="14462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127375"/>
                        <a:ext cx="144621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72" name="Object 29"/>
          <p:cNvGraphicFramePr>
            <a:graphicFrameLocks noChangeAspect="1"/>
          </p:cNvGraphicFramePr>
          <p:nvPr/>
        </p:nvGraphicFramePr>
        <p:xfrm>
          <a:off x="4778375" y="4162425"/>
          <a:ext cx="3754438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162425"/>
                        <a:ext cx="3754438" cy="2373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8" grpId="0" animBg="1"/>
      <p:bldP spid="121869" grpId="0" animBg="1"/>
      <p:bldP spid="12187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5346" name="Object 17"/>
              <p:cNvSpPr txBox="1"/>
              <p:nvPr/>
            </p:nvSpPr>
            <p:spPr bwMode="auto">
              <a:xfrm>
                <a:off x="1619672" y="723256"/>
                <a:ext cx="6264696" cy="24463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5346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723256"/>
                <a:ext cx="6264696" cy="24463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892" name="Rectangle 12"/>
          <p:cNvSpPr>
            <a:spLocks noChangeArrowheads="1"/>
          </p:cNvSpPr>
          <p:nvPr/>
        </p:nvSpPr>
        <p:spPr bwMode="auto">
          <a:xfrm>
            <a:off x="875854" y="5317902"/>
            <a:ext cx="312008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从而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                     ． </a:t>
            </a:r>
            <a:endParaRPr kumimoji="1" lang="zh-CN" altLang="en-US" b="1" dirty="0">
              <a:solidFill>
                <a:srgbClr val="3103F3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895" name="Object 18"/>
              <p:cNvSpPr txBox="1"/>
              <p:nvPr/>
            </p:nvSpPr>
            <p:spPr bwMode="auto">
              <a:xfrm>
                <a:off x="1619672" y="3445694"/>
                <a:ext cx="3240360" cy="50452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|⋅|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2895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3445694"/>
                <a:ext cx="3240360" cy="504527"/>
              </a:xfrm>
              <a:prstGeom prst="rect">
                <a:avLst/>
              </a:prstGeom>
              <a:blipFill>
                <a:blip r:embed="rId3"/>
                <a:stretch>
                  <a:fillRect b="-9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00" name="Rectangle 20"/>
          <p:cNvSpPr>
            <a:spLocks noChangeAspect="1" noChangeArrowheads="1"/>
          </p:cNvSpPr>
          <p:nvPr/>
        </p:nvSpPr>
        <p:spPr bwMode="auto">
          <a:xfrm>
            <a:off x="3131840" y="724025"/>
            <a:ext cx="2088232" cy="111413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2901" name="Rectangle 21"/>
          <p:cNvSpPr>
            <a:spLocks noChangeAspect="1" noChangeArrowheads="1"/>
          </p:cNvSpPr>
          <p:nvPr/>
        </p:nvSpPr>
        <p:spPr bwMode="auto">
          <a:xfrm>
            <a:off x="5220072" y="1838161"/>
            <a:ext cx="1944216" cy="1086784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2290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26995"/>
              </p:ext>
            </p:extLst>
          </p:nvPr>
        </p:nvGraphicFramePr>
        <p:xfrm>
          <a:off x="1691680" y="4716434"/>
          <a:ext cx="799491" cy="457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716434"/>
                        <a:ext cx="799491" cy="457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435435"/>
              </p:ext>
            </p:extLst>
          </p:nvPr>
        </p:nvGraphicFramePr>
        <p:xfrm>
          <a:off x="2506293" y="4716434"/>
          <a:ext cx="1057595" cy="457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293" y="4716434"/>
                        <a:ext cx="1057595" cy="457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399301"/>
              </p:ext>
            </p:extLst>
          </p:nvPr>
        </p:nvGraphicFramePr>
        <p:xfrm>
          <a:off x="1600200" y="5322888"/>
          <a:ext cx="16240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322888"/>
                        <a:ext cx="16240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8"/>
              <p:cNvSpPr txBox="1"/>
              <p:nvPr/>
            </p:nvSpPr>
            <p:spPr bwMode="auto">
              <a:xfrm>
                <a:off x="1619672" y="4108132"/>
                <a:ext cx="3600400" cy="5032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4108132"/>
                <a:ext cx="3600400" cy="503237"/>
              </a:xfrm>
              <a:prstGeom prst="rect">
                <a:avLst/>
              </a:prstGeom>
              <a:blipFill>
                <a:blip r:embed="rId10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6">
            <a:extLst>
              <a:ext uri="{FF2B5EF4-FFF2-40B4-BE49-F238E27FC236}">
                <a16:creationId xmlns:a16="http://schemas.microsoft.com/office/drawing/2014/main" id="{3AF5980F-CFBF-6E88-E416-DFAF03FA9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896" y="5280918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12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2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2" grpId="0"/>
      <p:bldP spid="122895" grpId="0"/>
      <p:bldP spid="122900" grpId="0" animBg="1"/>
      <p:bldP spid="122901" grpId="0" animBg="1"/>
      <p:bldP spid="10" grpId="0"/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611561" y="4327872"/>
            <a:ext cx="7992888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表示一个从变量                     到变量                    的线性变换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     为常数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5417" name="Rectangle 4"/>
          <p:cNvSpPr>
            <a:spLocks noChangeAspect="1" noChangeArrowheads="1"/>
          </p:cNvSpPr>
          <p:nvPr/>
        </p:nvSpPr>
        <p:spPr bwMode="auto">
          <a:xfrm>
            <a:off x="467544" y="196180"/>
            <a:ext cx="777398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3600" dirty="0">
                <a:solidFill>
                  <a:srgbClr val="3103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六、矩阵与线性变换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18" name="Text Box 6"/>
              <p:cNvSpPr txBox="1">
                <a:spLocks noChangeArrowheads="1"/>
              </p:cNvSpPr>
              <p:nvPr/>
            </p:nvSpPr>
            <p:spPr bwMode="auto">
              <a:xfrm>
                <a:off x="468833" y="1268760"/>
                <a:ext cx="7775575" cy="9318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个变量                      与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𝑚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个变量                     之间的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关系式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41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833" y="1268760"/>
                <a:ext cx="7775575" cy="931862"/>
              </a:xfrm>
              <a:prstGeom prst="rect">
                <a:avLst/>
              </a:prstGeom>
              <a:blipFill>
                <a:blip r:embed="rId2"/>
                <a:stretch>
                  <a:fillRect l="-1255" t="-7190" b="-104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541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443961"/>
              </p:ext>
            </p:extLst>
          </p:nvPr>
        </p:nvGraphicFramePr>
        <p:xfrm>
          <a:off x="5292725" y="1243013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243013"/>
                        <a:ext cx="1651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546362"/>
              </p:ext>
            </p:extLst>
          </p:nvPr>
        </p:nvGraphicFramePr>
        <p:xfrm>
          <a:off x="2195513" y="2165350"/>
          <a:ext cx="4240212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165350"/>
                        <a:ext cx="4240212" cy="187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086319"/>
              </p:ext>
            </p:extLst>
          </p:nvPr>
        </p:nvGraphicFramePr>
        <p:xfrm>
          <a:off x="1234480" y="4869160"/>
          <a:ext cx="457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480" y="4869160"/>
                        <a:ext cx="457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605770"/>
              </p:ext>
            </p:extLst>
          </p:nvPr>
        </p:nvGraphicFramePr>
        <p:xfrm>
          <a:off x="2195513" y="1268413"/>
          <a:ext cx="15986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268413"/>
                        <a:ext cx="159861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393731"/>
              </p:ext>
            </p:extLst>
          </p:nvPr>
        </p:nvGraphicFramePr>
        <p:xfrm>
          <a:off x="5292080" y="4365104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4365104"/>
                        <a:ext cx="1651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858899"/>
              </p:ext>
            </p:extLst>
          </p:nvPr>
        </p:nvGraphicFramePr>
        <p:xfrm>
          <a:off x="2843808" y="4365104"/>
          <a:ext cx="15986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">
                  <p:embed/>
                </p:oleObj>
              </mc:Choice>
              <mc:Fallback>
                <p:oleObj name="Equation" r:id="rId1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365104"/>
                        <a:ext cx="159861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04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6434" name="Object 11"/>
              <p:cNvSpPr txBox="1"/>
              <p:nvPr/>
            </p:nvSpPr>
            <p:spPr bwMode="auto">
              <a:xfrm>
                <a:off x="1835696" y="216024"/>
                <a:ext cx="5184576" cy="227687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⋯⋯⋯⋯⋯⋯⋯⋯⋯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6434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216024"/>
                <a:ext cx="5184576" cy="22768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2927350" y="188640"/>
            <a:ext cx="457200" cy="1871663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4042792" y="188640"/>
            <a:ext cx="457200" cy="1871663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5724128" y="188640"/>
            <a:ext cx="533400" cy="1871663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3155950" y="2161903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4211960" y="2161903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>
            <a:off x="5796136" y="2161903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7885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528484"/>
              </p:ext>
            </p:extLst>
          </p:nvPr>
        </p:nvGraphicFramePr>
        <p:xfrm>
          <a:off x="4494213" y="2380978"/>
          <a:ext cx="8064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213" y="2380978"/>
                        <a:ext cx="80645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6266657" y="3483992"/>
            <a:ext cx="1871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系数矩阵   </a:t>
            </a:r>
          </a:p>
        </p:txBody>
      </p:sp>
      <p:graphicFrame>
        <p:nvGraphicFramePr>
          <p:cNvPr id="146436" name="Object 12"/>
          <p:cNvGraphicFramePr>
            <a:graphicFrameLocks noChangeAspect="1"/>
          </p:cNvGraphicFramePr>
          <p:nvPr/>
        </p:nvGraphicFramePr>
        <p:xfrm>
          <a:off x="2344588" y="2852936"/>
          <a:ext cx="3811588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588" y="2852936"/>
                        <a:ext cx="3811588" cy="187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1"/>
              <p:cNvSpPr txBox="1"/>
              <p:nvPr/>
            </p:nvSpPr>
            <p:spPr bwMode="auto">
              <a:xfrm>
                <a:off x="467544" y="416786"/>
                <a:ext cx="1423168" cy="171607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416786"/>
                <a:ext cx="1423168" cy="17160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1"/>
              <p:cNvSpPr txBox="1"/>
              <p:nvPr/>
            </p:nvSpPr>
            <p:spPr bwMode="auto">
              <a:xfrm>
                <a:off x="6732587" y="416049"/>
                <a:ext cx="1532259" cy="171680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2587" y="416049"/>
                <a:ext cx="1532259" cy="17168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24873" y="5271591"/>
            <a:ext cx="18886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那么有：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1"/>
              <p:cNvSpPr txBox="1"/>
              <p:nvPr/>
            </p:nvSpPr>
            <p:spPr bwMode="auto">
              <a:xfrm>
                <a:off x="2015034" y="5271591"/>
                <a:ext cx="1404838" cy="4715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5034" y="5271591"/>
                <a:ext cx="1404838" cy="471513"/>
              </a:xfrm>
              <a:prstGeom prst="rect">
                <a:avLst/>
              </a:prstGeom>
              <a:blipFill>
                <a:blip r:embed="rId9"/>
                <a:stretch>
                  <a:fillRect l="-13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utoShape 10"/>
          <p:cNvSpPr>
            <a:spLocks noChangeArrowheads="1"/>
          </p:cNvSpPr>
          <p:nvPr/>
        </p:nvSpPr>
        <p:spPr bwMode="auto">
          <a:xfrm>
            <a:off x="3751545" y="5523648"/>
            <a:ext cx="2376489" cy="1122218"/>
          </a:xfrm>
          <a:prstGeom prst="cloudCallout">
            <a:avLst>
              <a:gd name="adj1" fmla="val -57764"/>
              <a:gd name="adj2" fmla="val -48968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lvl="0">
              <a:buFontTx/>
              <a:buChar char="•"/>
            </a:pPr>
            <a:endParaRPr lang="en-US" altLang="zh-CN" b="1" dirty="0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83968" y="5733256"/>
            <a:ext cx="1512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线性变换的矩阵形式</a:t>
            </a:r>
          </a:p>
        </p:txBody>
      </p:sp>
    </p:spTree>
    <p:extLst>
      <p:ext uri="{BB962C8B-B14F-4D97-AF65-F5344CB8AC3E}">
        <p14:creationId xmlns:p14="http://schemas.microsoft.com/office/powerpoint/2010/main" val="37970608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nimBg="1"/>
      <p:bldP spid="78852" grpId="0" animBg="1"/>
      <p:bldP spid="78853" grpId="0" animBg="1"/>
      <p:bldP spid="78855" grpId="0" animBg="1"/>
      <p:bldP spid="78856" grpId="0" animBg="1"/>
      <p:bldP spid="78857" grpId="0" animBg="1"/>
      <p:bldP spid="78859" grpId="0" autoUpdateAnimBg="0"/>
      <p:bldP spid="15" grpId="0"/>
      <p:bldP spid="16" grpId="0"/>
      <p:bldP spid="17" grpId="0" autoUpdateAnimBg="0"/>
      <p:bldP spid="18" grpId="0"/>
      <p:bldP spid="19" grpId="0" animBg="1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2517672" y="555346"/>
            <a:ext cx="457200" cy="2184053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3609438" y="555346"/>
            <a:ext cx="457200" cy="2184053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5364088" y="539670"/>
            <a:ext cx="426542" cy="2184053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2761219" y="2739399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 flipH="1">
            <a:off x="3838038" y="2739398"/>
            <a:ext cx="2639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>
            <a:off x="5580112" y="2739399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7885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995834"/>
              </p:ext>
            </p:extLst>
          </p:nvPr>
        </p:nvGraphicFramePr>
        <p:xfrm>
          <a:off x="4494213" y="3005237"/>
          <a:ext cx="8064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213" y="3005237"/>
                        <a:ext cx="80645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6151563" y="4077072"/>
            <a:ext cx="1871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系数矩阵   </a:t>
            </a:r>
          </a:p>
        </p:txBody>
      </p:sp>
      <p:grpSp>
        <p:nvGrpSpPr>
          <p:cNvPr id="146445" name="组合 14"/>
          <p:cNvGrpSpPr>
            <a:grpSpLocks/>
          </p:cNvGrpSpPr>
          <p:nvPr/>
        </p:nvGrpSpPr>
        <p:grpSpPr bwMode="auto">
          <a:xfrm>
            <a:off x="1481137" y="3356992"/>
            <a:ext cx="4646464" cy="1931614"/>
            <a:chOff x="2666206" y="3233923"/>
            <a:chExt cx="3811588" cy="1931614"/>
          </a:xfrm>
        </p:grpSpPr>
        <p:graphicFrame>
          <p:nvGraphicFramePr>
            <p:cNvPr id="14643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792233"/>
                </p:ext>
              </p:extLst>
            </p:nvPr>
          </p:nvGraphicFramePr>
          <p:xfrm>
            <a:off x="2666206" y="3233923"/>
            <a:ext cx="3811588" cy="187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">
                    <p:embed/>
                  </p:oleObj>
                </mc:Choice>
                <mc:Fallback>
                  <p:oleObj name="Equation" r:id="rId4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6206" y="3233923"/>
                          <a:ext cx="3811588" cy="187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446" name="TextBox 13"/>
            <p:cNvSpPr txBox="1">
              <a:spLocks noChangeArrowheads="1"/>
            </p:cNvSpPr>
            <p:nvPr/>
          </p:nvSpPr>
          <p:spPr bwMode="auto">
            <a:xfrm>
              <a:off x="4429124" y="4857760"/>
              <a:ext cx="28575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>
                  <a:ea typeface="楷体_GB2312"/>
                  <a:cs typeface="楷体_GB2312"/>
                </a:rPr>
                <a:t>2</a:t>
              </a:r>
              <a:endParaRPr lang="zh-CN" altLang="en-US" sz="1400" b="1">
                <a:ea typeface="楷体_GB2312"/>
                <a:cs typeface="楷体_GB231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1"/>
              <p:cNvSpPr txBox="1"/>
              <p:nvPr/>
            </p:nvSpPr>
            <p:spPr bwMode="auto">
              <a:xfrm>
                <a:off x="7164288" y="795338"/>
                <a:ext cx="1449523" cy="19605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4288" y="795338"/>
                <a:ext cx="1449523" cy="19605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1"/>
              <p:cNvSpPr txBox="1"/>
              <p:nvPr/>
            </p:nvSpPr>
            <p:spPr bwMode="auto">
              <a:xfrm>
                <a:off x="397951" y="890786"/>
                <a:ext cx="1655776" cy="19621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951" y="890786"/>
                <a:ext cx="1655776" cy="19621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24873" y="5373216"/>
            <a:ext cx="18886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那么有：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1"/>
              <p:cNvSpPr txBox="1"/>
              <p:nvPr/>
            </p:nvSpPr>
            <p:spPr bwMode="auto">
              <a:xfrm>
                <a:off x="2053728" y="5373688"/>
                <a:ext cx="1380036" cy="58298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3728" y="5373688"/>
                <a:ext cx="1380036" cy="582984"/>
              </a:xfrm>
              <a:prstGeom prst="rect">
                <a:avLst/>
              </a:prstGeom>
              <a:blipFill>
                <a:blip r:embed="rId8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utoShape 10"/>
          <p:cNvSpPr>
            <a:spLocks noChangeArrowheads="1"/>
          </p:cNvSpPr>
          <p:nvPr/>
        </p:nvSpPr>
        <p:spPr bwMode="auto">
          <a:xfrm>
            <a:off x="3751545" y="5388638"/>
            <a:ext cx="2260615" cy="992690"/>
          </a:xfrm>
          <a:prstGeom prst="cloudCallout">
            <a:avLst>
              <a:gd name="adj1" fmla="val -72819"/>
              <a:gd name="adj2" fmla="val -26662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lvl="0">
              <a:buFontTx/>
              <a:buChar char="•"/>
            </a:pPr>
            <a:endParaRPr lang="en-US" altLang="zh-CN" b="1" dirty="0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11960" y="5517232"/>
            <a:ext cx="1512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线性方程组的矩阵形式</a:t>
            </a: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239415" y="188640"/>
            <a:ext cx="2892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6</a:t>
            </a:r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线性方程组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 bwMode="auto">
              <a:xfrm>
                <a:off x="2059641" y="655002"/>
                <a:ext cx="5464688" cy="2125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⋯⋯⋯⋯⋯⋯⋯⋯⋯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9641" y="655002"/>
                <a:ext cx="5464688" cy="21259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198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nimBg="1"/>
      <p:bldP spid="78852" grpId="0" animBg="1"/>
      <p:bldP spid="78853" grpId="0" animBg="1"/>
      <p:bldP spid="78855" grpId="0" animBg="1"/>
      <p:bldP spid="78856" grpId="0" animBg="1"/>
      <p:bldP spid="78857" grpId="0" animBg="1"/>
      <p:bldP spid="78859" grpId="0" autoUpdateAnimBg="0"/>
      <p:bldP spid="16" grpId="0"/>
      <p:bldP spid="17" grpId="0" autoUpdateAnimBg="0"/>
      <p:bldP spid="18" grpId="0"/>
      <p:bldP spid="19" grpId="0" animBg="1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492" name="Object 14"/>
              <p:cNvSpPr txBox="1"/>
              <p:nvPr/>
            </p:nvSpPr>
            <p:spPr bwMode="auto">
              <a:xfrm>
                <a:off x="2700338" y="2543473"/>
                <a:ext cx="5544070" cy="23256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+0⋅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+⋯+0⋅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+⋯+0⋅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⋯⋯⋯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+0⋅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r>
                                  <a:rPr lang="zh-CN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9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0338" y="2543473"/>
                <a:ext cx="5544070" cy="2325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462" name="Rectangle 3"/>
          <p:cNvSpPr>
            <a:spLocks noChangeArrowheads="1"/>
          </p:cNvSpPr>
          <p:nvPr/>
        </p:nvSpPr>
        <p:spPr bwMode="auto">
          <a:xfrm>
            <a:off x="455613" y="1228725"/>
            <a:ext cx="2892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线性变换 </a:t>
            </a:r>
          </a:p>
        </p:txBody>
      </p:sp>
      <p:graphicFrame>
        <p:nvGraphicFramePr>
          <p:cNvPr id="1474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353180"/>
              </p:ext>
            </p:extLst>
          </p:nvPr>
        </p:nvGraphicFramePr>
        <p:xfrm>
          <a:off x="2614613" y="549275"/>
          <a:ext cx="1243012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549275"/>
                        <a:ext cx="1243012" cy="187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156422" y="1228725"/>
            <a:ext cx="2863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恒等变换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048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553308"/>
              </p:ext>
            </p:extLst>
          </p:nvPr>
        </p:nvGraphicFramePr>
        <p:xfrm>
          <a:off x="1277938" y="2349500"/>
          <a:ext cx="142875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2349500"/>
                        <a:ext cx="1428750" cy="215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400300" y="4900613"/>
            <a:ext cx="1600200" cy="633412"/>
            <a:chOff x="2064" y="2769"/>
            <a:chExt cx="1008" cy="399"/>
          </a:xfrm>
        </p:grpSpPr>
        <p:sp>
          <p:nvSpPr>
            <p:cNvPr id="147467" name="Line 8"/>
            <p:cNvSpPr>
              <a:spLocks noChangeShapeType="1"/>
            </p:cNvSpPr>
            <p:nvPr/>
          </p:nvSpPr>
          <p:spPr bwMode="auto">
            <a:xfrm>
              <a:off x="2064" y="3168"/>
              <a:ext cx="100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7468" name="Rectangle 9"/>
            <p:cNvSpPr>
              <a:spLocks noChangeArrowheads="1"/>
            </p:cNvSpPr>
            <p:nvPr/>
          </p:nvSpPr>
          <p:spPr bwMode="auto">
            <a:xfrm>
              <a:off x="2304" y="2769"/>
              <a:ext cx="55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对应 </a:t>
              </a:r>
            </a:p>
          </p:txBody>
        </p:sp>
      </p:grpSp>
      <p:graphicFrame>
        <p:nvGraphicFramePr>
          <p:cNvPr id="2049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338350"/>
              </p:ext>
            </p:extLst>
          </p:nvPr>
        </p:nvGraphicFramePr>
        <p:xfrm>
          <a:off x="4140200" y="4598988"/>
          <a:ext cx="23098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598988"/>
                        <a:ext cx="2309813" cy="185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6227763" y="5229225"/>
            <a:ext cx="1795462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单位阵</a:t>
            </a:r>
            <a:r>
              <a:rPr kumimoji="1"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970558" y="5286151"/>
            <a:ext cx="1873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恒等变换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6648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  <p:bldP spid="20491" grpId="0" autoUpdateAnimBg="0"/>
      <p:bldP spid="12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267737"/>
              </p:ext>
            </p:extLst>
          </p:nvPr>
        </p:nvGraphicFramePr>
        <p:xfrm>
          <a:off x="1037469" y="1379392"/>
          <a:ext cx="990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469" y="1379392"/>
                        <a:ext cx="9906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62669" y="1288109"/>
            <a:ext cx="3777483" cy="574675"/>
            <a:chOff x="2688" y="1078"/>
            <a:chExt cx="1008" cy="362"/>
          </a:xfrm>
        </p:grpSpPr>
        <p:sp>
          <p:nvSpPr>
            <p:cNvPr id="148524" name="Line 4"/>
            <p:cNvSpPr>
              <a:spLocks noChangeShapeType="1"/>
            </p:cNvSpPr>
            <p:nvPr/>
          </p:nvSpPr>
          <p:spPr bwMode="auto">
            <a:xfrm>
              <a:off x="2688" y="1440"/>
              <a:ext cx="100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8525" name="Rectangle 5"/>
            <p:cNvSpPr>
              <a:spLocks noChangeArrowheads="1"/>
            </p:cNvSpPr>
            <p:nvPr/>
          </p:nvSpPr>
          <p:spPr bwMode="auto">
            <a:xfrm>
              <a:off x="3064" y="1078"/>
              <a:ext cx="23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对应 </a:t>
              </a:r>
            </a:p>
          </p:txBody>
        </p:sp>
      </p:grpSp>
      <p:graphicFrame>
        <p:nvGraphicFramePr>
          <p:cNvPr id="73734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160334"/>
              </p:ext>
            </p:extLst>
          </p:nvPr>
        </p:nvGraphicFramePr>
        <p:xfrm>
          <a:off x="6166892" y="1373042"/>
          <a:ext cx="11414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6892" y="1373042"/>
                        <a:ext cx="1141412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7"/>
          <p:cNvGrpSpPr>
            <a:grpSpLocks/>
          </p:cNvGrpSpPr>
          <p:nvPr/>
        </p:nvGrpSpPr>
        <p:grpSpPr bwMode="auto">
          <a:xfrm>
            <a:off x="2604120" y="3501008"/>
            <a:ext cx="3048000" cy="2190751"/>
            <a:chOff x="3264" y="436"/>
            <a:chExt cx="1920" cy="1380"/>
          </a:xfrm>
        </p:grpSpPr>
        <p:graphicFrame>
          <p:nvGraphicFramePr>
            <p:cNvPr id="148495" name="Object 52"/>
            <p:cNvGraphicFramePr>
              <a:graphicFrameLocks noChangeAspect="1"/>
            </p:cNvGraphicFramePr>
            <p:nvPr/>
          </p:nvGraphicFramePr>
          <p:xfrm>
            <a:off x="3456" y="473"/>
            <a:ext cx="172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">
                    <p:embed/>
                  </p:oleObj>
                </mc:Choice>
                <mc:Fallback>
                  <p:oleObj name="Equation" r:id="rId6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473"/>
                          <a:ext cx="172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22" name="Line 9"/>
            <p:cNvSpPr>
              <a:spLocks noChangeShapeType="1"/>
            </p:cNvSpPr>
            <p:nvPr/>
          </p:nvSpPr>
          <p:spPr bwMode="auto">
            <a:xfrm>
              <a:off x="3264" y="1588"/>
              <a:ext cx="19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8523" name="Line 10"/>
            <p:cNvSpPr>
              <a:spLocks noChangeShapeType="1"/>
            </p:cNvSpPr>
            <p:nvPr/>
          </p:nvSpPr>
          <p:spPr bwMode="auto">
            <a:xfrm flipV="1">
              <a:off x="3648" y="436"/>
              <a:ext cx="0" cy="13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8496" name="Object 53"/>
            <p:cNvGraphicFramePr>
              <a:graphicFrameLocks noChangeAspect="1"/>
            </p:cNvGraphicFramePr>
            <p:nvPr/>
          </p:nvGraphicFramePr>
          <p:xfrm>
            <a:off x="4968" y="1644"/>
            <a:ext cx="172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">
                    <p:embed/>
                  </p:oleObj>
                </mc:Choice>
                <mc:Fallback>
                  <p:oleObj name="Equation" r:id="rId8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1644"/>
                          <a:ext cx="172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497" name="Object 54"/>
            <p:cNvGraphicFramePr>
              <a:graphicFrameLocks noChangeAspect="1"/>
            </p:cNvGraphicFramePr>
            <p:nvPr/>
          </p:nvGraphicFramePr>
          <p:xfrm>
            <a:off x="3427" y="1592"/>
            <a:ext cx="157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0" imgH="0" progId="">
                    <p:embed/>
                  </p:oleObj>
                </mc:Choice>
                <mc:Fallback>
                  <p:oleObj name="Equation" r:id="rId10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7" y="1592"/>
                          <a:ext cx="157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41" name="Line 13"/>
          <p:cNvSpPr>
            <a:spLocks noChangeShapeType="1"/>
          </p:cNvSpPr>
          <p:nvPr/>
        </p:nvSpPr>
        <p:spPr bwMode="auto">
          <a:xfrm flipV="1">
            <a:off x="3213720" y="4224907"/>
            <a:ext cx="1157288" cy="1104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3742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863834"/>
              </p:ext>
            </p:extLst>
          </p:nvPr>
        </p:nvGraphicFramePr>
        <p:xfrm>
          <a:off x="4426396" y="3980432"/>
          <a:ext cx="762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6396" y="3980432"/>
                        <a:ext cx="7620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698857"/>
              </p:ext>
            </p:extLst>
          </p:nvPr>
        </p:nvGraphicFramePr>
        <p:xfrm>
          <a:off x="4426396" y="4945632"/>
          <a:ext cx="95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6396" y="4945632"/>
                        <a:ext cx="952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6166892" y="4494502"/>
            <a:ext cx="14991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投影变换 </a:t>
            </a:r>
            <a:endParaRPr kumimoji="1"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3754" name="Rectangle 26"/>
          <p:cNvSpPr>
            <a:spLocks noChangeArrowheads="1"/>
          </p:cNvSpPr>
          <p:nvPr/>
        </p:nvSpPr>
        <p:spPr bwMode="auto">
          <a:xfrm>
            <a:off x="948581" y="533624"/>
            <a:ext cx="2327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阶方阵 </a:t>
            </a:r>
          </a:p>
        </p:txBody>
      </p:sp>
      <p:sp>
        <p:nvSpPr>
          <p:cNvPr id="73760" name="Line 32"/>
          <p:cNvSpPr>
            <a:spLocks noChangeShapeType="1"/>
          </p:cNvSpPr>
          <p:nvPr/>
        </p:nvSpPr>
        <p:spPr bwMode="auto">
          <a:xfrm>
            <a:off x="3218656" y="5316065"/>
            <a:ext cx="115093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3761" name="Line 33"/>
          <p:cNvSpPr>
            <a:spLocks noChangeShapeType="1"/>
          </p:cNvSpPr>
          <p:nvPr/>
        </p:nvSpPr>
        <p:spPr bwMode="auto">
          <a:xfrm>
            <a:off x="4370834" y="4224907"/>
            <a:ext cx="0" cy="1081088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58"/>
              <p:cNvSpPr>
                <a:spLocks noChangeArrowheads="1"/>
              </p:cNvSpPr>
              <p:nvPr/>
            </p:nvSpPr>
            <p:spPr bwMode="auto">
              <a:xfrm>
                <a:off x="2551165" y="2061219"/>
                <a:ext cx="2703513" cy="6477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kumimoji="1"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1165" y="2061219"/>
                <a:ext cx="2703513" cy="647701"/>
              </a:xfrm>
              <a:prstGeom prst="rect">
                <a:avLst/>
              </a:prstGeom>
              <a:blipFill>
                <a:blip r:embed="rId16"/>
                <a:stretch>
                  <a:fillRect b="-283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2496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1" grpId="0" animBg="1"/>
      <p:bldP spid="73745" grpId="0"/>
      <p:bldP spid="73754" grpId="0" autoUpdateAnimBg="0"/>
      <p:bldP spid="73760" grpId="0" animBg="1"/>
      <p:bldP spid="73761" grpId="0" animBg="1"/>
      <p:bldP spid="4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弧形 10"/>
          <p:cNvSpPr/>
          <p:nvPr/>
        </p:nvSpPr>
        <p:spPr bwMode="auto">
          <a:xfrm>
            <a:off x="4521114" y="2667954"/>
            <a:ext cx="3057445" cy="3213780"/>
          </a:xfrm>
          <a:prstGeom prst="arc">
            <a:avLst>
              <a:gd name="adj1" fmla="val 17534167"/>
              <a:gd name="adj2" fmla="val 20445425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ash"/>
            <a:miter lim="800000"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3762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526802"/>
              </p:ext>
            </p:extLst>
          </p:nvPr>
        </p:nvGraphicFramePr>
        <p:xfrm>
          <a:off x="1183258" y="1009824"/>
          <a:ext cx="21574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258" y="1009824"/>
                        <a:ext cx="2157413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3440683" y="836786"/>
            <a:ext cx="1600200" cy="633413"/>
            <a:chOff x="2688" y="1041"/>
            <a:chExt cx="1008" cy="399"/>
          </a:xfrm>
        </p:grpSpPr>
        <p:sp>
          <p:nvSpPr>
            <p:cNvPr id="148520" name="Line 36"/>
            <p:cNvSpPr>
              <a:spLocks noChangeShapeType="1"/>
            </p:cNvSpPr>
            <p:nvPr/>
          </p:nvSpPr>
          <p:spPr bwMode="auto">
            <a:xfrm>
              <a:off x="2688" y="1440"/>
              <a:ext cx="100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8521" name="Rectangle 37"/>
            <p:cNvSpPr>
              <a:spLocks noChangeArrowheads="1"/>
            </p:cNvSpPr>
            <p:nvPr/>
          </p:nvSpPr>
          <p:spPr bwMode="auto">
            <a:xfrm>
              <a:off x="2928" y="1041"/>
              <a:ext cx="55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对应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766" name="Object 58"/>
              <p:cNvSpPr txBox="1"/>
              <p:nvPr/>
            </p:nvSpPr>
            <p:spPr bwMode="auto">
              <a:xfrm>
                <a:off x="5148064" y="940500"/>
                <a:ext cx="3469095" cy="111236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func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func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func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func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766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8064" y="940500"/>
                <a:ext cx="3469095" cy="11123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77" name="Text Box 49"/>
              <p:cNvSpPr txBox="1">
                <a:spLocks noChangeArrowheads="1"/>
              </p:cNvSpPr>
              <p:nvPr/>
            </p:nvSpPr>
            <p:spPr bwMode="auto">
              <a:xfrm>
                <a:off x="5525173" y="4980190"/>
                <a:ext cx="3162938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以原点为中心逆时针旋转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𝒋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角的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旋转变换 </a:t>
                </a:r>
                <a:endParaRPr kumimoji="1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777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5173" y="4980190"/>
                <a:ext cx="3162938" cy="830997"/>
              </a:xfrm>
              <a:prstGeom prst="rect">
                <a:avLst/>
              </a:prstGeom>
              <a:blipFill>
                <a:blip r:embed="rId5"/>
                <a:stretch>
                  <a:fillRect l="-2890" t="-5882" b="-1397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86" name="Rectangle 58"/>
          <p:cNvSpPr>
            <a:spLocks noChangeArrowheads="1"/>
          </p:cNvSpPr>
          <p:nvPr/>
        </p:nvSpPr>
        <p:spPr bwMode="auto">
          <a:xfrm>
            <a:off x="455613" y="548680"/>
            <a:ext cx="2327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阶方阵   </a:t>
            </a:r>
          </a:p>
        </p:txBody>
      </p:sp>
      <p:sp>
        <p:nvSpPr>
          <p:cNvPr id="73793" name="Line 65"/>
          <p:cNvSpPr>
            <a:spLocks noChangeShapeType="1"/>
          </p:cNvSpPr>
          <p:nvPr/>
        </p:nvSpPr>
        <p:spPr bwMode="auto">
          <a:xfrm flipV="1">
            <a:off x="5980311" y="3774852"/>
            <a:ext cx="152400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3796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779940"/>
              </p:ext>
            </p:extLst>
          </p:nvPr>
        </p:nvGraphicFramePr>
        <p:xfrm>
          <a:off x="6756631" y="2467938"/>
          <a:ext cx="1268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631" y="2467938"/>
                        <a:ext cx="1268413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94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352013"/>
              </p:ext>
            </p:extLst>
          </p:nvPr>
        </p:nvGraphicFramePr>
        <p:xfrm>
          <a:off x="7588448" y="3549427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448" y="3549427"/>
                        <a:ext cx="1016000" cy="406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95" name="Line 67"/>
          <p:cNvSpPr>
            <a:spLocks noChangeShapeType="1"/>
          </p:cNvSpPr>
          <p:nvPr/>
        </p:nvSpPr>
        <p:spPr bwMode="auto">
          <a:xfrm rot="18694332" flipV="1">
            <a:off x="5580261" y="3279552"/>
            <a:ext cx="152400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6193060" y="3607941"/>
            <a:ext cx="519112" cy="534987"/>
            <a:chOff x="3719" y="2873"/>
            <a:chExt cx="327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494" name="Object 61"/>
                <p:cNvSpPr txBox="1"/>
                <p:nvPr/>
              </p:nvSpPr>
              <p:spPr bwMode="auto">
                <a:xfrm>
                  <a:off x="3822" y="2873"/>
                  <a:ext cx="224" cy="265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8494" name="Object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22" y="2873"/>
                  <a:ext cx="224" cy="265"/>
                </a:xfrm>
                <a:prstGeom prst="rect">
                  <a:avLst/>
                </a:prstGeom>
                <a:blipFill>
                  <a:blip r:embed="rId10"/>
                  <a:stretch>
                    <a:fillRect l="-6897" r="-8621" b="-101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8517" name="Group 71"/>
            <p:cNvGrpSpPr>
              <a:grpSpLocks/>
            </p:cNvGrpSpPr>
            <p:nvPr/>
          </p:nvGrpSpPr>
          <p:grpSpPr bwMode="auto">
            <a:xfrm>
              <a:off x="3719" y="3117"/>
              <a:ext cx="93" cy="93"/>
              <a:chOff x="3719" y="3117"/>
              <a:chExt cx="93" cy="93"/>
            </a:xfrm>
          </p:grpSpPr>
          <p:sp>
            <p:nvSpPr>
              <p:cNvPr id="148518" name="Freeform 72"/>
              <p:cNvSpPr>
                <a:spLocks/>
              </p:cNvSpPr>
              <p:nvPr/>
            </p:nvSpPr>
            <p:spPr bwMode="auto">
              <a:xfrm>
                <a:off x="3719" y="3160"/>
                <a:ext cx="50" cy="50"/>
              </a:xfrm>
              <a:custGeom>
                <a:avLst/>
                <a:gdLst>
                  <a:gd name="T0" fmla="*/ 0 w 50"/>
                  <a:gd name="T1" fmla="*/ 0 h 50"/>
                  <a:gd name="T2" fmla="*/ 50 w 50"/>
                  <a:gd name="T3" fmla="*/ 50 h 50"/>
                  <a:gd name="T4" fmla="*/ 0 60000 65536"/>
                  <a:gd name="T5" fmla="*/ 0 60000 65536"/>
                  <a:gd name="T6" fmla="*/ 0 w 50"/>
                  <a:gd name="T7" fmla="*/ 0 h 50"/>
                  <a:gd name="T8" fmla="*/ 50 w 50"/>
                  <a:gd name="T9" fmla="*/ 50 h 5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0" h="50">
                    <a:moveTo>
                      <a:pt x="0" y="0"/>
                    </a:moveTo>
                    <a:cubicBezTo>
                      <a:pt x="30" y="10"/>
                      <a:pt x="37" y="22"/>
                      <a:pt x="50" y="5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519" name="Freeform 73"/>
              <p:cNvSpPr>
                <a:spLocks/>
              </p:cNvSpPr>
              <p:nvPr/>
            </p:nvSpPr>
            <p:spPr bwMode="auto">
              <a:xfrm>
                <a:off x="3727" y="3117"/>
                <a:ext cx="85" cy="85"/>
              </a:xfrm>
              <a:custGeom>
                <a:avLst/>
                <a:gdLst>
                  <a:gd name="T0" fmla="*/ 0 w 85"/>
                  <a:gd name="T1" fmla="*/ 0 h 85"/>
                  <a:gd name="T2" fmla="*/ 68 w 85"/>
                  <a:gd name="T3" fmla="*/ 51 h 85"/>
                  <a:gd name="T4" fmla="*/ 85 w 85"/>
                  <a:gd name="T5" fmla="*/ 85 h 85"/>
                  <a:gd name="T6" fmla="*/ 0 60000 65536"/>
                  <a:gd name="T7" fmla="*/ 0 60000 65536"/>
                  <a:gd name="T8" fmla="*/ 0 60000 65536"/>
                  <a:gd name="T9" fmla="*/ 0 w 85"/>
                  <a:gd name="T10" fmla="*/ 0 h 85"/>
                  <a:gd name="T11" fmla="*/ 85 w 85"/>
                  <a:gd name="T12" fmla="*/ 85 h 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5" h="85">
                    <a:moveTo>
                      <a:pt x="0" y="0"/>
                    </a:moveTo>
                    <a:cubicBezTo>
                      <a:pt x="31" y="11"/>
                      <a:pt x="40" y="33"/>
                      <a:pt x="68" y="51"/>
                    </a:cubicBezTo>
                    <a:cubicBezTo>
                      <a:pt x="77" y="80"/>
                      <a:pt x="70" y="70"/>
                      <a:pt x="85" y="85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6516216" y="3911079"/>
            <a:ext cx="757237" cy="454025"/>
            <a:chOff x="3956" y="3026"/>
            <a:chExt cx="477" cy="286"/>
          </a:xfrm>
        </p:grpSpPr>
        <p:graphicFrame>
          <p:nvGraphicFramePr>
            <p:cNvPr id="148493" name="Object 62"/>
            <p:cNvGraphicFramePr>
              <a:graphicFrameLocks noChangeAspect="1"/>
            </p:cNvGraphicFramePr>
            <p:nvPr/>
          </p:nvGraphicFramePr>
          <p:xfrm>
            <a:off x="4208" y="3026"/>
            <a:ext cx="225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0" imgH="0" progId="">
                    <p:embed/>
                  </p:oleObj>
                </mc:Choice>
                <mc:Fallback>
                  <p:oleObj name="Equation" r:id="rId11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8" y="3026"/>
                          <a:ext cx="225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16" name="Freeform 76"/>
            <p:cNvSpPr>
              <a:spLocks/>
            </p:cNvSpPr>
            <p:nvPr/>
          </p:nvSpPr>
          <p:spPr bwMode="auto">
            <a:xfrm>
              <a:off x="3956" y="3168"/>
              <a:ext cx="25" cy="93"/>
            </a:xfrm>
            <a:custGeom>
              <a:avLst/>
              <a:gdLst>
                <a:gd name="T0" fmla="*/ 0 w 25"/>
                <a:gd name="T1" fmla="*/ 0 h 93"/>
                <a:gd name="T2" fmla="*/ 25 w 25"/>
                <a:gd name="T3" fmla="*/ 93 h 93"/>
                <a:gd name="T4" fmla="*/ 0 60000 65536"/>
                <a:gd name="T5" fmla="*/ 0 60000 65536"/>
                <a:gd name="T6" fmla="*/ 0 w 25"/>
                <a:gd name="T7" fmla="*/ 0 h 93"/>
                <a:gd name="T8" fmla="*/ 25 w 25"/>
                <a:gd name="T9" fmla="*/ 93 h 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" h="93">
                  <a:moveTo>
                    <a:pt x="0" y="0"/>
                  </a:moveTo>
                  <a:cubicBezTo>
                    <a:pt x="14" y="44"/>
                    <a:pt x="25" y="41"/>
                    <a:pt x="25" y="9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8"/>
          <p:cNvGrpSpPr>
            <a:grpSpLocks/>
          </p:cNvGrpSpPr>
          <p:nvPr/>
        </p:nvGrpSpPr>
        <p:grpSpPr bwMode="auto">
          <a:xfrm>
            <a:off x="5708848" y="2483023"/>
            <a:ext cx="2743200" cy="2170113"/>
            <a:chOff x="3456" y="436"/>
            <a:chExt cx="1728" cy="1367"/>
          </a:xfrm>
        </p:grpSpPr>
        <p:graphicFrame>
          <p:nvGraphicFramePr>
            <p:cNvPr id="148490" name="Object 63"/>
            <p:cNvGraphicFramePr>
              <a:graphicFrameLocks noChangeAspect="1"/>
            </p:cNvGraphicFramePr>
            <p:nvPr/>
          </p:nvGraphicFramePr>
          <p:xfrm>
            <a:off x="3456" y="473"/>
            <a:ext cx="172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0" imgH="0" progId="">
                    <p:embed/>
                  </p:oleObj>
                </mc:Choice>
                <mc:Fallback>
                  <p:oleObj name="Equation" r:id="rId13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473"/>
                          <a:ext cx="172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14" name="Line 80"/>
            <p:cNvSpPr>
              <a:spLocks noChangeShapeType="1"/>
            </p:cNvSpPr>
            <p:nvPr/>
          </p:nvSpPr>
          <p:spPr bwMode="auto">
            <a:xfrm>
              <a:off x="3489" y="1583"/>
              <a:ext cx="1695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8515" name="Line 81"/>
            <p:cNvSpPr>
              <a:spLocks noChangeShapeType="1"/>
            </p:cNvSpPr>
            <p:nvPr/>
          </p:nvSpPr>
          <p:spPr bwMode="auto">
            <a:xfrm flipV="1">
              <a:off x="3643" y="436"/>
              <a:ext cx="5" cy="12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8491" name="Object 64"/>
            <p:cNvGraphicFramePr>
              <a:graphicFrameLocks noChangeAspect="1"/>
            </p:cNvGraphicFramePr>
            <p:nvPr/>
          </p:nvGraphicFramePr>
          <p:xfrm>
            <a:off x="4968" y="1584"/>
            <a:ext cx="172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0" imgH="0" progId="">
                    <p:embed/>
                  </p:oleObj>
                </mc:Choice>
                <mc:Fallback>
                  <p:oleObj name="Equation" r:id="rId15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1584"/>
                          <a:ext cx="172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492" name="Object 65"/>
            <p:cNvGraphicFramePr>
              <a:graphicFrameLocks noChangeAspect="1"/>
            </p:cNvGraphicFramePr>
            <p:nvPr/>
          </p:nvGraphicFramePr>
          <p:xfrm>
            <a:off x="3490" y="1584"/>
            <a:ext cx="157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0" imgH="0" progId="">
                    <p:embed/>
                  </p:oleObj>
                </mc:Choice>
                <mc:Fallback>
                  <p:oleObj name="Equation" r:id="rId17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0" y="1584"/>
                          <a:ext cx="157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9"/>
              <p:cNvSpPr txBox="1">
                <a:spLocks noChangeArrowheads="1"/>
              </p:cNvSpPr>
              <p:nvPr/>
            </p:nvSpPr>
            <p:spPr bwMode="auto">
              <a:xfrm>
                <a:off x="1015970" y="2085685"/>
                <a:ext cx="3798906" cy="9161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极坐标表示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1"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</m:ctrlPr>
                          </m:eqArrPr>
                          <m:e>
                            <m:r>
                              <a:rPr kumimoji="1" lang="en-US" altLang="zh-CN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𝒙</m:t>
                            </m:r>
                            <m:r>
                              <a:rPr kumimoji="1" lang="en-US" altLang="zh-CN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=</m:t>
                            </m:r>
                            <m:r>
                              <a:rPr kumimoji="1" lang="en-US" altLang="zh-CN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𝒓</m:t>
                            </m:r>
                            <m:r>
                              <a:rPr kumimoji="1" lang="en-US" altLang="zh-CN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 </m:t>
                            </m:r>
                            <m:r>
                              <a:rPr kumimoji="1" lang="en-US" altLang="zh-CN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𝐜𝐨𝐬</m:t>
                            </m:r>
                            <m:r>
                              <a:rPr kumimoji="1" lang="zh-CN" alt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𝜽</m:t>
                            </m:r>
                            <m:r>
                              <m:rPr>
                                <m:nor/>
                              </m:rPr>
                              <a:rPr kumimoji="1" lang="en-US" altLang="zh-CN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kumimoji="1" lang="en-US" altLang="zh-CN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𝒚</m:t>
                            </m:r>
                            <m:r>
                              <a:rPr kumimoji="1" lang="en-US" altLang="zh-CN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=</m:t>
                            </m:r>
                            <m:r>
                              <a:rPr kumimoji="1" lang="en-US" altLang="zh-CN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𝒓</m:t>
                            </m:r>
                            <m:r>
                              <a:rPr kumimoji="1" lang="en-US" altLang="zh-CN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 </m:t>
                            </m:r>
                            <m:r>
                              <a:rPr kumimoji="1" lang="en-US" altLang="zh-CN" b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𝐬𝐢𝐧</m:t>
                            </m:r>
                            <m:r>
                              <a:rPr kumimoji="1" lang="zh-CN" altLang="en-US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𝜽</m:t>
                            </m:r>
                          </m:e>
                        </m:eqArr>
                      </m:e>
                    </m:d>
                  </m:oMath>
                </a14:m>
                <a:endParaRPr kumimoji="1"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5970" y="2085685"/>
                <a:ext cx="3798906" cy="916148"/>
              </a:xfrm>
              <a:prstGeom prst="rect">
                <a:avLst/>
              </a:prstGeom>
              <a:blipFill>
                <a:blip r:embed="rId19"/>
                <a:stretch>
                  <a:fillRect l="-256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261121" y="4959018"/>
                <a:ext cx="2971647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楷体_GB2312"/>
                                      <a:cs typeface="楷体_GB231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楷体_GB2312"/>
                                      <a:cs typeface="楷体_GB231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楷体_GB2312"/>
                                      <a:cs typeface="楷体_GB231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1"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=</m:t>
                              </m:r>
                              <m:r>
                                <a:rPr kumimoji="1"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𝒓</m:t>
                              </m:r>
                              <m:r>
                                <a:rPr kumimoji="1"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 </m:t>
                              </m:r>
                              <m:r>
                                <a:rPr kumimoji="1"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𝐜𝐨𝐬</m:t>
                              </m:r>
                              <m:r>
                                <a:rPr kumimoji="1" lang="en-US" altLang="zh-CN" b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(</m:t>
                              </m:r>
                              <m:r>
                                <a:rPr kumimoji="1"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𝜽</m:t>
                              </m:r>
                              <m:r>
                                <a:rPr kumimoji="1"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+</m:t>
                              </m:r>
                              <m:r>
                                <a:rPr kumimoji="1" lang="zh-CN" altLang="en-US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𝝋</m:t>
                              </m:r>
                              <m:r>
                                <a:rPr kumimoji="1"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b="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楷体_GB2312"/>
                                      <a:cs typeface="楷体_GB231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楷体_GB2312"/>
                                      <a:cs typeface="楷体_GB231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kumimoji="1" lang="en-US" altLang="zh-CN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楷体_GB2312"/>
                                      <a:cs typeface="楷体_GB231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1" lang="en-US" altLang="zh-CN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=</m:t>
                              </m:r>
                              <m:r>
                                <a:rPr kumimoji="1" lang="en-US" altLang="zh-CN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𝒓</m:t>
                              </m:r>
                              <m:r>
                                <a:rPr kumimoji="1" lang="en-US" altLang="zh-CN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 </m:t>
                              </m:r>
                              <m:r>
                                <a:rPr kumimoji="1" lang="en-US" altLang="zh-CN" b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𝐬𝐢𝐧</m:t>
                              </m:r>
                              <m:r>
                                <a:rPr kumimoji="1" lang="en-US" altLang="zh-CN" b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(</m:t>
                              </m:r>
                              <m:r>
                                <a:rPr kumimoji="1" lang="zh-CN" altLang="en-US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𝜽</m:t>
                              </m:r>
                              <m:r>
                                <a:rPr kumimoji="1" lang="en-US" altLang="zh-CN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+</m:t>
                              </m:r>
                              <m:r>
                                <a:rPr kumimoji="1" lang="zh-CN" altLang="en-US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𝝋</m:t>
                              </m:r>
                              <m:r>
                                <a:rPr kumimoji="1" lang="en-US" altLang="zh-CN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121" y="4959018"/>
                <a:ext cx="2971647" cy="91614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112324" y="2975723"/>
                <a:ext cx="43707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bPr>
                        <m:e>
                          <m:r>
                            <a:rPr kumimoji="1"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r>
                        <a:rPr kumimoji="1"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𝒓</m:t>
                      </m:r>
                      <m:r>
                        <a:rPr kumimoji="1"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𝐜𝐨𝐬</m:t>
                      </m:r>
                      <m:r>
                        <a:rPr kumimoji="1"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𝜽</m:t>
                      </m:r>
                      <m:r>
                        <a:rPr kumimoji="1" lang="en-US" altLang="zh-CN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𝐜𝐨𝐬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𝝋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𝒓</m:t>
                      </m:r>
                      <m:r>
                        <a:rPr kumimoji="1" lang="en-US" altLang="zh-CN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𝐬𝐢𝐧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𝜽</m:t>
                      </m:r>
                      <m:r>
                        <a:rPr kumimoji="1"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𝐬𝐢𝐧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𝝋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324" y="2975723"/>
                <a:ext cx="4370736" cy="461665"/>
              </a:xfrm>
              <a:prstGeom prst="rect">
                <a:avLst/>
              </a:prstGeom>
              <a:blipFill>
                <a:blip r:embed="rId21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1547664" y="3416266"/>
                <a:ext cx="23401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𝒓</m:t>
                      </m:r>
                      <m:r>
                        <a:rPr kumimoji="1"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𝐜𝐨𝐬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(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𝜽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+</m:t>
                      </m:r>
                      <m:r>
                        <a:rPr kumimoji="1"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𝝋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416266"/>
                <a:ext cx="2340191" cy="461665"/>
              </a:xfrm>
              <a:prstGeom prst="rect">
                <a:avLst/>
              </a:prstGeom>
              <a:blipFill>
                <a:blip r:embed="rId2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/>
              <p:cNvSpPr/>
              <p:nvPr/>
            </p:nvSpPr>
            <p:spPr>
              <a:xfrm>
                <a:off x="1100279" y="3898061"/>
                <a:ext cx="43707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r>
                        <a:rPr kumimoji="1"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𝒓</m:t>
                      </m:r>
                      <m:r>
                        <a:rPr kumimoji="1"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𝐜𝐨𝐬</m:t>
                      </m:r>
                      <m:r>
                        <a:rPr kumimoji="1"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𝜽</m:t>
                      </m:r>
                      <m:r>
                        <a:rPr kumimoji="1"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𝐬𝐢𝐧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𝝋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𝒓</m:t>
                      </m:r>
                      <m:r>
                        <a:rPr kumimoji="1" lang="en-US" altLang="zh-CN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𝐬𝐢𝐧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𝜽</m:t>
                      </m:r>
                      <m:r>
                        <a:rPr kumimoji="1"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𝐜𝐨𝐬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𝝋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279" y="3898061"/>
                <a:ext cx="4370736" cy="461665"/>
              </a:xfrm>
              <a:prstGeom prst="rect">
                <a:avLst/>
              </a:prstGeom>
              <a:blipFill>
                <a:blip r:embed="rId23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/>
              <p:cNvSpPr/>
              <p:nvPr/>
            </p:nvSpPr>
            <p:spPr>
              <a:xfrm>
                <a:off x="1535619" y="4338604"/>
                <a:ext cx="23033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𝒓</m:t>
                      </m:r>
                      <m:r>
                        <a:rPr kumimoji="1"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𝐬𝐢𝐧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(</m:t>
                      </m:r>
                      <m:r>
                        <a:rPr kumimoji="1"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𝜽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+</m:t>
                      </m:r>
                      <m:r>
                        <a:rPr kumimoji="1"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𝝋</m:t>
                      </m:r>
                      <m:r>
                        <a:rPr kumimoji="1"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619" y="4338604"/>
                <a:ext cx="2303323" cy="461665"/>
              </a:xfrm>
              <a:prstGeom prst="rect">
                <a:avLst/>
              </a:prstGeom>
              <a:blipFill>
                <a:blip r:embed="rId2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712723" y="3569506"/>
                <a:ext cx="4267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723" y="3569506"/>
                <a:ext cx="426720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Line 33"/>
          <p:cNvSpPr>
            <a:spLocks noChangeShapeType="1"/>
          </p:cNvSpPr>
          <p:nvPr/>
        </p:nvSpPr>
        <p:spPr bwMode="auto">
          <a:xfrm>
            <a:off x="7504311" y="3788072"/>
            <a:ext cx="0" cy="515814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1904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7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7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7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7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3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3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3777" grpId="0"/>
      <p:bldP spid="73786" grpId="0" autoUpdateAnimBg="0"/>
      <p:bldP spid="73793" grpId="0" animBg="1"/>
      <p:bldP spid="73795" grpId="0" animBg="1"/>
      <p:bldP spid="47" grpId="0"/>
      <p:bldP spid="6" grpId="0"/>
      <p:bldP spid="9" grpId="0"/>
      <p:bldP spid="49" grpId="0"/>
      <p:bldP spid="51" grpId="0"/>
      <p:bldP spid="52" grpId="0"/>
      <p:bldP spid="10" grpId="0"/>
      <p:bldP spid="5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338" name="Text Box 6"/>
          <p:cNvSpPr txBox="1">
            <a:spLocks noChangeArrowheads="1"/>
          </p:cNvSpPr>
          <p:nvPr/>
        </p:nvSpPr>
        <p:spPr bwMode="auto">
          <a:xfrm>
            <a:off x="2500313" y="548680"/>
            <a:ext cx="3500437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矩 阵 运 算 小 结</a:t>
            </a:r>
            <a:endParaRPr lang="zh-CN" altLang="en-US" sz="2800" b="1" dirty="0">
              <a:solidFill>
                <a:srgbClr val="000000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285875" y="2911475"/>
            <a:ext cx="1785938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>
                <a:latin typeface="楷体_GB2312"/>
                <a:ea typeface="楷体_GB2312"/>
                <a:cs typeface="楷体_GB2312"/>
              </a:rPr>
              <a:t>1.</a:t>
            </a:r>
            <a:r>
              <a:rPr lang="zh-CN" altLang="en-US" b="1">
                <a:latin typeface="楷体_GB2312"/>
                <a:ea typeface="楷体_GB2312"/>
                <a:cs typeface="楷体_GB2312"/>
              </a:rPr>
              <a:t>矩阵的运算</a:t>
            </a:r>
            <a:endParaRPr lang="zh-CN" altLang="en-US" b="1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166340" name="左大括号 5"/>
          <p:cNvSpPr>
            <a:spLocks/>
          </p:cNvSpPr>
          <p:nvPr/>
        </p:nvSpPr>
        <p:spPr bwMode="auto">
          <a:xfrm>
            <a:off x="3286125" y="2003425"/>
            <a:ext cx="357188" cy="2071688"/>
          </a:xfrm>
          <a:prstGeom prst="leftBrace">
            <a:avLst>
              <a:gd name="adj1" fmla="val 8324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643313" y="1768475"/>
            <a:ext cx="221456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>
                <a:latin typeface="楷体_GB2312"/>
                <a:ea typeface="楷体_GB2312"/>
                <a:cs typeface="楷体_GB2312"/>
              </a:rPr>
              <a:t>线性运算</a:t>
            </a:r>
            <a:endParaRPr lang="zh-CN" altLang="en-US" b="1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429250" y="1268413"/>
            <a:ext cx="221456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>
                <a:latin typeface="楷体_GB2312"/>
                <a:ea typeface="楷体_GB2312"/>
                <a:cs typeface="楷体_GB2312"/>
              </a:rPr>
              <a:t>加法</a:t>
            </a:r>
            <a:endParaRPr lang="zh-CN" altLang="en-US" b="1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429250" y="2339975"/>
            <a:ext cx="2214563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>
                <a:latin typeface="楷体_GB2312"/>
                <a:ea typeface="楷体_GB2312"/>
                <a:cs typeface="楷体_GB2312"/>
              </a:rPr>
              <a:t>数乘</a:t>
            </a:r>
            <a:endParaRPr lang="zh-CN" altLang="en-US" b="1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822968" y="5598394"/>
            <a:ext cx="221456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楷体_GB2312"/>
                <a:ea typeface="楷体_GB2312"/>
                <a:cs typeface="楷体_GB2312"/>
              </a:rPr>
              <a:t>幂运算</a:t>
            </a:r>
            <a:endParaRPr lang="zh-CN" altLang="en-US" b="1" dirty="0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285875" y="5085184"/>
            <a:ext cx="107156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 dirty="0">
                <a:latin typeface="楷体_GB2312"/>
                <a:ea typeface="楷体_GB2312"/>
                <a:cs typeface="楷体_GB2312"/>
              </a:rPr>
              <a:t>2.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方阵</a:t>
            </a:r>
            <a:endParaRPr lang="zh-CN" altLang="en-US" b="1" dirty="0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694872" y="2937483"/>
            <a:ext cx="2214563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楷体_GB2312"/>
                <a:ea typeface="楷体_GB2312"/>
                <a:cs typeface="楷体_GB2312"/>
              </a:rPr>
              <a:t>乘法运算</a:t>
            </a:r>
            <a:endParaRPr lang="zh-CN" altLang="en-US" b="1" dirty="0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714750" y="3697288"/>
            <a:ext cx="221456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>
                <a:latin typeface="楷体_GB2312"/>
                <a:ea typeface="楷体_GB2312"/>
                <a:cs typeface="楷体_GB2312"/>
              </a:rPr>
              <a:t>转置运算</a:t>
            </a:r>
            <a:endParaRPr lang="zh-CN" altLang="en-US" b="1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166348" name="左大括号 5"/>
          <p:cNvSpPr>
            <a:spLocks/>
          </p:cNvSpPr>
          <p:nvPr/>
        </p:nvSpPr>
        <p:spPr bwMode="auto">
          <a:xfrm>
            <a:off x="5006901" y="1503363"/>
            <a:ext cx="357187" cy="1071562"/>
          </a:xfrm>
          <a:prstGeom prst="leftBrace">
            <a:avLst>
              <a:gd name="adj1" fmla="val 8319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1166349" name="左大括号 5"/>
          <p:cNvSpPr>
            <a:spLocks/>
          </p:cNvSpPr>
          <p:nvPr/>
        </p:nvSpPr>
        <p:spPr bwMode="auto">
          <a:xfrm>
            <a:off x="2428875" y="4437112"/>
            <a:ext cx="357188" cy="1735137"/>
          </a:xfrm>
          <a:prstGeom prst="leftBrace">
            <a:avLst>
              <a:gd name="adj1" fmla="val 8321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2861493" y="4554613"/>
            <a:ext cx="221456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b="1" dirty="0">
                <a:latin typeface="楷体_GB2312"/>
                <a:ea typeface="楷体_GB2312"/>
                <a:cs typeface="楷体_GB2312"/>
              </a:rPr>
              <a:t>行列式</a:t>
            </a:r>
            <a:endParaRPr lang="zh-CN" altLang="en-US" b="1" dirty="0">
              <a:latin typeface="Times New Roman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26" name="Text Box 6"/>
              <p:cNvSpPr txBox="1">
                <a:spLocks noChangeArrowheads="1"/>
              </p:cNvSpPr>
              <p:nvPr/>
            </p:nvSpPr>
            <p:spPr bwMode="auto">
              <a:xfrm>
                <a:off x="392596" y="2739927"/>
                <a:ext cx="8310563" cy="10491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分析：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从乘法的角度来看，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𝒏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阶单位矩阵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𝑬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在同阶方阵中的地位类似于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1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在数中的地位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  <a:endParaRPr kumimoji="1"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3072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596" y="2739927"/>
                <a:ext cx="8310563" cy="1049114"/>
              </a:xfrm>
              <a:prstGeom prst="rect">
                <a:avLst/>
              </a:prstGeom>
              <a:blipFill>
                <a:blip r:embed="rId2"/>
                <a:stretch>
                  <a:fillRect l="-1100" t="-578" b="-578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075407" y="1412776"/>
            <a:ext cx="5584825" cy="1135063"/>
            <a:chOff x="643" y="2160"/>
            <a:chExt cx="3518" cy="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47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643" y="2160"/>
                  <a:ext cx="3518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kumimoji="1" lang="zh-CN" altLang="en-US" b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对于</a:t>
                  </a:r>
                  <a14:m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楷体_GB2312"/>
                        </a:rPr>
                        <m:t>𝒏</m:t>
                      </m:r>
                    </m:oMath>
                  </a14:m>
                  <a:r>
                    <a:rPr kumimoji="1" lang="zh-CN" altLang="en-US" b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阶方阵</a:t>
                  </a:r>
                  <a14:m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楷体_GB2312"/>
                        </a:rPr>
                        <m:t>𝑨</m:t>
                      </m:r>
                    </m:oMath>
                  </a14:m>
                  <a:r>
                    <a:rPr kumimoji="1" lang="zh-CN" altLang="en-US" b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及同阶的单位矩阵</a:t>
                  </a:r>
                  <a14:m>
                    <m:oMath xmlns:m="http://schemas.openxmlformats.org/officeDocument/2006/math">
                      <m:r>
                        <a:rPr kumimoji="1" lang="en-US" altLang="zh-CN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楷体_GB2312"/>
                        </a:rPr>
                        <m:t>𝑬</m:t>
                      </m:r>
                    </m:oMath>
                  </a14:m>
                  <a:r>
                    <a:rPr kumimoji="1" lang="zh-CN" altLang="en-US" b="1" dirty="0">
                      <a:solidFill>
                        <a:srgbClr val="00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楷体_GB2312"/>
                    </a:rPr>
                    <a:t>，有</a:t>
                  </a:r>
                </a:p>
              </p:txBody>
            </p:sp>
          </mc:Choice>
          <mc:Fallback xmlns="">
            <p:sp>
              <p:nvSpPr>
                <p:cNvPr id="19047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3" y="2160"/>
                  <a:ext cx="3518" cy="291"/>
                </a:xfrm>
                <a:prstGeom prst="rect">
                  <a:avLst/>
                </a:prstGeom>
                <a:blipFill>
                  <a:blip r:embed="rId3"/>
                  <a:stretch>
                    <a:fillRect l="-1636" t="-14474" b="-25000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0466" name="Object 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96499601"/>
                    </p:ext>
                  </p:extLst>
                </p:nvPr>
              </p:nvGraphicFramePr>
              <p:xfrm>
                <a:off x="1848" y="2566"/>
                <a:ext cx="1612" cy="30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" imgW="0" imgH="0" progId="">
                        <p:embed/>
                      </p:oleObj>
                    </mc:Choice>
                    <mc:Fallback>
                      <p:oleObj name="Equation" r:id="rId4" imgW="0" imgH="0" progId="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48" y="2566"/>
                              <a:ext cx="1612" cy="30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90466" name="Object 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96499601"/>
                    </p:ext>
                  </p:extLst>
                </p:nvPr>
              </p:nvGraphicFramePr>
              <p:xfrm>
                <a:off x="1848" y="2566"/>
                <a:ext cx="1612" cy="30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0" imgH="0" progId="">
                        <p:embed/>
                      </p:oleObj>
                    </mc:Choice>
                    <mc:Fallback>
                      <p:oleObj name="Equation" r:id="rId6" imgW="0" imgH="0" progId="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48" y="2566"/>
                              <a:ext cx="1612" cy="30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sp>
        <p:nvSpPr>
          <p:cNvPr id="7" name="矩形 6"/>
          <p:cNvSpPr/>
          <p:nvPr/>
        </p:nvSpPr>
        <p:spPr>
          <a:xfrm>
            <a:off x="395536" y="476672"/>
            <a:ext cx="5599610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问题：矩阵的乘法是否也有逆运算呢？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895835" y="3789040"/>
                <a:ext cx="7807324" cy="5178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一个数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𝒂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≠ 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𝟎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的倒数</a:t>
                </a:r>
                <a14:m>
                  <m:oMath xmlns:m="http://schemas.openxmlformats.org/officeDocument/2006/math">
                    <m:r>
                      <a:rPr kumimoji="1" lang="zh-CN" altLang="en-US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𝒂</m:t>
                    </m:r>
                    <m:r>
                      <a:rPr kumimoji="1" lang="en-US" altLang="en-US" sz="1800" b="1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－</m:t>
                    </m:r>
                    <m:r>
                      <a:rPr kumimoji="1" lang="en-US" altLang="zh-CN" b="1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𝟏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可以用等式 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𝒂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𝒂</m:t>
                    </m:r>
                    <m:r>
                      <a:rPr kumimoji="1" lang="en-US" altLang="en-US" sz="1800" b="1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－</m:t>
                    </m:r>
                    <m:r>
                      <a:rPr kumimoji="1" lang="en-US" altLang="zh-CN" b="1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𝟏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kumimoji="1" lang="en-US" altLang="zh-CN" sz="1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𝟏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来刻划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  </a:t>
                </a:r>
                <a:endParaRPr kumimoji="1"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35" y="3789040"/>
                <a:ext cx="7807324" cy="517899"/>
              </a:xfrm>
              <a:prstGeom prst="rect">
                <a:avLst/>
              </a:prstGeom>
              <a:blipFill>
                <a:blip r:embed="rId8"/>
                <a:stretch>
                  <a:fillRect t="-1176" r="-4840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392596" y="4437112"/>
            <a:ext cx="7632848" cy="50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思路：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参考数的倒数定义来定义矩阵的逆矩阵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 </a:t>
            </a: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即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 </a:t>
            </a:r>
            <a:endParaRPr kumimoji="1" lang="zh-CN" altLang="en-US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/>
              <p:cNvSpPr txBox="1"/>
              <p:nvPr/>
            </p:nvSpPr>
            <p:spPr bwMode="auto">
              <a:xfrm>
                <a:off x="3454218" y="5087690"/>
                <a:ext cx="2269910" cy="57355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4218" y="5087690"/>
                <a:ext cx="2269910" cy="573558"/>
              </a:xfrm>
              <a:prstGeom prst="rect">
                <a:avLst/>
              </a:prstGeom>
              <a:blipFill>
                <a:blip r:embed="rId9"/>
                <a:stretch>
                  <a:fillRect l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9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6" grpId="0"/>
      <p:bldP spid="3" grpId="0"/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496" y="33715"/>
            <a:ext cx="7772400" cy="1462087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CC0099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§3  </a:t>
            </a:r>
            <a:r>
              <a:rPr lang="zh-CN" altLang="en-US" dirty="0">
                <a:solidFill>
                  <a:srgbClr val="CC0099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逆矩阵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909005" y="1969676"/>
            <a:ext cx="306863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E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一、逆矩阵的定义</a:t>
            </a:r>
            <a:endParaRPr kumimoji="1" lang="en-US" altLang="zh-CN" sz="2800" b="1" dirty="0">
              <a:solidFill>
                <a:srgbClr val="0000E5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09005" y="2617748"/>
            <a:ext cx="30700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E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二、逆矩阵的性质</a:t>
            </a:r>
            <a:endParaRPr kumimoji="1" lang="en-US" altLang="zh-CN" sz="2800" b="1" dirty="0">
              <a:solidFill>
                <a:srgbClr val="0000E5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17679" y="3265820"/>
            <a:ext cx="48734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三、方阵的伴随矩阵与逆矩阵</a:t>
            </a:r>
          </a:p>
        </p:txBody>
      </p:sp>
      <p:sp>
        <p:nvSpPr>
          <p:cNvPr id="6" name="矩形 5"/>
          <p:cNvSpPr/>
          <p:nvPr/>
        </p:nvSpPr>
        <p:spPr>
          <a:xfrm>
            <a:off x="1917679" y="3913892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四、逆矩阵的初步应用</a:t>
            </a:r>
          </a:p>
        </p:txBody>
      </p:sp>
      <p:sp>
        <p:nvSpPr>
          <p:cNvPr id="7" name="矩形 6"/>
          <p:cNvSpPr/>
          <p:nvPr/>
        </p:nvSpPr>
        <p:spPr>
          <a:xfrm>
            <a:off x="1909005" y="4561964"/>
            <a:ext cx="64807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五、矩阵多项式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1491" name="Text Box 2"/>
              <p:cNvSpPr txBox="1">
                <a:spLocks noChangeArrowheads="1"/>
              </p:cNvSpPr>
              <p:nvPr/>
            </p:nvSpPr>
            <p:spPr bwMode="auto">
              <a:xfrm>
                <a:off x="1040452" y="949772"/>
                <a:ext cx="741998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定义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对于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阶方阵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，如果存在一个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阶方阵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，使得</a:t>
                </a:r>
              </a:p>
            </p:txBody>
          </p:sp>
        </mc:Choice>
        <mc:Fallback xmlns="">
          <p:sp>
            <p:nvSpPr>
              <p:cNvPr id="19149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0452" y="949772"/>
                <a:ext cx="7419980" cy="461665"/>
              </a:xfrm>
              <a:prstGeom prst="rect">
                <a:avLst/>
              </a:prstGeom>
              <a:blipFill>
                <a:blip r:embed="rId2"/>
                <a:stretch>
                  <a:fillRect l="-1315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Text Box 10"/>
              <p:cNvSpPr txBox="1">
                <a:spLocks noChangeArrowheads="1"/>
              </p:cNvSpPr>
              <p:nvPr/>
            </p:nvSpPr>
            <p:spPr bwMode="auto">
              <a:xfrm>
                <a:off x="807211" y="2456920"/>
                <a:ext cx="7512050" cy="12270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根据矩阵的乘法法则，只有方阵才能满足上述等式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  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kumimoji="1"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的逆矩阵是唯一的</a:t>
                </a:r>
                <a:r>
                  <a:rPr kumimoji="1" lang="en-US" altLang="zh-CN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   (why?)</a:t>
                </a:r>
                <a:endParaRPr kumimoji="1" lang="en-US" altLang="zh-CN" i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03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211" y="2456920"/>
                <a:ext cx="7512050" cy="1227092"/>
              </a:xfrm>
              <a:prstGeom prst="rect">
                <a:avLst/>
              </a:prstGeom>
              <a:blipFill>
                <a:blip r:embed="rId5"/>
                <a:stretch>
                  <a:fillRect l="-1054" r="-2271" b="-19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495" name="Text Box 4"/>
          <p:cNvSpPr txBox="1">
            <a:spLocks noChangeArrowheads="1"/>
          </p:cNvSpPr>
          <p:nvPr/>
        </p:nvSpPr>
        <p:spPr bwMode="auto">
          <a:xfrm>
            <a:off x="468313" y="260648"/>
            <a:ext cx="306863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一、逆矩阵的定义</a:t>
            </a:r>
            <a:endParaRPr kumimoji="1" lang="en-US" altLang="zh-CN" sz="2800" dirty="0">
              <a:solidFill>
                <a:srgbClr val="0000E5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4"/>
              <p:cNvSpPr txBox="1">
                <a:spLocks noChangeArrowheads="1"/>
              </p:cNvSpPr>
              <p:nvPr/>
            </p:nvSpPr>
            <p:spPr bwMode="auto">
              <a:xfrm>
                <a:off x="1029402" y="3789040"/>
                <a:ext cx="606287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事实上：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设矩阵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𝐶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都是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的逆矩阵，则有</a:t>
                </a:r>
                <a:endParaRPr kumimoji="1" lang="en-US" altLang="zh-CN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9402" y="3789040"/>
                <a:ext cx="6062878" cy="461665"/>
              </a:xfrm>
              <a:prstGeom prst="rect">
                <a:avLst/>
              </a:prstGeom>
              <a:blipFill>
                <a:blip r:embed="rId6"/>
                <a:stretch>
                  <a:fillRect l="-1610" t="-14667" b="-2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4"/>
              <p:cNvSpPr txBox="1">
                <a:spLocks noChangeArrowheads="1"/>
              </p:cNvSpPr>
              <p:nvPr/>
            </p:nvSpPr>
            <p:spPr bwMode="auto">
              <a:xfrm>
                <a:off x="1657777" y="4340274"/>
                <a:ext cx="524521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𝐵𝐸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  <m:d>
                      <m:d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𝐴𝐶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𝐵𝐴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𝐶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𝐸𝐶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𝐶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7777" y="4340274"/>
                <a:ext cx="5245218" cy="461665"/>
              </a:xfrm>
              <a:prstGeom prst="rect">
                <a:avLst/>
              </a:prstGeom>
              <a:blipFill>
                <a:blip r:embed="rId7"/>
                <a:stretch>
                  <a:fillRect l="-349" t="-14474" r="-1047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67544" y="4702055"/>
                <a:ext cx="4230453" cy="5732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所以矩阵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的逆矩阵是唯一的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  <a:endParaRPr kumimoji="1" lang="en-US" altLang="zh-CN" i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702055"/>
                <a:ext cx="4230453" cy="573298"/>
              </a:xfrm>
              <a:prstGeom prst="rect">
                <a:avLst/>
              </a:prstGeom>
              <a:blipFill>
                <a:blip r:embed="rId8"/>
                <a:stretch>
                  <a:fillRect l="-2305" r="-1153" b="-2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468313" y="5253289"/>
                <a:ext cx="7344047" cy="686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记号：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逆矩阵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,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记作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kumimoji="1" lang="zh-CN" altLang="zh-CN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－</m:t>
                    </m:r>
                    <m:r>
                      <a:rPr kumimoji="1" lang="zh-CN" altLang="zh-CN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1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  </a:t>
                </a:r>
              </a:p>
            </p:txBody>
          </p:sp>
        </mc:Choice>
        <mc:Fallback xmlns="">
          <p:sp>
            <p:nvSpPr>
              <p:cNvPr id="13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5253289"/>
                <a:ext cx="7344047" cy="686024"/>
              </a:xfrm>
              <a:prstGeom prst="rect">
                <a:avLst/>
              </a:prstGeom>
              <a:blipFill>
                <a:blip r:embed="rId9"/>
                <a:stretch>
                  <a:fillRect l="-1328" b="-178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2"/>
              <p:cNvSpPr txBox="1">
                <a:spLocks noChangeArrowheads="1"/>
              </p:cNvSpPr>
              <p:nvPr/>
            </p:nvSpPr>
            <p:spPr bwMode="auto">
              <a:xfrm>
                <a:off x="474629" y="1933746"/>
                <a:ext cx="694760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则称矩阵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是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可逆</a:t>
                </a:r>
                <a:r>
                  <a:rPr kumimoji="1"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，并把矩阵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称为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逆矩阵</a:t>
                </a:r>
                <a:r>
                  <a:rPr kumimoji="1" lang="en-US" altLang="zh-CN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  <a:endParaRPr kumimoji="1" lang="zh-CN" altLang="en-US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4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629" y="1933746"/>
                <a:ext cx="6947608" cy="461665"/>
              </a:xfrm>
              <a:prstGeom prst="rect">
                <a:avLst/>
              </a:prstGeom>
              <a:blipFill>
                <a:blip r:embed="rId10"/>
                <a:stretch>
                  <a:fillRect l="-1404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4"/>
              <p:cNvSpPr txBox="1">
                <a:spLocks noChangeArrowheads="1"/>
              </p:cNvSpPr>
              <p:nvPr/>
            </p:nvSpPr>
            <p:spPr bwMode="auto">
              <a:xfrm>
                <a:off x="1187624" y="5899620"/>
                <a:ext cx="464377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即若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𝐴𝐵</m:t>
                    </m:r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𝐵𝐴</m:t>
                    </m:r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，则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5899620"/>
                <a:ext cx="4643772" cy="461665"/>
              </a:xfrm>
              <a:prstGeom prst="rect">
                <a:avLst/>
              </a:prstGeom>
              <a:blipFill>
                <a:blip r:embed="rId11"/>
                <a:stretch>
                  <a:fillRect l="-2100" t="-14474" r="-919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7768EE03-AD08-F247-439B-C5B7989AD2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848" y="1412776"/>
                <a:ext cx="214969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𝐵𝐴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7768EE03-AD08-F247-439B-C5B7989AD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848" y="1412776"/>
                <a:ext cx="2149691" cy="461665"/>
              </a:xfrm>
              <a:prstGeom prst="rect">
                <a:avLst/>
              </a:prstGeom>
              <a:blipFill>
                <a:blip r:embed="rId12"/>
                <a:stretch>
                  <a:fillRect l="-568" t="-14667" r="-3693" b="-2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/>
      <p:bldP spid="1034" grpId="0" build="p" autoUpdateAnimBg="0"/>
      <p:bldP spid="10" grpId="0"/>
      <p:bldP spid="11" grpId="0"/>
      <p:bldP spid="4" grpId="0"/>
      <p:bldP spid="13" grpId="0"/>
      <p:bldP spid="14" grpId="0"/>
      <p:bldP spid="15" grpId="0"/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96954" y="836712"/>
                <a:ext cx="5210401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若方阵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可逆，则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sSup>
                      <m:sSupPr>
                        <m:ctrlPr>
                          <a:rPr kumimoji="1"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𝑨</m:t>
                        </m:r>
                      </m:e>
                      <m:sup>
                        <m:r>
                          <a:rPr kumimoji="1"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</m:t>
                        </m:r>
                        <m:r>
                          <a:rPr kumimoji="1"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𝟏</m:t>
                        </m:r>
                      </m:sup>
                    </m:sSup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p>
                      <m:sSupPr>
                        <m:ctrlP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𝑨</m:t>
                        </m:r>
                      </m:e>
                      <m:sup>
                        <m: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𝟏</m:t>
                        </m:r>
                      </m:sup>
                    </m:sSup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𝑬</m:t>
                    </m:r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.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54" y="836712"/>
                <a:ext cx="5210401" cy="470000"/>
              </a:xfrm>
              <a:prstGeom prst="rect">
                <a:avLst/>
              </a:prstGeom>
              <a:blipFill>
                <a:blip r:embed="rId2"/>
                <a:stretch>
                  <a:fillRect l="-1874" t="-12987" b="-24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/>
              <p:cNvSpPr txBox="1">
                <a:spLocks noChangeArrowheads="1"/>
              </p:cNvSpPr>
              <p:nvPr/>
            </p:nvSpPr>
            <p:spPr bwMode="auto">
              <a:xfrm>
                <a:off x="830454" y="1412776"/>
                <a:ext cx="5654675" cy="2063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80000"/>
                  </a:lnSpc>
                </a:pPr>
                <a:r>
                  <a:rPr kumimoji="1" lang="zh-CN" altLang="en-US" b="1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需要解决的问题是：</a:t>
                </a:r>
                <a:endParaRPr kumimoji="1" lang="en-US" altLang="zh-CN" b="1" dirty="0">
                  <a:solidFill>
                    <a:srgbClr val="3103F3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  <a:p>
                <a:pPr marL="800100" lvl="1" indent="-342900">
                  <a:lnSpc>
                    <a:spcPct val="180000"/>
                  </a:lnSpc>
                  <a:buFont typeface="Wingdings" panose="05000000000000000000" pitchFamily="2" charset="2"/>
                  <a:buChar char="n"/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在什么条件下，方阵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是可逆的？</a:t>
                </a:r>
              </a:p>
            </p:txBody>
          </p:sp>
        </mc:Choice>
        <mc:Fallback xmlns="">
          <p:sp>
            <p:nvSpPr>
              <p:cNvPr id="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454" y="1412776"/>
                <a:ext cx="5654675" cy="2063750"/>
              </a:xfrm>
              <a:prstGeom prst="rect">
                <a:avLst/>
              </a:prstGeom>
              <a:blipFill>
                <a:blip r:embed="rId3"/>
                <a:stretch>
                  <a:fillRect l="-1616" r="-118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827584" y="3886575"/>
            <a:ext cx="7549796" cy="642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</a:pPr>
            <a:r>
              <a:rPr kumimoji="1" lang="zh-CN" altLang="en-US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策略：先分析逆矩阵的性质，再构造逆矩阵</a:t>
            </a:r>
            <a:r>
              <a:rPr kumimoji="1" lang="en-US" altLang="zh-CN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  <a:endParaRPr kumimoji="1" lang="zh-CN" altLang="en-US" b="1" dirty="0">
              <a:solidFill>
                <a:srgbClr val="3103F3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4"/>
              <p:cNvSpPr txBox="1">
                <a:spLocks noChangeArrowheads="1"/>
              </p:cNvSpPr>
              <p:nvPr/>
            </p:nvSpPr>
            <p:spPr bwMode="auto">
              <a:xfrm>
                <a:off x="796954" y="2949426"/>
                <a:ext cx="6079302" cy="839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800100" lvl="1" indent="-342900">
                  <a:lnSpc>
                    <a:spcPct val="180000"/>
                  </a:lnSpc>
                  <a:buFont typeface="Wingdings" panose="05000000000000000000" pitchFamily="2" charset="2"/>
                  <a:buChar char="n"/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如果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可逆，怎样求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𝑨</m:t>
                    </m:r>
                    <m:r>
                      <a:rPr kumimoji="1" lang="zh-CN" altLang="zh-CN" b="1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－</m:t>
                    </m:r>
                    <m:r>
                      <a:rPr kumimoji="1" lang="zh-CN" altLang="zh-CN" b="1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𝟏</m:t>
                    </m:r>
                  </m:oMath>
                </a14:m>
                <a:r>
                  <a:rPr kumimoji="1" lang="zh-CN" altLang="en-US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？</a:t>
                </a:r>
              </a:p>
            </p:txBody>
          </p:sp>
        </mc:Choice>
        <mc:Fallback xmlns="">
          <p:sp>
            <p:nvSpPr>
              <p:cNvPr id="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954" y="2949426"/>
                <a:ext cx="6079302" cy="839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53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2527" name="Text Box 14"/>
              <p:cNvSpPr txBox="1">
                <a:spLocks noChangeArrowheads="1"/>
              </p:cNvSpPr>
              <p:nvPr/>
            </p:nvSpPr>
            <p:spPr bwMode="auto">
              <a:xfrm>
                <a:off x="590550" y="1111895"/>
                <a:ext cx="458157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定理</a:t>
                </a:r>
                <a:r>
                  <a:rPr kumimoji="1" lang="en-US" altLang="zh-CN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若方阵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可逆，则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≠0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2527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550" y="1111895"/>
                <a:ext cx="4581575" cy="461665"/>
              </a:xfrm>
              <a:prstGeom prst="rect">
                <a:avLst/>
              </a:prstGeom>
              <a:blipFill>
                <a:blip r:embed="rId2"/>
                <a:stretch>
                  <a:fillRect l="-2130" t="-14474" r="-1198" b="-302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34" name="Text Box 2"/>
              <p:cNvSpPr txBox="1">
                <a:spLocks noChangeArrowheads="1"/>
              </p:cNvSpPr>
              <p:nvPr/>
            </p:nvSpPr>
            <p:spPr bwMode="auto">
              <a:xfrm>
                <a:off x="1721869" y="1831975"/>
                <a:ext cx="648652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kumimoji="1"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可逆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必存在方阵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 使得   </a:t>
                </a:r>
              </a:p>
            </p:txBody>
          </p:sp>
        </mc:Choice>
        <mc:Fallback xmlns="">
          <p:sp>
            <p:nvSpPr>
              <p:cNvPr id="192534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1869" y="1831975"/>
                <a:ext cx="6486525" cy="461665"/>
              </a:xfrm>
              <a:prstGeom prst="rect">
                <a:avLst/>
              </a:prstGeom>
              <a:blipFill>
                <a:blip r:embed="rId3"/>
                <a:stretch>
                  <a:fillRect l="-1408" t="-14667" b="-32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21" name="Object 21"/>
              <p:cNvSpPr txBox="1"/>
              <p:nvPr/>
            </p:nvSpPr>
            <p:spPr bwMode="auto">
              <a:xfrm>
                <a:off x="3392744" y="2434136"/>
                <a:ext cx="2115359" cy="49080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𝐵𝐴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25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2744" y="2434136"/>
                <a:ext cx="2115359" cy="490808"/>
              </a:xfrm>
              <a:prstGeom prst="rect">
                <a:avLst/>
              </a:prstGeom>
              <a:blipFill>
                <a:blip r:embed="rId4"/>
                <a:stretch>
                  <a:fillRect l="-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489969" y="3586162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641154" y="3083123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5"/>
              <p:cNvSpPr txBox="1"/>
              <p:nvPr/>
            </p:nvSpPr>
            <p:spPr bwMode="auto">
              <a:xfrm>
                <a:off x="4409559" y="3140973"/>
                <a:ext cx="1404588" cy="43204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|=1.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9559" y="3140973"/>
                <a:ext cx="1404588" cy="432043"/>
              </a:xfrm>
              <a:prstGeom prst="rect">
                <a:avLst/>
              </a:prstGeom>
              <a:blipFill>
                <a:blip r:embed="rId5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8"/>
              <p:cNvSpPr txBox="1"/>
              <p:nvPr/>
            </p:nvSpPr>
            <p:spPr bwMode="auto">
              <a:xfrm>
                <a:off x="1456757" y="3112740"/>
                <a:ext cx="1697037" cy="42801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6757" y="3112740"/>
                <a:ext cx="1697037" cy="428017"/>
              </a:xfrm>
              <a:prstGeom prst="rect">
                <a:avLst/>
              </a:prstGeom>
              <a:blipFill>
                <a:blip r:embed="rId6"/>
                <a:stretch>
                  <a:fillRect l="-2518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0"/>
              <p:cNvSpPr txBox="1"/>
              <p:nvPr/>
            </p:nvSpPr>
            <p:spPr bwMode="auto">
              <a:xfrm>
                <a:off x="3136138" y="3108714"/>
                <a:ext cx="1273421" cy="43204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6138" y="3108714"/>
                <a:ext cx="1273421" cy="432043"/>
              </a:xfrm>
              <a:prstGeom prst="rect">
                <a:avLst/>
              </a:prstGeom>
              <a:blipFill>
                <a:blip r:embed="rId7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5508104" y="3111351"/>
            <a:ext cx="800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1"/>
              <p:cNvSpPr txBox="1"/>
              <p:nvPr/>
            </p:nvSpPr>
            <p:spPr bwMode="auto">
              <a:xfrm>
                <a:off x="6328816" y="3112740"/>
                <a:ext cx="1194542" cy="460276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|≠0.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8816" y="3112740"/>
                <a:ext cx="1194542" cy="460276"/>
              </a:xfrm>
              <a:prstGeom prst="rect">
                <a:avLst/>
              </a:prstGeom>
              <a:blipFill>
                <a:blip r:embed="rId8"/>
                <a:stretch>
                  <a:fillRect l="-3061"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40782" y="1831975"/>
            <a:ext cx="11849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证明：</a:t>
            </a:r>
            <a:r>
              <a:rPr kumimoji="1"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637833" y="385500"/>
            <a:ext cx="30700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E5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二、逆矩阵的性质</a:t>
            </a:r>
            <a:endParaRPr kumimoji="1" lang="en-US" altLang="zh-CN" sz="2800" b="1" dirty="0">
              <a:solidFill>
                <a:srgbClr val="0000E5"/>
              </a:solidFill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1"/>
              <p:cNvSpPr txBox="1">
                <a:spLocks noChangeArrowheads="1"/>
              </p:cNvSpPr>
              <p:nvPr/>
            </p:nvSpPr>
            <p:spPr bwMode="auto">
              <a:xfrm>
                <a:off x="683394" y="4017640"/>
                <a:ext cx="351368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推论</a:t>
                </a:r>
                <a:r>
                  <a:rPr kumimoji="1"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若方阵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可逆，则 </a:t>
                </a:r>
                <a:endPara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394" y="4017640"/>
                <a:ext cx="3513682" cy="461665"/>
              </a:xfrm>
              <a:prstGeom prst="rect">
                <a:avLst/>
              </a:prstGeom>
              <a:blipFill>
                <a:blip r:embed="rId9"/>
                <a:stretch>
                  <a:fillRect l="-2604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967303"/>
              </p:ext>
            </p:extLst>
          </p:nvPr>
        </p:nvGraphicFramePr>
        <p:xfrm>
          <a:off x="3923928" y="3830146"/>
          <a:ext cx="1404588" cy="822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3830146"/>
                        <a:ext cx="1404588" cy="8229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1"/>
              <p:cNvSpPr txBox="1">
                <a:spLocks noChangeArrowheads="1"/>
              </p:cNvSpPr>
              <p:nvPr/>
            </p:nvSpPr>
            <p:spPr bwMode="auto">
              <a:xfrm>
                <a:off x="611956" y="4839444"/>
                <a:ext cx="403225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证：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得                                                   </a:t>
                </a:r>
                <a:endPara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956" y="4839444"/>
                <a:ext cx="4032251" cy="461665"/>
              </a:xfrm>
              <a:prstGeom prst="rect">
                <a:avLst/>
              </a:prstGeom>
              <a:blipFill>
                <a:blip r:embed="rId12"/>
                <a:stretch>
                  <a:fillRect l="-453" t="-14474" r="-1511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4"/>
              <p:cNvSpPr txBox="1"/>
              <p:nvPr/>
            </p:nvSpPr>
            <p:spPr bwMode="auto">
              <a:xfrm>
                <a:off x="4572000" y="4828158"/>
                <a:ext cx="3240087" cy="4730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4828158"/>
                <a:ext cx="3240087" cy="473050"/>
              </a:xfrm>
              <a:prstGeom prst="rect">
                <a:avLst/>
              </a:prstGeom>
              <a:blipFill>
                <a:blip r:embed="rId13"/>
                <a:stretch>
                  <a:fillRect l="-1504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1"/>
              <p:cNvSpPr txBox="1">
                <a:spLocks noChangeArrowheads="1"/>
              </p:cNvSpPr>
              <p:nvPr/>
            </p:nvSpPr>
            <p:spPr bwMode="auto">
              <a:xfrm>
                <a:off x="683568" y="5517232"/>
                <a:ext cx="562475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|=1,</m:t>
                    </m:r>
                  </m:oMath>
                </a14:m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故结论成立</a:t>
                </a:r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                                                                   </a:t>
                </a:r>
                <a:endPara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5517232"/>
                <a:ext cx="5624755" cy="461665"/>
              </a:xfrm>
              <a:prstGeom prst="rect">
                <a:avLst/>
              </a:prstGeom>
              <a:blipFill>
                <a:blip r:embed="rId14"/>
                <a:stretch>
                  <a:fillRect l="-325" t="-14474" b="-302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7584256" y="3006632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█</a:t>
            </a:r>
          </a:p>
        </p:txBody>
      </p:sp>
      <p:sp>
        <p:nvSpPr>
          <p:cNvPr id="33" name="Rectangle 16"/>
          <p:cNvSpPr>
            <a:spLocks noChangeArrowheads="1"/>
          </p:cNvSpPr>
          <p:nvPr/>
        </p:nvSpPr>
        <p:spPr bwMode="auto">
          <a:xfrm>
            <a:off x="6156176" y="5425405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7" grpId="0"/>
      <p:bldP spid="192534" grpId="0"/>
      <p:bldP spid="192521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/>
      <p:bldP spid="28" grpId="0"/>
      <p:bldP spid="30" grpId="0"/>
      <p:bldP spid="32" grpId="0"/>
      <p:bldP spid="26" grpId="0"/>
      <p:bldP spid="3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5" name="Text Box 2"/>
          <p:cNvSpPr txBox="1">
            <a:spLocks noChangeArrowheads="1"/>
          </p:cNvSpPr>
          <p:nvPr/>
        </p:nvSpPr>
        <p:spPr bwMode="auto">
          <a:xfrm>
            <a:off x="533400" y="651743"/>
            <a:ext cx="7866256" cy="113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性质：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如果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阶方阵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可逆，那么       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也可逆，且</a:t>
            </a:r>
          </a:p>
        </p:txBody>
      </p:sp>
      <p:graphicFrame>
        <p:nvGraphicFramePr>
          <p:cNvPr id="92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198204"/>
              </p:ext>
            </p:extLst>
          </p:nvPr>
        </p:nvGraphicFramePr>
        <p:xfrm>
          <a:off x="2771775" y="1845543"/>
          <a:ext cx="1731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845543"/>
                        <a:ext cx="1731963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5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283533"/>
              </p:ext>
            </p:extLst>
          </p:nvPr>
        </p:nvGraphicFramePr>
        <p:xfrm>
          <a:off x="5724128" y="764456"/>
          <a:ext cx="54451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764456"/>
                        <a:ext cx="544513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979291"/>
              </p:ext>
            </p:extLst>
          </p:nvPr>
        </p:nvGraphicFramePr>
        <p:xfrm>
          <a:off x="6372200" y="764456"/>
          <a:ext cx="49053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764456"/>
                        <a:ext cx="490537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472933"/>
              </p:ext>
            </p:extLst>
          </p:nvPr>
        </p:nvGraphicFramePr>
        <p:xfrm>
          <a:off x="6876256" y="807318"/>
          <a:ext cx="14668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807318"/>
                        <a:ext cx="146685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834812"/>
              </p:ext>
            </p:extLst>
          </p:nvPr>
        </p:nvGraphicFramePr>
        <p:xfrm>
          <a:off x="2771775" y="2578968"/>
          <a:ext cx="23177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578968"/>
                        <a:ext cx="231775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274716"/>
              </p:ext>
            </p:extLst>
          </p:nvPr>
        </p:nvGraphicFramePr>
        <p:xfrm>
          <a:off x="2771775" y="3312393"/>
          <a:ext cx="226218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312393"/>
                        <a:ext cx="2262188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798767"/>
              </p:ext>
            </p:extLst>
          </p:nvPr>
        </p:nvGraphicFramePr>
        <p:xfrm>
          <a:off x="2771775" y="4437931"/>
          <a:ext cx="24622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437931"/>
                        <a:ext cx="246221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83890" y="692150"/>
            <a:ext cx="9357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证</a:t>
            </a:r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1"/>
              <p:cNvSpPr txBox="1"/>
              <p:nvPr/>
            </p:nvSpPr>
            <p:spPr bwMode="auto">
              <a:xfrm>
                <a:off x="1259632" y="692696"/>
                <a:ext cx="3408363" cy="49190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zh-CN" altLang="en-US" b="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先证</a:t>
                </a:r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692696"/>
                <a:ext cx="3408363" cy="491902"/>
              </a:xfrm>
              <a:prstGeom prst="rect">
                <a:avLst/>
              </a:prstGeom>
              <a:blipFill>
                <a:blip r:embed="rId2"/>
                <a:stretch>
                  <a:fillRect l="-2862" t="-125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559" name="Object 3"/>
              <p:cNvSpPr txBox="1"/>
              <p:nvPr/>
            </p:nvSpPr>
            <p:spPr bwMode="auto">
              <a:xfrm>
                <a:off x="1619672" y="1196752"/>
                <a:ext cx="4208462" cy="6540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055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1196752"/>
                <a:ext cx="4208462" cy="654050"/>
              </a:xfrm>
              <a:prstGeom prst="rect">
                <a:avLst/>
              </a:prstGeom>
              <a:blipFill>
                <a:blip r:embed="rId3"/>
                <a:stretch>
                  <a:fillRect l="-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4434681" y="1201515"/>
                <a:ext cx="2441575" cy="6540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4681" y="1201515"/>
                <a:ext cx="2441575" cy="654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"/>
              <p:cNvSpPr txBox="1">
                <a:spLocks noChangeArrowheads="1"/>
              </p:cNvSpPr>
              <p:nvPr/>
            </p:nvSpPr>
            <p:spPr bwMode="auto">
              <a:xfrm>
                <a:off x="396776" y="2460625"/>
                <a:ext cx="4967312" cy="6158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 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再证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zh-CN" altLang="en-US" dirty="0"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7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776" y="2460625"/>
                <a:ext cx="4967312" cy="615874"/>
              </a:xfrm>
              <a:prstGeom prst="rect">
                <a:avLst/>
              </a:prstGeom>
              <a:blipFill>
                <a:blip r:embed="rId5"/>
                <a:stretch>
                  <a:fillRect b="-49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 bwMode="auto">
              <a:xfrm>
                <a:off x="1544638" y="3141663"/>
                <a:ext cx="5259387" cy="10668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4638" y="3141663"/>
                <a:ext cx="5259387" cy="1066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 bwMode="auto">
              <a:xfrm>
                <a:off x="4971777" y="3306440"/>
                <a:ext cx="968375" cy="4826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1777" y="3306440"/>
                <a:ext cx="968375" cy="482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"/>
              <p:cNvSpPr txBox="1">
                <a:spLocks noChangeArrowheads="1"/>
              </p:cNvSpPr>
              <p:nvPr/>
            </p:nvSpPr>
            <p:spPr bwMode="auto">
              <a:xfrm>
                <a:off x="396775" y="4192935"/>
                <a:ext cx="626273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 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最后证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zh-CN" altLang="en-US" dirty="0"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775" y="4192935"/>
                <a:ext cx="6262737" cy="461665"/>
              </a:xfrm>
              <a:prstGeom prst="rect">
                <a:avLst/>
              </a:prstGeom>
              <a:blipFill>
                <a:blip r:embed="rId8"/>
                <a:stretch>
                  <a:fillRect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1819275" y="4834136"/>
                <a:ext cx="5848350" cy="6540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9275" y="4834136"/>
                <a:ext cx="5848350" cy="654050"/>
              </a:xfrm>
              <a:prstGeom prst="rect">
                <a:avLst/>
              </a:prstGeom>
              <a:blipFill>
                <a:blip r:embed="rId9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/>
              <p:cNvSpPr txBox="1"/>
              <p:nvPr/>
            </p:nvSpPr>
            <p:spPr bwMode="auto">
              <a:xfrm>
                <a:off x="3795663" y="5482208"/>
                <a:ext cx="4376737" cy="584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𝐴𝐸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5663" y="5482208"/>
                <a:ext cx="4376737" cy="584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7164288" y="5445224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/>
              <p:cNvSpPr txBox="1"/>
              <p:nvPr/>
            </p:nvSpPr>
            <p:spPr bwMode="auto">
              <a:xfrm>
                <a:off x="1619672" y="1772816"/>
                <a:ext cx="3645234" cy="58347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1772816"/>
                <a:ext cx="3645234" cy="583476"/>
              </a:xfrm>
              <a:prstGeom prst="rect">
                <a:avLst/>
              </a:prstGeom>
              <a:blipFill>
                <a:blip r:embed="rId11"/>
                <a:stretch>
                  <a:fillRect l="-1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0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0559" grpId="0"/>
      <p:bldP spid="4" grpId="0"/>
      <p:bldP spid="8" grpId="0"/>
      <p:bldP spid="11" grpId="0"/>
      <p:bldP spid="10" grpId="0"/>
      <p:bldP spid="12" grpId="0"/>
      <p:bldP spid="14" grpId="0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0610" name="Text Box 18"/>
              <p:cNvSpPr txBox="1">
                <a:spLocks noChangeArrowheads="1"/>
              </p:cNvSpPr>
              <p:nvPr/>
            </p:nvSpPr>
            <p:spPr bwMode="auto">
              <a:xfrm>
                <a:off x="496515" y="2454714"/>
                <a:ext cx="8035925" cy="3036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定义 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行列式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|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|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的各个元素的代数余子式</a:t>
                </a:r>
                <a:r>
                  <a:rPr kumimoji="1" lang="zh-CN" altLang="en-US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kumimoji="1" lang="en-US" altLang="zh-CN" i="1" baseline="-2500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𝑖𝑗</m:t>
                    </m:r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所构成的如下矩阵</a:t>
                </a: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pPr>
                  <a:lnSpc>
                    <a:spcPct val="130000"/>
                  </a:lnSpc>
                </a:pP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称为矩阵</a:t>
                </a:r>
                <a:r>
                  <a:rPr kumimoji="1" lang="zh-CN" altLang="en-US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的</a:t>
                </a:r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伴随矩阵</a:t>
                </a:r>
                <a:r>
                  <a:rPr lang="en-US" altLang="zh-CN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kumimoji="1" lang="en-US" altLang="zh-CN" b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1061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515" y="2454714"/>
                <a:ext cx="8035925" cy="3036023"/>
              </a:xfrm>
              <a:prstGeom prst="rect">
                <a:avLst/>
              </a:prstGeom>
              <a:blipFill>
                <a:blip r:embed="rId2"/>
                <a:stretch>
                  <a:fillRect l="-1137" t="-201" b="-20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06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194707"/>
              </p:ext>
            </p:extLst>
          </p:nvPr>
        </p:nvGraphicFramePr>
        <p:xfrm>
          <a:off x="2441575" y="3065463"/>
          <a:ext cx="3498850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3065463"/>
                        <a:ext cx="3498850" cy="187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323528" y="5372818"/>
            <a:ext cx="172819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 特别注意：</a:t>
            </a:r>
            <a:endParaRPr kumimoji="1" lang="zh-CN" altLang="en-US" dirty="0">
              <a:solidFill>
                <a:schemeClr val="tx1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86379" name="Rectangle 2"/>
          <p:cNvSpPr>
            <a:spLocks noChangeAspect="1" noChangeArrowheads="1"/>
          </p:cNvSpPr>
          <p:nvPr/>
        </p:nvSpPr>
        <p:spPr bwMode="auto">
          <a:xfrm>
            <a:off x="470420" y="260648"/>
            <a:ext cx="7773988" cy="861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  <a:cs typeface="楷体_GB2312"/>
              </a:rPr>
              <a:t>三、方阵的伴随矩阵与逆矩阵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1226144" y="908720"/>
            <a:ext cx="1440160" cy="59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latin typeface="+mn-lt"/>
                <a:ea typeface="黑体" panose="02010609060101010101" pitchFamily="49" charset="-122"/>
                <a:cs typeface="楷体_GB2312"/>
              </a:rPr>
              <a:t>设</a:t>
            </a: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539552" y="5877272"/>
            <a:ext cx="554461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                  </a:t>
            </a:r>
            <a:r>
              <a:rPr kumimoji="1" lang="en-US" altLang="zh-CN" dirty="0">
                <a:latin typeface="+mn-lt"/>
                <a:ea typeface="黑体" panose="02010609060101010101" pitchFamily="49" charset="-122"/>
                <a:cs typeface="楷体_GB2312"/>
              </a:rPr>
              <a:t> 2) </a:t>
            </a:r>
            <a:r>
              <a:rPr kumimoji="1" lang="zh-CN" altLang="en-US" dirty="0">
                <a:latin typeface="+mn-lt"/>
                <a:ea typeface="黑体" panose="02010609060101010101" pitchFamily="49" charset="-122"/>
                <a:cs typeface="楷体_GB2312"/>
              </a:rPr>
              <a:t>只有方阵才有伴随矩阵</a:t>
            </a:r>
            <a:r>
              <a:rPr kumimoji="1" lang="en-US" altLang="zh-CN" dirty="0">
                <a:latin typeface="+mn-lt"/>
                <a:ea typeface="黑体" panose="02010609060101010101" pitchFamily="49" charset="-122"/>
                <a:cs typeface="楷体_GB2312"/>
              </a:rPr>
              <a:t>.</a:t>
            </a:r>
            <a:endParaRPr kumimoji="1" lang="zh-CN" altLang="en-US" dirty="0"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051720" y="5331290"/>
                <a:ext cx="6768752" cy="5876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1)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的第 </a:t>
                </a:r>
                <a:r>
                  <a:rPr kumimoji="1" lang="en-US" altLang="zh-CN" i="1" dirty="0" err="1">
                    <a:latin typeface="+mn-lt"/>
                    <a:ea typeface="黑体" panose="02010609060101010101" pitchFamily="49" charset="-122"/>
                    <a:cs typeface="楷体_GB2312"/>
                  </a:rPr>
                  <a:t>i</a:t>
                </a:r>
                <a:r>
                  <a:rPr kumimoji="1" lang="en-US" altLang="zh-CN" i="1" dirty="0"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行第 </a:t>
                </a:r>
                <a:r>
                  <a:rPr kumimoji="1" lang="en-US" altLang="zh-CN" i="1" dirty="0">
                    <a:latin typeface="+mn-lt"/>
                    <a:ea typeface="黑体" panose="02010609060101010101" pitchFamily="49" charset="-122"/>
                    <a:cs typeface="楷体_GB2312"/>
                  </a:rPr>
                  <a:t>j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列的元素为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𝑗𝑖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的代数余子式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𝑗𝑖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;</a:t>
                </a:r>
                <a:endParaRPr kumimoji="1" lang="zh-CN" altLang="en-US" dirty="0"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5331290"/>
                <a:ext cx="6768752" cy="587661"/>
              </a:xfrm>
              <a:prstGeom prst="rect">
                <a:avLst/>
              </a:prstGeom>
              <a:blipFill>
                <a:blip r:embed="rId5"/>
                <a:stretch>
                  <a:fillRect l="-1441" b="-17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"/>
              <p:cNvSpPr txBox="1"/>
              <p:nvPr/>
            </p:nvSpPr>
            <p:spPr bwMode="auto">
              <a:xfrm>
                <a:off x="2179597" y="980728"/>
                <a:ext cx="4120595" cy="165618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9597" y="980728"/>
                <a:ext cx="4120595" cy="16561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11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0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0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0" grpId="0" uiExpand="1" build="p"/>
      <p:bldP spid="10" grpId="0" build="p"/>
      <p:bldP spid="9" grpId="0"/>
      <p:bldP spid="12" grpId="0" build="p"/>
      <p:bldP spid="2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04" name="Rectangle 16"/>
          <p:cNvSpPr>
            <a:spLocks noChangeArrowheads="1"/>
          </p:cNvSpPr>
          <p:nvPr/>
        </p:nvSpPr>
        <p:spPr bwMode="auto">
          <a:xfrm>
            <a:off x="1694806" y="1701056"/>
            <a:ext cx="2663825" cy="431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4705" name="Rectangle 17"/>
          <p:cNvSpPr>
            <a:spLocks noChangeArrowheads="1"/>
          </p:cNvSpPr>
          <p:nvPr/>
        </p:nvSpPr>
        <p:spPr bwMode="auto">
          <a:xfrm>
            <a:off x="1694806" y="2133104"/>
            <a:ext cx="2663825" cy="431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4706" name="Rectangle 18"/>
          <p:cNvSpPr>
            <a:spLocks noChangeArrowheads="1"/>
          </p:cNvSpPr>
          <p:nvPr/>
        </p:nvSpPr>
        <p:spPr bwMode="auto">
          <a:xfrm>
            <a:off x="1694806" y="2852936"/>
            <a:ext cx="2663825" cy="431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4713" name="Rectangle 25"/>
          <p:cNvSpPr>
            <a:spLocks noChangeArrowheads="1"/>
          </p:cNvSpPr>
          <p:nvPr/>
        </p:nvSpPr>
        <p:spPr bwMode="auto">
          <a:xfrm rot="5400000" flipH="1" flipV="1">
            <a:off x="4320059" y="2313781"/>
            <a:ext cx="1727200" cy="50323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4714" name="Rectangle 26"/>
          <p:cNvSpPr>
            <a:spLocks noChangeArrowheads="1"/>
          </p:cNvSpPr>
          <p:nvPr/>
        </p:nvSpPr>
        <p:spPr bwMode="auto">
          <a:xfrm rot="5400000" flipH="1" flipV="1">
            <a:off x="5040784" y="2313781"/>
            <a:ext cx="1727200" cy="50323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4715" name="Rectangle 27"/>
          <p:cNvSpPr>
            <a:spLocks noChangeArrowheads="1"/>
          </p:cNvSpPr>
          <p:nvPr/>
        </p:nvSpPr>
        <p:spPr bwMode="auto">
          <a:xfrm rot="5400000" flipV="1">
            <a:off x="6437337" y="2313781"/>
            <a:ext cx="1727200" cy="50323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14724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130489"/>
              </p:ext>
            </p:extLst>
          </p:nvPr>
        </p:nvGraphicFramePr>
        <p:xfrm>
          <a:off x="1378893" y="3599179"/>
          <a:ext cx="30718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893" y="3599179"/>
                        <a:ext cx="30718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3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123901"/>
              </p:ext>
            </p:extLst>
          </p:nvPr>
        </p:nvGraphicFramePr>
        <p:xfrm>
          <a:off x="1378893" y="3596004"/>
          <a:ext cx="30718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893" y="3596004"/>
                        <a:ext cx="30718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37" name="Text Box 4"/>
          <p:cNvSpPr txBox="1">
            <a:spLocks noChangeArrowheads="1"/>
          </p:cNvSpPr>
          <p:nvPr/>
        </p:nvSpPr>
        <p:spPr bwMode="auto">
          <a:xfrm>
            <a:off x="455613" y="493713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性质</a:t>
            </a:r>
          </a:p>
        </p:txBody>
      </p:sp>
      <p:graphicFrame>
        <p:nvGraphicFramePr>
          <p:cNvPr id="188420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715726"/>
              </p:ext>
            </p:extLst>
          </p:nvPr>
        </p:nvGraphicFramePr>
        <p:xfrm>
          <a:off x="1465585" y="476672"/>
          <a:ext cx="27463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585" y="476672"/>
                        <a:ext cx="27463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4695" name="Rectangle 7"/>
              <p:cNvSpPr>
                <a:spLocks noChangeArrowheads="1"/>
              </p:cNvSpPr>
              <p:nvPr/>
            </p:nvSpPr>
            <p:spPr bwMode="auto">
              <a:xfrm>
                <a:off x="455612" y="1052736"/>
                <a:ext cx="3756347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证明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则 </a:t>
                </a:r>
              </a:p>
            </p:txBody>
          </p:sp>
        </mc:Choice>
        <mc:Fallback xmlns="">
          <p:sp>
            <p:nvSpPr>
              <p:cNvPr id="11469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612" y="1052736"/>
                <a:ext cx="3756347" cy="457200"/>
              </a:xfrm>
              <a:prstGeom prst="rect">
                <a:avLst/>
              </a:prstGeom>
              <a:blipFill>
                <a:blip r:embed="rId8"/>
                <a:stretch>
                  <a:fillRect l="-2597" t="-10667" b="-30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469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118207"/>
              </p:ext>
            </p:extLst>
          </p:nvPr>
        </p:nvGraphicFramePr>
        <p:xfrm>
          <a:off x="720452" y="2276872"/>
          <a:ext cx="6111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52" y="2276872"/>
                        <a:ext cx="61118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316717"/>
              </p:ext>
            </p:extLst>
          </p:nvPr>
        </p:nvGraphicFramePr>
        <p:xfrm>
          <a:off x="1400175" y="5589588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5589588"/>
                        <a:ext cx="1016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1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112406"/>
              </p:ext>
            </p:extLst>
          </p:nvPr>
        </p:nvGraphicFramePr>
        <p:xfrm>
          <a:off x="1378893" y="3599179"/>
          <a:ext cx="30718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">
                  <p:embed/>
                </p:oleObj>
              </mc:Choice>
              <mc:Fallback>
                <p:oleObj name="Equation" r:id="rId1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893" y="3599179"/>
                        <a:ext cx="30718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2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95418"/>
              </p:ext>
            </p:extLst>
          </p:nvPr>
        </p:nvGraphicFramePr>
        <p:xfrm>
          <a:off x="1378893" y="3596004"/>
          <a:ext cx="30718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">
                  <p:embed/>
                </p:oleObj>
              </mc:Choice>
              <mc:Fallback>
                <p:oleObj name="Equation" r:id="rId1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893" y="3596004"/>
                        <a:ext cx="30718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3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741772"/>
              </p:ext>
            </p:extLst>
          </p:nvPr>
        </p:nvGraphicFramePr>
        <p:xfrm>
          <a:off x="1378893" y="3599179"/>
          <a:ext cx="30718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">
                  <p:embed/>
                </p:oleObj>
              </mc:Choice>
              <mc:Fallback>
                <p:oleObj name="Equation" r:id="rId1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893" y="3599179"/>
                        <a:ext cx="30718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3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272029"/>
              </p:ext>
            </p:extLst>
          </p:nvPr>
        </p:nvGraphicFramePr>
        <p:xfrm>
          <a:off x="1378893" y="3584892"/>
          <a:ext cx="30718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">
                  <p:embed/>
                </p:oleObj>
              </mc:Choice>
              <mc:Fallback>
                <p:oleObj name="Equation" r:id="rId1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893" y="3584892"/>
                        <a:ext cx="30718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6"/>
              <p:cNvSpPr txBox="1"/>
              <p:nvPr/>
            </p:nvSpPr>
            <p:spPr bwMode="auto">
              <a:xfrm>
                <a:off x="4860032" y="4062452"/>
                <a:ext cx="3998306" cy="14636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|,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032" y="4062452"/>
                <a:ext cx="3998306" cy="14636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292080" y="3604330"/>
            <a:ext cx="14525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事实上：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4"/>
              <p:cNvSpPr txBox="1">
                <a:spLocks noChangeArrowheads="1"/>
              </p:cNvSpPr>
              <p:nvPr/>
            </p:nvSpPr>
            <p:spPr bwMode="auto">
              <a:xfrm>
                <a:off x="700994" y="6019468"/>
                <a:ext cx="487911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类似可得：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▋</a:t>
                </a:r>
                <a:endParaRPr kumimoji="1" lang="zh-CN" altLang="en-US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0994" y="6019468"/>
                <a:ext cx="4879118" cy="461665"/>
              </a:xfrm>
              <a:prstGeom prst="rect">
                <a:avLst/>
              </a:prstGeom>
              <a:blipFill>
                <a:blip r:embed="rId22"/>
                <a:stretch>
                  <a:fillRect l="-2000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8"/>
              <p:cNvSpPr txBox="1">
                <a:spLocks noChangeArrowheads="1"/>
              </p:cNvSpPr>
              <p:nvPr/>
            </p:nvSpPr>
            <p:spPr bwMode="auto">
              <a:xfrm>
                <a:off x="1325910" y="1322777"/>
                <a:ext cx="6774482" cy="2106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kumimoji="1" lang="en-US" altLang="zh-CN" dirty="0">
                    <a:latin typeface="+mn-lt"/>
                    <a:ea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zh-CN" b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kumimoji="1" lang="zh-CN" altLang="en-US" dirty="0"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5910" y="1322777"/>
                <a:ext cx="6774482" cy="2106223"/>
              </a:xfrm>
              <a:prstGeom prst="rect">
                <a:avLst/>
              </a:prstGeom>
              <a:blipFill>
                <a:blip r:embed="rId23"/>
                <a:stretch>
                  <a:fillRect l="-144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33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7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47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4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47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4" grpId="0" animBg="1"/>
      <p:bldP spid="114704" grpId="1" animBg="1"/>
      <p:bldP spid="114705" grpId="0" animBg="1"/>
      <p:bldP spid="114706" grpId="0" animBg="1"/>
      <p:bldP spid="114713" grpId="0" animBg="1"/>
      <p:bldP spid="114714" grpId="0" animBg="1"/>
      <p:bldP spid="114714" grpId="1" animBg="1"/>
      <p:bldP spid="114715" grpId="0" animBg="1"/>
      <p:bldP spid="114695" grpId="0"/>
      <p:bldP spid="26" grpId="0"/>
      <p:bldP spid="27" grpId="0"/>
      <p:bldP spid="24" grpId="0"/>
      <p:bldP spid="2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4"/>
              <p:cNvSpPr txBox="1">
                <a:spLocks noChangeArrowheads="1"/>
              </p:cNvSpPr>
              <p:nvPr/>
            </p:nvSpPr>
            <p:spPr bwMode="auto">
              <a:xfrm>
                <a:off x="1259632" y="764704"/>
                <a:ext cx="208823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|≠0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时，</a:t>
                </a:r>
              </a:p>
            </p:txBody>
          </p:sp>
        </mc:Choice>
        <mc:Fallback xmlns="">
          <p:sp>
            <p:nvSpPr>
              <p:cNvPr id="19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764704"/>
                <a:ext cx="2088232" cy="461665"/>
              </a:xfrm>
              <a:prstGeom prst="rect">
                <a:avLst/>
              </a:prstGeom>
              <a:blipFill>
                <a:blip r:embed="rId2"/>
                <a:stretch>
                  <a:fillRect l="-4678" t="-14474" r="-292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363" name="Object 19"/>
              <p:cNvSpPr txBox="1"/>
              <p:nvPr/>
            </p:nvSpPr>
            <p:spPr bwMode="auto">
              <a:xfrm>
                <a:off x="2464198" y="1455390"/>
                <a:ext cx="3384822" cy="933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536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4198" y="1455390"/>
                <a:ext cx="3384822" cy="933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4"/>
              <p:cNvSpPr txBox="1">
                <a:spLocks noChangeArrowheads="1"/>
              </p:cNvSpPr>
              <p:nvPr/>
            </p:nvSpPr>
            <p:spPr bwMode="auto">
              <a:xfrm>
                <a:off x="820514" y="2564904"/>
                <a:ext cx="6127750" cy="6610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，则有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𝐵𝐴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  <m:r>
                      <a:rPr kumimoji="1"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.</m:t>
                    </m:r>
                  </m:oMath>
                </a14:m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0514" y="2564904"/>
                <a:ext cx="6127750" cy="661078"/>
              </a:xfrm>
              <a:prstGeom prst="rect">
                <a:avLst/>
              </a:prstGeom>
              <a:blipFill>
                <a:blip r:embed="rId4"/>
                <a:stretch>
                  <a:fillRect l="-159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7"/>
              <p:cNvSpPr txBox="1">
                <a:spLocks noChangeArrowheads="1"/>
              </p:cNvSpPr>
              <p:nvPr/>
            </p:nvSpPr>
            <p:spPr bwMode="auto">
              <a:xfrm>
                <a:off x="1403648" y="3615407"/>
                <a:ext cx="640871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定理</a:t>
                </a:r>
                <a:r>
                  <a:rPr kumimoji="1" lang="en-US" altLang="zh-CN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2 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若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≠0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，则方阵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可逆，且</a:t>
                </a:r>
              </a:p>
            </p:txBody>
          </p:sp>
        </mc:Choice>
        <mc:Fallback xmlns="">
          <p:sp>
            <p:nvSpPr>
              <p:cNvPr id="1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648" y="3615407"/>
                <a:ext cx="6408712" cy="461665"/>
              </a:xfrm>
              <a:prstGeom prst="rect">
                <a:avLst/>
              </a:prstGeom>
              <a:blipFill>
                <a:blip r:embed="rId5"/>
                <a:stretch>
                  <a:fillRect l="-1426" t="-14474" b="-302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153008"/>
              </p:ext>
            </p:extLst>
          </p:nvPr>
        </p:nvGraphicFramePr>
        <p:xfrm>
          <a:off x="3566344" y="4342839"/>
          <a:ext cx="2122487" cy="1030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6344" y="4342839"/>
                        <a:ext cx="2122487" cy="10303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3"/>
              <p:cNvSpPr txBox="1"/>
              <p:nvPr/>
            </p:nvSpPr>
            <p:spPr bwMode="auto">
              <a:xfrm>
                <a:off x="3059832" y="777839"/>
                <a:ext cx="2664295" cy="48298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832" y="777839"/>
                <a:ext cx="2664295" cy="482982"/>
              </a:xfrm>
              <a:prstGeom prst="rect">
                <a:avLst/>
              </a:prstGeom>
              <a:blipFill>
                <a:blip r:embed="rId8"/>
                <a:stretch>
                  <a:fillRect l="-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578756" y="764704"/>
            <a:ext cx="16568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可改写成</a:t>
            </a:r>
          </a:p>
        </p:txBody>
      </p:sp>
    </p:spTree>
    <p:extLst>
      <p:ext uri="{BB962C8B-B14F-4D97-AF65-F5344CB8AC3E}">
        <p14:creationId xmlns:p14="http://schemas.microsoft.com/office/powerpoint/2010/main" val="307695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85363" grpId="0"/>
      <p:bldP spid="22" grpId="0"/>
      <p:bldP spid="17" grpId="0"/>
      <p:bldP spid="11" grpId="0"/>
      <p:bldP spid="1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"/>
              <p:cNvSpPr txBox="1">
                <a:spLocks noChangeArrowheads="1"/>
              </p:cNvSpPr>
              <p:nvPr/>
            </p:nvSpPr>
            <p:spPr bwMode="auto">
              <a:xfrm>
                <a:off x="683568" y="529516"/>
                <a:ext cx="6955558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结论</a:t>
                </a:r>
                <a:r>
                  <a:rPr kumimoji="1" lang="en-US" altLang="zh-CN" sz="2800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1 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方阵</a:t>
                </a:r>
                <a:r>
                  <a:rPr kumimoji="1" lang="en-US" altLang="zh-CN" sz="280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A 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可逆的充要条件是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≠0</m:t>
                    </m:r>
                  </m:oMath>
                </a14:m>
                <a:r>
                  <a:rPr kumimoji="1" lang="en-US" altLang="zh-CN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  </a:t>
                </a:r>
              </a:p>
            </p:txBody>
          </p:sp>
        </mc:Choice>
        <mc:Fallback xmlns="">
          <p:sp>
            <p:nvSpPr>
              <p:cNvPr id="1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529516"/>
                <a:ext cx="6955558" cy="523220"/>
              </a:xfrm>
              <a:prstGeom prst="rect">
                <a:avLst/>
              </a:prstGeom>
              <a:blipFill>
                <a:blip r:embed="rId2"/>
                <a:stretch>
                  <a:fillRect l="-1753" t="-16279" b="-325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899592" y="1196752"/>
            <a:ext cx="1995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方阵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A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可逆    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001257"/>
              </p:ext>
            </p:extLst>
          </p:nvPr>
        </p:nvGraphicFramePr>
        <p:xfrm>
          <a:off x="4932040" y="1268760"/>
          <a:ext cx="1006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1268760"/>
                        <a:ext cx="100647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4"/>
          <p:cNvSpPr>
            <a:spLocks noChangeShapeType="1"/>
          </p:cNvSpPr>
          <p:nvPr/>
        </p:nvSpPr>
        <p:spPr bwMode="auto">
          <a:xfrm>
            <a:off x="2987824" y="1340768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</p:spPr>
        <p:txBody>
          <a:bodyPr wrap="none"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7" name="Line 5"/>
          <p:cNvSpPr>
            <a:spLocks noChangeShapeType="1"/>
          </p:cNvSpPr>
          <p:nvPr/>
        </p:nvSpPr>
        <p:spPr bwMode="auto">
          <a:xfrm>
            <a:off x="2987824" y="1556792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arrow" w="med" len="med"/>
            <a:tailEnd type="none" w="lg" len="med"/>
          </a:ln>
        </p:spPr>
        <p:txBody>
          <a:bodyPr wrap="none"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18" name="Group 11"/>
          <p:cNvGrpSpPr>
            <a:grpSpLocks/>
          </p:cNvGrpSpPr>
          <p:nvPr/>
        </p:nvGrpSpPr>
        <p:grpSpPr bwMode="auto">
          <a:xfrm>
            <a:off x="924998" y="2089290"/>
            <a:ext cx="2376264" cy="1038579"/>
            <a:chOff x="3600" y="1056"/>
            <a:chExt cx="1920" cy="864"/>
          </a:xfrm>
        </p:grpSpPr>
        <p:sp>
          <p:nvSpPr>
            <p:cNvPr id="19" name="AutoShape 12"/>
            <p:cNvSpPr>
              <a:spLocks noChangeArrowheads="1"/>
            </p:cNvSpPr>
            <p:nvPr/>
          </p:nvSpPr>
          <p:spPr bwMode="auto">
            <a:xfrm>
              <a:off x="3600" y="1056"/>
              <a:ext cx="1920" cy="864"/>
            </a:xfrm>
            <a:prstGeom prst="cloudCallout">
              <a:avLst>
                <a:gd name="adj1" fmla="val 8841"/>
                <a:gd name="adj2" fmla="val -86334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kumimoji="1" lang="zh-CN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16"/>
                <p:cNvSpPr txBox="1"/>
                <p:nvPr/>
              </p:nvSpPr>
              <p:spPr bwMode="auto">
                <a:xfrm>
                  <a:off x="3977" y="1200"/>
                  <a:ext cx="1132" cy="583"/>
                </a:xfrm>
                <a:prstGeom prst="rect">
                  <a:avLst/>
                </a:prstGeom>
                <a:solidFill>
                  <a:schemeClr val="folHlink"/>
                </a:solidFill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>
                    <a:latin typeface="+mn-lt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7" y="1200"/>
                  <a:ext cx="1132" cy="5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AutoShape 6"/>
              <p:cNvSpPr>
                <a:spLocks noChangeArrowheads="1"/>
              </p:cNvSpPr>
              <p:nvPr/>
            </p:nvSpPr>
            <p:spPr bwMode="auto">
              <a:xfrm>
                <a:off x="4972936" y="2153038"/>
                <a:ext cx="3343480" cy="1131946"/>
              </a:xfrm>
              <a:prstGeom prst="cloudCallout">
                <a:avLst>
                  <a:gd name="adj1" fmla="val -37917"/>
                  <a:gd name="adj2" fmla="val -78333"/>
                </a:avLst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𝐴</m:t>
                      </m:r>
                      <m:r>
                        <a:rPr kumimoji="1"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=|</m:t>
                      </m:r>
                      <m:r>
                        <a:rPr kumimoji="1"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𝐴</m:t>
                      </m:r>
                      <m:r>
                        <a:rPr kumimoji="1"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|</m:t>
                      </m:r>
                      <m:r>
                        <a:rPr kumimoji="1"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𝐸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2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1" name="Auto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2936" y="2153038"/>
                <a:ext cx="3343480" cy="1131946"/>
              </a:xfrm>
              <a:prstGeom prst="cloudCallout">
                <a:avLst>
                  <a:gd name="adj1" fmla="val -37917"/>
                  <a:gd name="adj2" fmla="val -78333"/>
                </a:avLst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"/>
              <p:cNvSpPr txBox="1">
                <a:spLocks noChangeArrowheads="1"/>
              </p:cNvSpPr>
              <p:nvPr/>
            </p:nvSpPr>
            <p:spPr bwMode="auto">
              <a:xfrm>
                <a:off x="692299" y="3501008"/>
                <a:ext cx="7749494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当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≠0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时，称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为</a:t>
                </a:r>
                <a:r>
                  <a:rPr kumimoji="1"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非奇异矩阵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，否则称为</a:t>
                </a:r>
                <a:r>
                  <a:rPr kumimoji="1"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奇异矩阵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 </a:t>
                </a:r>
              </a:p>
            </p:txBody>
          </p:sp>
        </mc:Choice>
        <mc:Fallback xmlns="">
          <p:sp>
            <p:nvSpPr>
              <p:cNvPr id="22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299" y="3501008"/>
                <a:ext cx="7749494" cy="523220"/>
              </a:xfrm>
              <a:prstGeom prst="rect">
                <a:avLst/>
              </a:prstGeom>
              <a:blipFill>
                <a:blip r:embed="rId8"/>
                <a:stretch>
                  <a:fillRect l="-1259" t="-4651" b="-2325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8"/>
              <p:cNvSpPr txBox="1">
                <a:spLocks noChangeArrowheads="1"/>
              </p:cNvSpPr>
              <p:nvPr/>
            </p:nvSpPr>
            <p:spPr bwMode="auto">
              <a:xfrm>
                <a:off x="611460" y="4005064"/>
                <a:ext cx="7560940" cy="11348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推论</a:t>
                </a:r>
                <a:r>
                  <a:rPr kumimoji="1"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en-US" altLang="zh-CN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如果方阵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A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,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B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满足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(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或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𝐵𝐴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)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，则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,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𝐵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  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均可逆，且</a:t>
                </a:r>
              </a:p>
            </p:txBody>
          </p:sp>
        </mc:Choice>
        <mc:Fallback xmlns="">
          <p:sp>
            <p:nvSpPr>
              <p:cNvPr id="23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460" y="4005064"/>
                <a:ext cx="7560940" cy="1134862"/>
              </a:xfrm>
              <a:prstGeom prst="rect">
                <a:avLst/>
              </a:prstGeom>
              <a:blipFill>
                <a:blip r:embed="rId9"/>
                <a:stretch>
                  <a:fillRect l="-1209" b="-967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11560" y="5229201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  <a:cs typeface="楷体_GB2312"/>
              </a:rPr>
              <a:t>证明</a:t>
            </a:r>
            <a:endParaRPr kumimoji="1" lang="en-US" altLang="zh-CN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744027" y="4653136"/>
                <a:ext cx="1453668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𝐵</m:t>
                        </m:r>
                      </m:e>
                      <m:sup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027" y="4653136"/>
                <a:ext cx="1453668" cy="470000"/>
              </a:xfrm>
              <a:prstGeom prst="rect">
                <a:avLst/>
              </a:prstGeom>
              <a:blipFill>
                <a:blip r:embed="rId10"/>
                <a:stretch>
                  <a:fillRect l="-837" t="-7792" r="-418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0"/>
              <p:cNvSpPr txBox="1">
                <a:spLocks noChangeArrowheads="1"/>
              </p:cNvSpPr>
              <p:nvPr/>
            </p:nvSpPr>
            <p:spPr bwMode="auto">
              <a:xfrm>
                <a:off x="1434985" y="5229200"/>
                <a:ext cx="412677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由于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𝐴𝐵</m:t>
                        </m:r>
                      </m:e>
                    </m:d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𝐵</m:t>
                        </m:r>
                      </m:e>
                    </m:d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=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|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|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，</a:t>
                </a:r>
                <a:endPara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4985" y="5229200"/>
                <a:ext cx="4126771" cy="461665"/>
              </a:xfrm>
              <a:prstGeom prst="rect">
                <a:avLst/>
              </a:prstGeom>
              <a:blipFill>
                <a:blip r:embed="rId11"/>
                <a:stretch>
                  <a:fillRect l="-443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058944" y="5229200"/>
                <a:ext cx="3382849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≠0</m:t>
                    </m:r>
                    <m:r>
                      <a:rPr kumimoji="1"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，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存在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944" y="5229200"/>
                <a:ext cx="3382849" cy="470000"/>
              </a:xfrm>
              <a:prstGeom prst="rect">
                <a:avLst/>
              </a:prstGeom>
              <a:blipFill>
                <a:blip r:embed="rId12"/>
                <a:stretch>
                  <a:fillRect l="-2883" t="-12987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0"/>
              <p:cNvSpPr txBox="1">
                <a:spLocks noChangeArrowheads="1"/>
              </p:cNvSpPr>
              <p:nvPr/>
            </p:nvSpPr>
            <p:spPr bwMode="auto">
              <a:xfrm>
                <a:off x="694876" y="5870887"/>
                <a:ext cx="4418646" cy="47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于是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𝐴𝐵</m:t>
                    </m:r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左乘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得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3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876" y="5870887"/>
                <a:ext cx="4418646" cy="470000"/>
              </a:xfrm>
              <a:prstGeom prst="rect">
                <a:avLst/>
              </a:prstGeom>
              <a:blipFill>
                <a:blip r:embed="rId13"/>
                <a:stretch>
                  <a:fillRect l="-2207" t="-12987" r="-1103" b="-2987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2282646" y="4653136"/>
                <a:ext cx="1678473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， </a:t>
                </a: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6" y="4653136"/>
                <a:ext cx="1678473" cy="470000"/>
              </a:xfrm>
              <a:prstGeom prst="rect">
                <a:avLst/>
              </a:prstGeom>
              <a:blipFill>
                <a:blip r:embed="rId14"/>
                <a:stretch>
                  <a:fillRect l="-725" t="-12987" b="-24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5220072" y="5847655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258331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 animBg="1"/>
      <p:bldP spid="17" grpId="0" animBg="1"/>
      <p:bldP spid="21" grpId="0" animBg="1" autoUpdateAnimBg="0"/>
      <p:bldP spid="22" grpId="0"/>
      <p:bldP spid="23" grpId="0"/>
      <p:bldP spid="25" grpId="0"/>
      <p:bldP spid="2" grpId="0"/>
      <p:bldP spid="28" grpId="0"/>
      <p:bldP spid="3" grpId="0"/>
      <p:bldP spid="30" grpId="0"/>
      <p:bldP spid="24" grpId="0"/>
      <p:bldP spid="2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"/>
              <p:cNvSpPr txBox="1">
                <a:spLocks noChangeArrowheads="1"/>
              </p:cNvSpPr>
              <p:nvPr/>
            </p:nvSpPr>
            <p:spPr bwMode="auto">
              <a:xfrm>
                <a:off x="881063" y="851892"/>
                <a:ext cx="6124305" cy="11427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例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（补充）</a:t>
                </a:r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 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设方阵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</m:oMath>
                </a14:m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      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证明：</a:t>
                </a:r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zh-CN" altLang="en-US">
                        <a:solidFill>
                          <a:srgbClr val="000000"/>
                        </a:solidFill>
                        <a:latin typeface="+mn-lt"/>
                        <a:ea typeface="黑体" panose="02010609060101010101" pitchFamily="49" charset="-122"/>
                      </a:rPr>
                      <m:t>+3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latin typeface="+mn-lt"/>
                    <a:ea typeface="黑体" panose="02010609060101010101" pitchFamily="49" charset="-122"/>
                    <a:cs typeface="楷体_GB2312"/>
                  </a:rPr>
                  <a:t>可逆，并求其逆</a:t>
                </a:r>
                <a:r>
                  <a:rPr kumimoji="1" lang="en-US" altLang="zh-CN" dirty="0"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1063" y="851892"/>
                <a:ext cx="6124305" cy="1142749"/>
              </a:xfrm>
              <a:prstGeom prst="rect">
                <a:avLst/>
              </a:prstGeom>
              <a:blipFill>
                <a:blip r:embed="rId2"/>
                <a:stretch>
                  <a:fillRect l="-1594" b="-1229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/>
              <p:cNvSpPr txBox="1"/>
              <p:nvPr/>
            </p:nvSpPr>
            <p:spPr bwMode="auto">
              <a:xfrm>
                <a:off x="4176713" y="1044575"/>
                <a:ext cx="15875" cy="14288"/>
              </a:xfrm>
              <a:prstGeom prst="rect">
                <a:avLst/>
              </a:prstGeom>
              <a:noFill/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6713" y="1044575"/>
                <a:ext cx="15875" cy="14288"/>
              </a:xfrm>
              <a:prstGeom prst="rect">
                <a:avLst/>
              </a:prstGeom>
              <a:blipFill>
                <a:blip r:embed="rId3"/>
                <a:stretch>
                  <a:fillRect l="-133333" r="-366667" b="-5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64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81063" y="851892"/>
            <a:ext cx="51876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  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二阶矩阵                      的逆矩阵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109829"/>
              </p:ext>
            </p:extLst>
          </p:nvPr>
        </p:nvGraphicFramePr>
        <p:xfrm>
          <a:off x="2987675" y="549275"/>
          <a:ext cx="168751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49275"/>
                        <a:ext cx="1687513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971550" y="1845667"/>
            <a:ext cx="11521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解</a:t>
            </a:r>
            <a:r>
              <a:rPr kumimoji="1"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: </a:t>
            </a:r>
            <a:r>
              <a:rPr kumimoji="1" lang="zh-CN" altLang="en-US" dirty="0">
                <a:latin typeface="+mn-lt"/>
                <a:ea typeface="黑体" panose="02010609060101010101" pitchFamily="49" charset="-122"/>
                <a:cs typeface="楷体_GB2312"/>
              </a:rPr>
              <a:t>因</a:t>
            </a:r>
            <a:endParaRPr kumimoji="1" lang="en-US" altLang="zh-CN" dirty="0"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/>
              <p:cNvSpPr txBox="1"/>
              <p:nvPr/>
            </p:nvSpPr>
            <p:spPr bwMode="auto">
              <a:xfrm>
                <a:off x="2272414" y="1855192"/>
                <a:ext cx="2875650" cy="5952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𝑎𝑑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2414" y="1855192"/>
                <a:ext cx="2875650" cy="595288"/>
              </a:xfrm>
              <a:prstGeom prst="rect">
                <a:avLst/>
              </a:prstGeom>
              <a:blipFill>
                <a:blip r:embed="rId4"/>
                <a:stretch>
                  <a:fillRect l="-1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7"/>
              <p:cNvSpPr txBox="1"/>
              <p:nvPr/>
            </p:nvSpPr>
            <p:spPr bwMode="auto">
              <a:xfrm>
                <a:off x="2268438" y="2523530"/>
                <a:ext cx="4895850" cy="12239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438" y="2523530"/>
                <a:ext cx="4895850" cy="12239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617" name="矩形 11"/>
              <p:cNvSpPr>
                <a:spLocks noChangeArrowheads="1"/>
              </p:cNvSpPr>
              <p:nvPr/>
            </p:nvSpPr>
            <p:spPr bwMode="auto">
              <a:xfrm>
                <a:off x="971600" y="4221088"/>
                <a:ext cx="263591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故当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≠0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时，</a:t>
                </a:r>
                <a:endParaRPr lang="zh-CN" altLang="en-US" dirty="0"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96617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4221088"/>
                <a:ext cx="2635914" cy="461665"/>
              </a:xfrm>
              <a:prstGeom prst="rect">
                <a:avLst/>
              </a:prstGeom>
              <a:blipFill>
                <a:blip r:embed="rId6"/>
                <a:stretch>
                  <a:fillRect l="-693" t="-14474" r="-1617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8"/>
              <p:cNvSpPr txBox="1">
                <a:spLocks noChangeArrowheads="1"/>
              </p:cNvSpPr>
              <p:nvPr/>
            </p:nvSpPr>
            <p:spPr bwMode="auto">
              <a:xfrm>
                <a:off x="1597084" y="4540935"/>
                <a:ext cx="1644600" cy="12510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kumimoji="1" lang="zh-CN" altLang="en-US" dirty="0"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7084" y="4540935"/>
                <a:ext cx="1644600" cy="12510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113372" y="4792931"/>
                <a:ext cx="3176446" cy="786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372" y="4792931"/>
                <a:ext cx="3176446" cy="786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755576" y="3573016"/>
            <a:ext cx="4362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 （主对角对调，副对角反号）</a:t>
            </a:r>
            <a:endParaRPr lang="zh-CN" altLang="en-US" dirty="0">
              <a:solidFill>
                <a:srgbClr val="0000FF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6625564" y="4924113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796136" y="1628800"/>
            <a:ext cx="2376264" cy="1038579"/>
            <a:chOff x="4415" y="937"/>
            <a:chExt cx="1920" cy="864"/>
          </a:xfrm>
        </p:grpSpPr>
        <p:sp>
          <p:nvSpPr>
            <p:cNvPr id="15" name="AutoShape 12"/>
            <p:cNvSpPr>
              <a:spLocks noChangeArrowheads="1"/>
            </p:cNvSpPr>
            <p:nvPr/>
          </p:nvSpPr>
          <p:spPr bwMode="auto">
            <a:xfrm>
              <a:off x="4415" y="937"/>
              <a:ext cx="1920" cy="864"/>
            </a:xfrm>
            <a:prstGeom prst="cloudCallout">
              <a:avLst>
                <a:gd name="adj1" fmla="val -41634"/>
                <a:gd name="adj2" fmla="val -66896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kumimoji="1" lang="zh-CN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16"/>
                <p:cNvSpPr txBox="1"/>
                <p:nvPr/>
              </p:nvSpPr>
              <p:spPr bwMode="auto">
                <a:xfrm>
                  <a:off x="4971" y="1077"/>
                  <a:ext cx="1132" cy="583"/>
                </a:xfrm>
                <a:prstGeom prst="rect">
                  <a:avLst/>
                </a:prstGeom>
                <a:solidFill>
                  <a:schemeClr val="folHlink"/>
                </a:solidFill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>
                    <a:latin typeface="+mn-lt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71" y="1077"/>
                  <a:ext cx="1132" cy="58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/>
          <p:cNvSpPr txBox="1"/>
          <p:nvPr/>
        </p:nvSpPr>
        <p:spPr>
          <a:xfrm>
            <a:off x="5868144" y="191683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lt"/>
                <a:ea typeface="黑体" panose="02010609060101010101" pitchFamily="49" charset="-122"/>
              </a:rPr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28966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96617" grpId="0"/>
      <p:bldP spid="11" grpId="0"/>
      <p:bldP spid="2" grpId="0"/>
      <p:bldP spid="12" grpId="0"/>
      <p:bldP spid="13" grpId="0"/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9" name="Text Box 2"/>
          <p:cNvSpPr txBox="1">
            <a:spLocks noChangeArrowheads="1"/>
          </p:cNvSpPr>
          <p:nvPr/>
        </p:nvSpPr>
        <p:spPr bwMode="auto">
          <a:xfrm>
            <a:off x="533400" y="914400"/>
            <a:ext cx="5662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2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求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3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阶方阵                            的逆矩阵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  <p:graphicFrame>
        <p:nvGraphicFramePr>
          <p:cNvPr id="19763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636543"/>
              </p:ext>
            </p:extLst>
          </p:nvPr>
        </p:nvGraphicFramePr>
        <p:xfrm>
          <a:off x="2627784" y="420688"/>
          <a:ext cx="2122488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20688"/>
                        <a:ext cx="2122488" cy="149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28638" y="1989138"/>
            <a:ext cx="2314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b="1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解</a:t>
            </a:r>
            <a:r>
              <a:rPr kumimoji="1" lang="zh-CN" altLang="en-US" b="1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  <a:sym typeface="Wingdings" pitchFamily="2" charset="2"/>
              </a:rPr>
              <a:t>：</a:t>
            </a:r>
            <a:r>
              <a:rPr kumimoji="1" lang="en-US" altLang="zh-CN" b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  <a:sym typeface="Wingdings" pitchFamily="2" charset="2"/>
              </a:rPr>
              <a:t>| </a:t>
            </a:r>
            <a:r>
              <a:rPr kumimoji="1" lang="en-US" altLang="zh-CN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  <a:sym typeface="Wingdings" pitchFamily="2" charset="2"/>
              </a:rPr>
              <a:t>A </a:t>
            </a:r>
            <a:r>
              <a:rPr kumimoji="1" lang="en-US" altLang="zh-CN" b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  <a:sym typeface="Wingdings" pitchFamily="2" charset="2"/>
              </a:rPr>
              <a:t>| =  1</a:t>
            </a:r>
            <a:r>
              <a:rPr kumimoji="1" lang="zh-CN" altLang="en-US" b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  <a:sym typeface="Wingdings" pitchFamily="2" charset="2"/>
              </a:rPr>
              <a:t>，</a:t>
            </a:r>
            <a:endParaRPr kumimoji="1" lang="zh-CN" altLang="en-US" b="1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1434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922185"/>
              </p:ext>
            </p:extLst>
          </p:nvPr>
        </p:nvGraphicFramePr>
        <p:xfrm>
          <a:off x="2700338" y="1987550"/>
          <a:ext cx="446246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987550"/>
                        <a:ext cx="4462462" cy="149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11188" y="3490913"/>
            <a:ext cx="5888037" cy="1522412"/>
            <a:chOff x="563" y="2257"/>
            <a:chExt cx="3709" cy="959"/>
          </a:xfrm>
        </p:grpSpPr>
        <p:sp>
          <p:nvSpPr>
            <p:cNvPr id="197642" name="Text Box 3"/>
            <p:cNvSpPr txBox="1">
              <a:spLocks noChangeArrowheads="1"/>
            </p:cNvSpPr>
            <p:nvPr/>
          </p:nvSpPr>
          <p:spPr bwMode="auto">
            <a:xfrm>
              <a:off x="563" y="2283"/>
              <a:ext cx="311" cy="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rPr>
                <a:t>则</a:t>
              </a:r>
            </a:p>
          </p:txBody>
        </p:sp>
        <p:graphicFrame>
          <p:nvGraphicFramePr>
            <p:cNvPr id="197638" name="Object 19"/>
            <p:cNvGraphicFramePr>
              <a:graphicFrameLocks noChangeAspect="1"/>
            </p:cNvGraphicFramePr>
            <p:nvPr/>
          </p:nvGraphicFramePr>
          <p:xfrm>
            <a:off x="1031" y="2257"/>
            <a:ext cx="3241" cy="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">
                    <p:embed/>
                  </p:oleObj>
                </mc:Choice>
                <mc:Fallback>
                  <p:oleObj name="Equation" r:id="rId6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2257"/>
                          <a:ext cx="3241" cy="9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324273"/>
              </p:ext>
            </p:extLst>
          </p:nvPr>
        </p:nvGraphicFramePr>
        <p:xfrm>
          <a:off x="1941513" y="5029200"/>
          <a:ext cx="3567112" cy="15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">
                  <p:embed/>
                </p:oleObj>
              </mc:Choice>
              <mc:Fallback>
                <p:oleObj name="Equation" r:id="rId8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5029200"/>
                        <a:ext cx="3567112" cy="152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016331"/>
              </p:ext>
            </p:extLst>
          </p:nvPr>
        </p:nvGraphicFramePr>
        <p:xfrm>
          <a:off x="5508625" y="5041900"/>
          <a:ext cx="236855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">
                  <p:embed/>
                </p:oleObj>
              </mc:Choice>
              <mc:Fallback>
                <p:oleObj name="Equation" r:id="rId10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041900"/>
                        <a:ext cx="2368550" cy="149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8016396" y="5523507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84090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utoUpdateAnimBg="0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7544" y="591071"/>
            <a:ext cx="1152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4"/>
              <p:cNvSpPr txBox="1"/>
              <p:nvPr/>
            </p:nvSpPr>
            <p:spPr>
              <a:xfrm>
                <a:off x="1331311" y="1193647"/>
                <a:ext cx="3817539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rPr>
                  <a:t>(1)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−1</m:t>
                        </m:r>
                      </m:sup>
                    </m:sSup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；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11" y="1193647"/>
                <a:ext cx="3817539" cy="470000"/>
              </a:xfrm>
              <a:prstGeom prst="rect">
                <a:avLst/>
              </a:prstGeom>
              <a:blipFill>
                <a:blip r:embed="rId2"/>
                <a:stretch>
                  <a:fillRect l="-2392" t="-7792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4"/>
              <p:cNvSpPr txBox="1"/>
              <p:nvPr/>
            </p:nvSpPr>
            <p:spPr>
              <a:xfrm>
                <a:off x="1309505" y="2307209"/>
                <a:ext cx="3817539" cy="545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rPr>
                  <a:t>(3)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−1</m:t>
                        </m:r>
                      </m:sup>
                    </m:sSup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∗</m:t>
                        </m:r>
                      </m:sup>
                    </m:sSup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；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505" y="2307209"/>
                <a:ext cx="3817539" cy="545727"/>
              </a:xfrm>
              <a:prstGeom prst="rect">
                <a:avLst/>
              </a:prstGeom>
              <a:blipFill>
                <a:blip r:embed="rId3"/>
                <a:stretch>
                  <a:fillRect l="-255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4"/>
              <p:cNvSpPr txBox="1"/>
              <p:nvPr/>
            </p:nvSpPr>
            <p:spPr>
              <a:xfrm>
                <a:off x="1331310" y="1698624"/>
                <a:ext cx="3817539" cy="545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rPr>
                  <a:t>(2)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𝑇</m:t>
                        </m:r>
                      </m:sup>
                    </m:sSup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∗</m:t>
                        </m:r>
                      </m:sup>
                    </m:sSup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；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10" y="1698624"/>
                <a:ext cx="3817539" cy="545727"/>
              </a:xfrm>
              <a:prstGeom prst="rect">
                <a:avLst/>
              </a:prstGeom>
              <a:blipFill>
                <a:blip r:embed="rId4"/>
                <a:stretch>
                  <a:fillRect l="-2392" b="-21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384191" y="591071"/>
                <a:ext cx="477198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</m:oMath>
                </a14:m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阶方阵，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zh-CN" altLang="en-US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|≠0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则</a:t>
                </a:r>
                <a:endParaRPr lang="zh-CN" altLang="en-US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91" y="591071"/>
                <a:ext cx="4771985" cy="461665"/>
              </a:xfrm>
              <a:prstGeom prst="rect">
                <a:avLst/>
              </a:prstGeom>
              <a:blipFill>
                <a:blip r:embed="rId5"/>
                <a:stretch>
                  <a:fillRect l="-1916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600223" y="314096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1818FF"/>
                </a:solidFill>
                <a:latin typeface="+mn-lt"/>
                <a:ea typeface="黑体" panose="02010609060101010101" pitchFamily="49" charset="-122"/>
              </a:rPr>
              <a:t>证</a:t>
            </a:r>
            <a:endParaRPr lang="zh-CN" altLang="en-US" b="1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/>
              <p:cNvSpPr txBox="1"/>
              <p:nvPr/>
            </p:nvSpPr>
            <p:spPr bwMode="auto">
              <a:xfrm>
                <a:off x="1043608" y="3163175"/>
                <a:ext cx="2990699" cy="552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m:t>  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|=||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3163175"/>
                <a:ext cx="2990699" cy="552450"/>
              </a:xfrm>
              <a:prstGeom prst="rect">
                <a:avLst/>
              </a:prstGeom>
              <a:blipFill>
                <a:blip r:embed="rId6"/>
                <a:stretch>
                  <a:fillRect l="-1629" b="-1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/>
              <p:cNvSpPr txBox="1"/>
              <p:nvPr/>
            </p:nvSpPr>
            <p:spPr bwMode="auto">
              <a:xfrm>
                <a:off x="3707904" y="3148515"/>
                <a:ext cx="2988484" cy="552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;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7904" y="3148515"/>
                <a:ext cx="2988484" cy="552450"/>
              </a:xfrm>
              <a:prstGeom prst="rect">
                <a:avLst/>
              </a:prstGeom>
              <a:blipFill>
                <a:blip r:embed="rId7"/>
                <a:stretch>
                  <a:fillRect t="-6593" r="-6122" b="-9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"/>
              <p:cNvSpPr txBox="1"/>
              <p:nvPr/>
            </p:nvSpPr>
            <p:spPr bwMode="auto">
              <a:xfrm>
                <a:off x="1511508" y="3929357"/>
                <a:ext cx="2988484" cy="50405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1508" y="3929357"/>
                <a:ext cx="2988484" cy="504056"/>
              </a:xfrm>
              <a:prstGeom prst="rect">
                <a:avLst/>
              </a:prstGeom>
              <a:blipFill>
                <a:blip r:embed="rId8"/>
                <a:stretch>
                  <a:fillRect l="-1837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4"/>
              <p:cNvSpPr txBox="1"/>
              <p:nvPr/>
            </p:nvSpPr>
            <p:spPr bwMode="auto">
              <a:xfrm>
                <a:off x="3995936" y="3929357"/>
                <a:ext cx="1753290" cy="50405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936" y="3929357"/>
                <a:ext cx="1753290" cy="504056"/>
              </a:xfrm>
              <a:prstGeom prst="rect">
                <a:avLst/>
              </a:prstGeom>
              <a:blipFill>
                <a:blip r:embed="rId9"/>
                <a:stretch>
                  <a:fillRect r="-348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/>
              <p:cNvSpPr txBox="1"/>
              <p:nvPr/>
            </p:nvSpPr>
            <p:spPr bwMode="auto">
              <a:xfrm>
                <a:off x="5580831" y="3929357"/>
                <a:ext cx="1872965" cy="50405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831" y="3929357"/>
                <a:ext cx="1872965" cy="504056"/>
              </a:xfrm>
              <a:prstGeom prst="rect">
                <a:avLst/>
              </a:prstGeom>
              <a:blipFill>
                <a:blip r:embed="rId10"/>
                <a:stretch>
                  <a:fillRect r="-1299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6"/>
              <p:cNvSpPr txBox="1"/>
              <p:nvPr/>
            </p:nvSpPr>
            <p:spPr bwMode="auto">
              <a:xfrm>
                <a:off x="7345179" y="3929357"/>
                <a:ext cx="1403285" cy="50405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45179" y="3929357"/>
                <a:ext cx="1403285" cy="504056"/>
              </a:xfrm>
              <a:prstGeom prst="rect">
                <a:avLst/>
              </a:prstGeom>
              <a:blipFill>
                <a:blip r:embed="rId11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061025" y="3957486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  <a:ea typeface="黑体" panose="02010609060101010101" pitchFamily="49" charset="-122"/>
              </a:rPr>
              <a:t>(2) 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6"/>
              <p:cNvSpPr txBox="1"/>
              <p:nvPr/>
            </p:nvSpPr>
            <p:spPr bwMode="auto">
              <a:xfrm>
                <a:off x="4211960" y="4457861"/>
                <a:ext cx="1943819" cy="9588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1960" y="4457861"/>
                <a:ext cx="1943819" cy="9588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064072" y="4588302"/>
                <a:ext cx="3371372" cy="5915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(3)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>
                            <a:latin typeface="Cambria Math" panose="02040503050406030204" pitchFamily="18" charset="0"/>
                            <a:ea typeface="宋体" charset="-122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72" y="4588302"/>
                <a:ext cx="3371372" cy="591572"/>
              </a:xfrm>
              <a:prstGeom prst="rect">
                <a:avLst/>
              </a:prstGeom>
              <a:blipFill>
                <a:blip r:embed="rId13"/>
                <a:stretch>
                  <a:fillRect l="-2893" b="-18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4165188" y="5413033"/>
                <a:ext cx="2351028" cy="5915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88" y="5413033"/>
                <a:ext cx="2351028" cy="59157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4"/>
              <p:cNvSpPr txBox="1"/>
              <p:nvPr/>
            </p:nvSpPr>
            <p:spPr>
              <a:xfrm>
                <a:off x="6300192" y="5400028"/>
                <a:ext cx="1512168" cy="545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5400028"/>
                <a:ext cx="1512168" cy="5457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5615964" y="1036028"/>
            <a:ext cx="3016477" cy="1888916"/>
            <a:chOff x="5615964" y="1091135"/>
            <a:chExt cx="3016477" cy="1888916"/>
          </a:xfrm>
        </p:grpSpPr>
        <p:sp>
          <p:nvSpPr>
            <p:cNvPr id="7" name="圆角矩形 6"/>
            <p:cNvSpPr/>
            <p:nvPr/>
          </p:nvSpPr>
          <p:spPr bwMode="auto">
            <a:xfrm>
              <a:off x="5615964" y="1091135"/>
              <a:ext cx="2988484" cy="188891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2075" tIns="46038" rIns="92075" bIns="46038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5872198" y="1714949"/>
                  <a:ext cx="276024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𝐴𝐴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=|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宋体" charset="-122"/>
                          </a:rPr>
                          <m:t>𝐴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宋体" charset="-122"/>
                          </a:rPr>
                          <m:t>|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宋体" charset="-122"/>
                          </a:rPr>
                          <m:t>𝐸</m:t>
                        </m:r>
                      </m:oMath>
                    </m:oMathPara>
                  </a14:m>
                  <a:endParaRPr lang="zh-CN" altLang="en-US" dirty="0">
                    <a:latin typeface="+mn-lt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198" y="1714949"/>
                  <a:ext cx="2760243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5872198" y="2233658"/>
                  <a:ext cx="1868139" cy="47000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𝐴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dirty="0">
                    <a:latin typeface="+mn-lt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198" y="2233658"/>
                  <a:ext cx="1868139" cy="470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/>
            <p:cNvSpPr/>
            <p:nvPr/>
          </p:nvSpPr>
          <p:spPr>
            <a:xfrm>
              <a:off x="5968404" y="1162436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1818FF"/>
                  </a:solidFill>
                  <a:latin typeface="+mn-lt"/>
                  <a:ea typeface="黑体" panose="02010609060101010101" pitchFamily="49" charset="-122"/>
                </a:rPr>
                <a:t>重要公式</a:t>
              </a:r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7812360" y="5415607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2" grpId="0"/>
      <p:bldP spid="3" grpId="0"/>
      <p:bldP spid="12" grpId="0"/>
      <p:bldP spid="13" grpId="0"/>
      <p:bldP spid="18" grpId="0"/>
      <p:bldP spid="19" grpId="0"/>
      <p:bldP spid="20" grpId="0"/>
      <p:bldP spid="21" grpId="0"/>
      <p:bldP spid="4" grpId="0"/>
      <p:bldP spid="24" grpId="0"/>
      <p:bldP spid="6" grpId="0"/>
      <p:bldP spid="29" grpId="0"/>
      <p:bldP spid="30" grpId="0"/>
      <p:bldP spid="2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61" name="Text Box 9"/>
          <p:cNvSpPr txBox="1">
            <a:spLocks noChangeArrowheads="1"/>
          </p:cNvSpPr>
          <p:nvPr/>
        </p:nvSpPr>
        <p:spPr bwMode="auto">
          <a:xfrm>
            <a:off x="899592" y="2402209"/>
            <a:ext cx="230557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方法一  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利用</a:t>
            </a:r>
          </a:p>
        </p:txBody>
      </p:sp>
      <p:graphicFrame>
        <p:nvGraphicFramePr>
          <p:cNvPr id="919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525840"/>
              </p:ext>
            </p:extLst>
          </p:nvPr>
        </p:nvGraphicFramePr>
        <p:xfrm>
          <a:off x="2771775" y="2370138"/>
          <a:ext cx="43211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370138"/>
                        <a:ext cx="4321175" cy="554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19563" name="Object 3"/>
              <p:cNvSpPr txBox="1"/>
              <p:nvPr/>
            </p:nvSpPr>
            <p:spPr bwMode="auto">
              <a:xfrm>
                <a:off x="826889" y="2996952"/>
                <a:ext cx="4321175" cy="90230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1956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889" y="2996952"/>
                <a:ext cx="4321175" cy="9023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19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399658"/>
              </p:ext>
            </p:extLst>
          </p:nvPr>
        </p:nvGraphicFramePr>
        <p:xfrm>
          <a:off x="5063827" y="2935288"/>
          <a:ext cx="2676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3827" y="2935288"/>
                        <a:ext cx="26765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1739333" y="1545605"/>
            <a:ext cx="4484623" cy="803275"/>
            <a:chOff x="1831" y="1190"/>
            <a:chExt cx="2246" cy="506"/>
          </a:xfrm>
        </p:grpSpPr>
        <p:graphicFrame>
          <p:nvGraphicFramePr>
            <p:cNvPr id="20481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9259152"/>
                </p:ext>
              </p:extLst>
            </p:nvPr>
          </p:nvGraphicFramePr>
          <p:xfrm>
            <a:off x="1831" y="1190"/>
            <a:ext cx="1618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0" imgH="0" progId="">
                    <p:embed/>
                  </p:oleObj>
                </mc:Choice>
                <mc:Fallback>
                  <p:oleObj name="Equation" r:id="rId7" imgW="0" imgH="0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1" y="1190"/>
                          <a:ext cx="1618" cy="5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20" name="Text Box 15"/>
            <p:cNvSpPr txBox="1">
              <a:spLocks noChangeArrowheads="1"/>
            </p:cNvSpPr>
            <p:nvPr/>
          </p:nvSpPr>
          <p:spPr bwMode="auto">
            <a:xfrm>
              <a:off x="3442" y="1288"/>
              <a:ext cx="63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存在</a:t>
              </a:r>
              <a:r>
                <a:rPr lang="en-US" altLang="zh-CN" dirty="0">
                  <a:latin typeface="+mn-lt"/>
                  <a:ea typeface="黑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827088" y="825996"/>
            <a:ext cx="7367256" cy="817016"/>
            <a:chOff x="528" y="634"/>
            <a:chExt cx="3676" cy="506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04809" name="Object 1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84749031"/>
                    </p:ext>
                  </p:extLst>
                </p:nvPr>
              </p:nvGraphicFramePr>
              <p:xfrm>
                <a:off x="2828" y="724"/>
                <a:ext cx="1376" cy="33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9" imgW="0" imgH="0" progId="">
                        <p:embed/>
                      </p:oleObj>
                    </mc:Choice>
                    <mc:Fallback>
                      <p:oleObj name="Equation" r:id="rId9" imgW="0" imgH="0" progId="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28" y="724"/>
                              <a:ext cx="1376" cy="33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04809" name="Object 1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84749031"/>
                    </p:ext>
                  </p:extLst>
                </p:nvPr>
              </p:nvGraphicFramePr>
              <p:xfrm>
                <a:off x="2828" y="724"/>
                <a:ext cx="1376" cy="33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1" imgW="0" imgH="0" progId="">
                        <p:embed/>
                      </p:oleObj>
                    </mc:Choice>
                    <mc:Fallback>
                      <p:oleObj name="Equation" r:id="rId11" imgW="0" imgH="0" progId="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28" y="724"/>
                              <a:ext cx="1376" cy="33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04818" name="Text Box 6"/>
            <p:cNvSpPr txBox="1">
              <a:spLocks noChangeArrowheads="1"/>
            </p:cNvSpPr>
            <p:nvPr/>
          </p:nvSpPr>
          <p:spPr bwMode="auto">
            <a:xfrm>
              <a:off x="2575" y="767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04810" name="Object 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58692515"/>
                    </p:ext>
                  </p:extLst>
                </p:nvPr>
              </p:nvGraphicFramePr>
              <p:xfrm>
                <a:off x="1894" y="634"/>
                <a:ext cx="677" cy="50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3" imgW="0" imgH="0" progId="">
                        <p:embed/>
                      </p:oleObj>
                    </mc:Choice>
                    <mc:Fallback>
                      <p:oleObj name="Equation" r:id="rId13" imgW="0" imgH="0" progId="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94" y="634"/>
                              <a:ext cx="677" cy="50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04810" name="Object 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58692515"/>
                    </p:ext>
                  </p:extLst>
                </p:nvPr>
              </p:nvGraphicFramePr>
              <p:xfrm>
                <a:off x="1894" y="634"/>
                <a:ext cx="677" cy="50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5" imgW="0" imgH="0" progId="">
                        <p:embed/>
                      </p:oleObj>
                    </mc:Choice>
                    <mc:Fallback>
                      <p:oleObj name="Equation" r:id="rId15" imgW="0" imgH="0" progId="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94" y="634"/>
                              <a:ext cx="677" cy="50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819" name="Rectangle 19"/>
                <p:cNvSpPr>
                  <a:spLocks noChangeArrowheads="1"/>
                </p:cNvSpPr>
                <p:nvPr/>
              </p:nvSpPr>
              <p:spPr bwMode="auto">
                <a:xfrm>
                  <a:off x="528" y="765"/>
                  <a:ext cx="155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0000E5"/>
                      </a:solidFill>
                      <a:latin typeface="+mn-lt"/>
                      <a:ea typeface="黑体" panose="02010609060101010101" pitchFamily="49" charset="-122"/>
                    </a:rPr>
                    <a:t>例</a:t>
                  </a:r>
                  <a:r>
                    <a:rPr lang="en-US" altLang="zh-CN" b="1" dirty="0">
                      <a:solidFill>
                        <a:srgbClr val="0000E5"/>
                      </a:solidFill>
                      <a:latin typeface="+mn-lt"/>
                      <a:ea typeface="黑体" panose="02010609060101010101" pitchFamily="49" charset="-122"/>
                    </a:rPr>
                    <a:t>3</a:t>
                  </a:r>
                  <a:r>
                    <a:rPr lang="en-US" altLang="zh-CN" dirty="0">
                      <a:solidFill>
                        <a:srgbClr val="0000E5"/>
                      </a:solidFill>
                      <a:latin typeface="+mn-lt"/>
                      <a:ea typeface="黑体" panose="02010609060101010101" pitchFamily="49" charset="-122"/>
                    </a:rPr>
                    <a:t> </a:t>
                  </a:r>
                  <a:r>
                    <a:rPr lang="zh-CN" altLang="en-US" dirty="0">
                      <a:latin typeface="+mn-lt"/>
                      <a:ea typeface="黑体" panose="02010609060101010101" pitchFamily="49" charset="-122"/>
                      <a:sym typeface="Symbol" pitchFamily="18" charset="2"/>
                    </a:rPr>
                    <a:t>设</a:t>
                  </a:r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𝐴</m:t>
                      </m:r>
                    </m:oMath>
                  </a14:m>
                  <a:r>
                    <a:rPr lang="zh-CN" altLang="en-US" dirty="0">
                      <a:latin typeface="+mn-lt"/>
                      <a:ea typeface="黑体" panose="02010609060101010101" pitchFamily="49" charset="-122"/>
                      <a:sym typeface="Symbol" pitchFamily="18" charset="2"/>
                    </a:rPr>
                    <a:t>为</a:t>
                  </a:r>
                  <a:r>
                    <a:rPr lang="en-US" altLang="zh-CN" dirty="0">
                      <a:latin typeface="+mn-lt"/>
                      <a:ea typeface="黑体" panose="02010609060101010101" pitchFamily="49" charset="-122"/>
                      <a:sym typeface="Symbol" pitchFamily="18" charset="2"/>
                    </a:rPr>
                    <a:t>3</a:t>
                  </a:r>
                  <a:r>
                    <a:rPr lang="zh-CN" altLang="en-US" dirty="0">
                      <a:latin typeface="+mn-lt"/>
                      <a:ea typeface="黑体" panose="02010609060101010101" pitchFamily="49" charset="-122"/>
                      <a:sym typeface="Symbol" pitchFamily="18" charset="2"/>
                    </a:rPr>
                    <a:t>阶矩阵</a:t>
                  </a:r>
                  <a:r>
                    <a:rPr lang="zh-CN" altLang="en-US" sz="1800" dirty="0">
                      <a:latin typeface="+mn-lt"/>
                      <a:ea typeface="黑体" panose="02010609060101010101" pitchFamily="49" charset="-122"/>
                      <a:sym typeface="Symbol" pitchFamily="18" charset="2"/>
                    </a:rPr>
                    <a:t></a:t>
                  </a:r>
                  <a:r>
                    <a:rPr lang="zh-CN" altLang="en-US" sz="1800" dirty="0">
                      <a:latin typeface="+mn-lt"/>
                      <a:ea typeface="黑体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4819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8" y="765"/>
                  <a:ext cx="1559" cy="291"/>
                </a:xfrm>
                <a:prstGeom prst="rect">
                  <a:avLst/>
                </a:prstGeom>
                <a:blipFill>
                  <a:blip r:embed="rId17"/>
                  <a:stretch>
                    <a:fillRect l="-3125" t="-12987" b="-29870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19573" name="Rectangle 21"/>
          <p:cNvSpPr>
            <a:spLocks noChangeArrowheads="1"/>
          </p:cNvSpPr>
          <p:nvPr/>
        </p:nvSpPr>
        <p:spPr bwMode="auto">
          <a:xfrm>
            <a:off x="900113" y="1708911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itchFamily="49" charset="-122"/>
              </a:rPr>
              <a:t>解</a:t>
            </a:r>
            <a:endParaRPr lang="zh-CN" altLang="en-US" b="1" dirty="0">
              <a:latin typeface="+mn-lt"/>
              <a:ea typeface="黑体" pitchFamily="49" charset="-122"/>
            </a:endParaRPr>
          </a:p>
        </p:txBody>
      </p:sp>
      <p:graphicFrame>
        <p:nvGraphicFramePr>
          <p:cNvPr id="9195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958384"/>
              </p:ext>
            </p:extLst>
          </p:nvPr>
        </p:nvGraphicFramePr>
        <p:xfrm>
          <a:off x="2915816" y="3861048"/>
          <a:ext cx="3824286" cy="89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">
                  <p:embed/>
                </p:oleObj>
              </mc:Choice>
              <mc:Fallback>
                <p:oleObj name="Equation" r:id="rId18" imgW="0" imgH="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861048"/>
                        <a:ext cx="3824286" cy="894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00138"/>
              </p:ext>
            </p:extLst>
          </p:nvPr>
        </p:nvGraphicFramePr>
        <p:xfrm>
          <a:off x="2915816" y="4811171"/>
          <a:ext cx="15033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">
                  <p:embed/>
                </p:oleObj>
              </mc:Choice>
              <mc:Fallback>
                <p:oleObj name="Equation" r:id="rId20" imgW="0" imgH="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4811171"/>
                        <a:ext cx="15033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19580" name="Object 7"/>
              <p:cNvSpPr txBox="1"/>
              <p:nvPr/>
            </p:nvSpPr>
            <p:spPr bwMode="auto">
              <a:xfrm>
                <a:off x="4439815" y="4811171"/>
                <a:ext cx="1931069" cy="6096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1958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9815" y="4811171"/>
                <a:ext cx="1931069" cy="609600"/>
              </a:xfrm>
              <a:prstGeom prst="rect">
                <a:avLst/>
              </a:prstGeom>
              <a:blipFill>
                <a:blip r:embed="rId22"/>
                <a:stretch>
                  <a:fillRect r="-4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9581" name="Object 8"/>
              <p:cNvSpPr txBox="1"/>
              <p:nvPr/>
            </p:nvSpPr>
            <p:spPr bwMode="auto">
              <a:xfrm>
                <a:off x="2910906" y="5458623"/>
                <a:ext cx="4321174" cy="96202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=(−8)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=(−8)×2=−16.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19581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0906" y="5458623"/>
                <a:ext cx="4321174" cy="96202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27112" y="190599"/>
            <a:ext cx="655320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四、逆矩阵的初步应用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4F0D1815-F9A3-5996-9109-E68528589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00" y="5589240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9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1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1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91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1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91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1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1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9563" grpId="0"/>
      <p:bldP spid="919573" grpId="0"/>
      <p:bldP spid="919580" grpId="0"/>
      <p:bldP spid="919581" grpId="0"/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834125" y="2709364"/>
            <a:ext cx="1511747" cy="498802"/>
            <a:chOff x="1209" y="2903"/>
            <a:chExt cx="1043" cy="322"/>
          </a:xfrm>
        </p:grpSpPr>
        <p:sp>
          <p:nvSpPr>
            <p:cNvPr id="205842" name="AutoShape 14"/>
            <p:cNvSpPr>
              <a:spLocks noChangeArrowheads="1"/>
            </p:cNvSpPr>
            <p:nvPr/>
          </p:nvSpPr>
          <p:spPr bwMode="auto">
            <a:xfrm rot="21580764" flipV="1">
              <a:off x="1209" y="2907"/>
              <a:ext cx="1043" cy="318"/>
            </a:xfrm>
            <a:prstGeom prst="wedgeRoundRectCallout">
              <a:avLst>
                <a:gd name="adj1" fmla="val 115023"/>
                <a:gd name="adj2" fmla="val 170576"/>
                <a:gd name="adj3" fmla="val 16667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10800000"/>
            <a:lstStyle/>
            <a:p>
              <a:pPr algn="ctr"/>
              <a:endParaRPr kumimoji="1" lang="zh-CN" altLang="en-US" sz="1800" b="1">
                <a:solidFill>
                  <a:srgbClr val="0000FF"/>
                </a:solidFill>
              </a:endParaRPr>
            </a:p>
          </p:txBody>
        </p:sp>
        <p:graphicFrame>
          <p:nvGraphicFramePr>
            <p:cNvPr id="20583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2336189"/>
                </p:ext>
              </p:extLst>
            </p:nvPr>
          </p:nvGraphicFramePr>
          <p:xfrm>
            <a:off x="1328" y="2903"/>
            <a:ext cx="876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">
                    <p:embed/>
                  </p:oleObj>
                </mc:Choice>
                <mc:Fallback>
                  <p:oleObj name="Equation" r:id="rId2" imgW="0" imgH="0" progId="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" y="2903"/>
                          <a:ext cx="876" cy="2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602" name="Rectangle 2"/>
          <p:cNvSpPr>
            <a:spLocks noChangeArrowheads="1"/>
          </p:cNvSpPr>
          <p:nvPr/>
        </p:nvSpPr>
        <p:spPr bwMode="auto">
          <a:xfrm>
            <a:off x="899592" y="796943"/>
            <a:ext cx="2232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方法二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</a:p>
        </p:txBody>
      </p:sp>
      <p:graphicFrame>
        <p:nvGraphicFramePr>
          <p:cNvPr id="9216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100376"/>
              </p:ext>
            </p:extLst>
          </p:nvPr>
        </p:nvGraphicFramePr>
        <p:xfrm>
          <a:off x="3132138" y="549275"/>
          <a:ext cx="280828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368280" progId="Equation.DSMT4">
                  <p:embed/>
                </p:oleObj>
              </mc:Choice>
              <mc:Fallback>
                <p:oleObj name="Equation" r:id="rId4" imgW="1015920" imgH="3682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49275"/>
                        <a:ext cx="2808287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21612" name="Object 3"/>
              <p:cNvSpPr txBox="1"/>
              <p:nvPr/>
            </p:nvSpPr>
            <p:spPr bwMode="auto">
              <a:xfrm>
                <a:off x="1464205" y="1562793"/>
                <a:ext cx="4403939" cy="102982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161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4205" y="1562793"/>
                <a:ext cx="4403939" cy="10298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216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005866"/>
              </p:ext>
            </p:extLst>
          </p:nvPr>
        </p:nvGraphicFramePr>
        <p:xfrm>
          <a:off x="3545632" y="2655986"/>
          <a:ext cx="183356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632" y="2655986"/>
                        <a:ext cx="183356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947320"/>
              </p:ext>
            </p:extLst>
          </p:nvPr>
        </p:nvGraphicFramePr>
        <p:xfrm>
          <a:off x="3545632" y="3409602"/>
          <a:ext cx="32607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632" y="3409602"/>
                        <a:ext cx="32607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19451"/>
              </p:ext>
            </p:extLst>
          </p:nvPr>
        </p:nvGraphicFramePr>
        <p:xfrm>
          <a:off x="3563888" y="4171602"/>
          <a:ext cx="20097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171602"/>
                        <a:ext cx="20097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204398" y="2540000"/>
            <a:ext cx="1822750" cy="523876"/>
            <a:chOff x="4220" y="2092"/>
            <a:chExt cx="1180" cy="455"/>
          </a:xfrm>
        </p:grpSpPr>
        <p:sp>
          <p:nvSpPr>
            <p:cNvPr id="205840" name="AutoShape 28"/>
            <p:cNvSpPr>
              <a:spLocks noChangeArrowheads="1"/>
            </p:cNvSpPr>
            <p:nvPr/>
          </p:nvSpPr>
          <p:spPr bwMode="auto">
            <a:xfrm rot="21580764" flipV="1">
              <a:off x="4221" y="2092"/>
              <a:ext cx="1179" cy="455"/>
            </a:xfrm>
            <a:prstGeom prst="wedgeRoundRectCallout">
              <a:avLst>
                <a:gd name="adj1" fmla="val -38882"/>
                <a:gd name="adj2" fmla="val -137395"/>
                <a:gd name="adj3" fmla="val 16667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10800000"/>
            <a:lstStyle/>
            <a:p>
              <a:pPr algn="ctr"/>
              <a:endParaRPr kumimoji="1" lang="zh-CN" altLang="en-US" sz="1800" b="1">
                <a:solidFill>
                  <a:srgbClr val="0000FF"/>
                </a:solidFill>
              </a:endParaRPr>
            </a:p>
          </p:txBody>
        </p:sp>
        <p:graphicFrame>
          <p:nvGraphicFramePr>
            <p:cNvPr id="20583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2004987"/>
                </p:ext>
              </p:extLst>
            </p:nvPr>
          </p:nvGraphicFramePr>
          <p:xfrm>
            <a:off x="4220" y="2136"/>
            <a:ext cx="1143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0" imgH="0" progId="">
                    <p:embed/>
                  </p:oleObj>
                </mc:Choice>
                <mc:Fallback>
                  <p:oleObj name="Equation" r:id="rId13" imgW="0" imgH="0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0" y="2136"/>
                          <a:ext cx="1143" cy="35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163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850156"/>
              </p:ext>
            </p:extLst>
          </p:nvPr>
        </p:nvGraphicFramePr>
        <p:xfrm>
          <a:off x="3563888" y="4700810"/>
          <a:ext cx="24892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">
                  <p:embed/>
                </p:oleObj>
              </mc:Choice>
              <mc:Fallback>
                <p:oleObj name="Equation" r:id="rId15" imgW="0" imgH="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700810"/>
                        <a:ext cx="24892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6444208" y="4941168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2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2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92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02" grpId="0"/>
      <p:bldP spid="921612" grpId="0"/>
      <p:bldP spid="1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8" name="Text Box 2"/>
          <p:cNvSpPr txBox="1">
            <a:spLocks noChangeArrowheads="1"/>
          </p:cNvSpPr>
          <p:nvPr/>
        </p:nvSpPr>
        <p:spPr bwMode="auto">
          <a:xfrm>
            <a:off x="777875" y="476672"/>
            <a:ext cx="10342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4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en-US" dirty="0">
                <a:latin typeface="+mn-lt"/>
                <a:ea typeface="黑体" panose="02010609060101010101" pitchFamily="49" charset="-122"/>
                <a:cs typeface="楷体_GB2312"/>
              </a:rPr>
              <a:t>设</a:t>
            </a:r>
          </a:p>
        </p:txBody>
      </p:sp>
      <p:sp>
        <p:nvSpPr>
          <p:cNvPr id="200711" name="Text Box 2"/>
          <p:cNvSpPr txBox="1">
            <a:spLocks noChangeArrowheads="1"/>
          </p:cNvSpPr>
          <p:nvPr/>
        </p:nvSpPr>
        <p:spPr bwMode="auto">
          <a:xfrm>
            <a:off x="843707" y="2698672"/>
            <a:ext cx="880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85283" name="Object 3"/>
              <p:cNvSpPr txBox="1"/>
              <p:nvPr/>
            </p:nvSpPr>
            <p:spPr bwMode="auto">
              <a:xfrm>
                <a:off x="1727410" y="872355"/>
                <a:ext cx="2772581" cy="111275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9852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7410" y="872355"/>
                <a:ext cx="2772581" cy="11127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5284" name="Object 4"/>
              <p:cNvSpPr txBox="1"/>
              <p:nvPr/>
            </p:nvSpPr>
            <p:spPr bwMode="auto">
              <a:xfrm>
                <a:off x="4133244" y="1069001"/>
                <a:ext cx="2094940" cy="9161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98528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3244" y="1069001"/>
                <a:ext cx="2094940" cy="916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5285" name="Object 5"/>
              <p:cNvSpPr txBox="1"/>
              <p:nvPr/>
            </p:nvSpPr>
            <p:spPr bwMode="auto">
              <a:xfrm>
                <a:off x="5923607" y="875215"/>
                <a:ext cx="2481673" cy="125764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98528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3607" y="875215"/>
                <a:ext cx="2481673" cy="12576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/>
              <p:cNvSpPr txBox="1">
                <a:spLocks noChangeArrowheads="1"/>
              </p:cNvSpPr>
              <p:nvPr/>
            </p:nvSpPr>
            <p:spPr bwMode="auto">
              <a:xfrm>
                <a:off x="874456" y="2126518"/>
                <a:ext cx="621782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使其满足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𝐴𝑋𝐵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.  </a:t>
                </a:r>
                <a:r>
                  <a:rPr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（矩阵方程）</a:t>
                </a:r>
              </a:p>
            </p:txBody>
          </p:sp>
        </mc:Choice>
        <mc:Fallback xmlns="">
          <p:sp>
            <p:nvSpPr>
              <p:cNvPr id="8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456" y="2126518"/>
                <a:ext cx="6217824" cy="461665"/>
              </a:xfrm>
              <a:prstGeom prst="rect">
                <a:avLst/>
              </a:prstGeom>
              <a:blipFill>
                <a:blip r:embed="rId5"/>
                <a:stretch>
                  <a:fillRect l="-1471" t="-14474" b="-302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3"/>
              <p:cNvSpPr txBox="1">
                <a:spLocks noChangeArrowheads="1"/>
              </p:cNvSpPr>
              <p:nvPr/>
            </p:nvSpPr>
            <p:spPr bwMode="auto">
              <a:xfrm>
                <a:off x="1401255" y="2698672"/>
                <a:ext cx="434306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因为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=1≠0,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=1≠0</m:t>
                    </m:r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,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1255" y="2698672"/>
                <a:ext cx="4343067" cy="461665"/>
              </a:xfrm>
              <a:prstGeom prst="rect">
                <a:avLst/>
              </a:prstGeom>
              <a:blipFill>
                <a:blip r:embed="rId6"/>
                <a:stretch>
                  <a:fillRect l="-2247" t="-14667" b="-32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6"/>
              <p:cNvSpPr txBox="1">
                <a:spLocks noChangeArrowheads="1"/>
              </p:cNvSpPr>
              <p:nvPr/>
            </p:nvSpPr>
            <p:spPr bwMode="auto">
              <a:xfrm>
                <a:off x="5537182" y="2728917"/>
                <a:ext cx="285124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可逆，且</a:t>
                </a:r>
              </a:p>
            </p:txBody>
          </p:sp>
        </mc:Choice>
        <mc:Fallback xmlns="">
          <p:sp>
            <p:nvSpPr>
              <p:cNvPr id="12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7182" y="2728917"/>
                <a:ext cx="2851242" cy="461665"/>
              </a:xfrm>
              <a:prstGeom prst="rect">
                <a:avLst/>
              </a:prstGeom>
              <a:blipFill>
                <a:blip r:embed="rId7"/>
                <a:stretch>
                  <a:fillRect l="-3205" t="-14667" b="-2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0"/>
          <p:cNvSpPr txBox="1">
            <a:spLocks noChangeArrowheads="1"/>
          </p:cNvSpPr>
          <p:nvPr/>
        </p:nvSpPr>
        <p:spPr bwMode="auto">
          <a:xfrm>
            <a:off x="938224" y="5159733"/>
            <a:ext cx="5732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907704" y="4653136"/>
                <a:ext cx="3494290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𝑋𝐵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4653136"/>
                <a:ext cx="3494290" cy="47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882178" y="466147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lt"/>
                <a:ea typeface="黑体" panose="02010609060101010101" pitchFamily="49" charset="-12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1811867" y="5157192"/>
                <a:ext cx="2080954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867" y="5157192"/>
                <a:ext cx="2080954" cy="47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9"/>
              <p:cNvSpPr txBox="1"/>
              <p:nvPr/>
            </p:nvSpPr>
            <p:spPr bwMode="auto">
              <a:xfrm>
                <a:off x="1908134" y="3429000"/>
                <a:ext cx="3167922" cy="115212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134" y="3429000"/>
                <a:ext cx="3167922" cy="11521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0"/>
              <p:cNvSpPr txBox="1"/>
              <p:nvPr/>
            </p:nvSpPr>
            <p:spPr bwMode="auto">
              <a:xfrm>
                <a:off x="4944369" y="3573015"/>
                <a:ext cx="2939999" cy="8965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4369" y="3573015"/>
                <a:ext cx="2939999" cy="8965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1" grpId="0"/>
      <p:bldP spid="8" grpId="0"/>
      <p:bldP spid="9" grpId="0"/>
      <p:bldP spid="12" grpId="0"/>
      <p:bldP spid="18" grpId="0"/>
      <p:bldP spid="2" grpId="0"/>
      <p:bldP spid="3" grpId="0"/>
      <p:bldP spid="22" grpId="0"/>
      <p:bldP spid="24" grpId="0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987330" name="Object 2"/>
              <p:cNvSpPr txBox="1"/>
              <p:nvPr/>
            </p:nvSpPr>
            <p:spPr bwMode="auto">
              <a:xfrm>
                <a:off x="1374279" y="610371"/>
                <a:ext cx="2117601" cy="53588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98733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4279" y="610371"/>
                <a:ext cx="2117601" cy="535883"/>
              </a:xfrm>
              <a:prstGeom prst="rect">
                <a:avLst/>
              </a:prstGeom>
              <a:blipFill>
                <a:blip r:embed="rId2"/>
                <a:stretch>
                  <a:fillRect l="-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7331" name="Object 3"/>
              <p:cNvSpPr txBox="1"/>
              <p:nvPr/>
            </p:nvSpPr>
            <p:spPr bwMode="auto">
              <a:xfrm>
                <a:off x="1693813" y="1215290"/>
                <a:ext cx="4966419" cy="147612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&amp;−5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98733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3813" y="1215290"/>
                <a:ext cx="4966419" cy="14761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7335" name="Object 7"/>
              <p:cNvSpPr txBox="1"/>
              <p:nvPr/>
            </p:nvSpPr>
            <p:spPr bwMode="auto">
              <a:xfrm>
                <a:off x="1693812" y="2420888"/>
                <a:ext cx="3526259" cy="152197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&amp;−5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9873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3812" y="2420888"/>
                <a:ext cx="3526259" cy="15219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7336" name="Object 8"/>
              <p:cNvSpPr txBox="1"/>
              <p:nvPr/>
            </p:nvSpPr>
            <p:spPr bwMode="auto">
              <a:xfrm>
                <a:off x="1751608" y="3717032"/>
                <a:ext cx="2100304" cy="129382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98733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1608" y="3717032"/>
                <a:ext cx="2100304" cy="1293820"/>
              </a:xfrm>
              <a:prstGeom prst="rect">
                <a:avLst/>
              </a:prstGeom>
              <a:blipFill>
                <a:blip r:embed="rId8"/>
                <a:stretch>
                  <a:fillRect r="-6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4199880" y="4005064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8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8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8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7331" grpId="0"/>
      <p:bldP spid="5987335" grpId="0"/>
      <p:bldP spid="5987336" grpId="0"/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0960" name="Text Box 2"/>
              <p:cNvSpPr txBox="1">
                <a:spLocks noChangeArrowheads="1"/>
              </p:cNvSpPr>
              <p:nvPr/>
            </p:nvSpPr>
            <p:spPr bwMode="auto">
              <a:xfrm>
                <a:off x="323849" y="889556"/>
                <a:ext cx="8012533" cy="7081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例</a:t>
                </a:r>
                <a:r>
                  <a:rPr kumimoji="1" lang="en-US" altLang="zh-CN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5</a:t>
                </a:r>
                <a:r>
                  <a:rPr kumimoji="1" lang="en-US" altLang="zh-CN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kumimoji="1"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zh-CN" altLang="en-US">
                                <a:solidFill>
                                  <a:srgbClr val="000000"/>
                                </a:solidFill>
                                <a:latin typeface="+mn-lt"/>
                                <a:ea typeface="黑体" panose="02010609060101010101" pitchFamily="49" charset="-122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zh-CN" altLang="en-US">
                                <a:solidFill>
                                  <a:srgbClr val="000000"/>
                                </a:solidFill>
                                <a:latin typeface="+mn-lt"/>
                                <a:ea typeface="黑体" panose="02010609060101010101" pitchFamily="49" charset="-122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𝛬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zh-CN" altLang="en-US">
                                <a:solidFill>
                                  <a:srgbClr val="000000"/>
                                </a:solidFill>
                                <a:latin typeface="+mn-lt"/>
                                <a:ea typeface="黑体" panose="02010609060101010101" pitchFamily="49" charset="-122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zh-CN" altLang="en-US">
                                <a:solidFill>
                                  <a:srgbClr val="000000"/>
                                </a:solidFill>
                                <a:latin typeface="+mn-lt"/>
                                <a:ea typeface="黑体" panose="02010609060101010101" pitchFamily="49" charset="-122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𝛬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</a:p>
            </p:txBody>
          </p:sp>
        </mc:Choice>
        <mc:Fallback xmlns="">
          <p:sp>
            <p:nvSpPr>
              <p:cNvPr id="210960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49" y="889556"/>
                <a:ext cx="8012533" cy="708143"/>
              </a:xfrm>
              <a:prstGeom prst="rect">
                <a:avLst/>
              </a:prstGeom>
              <a:blipFill>
                <a:blip r:embed="rId2"/>
                <a:stretch>
                  <a:fillRect l="-1141" b="-172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"/>
              <p:cNvSpPr txBox="1">
                <a:spLocks noChangeArrowheads="1"/>
              </p:cNvSpPr>
              <p:nvPr/>
            </p:nvSpPr>
            <p:spPr bwMode="auto">
              <a:xfrm>
                <a:off x="323851" y="1950775"/>
                <a:ext cx="475220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解：</a:t>
                </a:r>
                <a:r>
                  <a:rPr kumimoji="1"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因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|=2≠0</m:t>
                    </m:r>
                  </m:oMath>
                </a14:m>
                <a:r>
                  <a:rPr kumimoji="1"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，故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𝐵</m:t>
                    </m:r>
                  </m:oMath>
                </a14:m>
                <a:r>
                  <a:rPr kumimoji="1"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可逆，且　　　　　　　　　</a:t>
                </a:r>
                <a:r>
                  <a:rPr kumimoji="1" lang="en-US" altLang="zh-CN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1" y="1950775"/>
                <a:ext cx="4752206" cy="461665"/>
              </a:xfrm>
              <a:prstGeom prst="rect">
                <a:avLst/>
              </a:prstGeom>
              <a:blipFill>
                <a:blip r:embed="rId3"/>
                <a:stretch>
                  <a:fillRect l="-1923" t="-14474" r="-385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/>
              <p:cNvSpPr txBox="1"/>
              <p:nvPr/>
            </p:nvSpPr>
            <p:spPr bwMode="auto">
              <a:xfrm>
                <a:off x="1186458" y="2761863"/>
                <a:ext cx="1724942" cy="52322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𝛬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6458" y="2761863"/>
                <a:ext cx="1724942" cy="523220"/>
              </a:xfrm>
              <a:prstGeom prst="rect">
                <a:avLst/>
              </a:prstGeom>
              <a:blipFill>
                <a:blip r:embed="rId4"/>
                <a:stretch>
                  <a:fillRect l="-10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9"/>
              <p:cNvSpPr txBox="1"/>
              <p:nvPr/>
            </p:nvSpPr>
            <p:spPr bwMode="auto">
              <a:xfrm>
                <a:off x="2555776" y="2772891"/>
                <a:ext cx="2452688" cy="584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776" y="2772891"/>
                <a:ext cx="2452688" cy="584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"/>
              <p:cNvSpPr txBox="1"/>
              <p:nvPr/>
            </p:nvSpPr>
            <p:spPr bwMode="auto">
              <a:xfrm>
                <a:off x="4859288" y="1753478"/>
                <a:ext cx="3097088" cy="108039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9288" y="1753478"/>
                <a:ext cx="3097088" cy="10803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22560" y="2761977"/>
            <a:ext cx="10810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  <a:cs typeface="楷体_GB2312"/>
              </a:rPr>
              <a:t>于是　　　　　　　　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/>
              <p:cNvSpPr txBox="1"/>
              <p:nvPr/>
            </p:nvSpPr>
            <p:spPr bwMode="auto">
              <a:xfrm>
                <a:off x="1116013" y="3501107"/>
                <a:ext cx="3243262" cy="571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3501107"/>
                <a:ext cx="3243262" cy="571500"/>
              </a:xfrm>
              <a:prstGeom prst="rect">
                <a:avLst/>
              </a:prstGeom>
              <a:blipFill>
                <a:blip r:embed="rId7"/>
                <a:stretch>
                  <a:fillRect l="-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/>
              <p:cNvSpPr txBox="1"/>
              <p:nvPr/>
            </p:nvSpPr>
            <p:spPr bwMode="auto">
              <a:xfrm>
                <a:off x="3851920" y="3501107"/>
                <a:ext cx="1709737" cy="571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1920" y="3501107"/>
                <a:ext cx="1709737" cy="571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3"/>
              <p:cNvSpPr txBox="1"/>
              <p:nvPr/>
            </p:nvSpPr>
            <p:spPr bwMode="auto">
              <a:xfrm>
                <a:off x="1081088" y="4226595"/>
                <a:ext cx="4498975" cy="571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1088" y="4226595"/>
                <a:ext cx="4498975" cy="571500"/>
              </a:xfrm>
              <a:prstGeom prst="rect">
                <a:avLst/>
              </a:prstGeom>
              <a:blipFill>
                <a:blip r:embed="rId9"/>
                <a:stretch>
                  <a:fillRect l="-2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/>
              <p:cNvSpPr txBox="1"/>
              <p:nvPr/>
            </p:nvSpPr>
            <p:spPr bwMode="auto">
              <a:xfrm>
                <a:off x="4860032" y="4226595"/>
                <a:ext cx="1674813" cy="571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032" y="4226595"/>
                <a:ext cx="1674813" cy="571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/>
              <p:cNvSpPr txBox="1"/>
              <p:nvPr/>
            </p:nvSpPr>
            <p:spPr bwMode="auto">
              <a:xfrm>
                <a:off x="1093788" y="4945732"/>
                <a:ext cx="2998787" cy="571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m:t>   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3788" y="4945732"/>
                <a:ext cx="2998787" cy="5715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6" grpId="0"/>
      <p:bldP spid="14" grpId="0"/>
      <p:bldP spid="7" grpId="0"/>
      <p:bldP spid="15" grpId="0"/>
      <p:bldP spid="16" grpId="0"/>
      <p:bldP spid="1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"/>
              <p:cNvSpPr txBox="1"/>
              <p:nvPr/>
            </p:nvSpPr>
            <p:spPr bwMode="auto">
              <a:xfrm>
                <a:off x="611560" y="733437"/>
                <a:ext cx="2291878" cy="109844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又因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&amp;1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733437"/>
                <a:ext cx="2291878" cy="1098447"/>
              </a:xfrm>
              <a:prstGeom prst="rect">
                <a:avLst/>
              </a:prstGeom>
              <a:blipFill>
                <a:blip r:embed="rId2"/>
                <a:stretch>
                  <a:fillRect l="-3989" r="-7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/>
              <p:cNvSpPr txBox="1"/>
              <p:nvPr/>
            </p:nvSpPr>
            <p:spPr bwMode="auto">
              <a:xfrm>
                <a:off x="2897522" y="715110"/>
                <a:ext cx="2958243" cy="109844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7522" y="715110"/>
                <a:ext cx="2958243" cy="10984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/>
              <p:cNvSpPr txBox="1"/>
              <p:nvPr/>
            </p:nvSpPr>
            <p:spPr bwMode="auto">
              <a:xfrm>
                <a:off x="5558038" y="733437"/>
                <a:ext cx="1521863" cy="852781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8038" y="733437"/>
                <a:ext cx="1521863" cy="8527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 bwMode="auto">
              <a:xfrm>
                <a:off x="671189" y="2660088"/>
                <a:ext cx="2936261" cy="104400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189" y="2660088"/>
                <a:ext cx="2936261" cy="1044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"/>
              <p:cNvSpPr txBox="1"/>
              <p:nvPr/>
            </p:nvSpPr>
            <p:spPr bwMode="auto">
              <a:xfrm>
                <a:off x="587991" y="3634017"/>
                <a:ext cx="2167842" cy="47416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991" y="3634017"/>
                <a:ext cx="2167842" cy="474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/>
              <p:cNvSpPr txBox="1"/>
              <p:nvPr/>
            </p:nvSpPr>
            <p:spPr bwMode="auto">
              <a:xfrm>
                <a:off x="2555776" y="3429000"/>
                <a:ext cx="4249872" cy="109716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776" y="3429000"/>
                <a:ext cx="4249872" cy="10971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/>
              <p:cNvSpPr txBox="1"/>
              <p:nvPr/>
            </p:nvSpPr>
            <p:spPr bwMode="auto">
              <a:xfrm>
                <a:off x="1115616" y="4354097"/>
                <a:ext cx="2167842" cy="109306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4354097"/>
                <a:ext cx="2167842" cy="10930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7"/>
              <p:cNvSpPr txBox="1"/>
              <p:nvPr/>
            </p:nvSpPr>
            <p:spPr bwMode="auto">
              <a:xfrm>
                <a:off x="3032419" y="4426105"/>
                <a:ext cx="1611589" cy="80309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2419" y="4426105"/>
                <a:ext cx="1611589" cy="8030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9"/>
              <p:cNvSpPr txBox="1"/>
              <p:nvPr/>
            </p:nvSpPr>
            <p:spPr bwMode="auto">
              <a:xfrm>
                <a:off x="1115616" y="5182592"/>
                <a:ext cx="3528392" cy="7666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&amp;2−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5182592"/>
                <a:ext cx="3528392" cy="766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5"/>
              <p:cNvSpPr txBox="1"/>
              <p:nvPr/>
            </p:nvSpPr>
            <p:spPr bwMode="auto">
              <a:xfrm>
                <a:off x="648807" y="1699347"/>
                <a:ext cx="3820934" cy="114064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807" y="1699347"/>
                <a:ext cx="3820934" cy="11406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6"/>
              <p:cNvSpPr txBox="1"/>
              <p:nvPr/>
            </p:nvSpPr>
            <p:spPr bwMode="auto">
              <a:xfrm>
                <a:off x="4343597" y="1692474"/>
                <a:ext cx="1483323" cy="91757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597" y="1692474"/>
                <a:ext cx="1483323" cy="9175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4631928" y="5301208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202508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8" grpId="0"/>
      <p:bldP spid="19" grpId="0"/>
      <p:bldP spid="20" grpId="0"/>
      <p:bldP spid="21" grpId="0"/>
      <p:bldP spid="1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93" name="Rectangle 2"/>
          <p:cNvSpPr>
            <a:spLocks noGrp="1" noChangeArrowheads="1"/>
          </p:cNvSpPr>
          <p:nvPr>
            <p:ph type="title"/>
          </p:nvPr>
        </p:nvSpPr>
        <p:spPr>
          <a:xfrm>
            <a:off x="944404" y="955576"/>
            <a:ext cx="1112639" cy="457200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194" name="Text Box 5"/>
              <p:cNvSpPr txBox="1">
                <a:spLocks noChangeArrowheads="1"/>
              </p:cNvSpPr>
              <p:nvPr/>
            </p:nvSpPr>
            <p:spPr bwMode="auto">
              <a:xfrm>
                <a:off x="495038" y="2740080"/>
                <a:ext cx="63246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)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为</a:t>
                </a:r>
                <a:r>
                  <a:rPr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𝒎</m:t>
                    </m:r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次多项式</a:t>
                </a:r>
                <a:r>
                  <a:rPr lang="en-US" altLang="zh-CN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2119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038" y="2740080"/>
                <a:ext cx="6324600" cy="461665"/>
              </a:xfrm>
              <a:prstGeom prst="rect">
                <a:avLst/>
              </a:prstGeom>
              <a:blipFill>
                <a:blip r:embed="rId2"/>
                <a:stretch>
                  <a:fillRect l="-1445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8" name="Object 3"/>
              <p:cNvSpPr txBox="1"/>
              <p:nvPr/>
            </p:nvSpPr>
            <p:spPr bwMode="auto">
              <a:xfrm>
                <a:off x="1979712" y="2132856"/>
                <a:ext cx="1387475" cy="5445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7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712" y="2132856"/>
                <a:ext cx="1387475" cy="544512"/>
              </a:xfrm>
              <a:prstGeom prst="rect">
                <a:avLst/>
              </a:prstGeom>
              <a:blipFill>
                <a:blip r:embed="rId3"/>
                <a:stretch>
                  <a:fillRect l="-1322" b="-2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195" name="TextBox 8"/>
          <p:cNvSpPr txBox="1">
            <a:spLocks noChangeArrowheads="1"/>
          </p:cNvSpPr>
          <p:nvPr/>
        </p:nvSpPr>
        <p:spPr bwMode="auto">
          <a:xfrm>
            <a:off x="395536" y="385500"/>
            <a:ext cx="691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1818FF"/>
                </a:solidFill>
                <a:latin typeface="+mj-lt"/>
                <a:ea typeface="黑体" panose="02010609060101010101" pitchFamily="49" charset="-122"/>
                <a:cs typeface="楷体_GB2312"/>
              </a:rPr>
              <a:t>五、矩阵多项式</a:t>
            </a:r>
            <a:r>
              <a:rPr lang="zh-CN" altLang="en-US" b="1" dirty="0">
                <a:solidFill>
                  <a:srgbClr val="1818FF"/>
                </a:solidFill>
                <a:latin typeface="+mj-lt"/>
                <a:ea typeface="黑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b="1" i="1" dirty="0">
                <a:latin typeface="+mj-lt"/>
                <a:ea typeface="黑体" panose="02010609060101010101" pitchFamily="49" charset="-122"/>
                <a:cs typeface="Times New Roman" pitchFamily="18" charset="0"/>
              </a:rPr>
              <a:t>polynomial of matrix</a:t>
            </a:r>
            <a:r>
              <a:rPr lang="zh-CN" altLang="en-US" b="1" dirty="0">
                <a:solidFill>
                  <a:srgbClr val="1818FF"/>
                </a:solidFill>
                <a:latin typeface="+mj-lt"/>
                <a:ea typeface="黑体" panose="02010609060101010101" pitchFamily="49" charset="-122"/>
                <a:cs typeface="Times New Roman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196" name="Rectangle 9"/>
              <p:cNvSpPr>
                <a:spLocks noChangeArrowheads="1"/>
              </p:cNvSpPr>
              <p:nvPr/>
            </p:nvSpPr>
            <p:spPr bwMode="auto">
              <a:xfrm>
                <a:off x="1839753" y="951111"/>
                <a:ext cx="66926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≠0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21196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9753" y="951111"/>
                <a:ext cx="6692687" cy="461665"/>
              </a:xfrm>
              <a:prstGeom prst="rect">
                <a:avLst/>
              </a:prstGeom>
              <a:blipFill>
                <a:blip r:embed="rId4"/>
                <a:stretch>
                  <a:fillRect l="-1457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197" name="Rectangle 9"/>
              <p:cNvSpPr>
                <a:spLocks noChangeArrowheads="1"/>
              </p:cNvSpPr>
              <p:nvPr/>
            </p:nvSpPr>
            <p:spPr bwMode="auto">
              <a:xfrm>
                <a:off x="401479" y="1541200"/>
                <a:ext cx="55406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次多项式，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阶矩阵，记</a:t>
                </a:r>
              </a:p>
            </p:txBody>
          </p:sp>
        </mc:Choice>
        <mc:Fallback xmlns="">
          <p:sp>
            <p:nvSpPr>
              <p:cNvPr id="22119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479" y="1541200"/>
                <a:ext cx="5540684" cy="461665"/>
              </a:xfrm>
              <a:prstGeom prst="rect">
                <a:avLst/>
              </a:prstGeom>
              <a:blipFill>
                <a:blip r:embed="rId5"/>
                <a:stretch>
                  <a:fillRect l="-1760" t="-14474" r="-660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467544" y="3263300"/>
                <a:ext cx="7770549" cy="581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    方阵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𝑙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是可以交换的，故矩阵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的两个多项式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3263300"/>
                <a:ext cx="7770549" cy="581826"/>
              </a:xfrm>
              <a:prstGeom prst="rect">
                <a:avLst/>
              </a:prstGeom>
              <a:blipFill>
                <a:blip r:embed="rId6"/>
                <a:stretch>
                  <a:fillRect r="-785" b="-1979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/>
              <p:cNvSpPr txBox="1"/>
              <p:nvPr/>
            </p:nvSpPr>
            <p:spPr bwMode="auto">
              <a:xfrm>
                <a:off x="2411760" y="4671888"/>
                <a:ext cx="4458816" cy="48530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1760" y="4671888"/>
                <a:ext cx="4458816" cy="485304"/>
              </a:xfrm>
              <a:prstGeom prst="rect">
                <a:avLst/>
              </a:prstGeom>
              <a:blipFill>
                <a:blip r:embed="rId7"/>
                <a:stretch>
                  <a:fillRect b="-1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342543" y="5316823"/>
                <a:ext cx="669234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从而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的多项式可以像数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一样相乘或分解因式</a:t>
                </a: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.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543" y="5316823"/>
                <a:ext cx="6692345" cy="461665"/>
              </a:xfrm>
              <a:prstGeom prst="rect">
                <a:avLst/>
              </a:prstGeom>
              <a:blipFill>
                <a:blip r:embed="rId8"/>
                <a:stretch>
                  <a:fillRect l="-1366" t="-14474" r="-455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899592" y="5858248"/>
                <a:ext cx="673449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例如：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)(2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)=2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>
                  <a:solidFill>
                    <a:srgbClr val="3103F3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2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5858248"/>
                <a:ext cx="6734492" cy="461665"/>
              </a:xfrm>
              <a:prstGeom prst="rect">
                <a:avLst/>
              </a:prstGeom>
              <a:blipFill>
                <a:blip r:embed="rId9"/>
                <a:stretch>
                  <a:fillRect l="-1449" t="-14474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/>
              <p:cNvSpPr txBox="1"/>
              <p:nvPr/>
            </p:nvSpPr>
            <p:spPr bwMode="auto">
              <a:xfrm>
                <a:off x="3131840" y="2153256"/>
                <a:ext cx="3672408" cy="59612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1840" y="2153256"/>
                <a:ext cx="3672408" cy="5961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952DFA82-F3F0-C9F0-7261-CF834371E6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544" y="3927294"/>
                <a:ext cx="7770549" cy="581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lang="zh-CN" altLang="en-US" b="0" i="1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𝜑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)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𝑓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)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也是可以交换的，即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952DFA82-F3F0-C9F0-7261-CF834371E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3927294"/>
                <a:ext cx="7770549" cy="581826"/>
              </a:xfrm>
              <a:prstGeom prst="rect">
                <a:avLst/>
              </a:prstGeom>
              <a:blipFill>
                <a:blip r:embed="rId11"/>
                <a:stretch>
                  <a:fillRect b="-187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3" grpId="0"/>
      <p:bldP spid="221194" grpId="0"/>
      <p:bldP spid="3078" grpId="0"/>
      <p:bldP spid="221196" grpId="0"/>
      <p:bldP spid="221197" grpId="0"/>
      <p:bldP spid="10" grpId="0"/>
      <p:bldP spid="11" grpId="0"/>
      <p:bldP spid="12" grpId="0"/>
      <p:bldP spid="1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0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508887"/>
              </p:ext>
            </p:extLst>
          </p:nvPr>
        </p:nvGraphicFramePr>
        <p:xfrm>
          <a:off x="1760983" y="332656"/>
          <a:ext cx="2162945" cy="1435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983" y="332656"/>
                        <a:ext cx="2162945" cy="14358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1478" name="Rectangle 6"/>
          <p:cNvSpPr>
            <a:spLocks noChangeArrowheads="1"/>
          </p:cNvSpPr>
          <p:nvPr/>
        </p:nvSpPr>
        <p:spPr bwMode="auto">
          <a:xfrm>
            <a:off x="762000" y="775940"/>
            <a:ext cx="6834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6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dirty="0">
                <a:latin typeface="+mn-lt"/>
                <a:ea typeface="黑体" panose="02010609060101010101" pitchFamily="49" charset="-122"/>
                <a:sym typeface="Symbol" pitchFamily="18" charset="2"/>
              </a:rPr>
              <a:t>设                            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+mn-lt"/>
                <a:ea typeface="黑体" panose="02010609060101010101" pitchFamily="49" charset="-122"/>
                <a:sym typeface="Symbol" pitchFamily="18" charset="2"/>
              </a:rPr>
              <a:t>且 </a:t>
            </a:r>
            <a:r>
              <a:rPr lang="en-US" altLang="zh-CN" i="1" dirty="0">
                <a:latin typeface="+mn-lt"/>
                <a:ea typeface="黑体" panose="02010609060101010101" pitchFamily="49" charset="-122"/>
                <a:sym typeface="Symbol" pitchFamily="18" charset="2"/>
              </a:rPr>
              <a:t>AB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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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aseline="30000" dirty="0">
                <a:latin typeface="+mn-lt"/>
                <a:ea typeface="黑体" panose="02010609060101010101" pitchFamily="49" charset="-122"/>
                <a:sym typeface="Symbol" pitchFamily="18" charset="2"/>
              </a:rPr>
              <a:t>2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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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+mn-lt"/>
                <a:ea typeface="黑体" panose="02010609060101010101" pitchFamily="49" charset="-122"/>
                <a:sym typeface="Symbol" pitchFamily="18" charset="2"/>
              </a:rPr>
              <a:t>求</a:t>
            </a:r>
            <a:r>
              <a:rPr lang="en-US" altLang="zh-CN" i="1" dirty="0">
                <a:latin typeface="+mn-lt"/>
                <a:ea typeface="黑体" panose="02010609060101010101" pitchFamily="49" charset="-122"/>
                <a:sym typeface="Symbol" pitchFamily="18" charset="2"/>
              </a:rPr>
              <a:t>B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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01480" name="Rectangle 8"/>
          <p:cNvSpPr>
            <a:spLocks noChangeArrowheads="1"/>
          </p:cNvSpPr>
          <p:nvPr/>
        </p:nvSpPr>
        <p:spPr bwMode="auto">
          <a:xfrm>
            <a:off x="827088" y="1766118"/>
            <a:ext cx="8032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endParaRPr lang="zh-CN" altLang="en-US" b="1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001481" name="Rectangle 9"/>
          <p:cNvSpPr>
            <a:spLocks noChangeArrowheads="1"/>
          </p:cNvSpPr>
          <p:nvPr/>
        </p:nvSpPr>
        <p:spPr bwMode="auto">
          <a:xfrm>
            <a:off x="1403350" y="1811511"/>
            <a:ext cx="27446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dirty="0">
                <a:latin typeface="+mn-lt"/>
                <a:ea typeface="黑体" panose="02010609060101010101" pitchFamily="49" charset="-122"/>
              </a:rPr>
              <a:t>由 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AB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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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aseline="30000" dirty="0">
                <a:latin typeface="+mn-lt"/>
                <a:ea typeface="黑体" panose="02010609060101010101" pitchFamily="49" charset="-122"/>
                <a:sym typeface="Symbol" pitchFamily="18" charset="2"/>
              </a:rPr>
              <a:t>2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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B </a:t>
            </a:r>
            <a:r>
              <a:rPr lang="zh-CN" altLang="en-US" dirty="0">
                <a:latin typeface="+mn-lt"/>
                <a:ea typeface="黑体" panose="02010609060101010101" pitchFamily="49" charset="-122"/>
                <a:sym typeface="Symbol" pitchFamily="18" charset="2"/>
              </a:rPr>
              <a:t>得 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 </a:t>
            </a:r>
            <a:endParaRPr lang="zh-CN" altLang="en-US" dirty="0">
              <a:latin typeface="+mn-lt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1001482" name="Rectangle 10"/>
          <p:cNvSpPr>
            <a:spLocks noChangeArrowheads="1"/>
          </p:cNvSpPr>
          <p:nvPr/>
        </p:nvSpPr>
        <p:spPr bwMode="auto">
          <a:xfrm>
            <a:off x="3203575" y="2338834"/>
            <a:ext cx="18453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i="1" dirty="0"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i="1" dirty="0">
                <a:latin typeface="+mn-lt"/>
                <a:ea typeface="黑体" panose="02010609060101010101" pitchFamily="49" charset="-122"/>
                <a:sym typeface="Symbol" pitchFamily="18" charset="2"/>
              </a:rPr>
              <a:t>B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</a:t>
            </a:r>
            <a:r>
              <a:rPr lang="en-US" altLang="zh-CN" i="1" dirty="0">
                <a:latin typeface="+mn-lt"/>
                <a:ea typeface="黑体" panose="02010609060101010101" pitchFamily="49" charset="-122"/>
                <a:sym typeface="Symbol" pitchFamily="18" charset="2"/>
              </a:rPr>
              <a:t>B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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aseline="30000" dirty="0">
                <a:latin typeface="+mn-lt"/>
                <a:ea typeface="黑体" panose="02010609060101010101" pitchFamily="49" charset="-122"/>
                <a:sym typeface="Symbol" pitchFamily="18" charset="2"/>
              </a:rPr>
              <a:t>2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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sz="1800" dirty="0">
                <a:latin typeface="+mn-lt"/>
                <a:ea typeface="黑体" panose="02010609060101010101" pitchFamily="49" charset="-122"/>
                <a:sym typeface="Symbol" pitchFamily="18" charset="2"/>
              </a:rPr>
              <a:t></a:t>
            </a:r>
            <a:r>
              <a:rPr lang="en-US" altLang="zh-CN" sz="1800" dirty="0">
                <a:latin typeface="+mn-lt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01483" name="Rectangle 11"/>
          <p:cNvSpPr>
            <a:spLocks noChangeArrowheads="1"/>
          </p:cNvSpPr>
          <p:nvPr/>
        </p:nvSpPr>
        <p:spPr bwMode="auto">
          <a:xfrm>
            <a:off x="838200" y="2831753"/>
            <a:ext cx="49888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dirty="0">
                <a:latin typeface="+mn-lt"/>
                <a:ea typeface="黑体" panose="02010609060101010101" pitchFamily="49" charset="-122"/>
              </a:rPr>
              <a:t>即                     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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)</a:t>
            </a:r>
            <a:r>
              <a:rPr lang="en-US" altLang="zh-CN" i="1" dirty="0">
                <a:latin typeface="+mn-lt"/>
                <a:ea typeface="黑体" panose="02010609060101010101" pitchFamily="49" charset="-122"/>
                <a:sym typeface="Symbol" pitchFamily="18" charset="2"/>
              </a:rPr>
              <a:t>B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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latin typeface="+mn-lt"/>
                <a:ea typeface="黑体" panose="02010609060101010101" pitchFamily="49" charset="-122"/>
                <a:sym typeface="Symbol" pitchFamily="18" charset="2"/>
              </a:rPr>
              <a:t>A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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)(</a:t>
            </a:r>
            <a:r>
              <a:rPr lang="en-US" altLang="zh-CN" i="1" dirty="0">
                <a:latin typeface="+mn-lt"/>
                <a:ea typeface="黑体" panose="02010609060101010101" pitchFamily="49" charset="-122"/>
                <a:sym typeface="Symbol" pitchFamily="18" charset="2"/>
              </a:rPr>
              <a:t>A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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dirty="0">
                <a:latin typeface="+mn-lt"/>
                <a:ea typeface="黑体" panose="02010609060101010101" pitchFamily="49" charset="-122"/>
                <a:sym typeface="Symbol" pitchFamily="18" charset="2"/>
              </a:rPr>
              <a:t>)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14026" name="Rectangle 13"/>
          <p:cNvSpPr>
            <a:spLocks noChangeArrowheads="1"/>
          </p:cNvSpPr>
          <p:nvPr/>
        </p:nvSpPr>
        <p:spPr bwMode="auto">
          <a:xfrm>
            <a:off x="0" y="29157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828675" y="3500611"/>
            <a:ext cx="7567613" cy="1169988"/>
            <a:chOff x="807" y="2999"/>
            <a:chExt cx="3893" cy="737"/>
          </a:xfrm>
        </p:grpSpPr>
        <p:graphicFrame>
          <p:nvGraphicFramePr>
            <p:cNvPr id="21402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6281560"/>
                </p:ext>
              </p:extLst>
            </p:nvPr>
          </p:nvGraphicFramePr>
          <p:xfrm>
            <a:off x="1214" y="2999"/>
            <a:ext cx="1850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">
                    <p:embed/>
                  </p:oleObj>
                </mc:Choice>
                <mc:Fallback>
                  <p:oleObj name="Equation" r:id="rId4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" y="2999"/>
                          <a:ext cx="1850" cy="7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4029" name="Rectangle 14"/>
            <p:cNvSpPr>
              <a:spLocks noChangeArrowheads="1"/>
            </p:cNvSpPr>
            <p:nvPr/>
          </p:nvSpPr>
          <p:spPr bwMode="auto">
            <a:xfrm>
              <a:off x="807" y="3215"/>
              <a:ext cx="38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因为                                                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  <a:sym typeface="Symbol" pitchFamily="18" charset="2"/>
                </a:rPr>
                <a:t>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  <a:sym typeface="Symbol" pitchFamily="18" charset="2"/>
                </a:rPr>
                <a:t>所以 </a:t>
              </a:r>
              <a:r>
                <a:rPr lang="en-US" altLang="zh-CN" i="1" dirty="0">
                  <a:latin typeface="+mn-lt"/>
                  <a:ea typeface="黑体" panose="02010609060101010101" pitchFamily="49" charset="-122"/>
                  <a:sym typeface="Symbol" pitchFamily="18" charset="2"/>
                </a:rPr>
                <a:t>A</a:t>
              </a:r>
              <a:r>
                <a:rPr lang="en-US" altLang="zh-CN" dirty="0">
                  <a:latin typeface="+mn-lt"/>
                  <a:ea typeface="黑体" panose="02010609060101010101" pitchFamily="49" charset="-122"/>
                  <a:sym typeface="Symbol" pitchFamily="18" charset="2"/>
                </a:rPr>
                <a:t></a:t>
              </a:r>
              <a:r>
                <a:rPr lang="en-US" altLang="zh-CN" i="1" dirty="0">
                  <a:latin typeface="+mn-lt"/>
                  <a:ea typeface="黑体" panose="02010609060101010101" pitchFamily="49" charset="-122"/>
                </a:rPr>
                <a:t>E</a:t>
              </a:r>
              <a:r>
                <a:rPr lang="en-US" altLang="zh-CN" dirty="0">
                  <a:latin typeface="+mn-lt"/>
                  <a:ea typeface="黑体" panose="02010609060101010101" pitchFamily="49" charset="-122"/>
                  <a:sym typeface="Symbol" pitchFamily="18" charset="2"/>
                </a:rPr>
                <a:t> 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  <a:sym typeface="Symbol" pitchFamily="18" charset="2"/>
                </a:rPr>
                <a:t>可逆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  <a:sym typeface="Symbol" pitchFamily="18" charset="2"/>
                </a:rPr>
                <a:t>从而</a:t>
              </a:r>
            </a:p>
          </p:txBody>
        </p:sp>
      </p:grpSp>
      <p:sp>
        <p:nvSpPr>
          <p:cNvPr id="214028" name="Rectangle 17"/>
          <p:cNvSpPr>
            <a:spLocks noChangeArrowheads="1"/>
          </p:cNvSpPr>
          <p:nvPr/>
        </p:nvSpPr>
        <p:spPr bwMode="auto">
          <a:xfrm>
            <a:off x="0" y="29157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0014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238645"/>
              </p:ext>
            </p:extLst>
          </p:nvPr>
        </p:nvGraphicFramePr>
        <p:xfrm>
          <a:off x="2771800" y="4662785"/>
          <a:ext cx="307340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4662785"/>
                        <a:ext cx="3073400" cy="139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043608" y="6020643"/>
            <a:ext cx="343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sym typeface="Symbol" pitchFamily="18" charset="2"/>
              </a:rPr>
              <a:t>注：</a:t>
            </a:r>
            <a:r>
              <a:rPr lang="zh-CN" altLang="en-US" dirty="0">
                <a:latin typeface="+mn-lt"/>
                <a:ea typeface="黑体" panose="02010609060101010101" pitchFamily="49" charset="-122"/>
                <a:sym typeface="Symbol" pitchFamily="18" charset="2"/>
              </a:rPr>
              <a:t>先化简，再代入！ 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 </a:t>
            </a:r>
            <a:endParaRPr lang="zh-CN" altLang="en-US" dirty="0">
              <a:latin typeface="+mn-lt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6228184" y="5065365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219206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480" grpId="0"/>
      <p:bldP spid="1001481" grpId="0"/>
      <p:bldP spid="1001482" grpId="0"/>
      <p:bldP spid="1001483" grpId="0"/>
      <p:bldP spid="14" grpId="0"/>
      <p:bldP spid="1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5" name="Rectangle 6"/>
          <p:cNvSpPr>
            <a:spLocks noChangeArrowheads="1"/>
          </p:cNvSpPr>
          <p:nvPr/>
        </p:nvSpPr>
        <p:spPr bwMode="auto">
          <a:xfrm>
            <a:off x="971228" y="1363911"/>
            <a:ext cx="158454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b="1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"/>
              <p:cNvSpPr txBox="1"/>
              <p:nvPr/>
            </p:nvSpPr>
            <p:spPr bwMode="auto">
              <a:xfrm>
                <a:off x="2268538" y="1393652"/>
                <a:ext cx="5039766" cy="523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,  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, 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1393652"/>
                <a:ext cx="5039766" cy="523875"/>
              </a:xfrm>
              <a:prstGeom prst="rect">
                <a:avLst/>
              </a:prstGeom>
              <a:blipFill>
                <a:blip r:embed="rId2"/>
                <a:stretch>
                  <a:fillRect b="-5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 bwMode="auto">
              <a:xfrm>
                <a:off x="2454052" y="3717727"/>
                <a:ext cx="4494212" cy="165548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⋱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4052" y="3717727"/>
                <a:ext cx="4494212" cy="1655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043608" y="1989535"/>
            <a:ext cx="5699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2195513" y="2493591"/>
                <a:ext cx="4320704" cy="647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 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513" y="2493591"/>
                <a:ext cx="4320704" cy="647700"/>
              </a:xfrm>
              <a:prstGeom prst="rect">
                <a:avLst/>
              </a:prstGeom>
              <a:blipFill>
                <a:blip r:embed="rId4"/>
                <a:stretch>
                  <a:fillRect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15616" y="3141663"/>
            <a:ext cx="56991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215048" name="Rectangle 6"/>
          <p:cNvSpPr>
            <a:spLocks noChangeArrowheads="1"/>
          </p:cNvSpPr>
          <p:nvPr/>
        </p:nvSpPr>
        <p:spPr bwMode="auto">
          <a:xfrm>
            <a:off x="907405" y="549375"/>
            <a:ext cx="4384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补充内容：对角阵的性质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440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9" name="Rectangle 6"/>
          <p:cNvSpPr>
            <a:spLocks noChangeArrowheads="1"/>
          </p:cNvSpPr>
          <p:nvPr/>
        </p:nvSpPr>
        <p:spPr bwMode="auto">
          <a:xfrm>
            <a:off x="905917" y="892175"/>
            <a:ext cx="17938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性质</a:t>
            </a:r>
            <a:r>
              <a:rPr lang="en-US" altLang="zh-CN" b="1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"/>
              <p:cNvSpPr txBox="1"/>
              <p:nvPr/>
            </p:nvSpPr>
            <p:spPr bwMode="auto">
              <a:xfrm>
                <a:off x="2341215" y="908720"/>
                <a:ext cx="5975201" cy="4603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且可逆，</a:t>
                </a:r>
              </a:p>
            </p:txBody>
          </p:sp>
        </mc:Choice>
        <mc:Fallback xmlns="">
          <p:sp>
            <p:nvSpPr>
              <p:cNvPr id="10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1215" y="908720"/>
                <a:ext cx="5975201" cy="460375"/>
              </a:xfrm>
              <a:prstGeom prst="rect">
                <a:avLst/>
              </a:prstGeom>
              <a:blipFill>
                <a:blip r:embed="rId2"/>
                <a:stretch>
                  <a:fillRect l="-204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 bwMode="auto">
              <a:xfrm>
                <a:off x="2288158" y="3101082"/>
                <a:ext cx="3868018" cy="234414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⋱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8158" y="3101082"/>
                <a:ext cx="3868018" cy="23441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115616" y="1484784"/>
            <a:ext cx="5699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1835696" y="1839913"/>
                <a:ext cx="4897438" cy="5809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 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1839913"/>
                <a:ext cx="4897438" cy="580975"/>
              </a:xfrm>
              <a:prstGeom prst="rect">
                <a:avLst/>
              </a:prstGeom>
              <a:blipFill>
                <a:blip r:embed="rId4"/>
                <a:stretch>
                  <a:fillRect t="-7368" b="-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15616" y="2492896"/>
            <a:ext cx="56991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896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Rectangle 6"/>
          <p:cNvSpPr>
            <a:spLocks noChangeArrowheads="1"/>
          </p:cNvSpPr>
          <p:nvPr/>
        </p:nvSpPr>
        <p:spPr bwMode="auto">
          <a:xfrm>
            <a:off x="611560" y="980728"/>
            <a:ext cx="17938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性质</a:t>
            </a:r>
            <a:r>
              <a:rPr lang="en-US" altLang="zh-CN" b="1" dirty="0">
                <a:solidFill>
                  <a:srgbClr val="0000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"/>
              <p:cNvSpPr txBox="1"/>
              <p:nvPr/>
            </p:nvSpPr>
            <p:spPr bwMode="auto">
              <a:xfrm>
                <a:off x="1711325" y="3395663"/>
                <a:ext cx="5813425" cy="5302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1325" y="3395663"/>
                <a:ext cx="5813425" cy="530225"/>
              </a:xfrm>
              <a:prstGeom prst="rect">
                <a:avLst/>
              </a:prstGeom>
              <a:blipFill>
                <a:blip r:embed="rId2"/>
                <a:stretch>
                  <a:fillRect t="-8046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/>
              <p:cNvSpPr txBox="1"/>
              <p:nvPr/>
            </p:nvSpPr>
            <p:spPr bwMode="auto">
              <a:xfrm>
                <a:off x="2268538" y="1628775"/>
                <a:ext cx="4679950" cy="5302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1628775"/>
                <a:ext cx="4679950" cy="530225"/>
              </a:xfrm>
              <a:prstGeom prst="rect">
                <a:avLst/>
              </a:prstGeom>
              <a:blipFill>
                <a:blip r:embed="rId3"/>
                <a:stretch>
                  <a:fillRect t="-8046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1186582" y="2721422"/>
                <a:ext cx="6481762" cy="45789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6582" y="2721422"/>
                <a:ext cx="6481762" cy="457895"/>
              </a:xfrm>
              <a:prstGeom prst="rect">
                <a:avLst/>
              </a:prstGeom>
              <a:blipFill>
                <a:blip r:embed="rId4"/>
                <a:stretch>
                  <a:fillRect t="-9211" r="-1129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833735" y="2174949"/>
            <a:ext cx="5699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/>
              <p:cNvSpPr txBox="1"/>
              <p:nvPr/>
            </p:nvSpPr>
            <p:spPr bwMode="auto">
              <a:xfrm>
                <a:off x="1619250" y="4122911"/>
                <a:ext cx="6153150" cy="5302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0" y="4122911"/>
                <a:ext cx="6153150" cy="530225"/>
              </a:xfrm>
              <a:prstGeom prst="rect">
                <a:avLst/>
              </a:prstGeom>
              <a:blipFill>
                <a:blip r:embed="rId5"/>
                <a:stretch>
                  <a:fillRect t="-8046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/>
              <p:cNvSpPr txBox="1"/>
              <p:nvPr/>
            </p:nvSpPr>
            <p:spPr bwMode="auto">
              <a:xfrm>
                <a:off x="2267744" y="980728"/>
                <a:ext cx="4794250" cy="5302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,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,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980728"/>
                <a:ext cx="4794250" cy="530225"/>
              </a:xfrm>
              <a:prstGeom prst="rect">
                <a:avLst/>
              </a:prstGeom>
              <a:blipFill>
                <a:blip r:embed="rId6"/>
                <a:stretch>
                  <a:fillRect t="-8046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12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6" grpId="0"/>
      <p:bldP spid="7" grpId="0"/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731838"/>
            <a:ext cx="1066800" cy="609600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Object 2"/>
              <p:cNvSpPr txBox="1"/>
              <p:nvPr/>
            </p:nvSpPr>
            <p:spPr bwMode="auto">
              <a:xfrm>
                <a:off x="1738313" y="826418"/>
                <a:ext cx="5426075" cy="5143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12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8313" y="826418"/>
                <a:ext cx="5426075" cy="514350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6" name="Object 4"/>
              <p:cNvSpPr txBox="1"/>
              <p:nvPr/>
            </p:nvSpPr>
            <p:spPr bwMode="auto">
              <a:xfrm>
                <a:off x="1677988" y="1697038"/>
                <a:ext cx="2508250" cy="5143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∵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12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7988" y="1697038"/>
                <a:ext cx="2508250" cy="514350"/>
              </a:xfrm>
              <a:prstGeom prst="rect">
                <a:avLst/>
              </a:prstGeom>
              <a:blipFill>
                <a:blip r:embed="rId3"/>
                <a:stretch>
                  <a:fillRect t="-12941" r="-3398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7674" name="Object 10"/>
              <p:cNvSpPr txBox="1"/>
              <p:nvPr/>
            </p:nvSpPr>
            <p:spPr bwMode="auto">
              <a:xfrm>
                <a:off x="2699792" y="3930650"/>
                <a:ext cx="5687069" cy="5635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7767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2" y="3930650"/>
                <a:ext cx="5687069" cy="563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7675" name="Object 11"/>
              <p:cNvSpPr txBox="1"/>
              <p:nvPr/>
            </p:nvSpPr>
            <p:spPr bwMode="auto">
              <a:xfrm>
                <a:off x="1677988" y="2371725"/>
                <a:ext cx="6048375" cy="5778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/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7767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7988" y="2371725"/>
                <a:ext cx="6048375" cy="5778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7676" name="Object 12"/>
              <p:cNvSpPr txBox="1"/>
              <p:nvPr/>
            </p:nvSpPr>
            <p:spPr bwMode="auto">
              <a:xfrm>
                <a:off x="2699792" y="3114675"/>
                <a:ext cx="5760640" cy="67436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m:rPr>
                                <m:sty m:val="p"/>
                              </m:r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𝑃𝐸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  <m:e/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7767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2" y="3114675"/>
                <a:ext cx="5760640" cy="674365"/>
              </a:xfrm>
              <a:prstGeom prst="rect">
                <a:avLst/>
              </a:prstGeom>
              <a:blipFill>
                <a:blip r:embed="rId6"/>
                <a:stretch>
                  <a:fillRect r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840904" y="1628800"/>
            <a:ext cx="1066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zh-CN" altLang="en-US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7677" name="Object 13"/>
              <p:cNvSpPr txBox="1"/>
              <p:nvPr/>
            </p:nvSpPr>
            <p:spPr bwMode="auto">
              <a:xfrm>
                <a:off x="2699792" y="4741863"/>
                <a:ext cx="2952328" cy="5588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  </a:t>
                </a:r>
                <a:r>
                  <a:rPr lang="en-US" altLang="zh-CN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▋</a:t>
                </a:r>
                <a:endParaRPr lang="zh-CN" altLang="en-US" dirty="0">
                  <a:solidFill>
                    <a:srgbClr val="3103F3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7767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2" y="4741863"/>
                <a:ext cx="2952328" cy="558800"/>
              </a:xfrm>
              <a:prstGeom prst="rect">
                <a:avLst/>
              </a:prstGeom>
              <a:blipFill>
                <a:blip r:embed="rId7"/>
                <a:stretch>
                  <a:fillRect t="-11957" b="-3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7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7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7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77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4" grpId="0"/>
      <p:bldP spid="5126" grpId="0"/>
      <p:bldP spid="1777674" grpId="0"/>
      <p:bldP spid="1777675" grpId="0"/>
      <p:bldP spid="1777676" grpId="0"/>
      <p:bldP spid="1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78690" name="Object 2"/>
              <p:cNvSpPr txBox="1"/>
              <p:nvPr/>
            </p:nvSpPr>
            <p:spPr bwMode="auto">
              <a:xfrm>
                <a:off x="649288" y="765175"/>
                <a:ext cx="4643437" cy="5508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7869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288" y="765175"/>
                <a:ext cx="4643437" cy="550863"/>
              </a:xfrm>
              <a:prstGeom prst="rect">
                <a:avLst/>
              </a:prstGeom>
              <a:blipFill>
                <a:blip r:embed="rId3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8691" name="Object 3"/>
              <p:cNvSpPr txBox="1"/>
              <p:nvPr/>
            </p:nvSpPr>
            <p:spPr bwMode="auto">
              <a:xfrm>
                <a:off x="1870075" y="1484313"/>
                <a:ext cx="536575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),⋯,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7869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0075" y="1484313"/>
                <a:ext cx="5365750" cy="558800"/>
              </a:xfrm>
              <a:prstGeom prst="rect">
                <a:avLst/>
              </a:prstGeom>
              <a:blipFill>
                <a:blip r:embed="rId4"/>
                <a:stretch>
                  <a:fillRect l="-909" t="-7609" b="-76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624880" y="2243336"/>
            <a:ext cx="1066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8693" name="Object 5"/>
              <p:cNvSpPr txBox="1"/>
              <p:nvPr/>
            </p:nvSpPr>
            <p:spPr bwMode="auto">
              <a:xfrm>
                <a:off x="1347812" y="2319338"/>
                <a:ext cx="3849687" cy="6127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7869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7812" y="2319338"/>
                <a:ext cx="3849687" cy="612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8695" name="Object 7"/>
              <p:cNvSpPr txBox="1"/>
              <p:nvPr/>
            </p:nvSpPr>
            <p:spPr bwMode="auto">
              <a:xfrm>
                <a:off x="1331937" y="3213100"/>
                <a:ext cx="6048375" cy="5778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/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7869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937" y="3213100"/>
                <a:ext cx="6048375" cy="5778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"/>
              <p:cNvSpPr txBox="1"/>
              <p:nvPr/>
            </p:nvSpPr>
            <p:spPr bwMode="auto">
              <a:xfrm>
                <a:off x="539750" y="4005264"/>
                <a:ext cx="8280400" cy="1368424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" y="4005264"/>
                <a:ext cx="8280400" cy="13684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7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8690" grpId="0"/>
      <p:bldP spid="1778691" grpId="0"/>
      <p:bldP spid="7" grpId="0"/>
      <p:bldP spid="177869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"/>
              <p:cNvSpPr txBox="1"/>
              <p:nvPr/>
            </p:nvSpPr>
            <p:spPr bwMode="auto">
              <a:xfrm>
                <a:off x="1595289" y="980629"/>
                <a:ext cx="6048375" cy="194431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5289" y="980629"/>
                <a:ext cx="6048375" cy="19443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1644700" y="3068960"/>
                <a:ext cx="4511476" cy="172819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⋱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  </a:t>
                </a:r>
                <a:r>
                  <a:rPr lang="zh-CN" altLang="en-US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▋</a:t>
                </a:r>
                <a:endParaRPr lang="zh-CN" altLang="en-US" dirty="0">
                  <a:solidFill>
                    <a:srgbClr val="3103F3"/>
                  </a:solidFill>
                </a:endParaRPr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4700" y="3068960"/>
                <a:ext cx="4511476" cy="17281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3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164571"/>
              </p:ext>
            </p:extLst>
          </p:nvPr>
        </p:nvGraphicFramePr>
        <p:xfrm>
          <a:off x="3880965" y="325719"/>
          <a:ext cx="19177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0965" y="325719"/>
                        <a:ext cx="1917700" cy="1198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817690"/>
              </p:ext>
            </p:extLst>
          </p:nvPr>
        </p:nvGraphicFramePr>
        <p:xfrm>
          <a:off x="6009953" y="260648"/>
          <a:ext cx="1952625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9953" y="260648"/>
                        <a:ext cx="1952625" cy="1298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05576" name="Rectangle 8"/>
              <p:cNvSpPr>
                <a:spLocks noChangeArrowheads="1"/>
              </p:cNvSpPr>
              <p:nvPr/>
            </p:nvSpPr>
            <p:spPr bwMode="auto">
              <a:xfrm>
                <a:off x="704528" y="632520"/>
                <a:ext cx="786644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zh-CN" altLang="en-US" b="1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例</a:t>
                </a:r>
                <a:r>
                  <a:rPr lang="en-US" altLang="zh-CN" b="1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sym typeface="Symbol" pitchFamily="18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𝐴𝑃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 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 </m:t>
                    </m:r>
                  </m:oMath>
                </a14:m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  <a:sym typeface="Symbol" pitchFamily="18" charset="2"/>
                  </a:rPr>
                  <a:t></a:t>
                </a: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sym typeface="Symbol" pitchFamily="18" charset="2"/>
                  </a:rPr>
                  <a:t>其中           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sym typeface="Symbol" pitchFamily="18" charset="2"/>
                  </a:rPr>
                  <a:t>              ，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00557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528" y="632520"/>
                <a:ext cx="7866449" cy="461665"/>
              </a:xfrm>
              <a:prstGeom prst="rect">
                <a:avLst/>
              </a:prstGeom>
              <a:blipFill>
                <a:blip r:embed="rId6"/>
                <a:stretch>
                  <a:fillRect l="-1240" t="-14667" b="-30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5578" name="Rectangle 10"/>
              <p:cNvSpPr>
                <a:spLocks noChangeArrowheads="1"/>
              </p:cNvSpPr>
              <p:nvPr/>
            </p:nvSpPr>
            <p:spPr bwMode="auto">
              <a:xfrm>
                <a:off x="681336" y="1470720"/>
                <a:ext cx="380264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求 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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𝐴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) 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8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(5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𝐸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6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𝐴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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2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)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05578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336" y="1470720"/>
                <a:ext cx="3802644" cy="461665"/>
              </a:xfrm>
              <a:prstGeom prst="rect">
                <a:avLst/>
              </a:prstGeom>
              <a:blipFill>
                <a:blip r:embed="rId7"/>
                <a:stretch>
                  <a:fillRect l="-2564" t="-13158" b="-2631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5579" name="Rectangle 11"/>
          <p:cNvSpPr>
            <a:spLocks noChangeArrowheads="1"/>
          </p:cNvSpPr>
          <p:nvPr/>
        </p:nvSpPr>
        <p:spPr bwMode="auto">
          <a:xfrm>
            <a:off x="680120" y="1942009"/>
            <a:ext cx="6492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: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5580" name="Rectangle 12"/>
              <p:cNvSpPr>
                <a:spLocks noChangeArrowheads="1"/>
              </p:cNvSpPr>
              <p:nvPr/>
            </p:nvSpPr>
            <p:spPr bwMode="auto">
              <a:xfrm>
                <a:off x="1257400" y="1938313"/>
                <a:ext cx="367119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由于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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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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8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(5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𝐸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62)</m:t>
                    </m:r>
                  </m:oMath>
                </a14:m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005580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7400" y="1938313"/>
                <a:ext cx="3671198" cy="461665"/>
              </a:xfrm>
              <a:prstGeom prst="rect">
                <a:avLst/>
              </a:prstGeom>
              <a:blipFill>
                <a:blip r:embed="rId8"/>
                <a:stretch>
                  <a:fillRect l="-2492" t="-14474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5581" name="Rectangle 13"/>
              <p:cNvSpPr>
                <a:spLocks noChangeArrowheads="1"/>
              </p:cNvSpPr>
              <p:nvPr/>
            </p:nvSpPr>
            <p:spPr bwMode="auto">
              <a:xfrm>
                <a:off x="737999" y="2397696"/>
                <a:ext cx="786644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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𝑑𝑖𝑎𝑔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5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8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)[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𝑑𝑖𝑎𝑔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(5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5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5)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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𝑑𝑖𝑎𝑔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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6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6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30)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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𝑑𝑖𝑎𝑔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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5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)]</m:t>
                    </m:r>
                  </m:oMath>
                </a14:m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05581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7999" y="2397696"/>
                <a:ext cx="7866449" cy="461665"/>
              </a:xfrm>
              <a:prstGeom prst="rect">
                <a:avLst/>
              </a:prstGeom>
              <a:blipFill>
                <a:blip r:embed="rId9"/>
                <a:stretch>
                  <a:fillRect b="-2105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5582" name="Rectangle 14"/>
              <p:cNvSpPr>
                <a:spLocks noChangeArrowheads="1"/>
              </p:cNvSpPr>
              <p:nvPr/>
            </p:nvSpPr>
            <p:spPr bwMode="auto">
              <a:xfrm>
                <a:off x="786511" y="2874417"/>
                <a:ext cx="601773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</m:t>
                      </m:r>
                      <m:r>
                        <a:rPr lang="en-US" altLang="zh-CN" b="0" i="1" dirty="0" err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𝑑𝑖𝑎𝑔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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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5</m:t>
                      </m:r>
                      <m:r>
                        <a:rPr lang="en-US" altLang="zh-CN" b="0" i="1" baseline="30000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8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)</m:t>
                      </m:r>
                      <m:r>
                        <a:rPr lang="en-US" altLang="zh-CN" b="0" i="1" dirty="0" err="1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𝑑𝑖𝑎𝑔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(12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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0)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Symbol" pitchFamily="18" charset="2"/>
                        </a:rPr>
                        <m:t>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12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𝑑𝑖𝑎𝑔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(1,0,0) </m:t>
                      </m:r>
                    </m:oMath>
                  </m:oMathPara>
                </a14:m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05582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6511" y="2874417"/>
                <a:ext cx="6017737" cy="461665"/>
              </a:xfrm>
              <a:prstGeom prst="rect">
                <a:avLst/>
              </a:prstGeom>
              <a:blipFill>
                <a:blip r:embed="rId10"/>
                <a:stretch>
                  <a:fillRect b="-21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5583" name="Rectangle 15"/>
              <p:cNvSpPr>
                <a:spLocks noChangeArrowheads="1"/>
              </p:cNvSpPr>
              <p:nvPr/>
            </p:nvSpPr>
            <p:spPr bwMode="auto">
              <a:xfrm>
                <a:off x="611560" y="3393802"/>
                <a:ext cx="34225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所以 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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𝐴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) 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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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𝑃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itchFamily="18" charset="2"/>
                      </a:rPr>
                      <m:t>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baseline="30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1005583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393802"/>
                <a:ext cx="3422540" cy="461665"/>
              </a:xfrm>
              <a:prstGeom prst="rect">
                <a:avLst/>
              </a:prstGeom>
              <a:blipFill>
                <a:blip r:embed="rId11"/>
                <a:stretch>
                  <a:fillRect t="-14667" b="-2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055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687439"/>
              </p:ext>
            </p:extLst>
          </p:nvPr>
        </p:nvGraphicFramePr>
        <p:xfrm>
          <a:off x="3995936" y="3314154"/>
          <a:ext cx="1802729" cy="727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">
                  <p:embed/>
                </p:oleObj>
              </mc:Choice>
              <mc:Fallback>
                <p:oleObj name="Equation" r:id="rId12" imgW="0" imgH="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3314154"/>
                        <a:ext cx="1802729" cy="727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55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601712"/>
              </p:ext>
            </p:extLst>
          </p:nvPr>
        </p:nvGraphicFramePr>
        <p:xfrm>
          <a:off x="2339752" y="4087043"/>
          <a:ext cx="47244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">
                  <p:embed/>
                </p:oleObj>
              </mc:Choice>
              <mc:Fallback>
                <p:oleObj name="Equation" r:id="rId14" imgW="0" imgH="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087043"/>
                        <a:ext cx="4724400" cy="1163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558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456241"/>
              </p:ext>
            </p:extLst>
          </p:nvPr>
        </p:nvGraphicFramePr>
        <p:xfrm>
          <a:off x="2339752" y="5250681"/>
          <a:ext cx="167640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">
                  <p:embed/>
                </p:oleObj>
              </mc:Choice>
              <mc:Fallback>
                <p:oleObj name="Equation" r:id="rId16" imgW="0" imgH="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5250681"/>
                        <a:ext cx="1676400" cy="1317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4082008" y="5682729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100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0"/>
                                        <p:tgtEl>
                                          <p:spTgt spid="100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5579" grpId="0"/>
      <p:bldP spid="1005580" grpId="0"/>
      <p:bldP spid="1005581" grpId="0"/>
      <p:bldP spid="1005582" grpId="0"/>
      <p:bldP spid="1005583" grpId="0"/>
      <p:bldP spid="14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386" name="TextBox 1"/>
          <p:cNvSpPr txBox="1">
            <a:spLocks noChangeArrowheads="1"/>
          </p:cNvSpPr>
          <p:nvPr/>
        </p:nvSpPr>
        <p:spPr bwMode="auto">
          <a:xfrm>
            <a:off x="3348038" y="620713"/>
            <a:ext cx="187166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  结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54438" y="1412776"/>
            <a:ext cx="13176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</a:t>
            </a:r>
            <a:endParaRPr lang="en-US" altLang="zh-CN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754438" y="2204864"/>
            <a:ext cx="32464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矩阵可逆的条件</a:t>
            </a:r>
            <a:endParaRPr lang="en-US" altLang="zh-CN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84213" y="2900264"/>
            <a:ext cx="26733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一、可逆矩阵</a:t>
            </a:r>
            <a:endParaRPr lang="en-US" altLang="zh-CN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714750" y="3774406"/>
            <a:ext cx="15303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3684588" y="4557614"/>
            <a:ext cx="1244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56345" y="5257701"/>
            <a:ext cx="41036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二、矩阵多项式</a:t>
            </a:r>
            <a:endParaRPr lang="en-US" altLang="zh-CN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429125" y="4543326"/>
            <a:ext cx="41036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解矩阵方程</a:t>
            </a:r>
            <a:endParaRPr lang="en-US" altLang="zh-CN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68394" name="左大括号 11"/>
          <p:cNvSpPr>
            <a:spLocks/>
          </p:cNvSpPr>
          <p:nvPr/>
        </p:nvSpPr>
        <p:spPr bwMode="auto">
          <a:xfrm>
            <a:off x="3286125" y="1555651"/>
            <a:ext cx="357188" cy="3357563"/>
          </a:xfrm>
          <a:prstGeom prst="leftBrace">
            <a:avLst>
              <a:gd name="adj1" fmla="val 8312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2075" tIns="46038" rIns="92075" bIns="46038" anchor="b"/>
          <a:lstStyle/>
          <a:p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168395" name="矩形 12"/>
          <p:cNvSpPr>
            <a:spLocks noChangeArrowheads="1"/>
          </p:cNvSpPr>
          <p:nvPr/>
        </p:nvSpPr>
        <p:spPr bwMode="auto">
          <a:xfrm>
            <a:off x="3714750" y="2988241"/>
            <a:ext cx="33775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求法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伴随矩阵法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6" grpId="0"/>
      <p:bldP spid="17" grpId="0"/>
      <p:bldP spid="18" grpId="0"/>
      <p:bldP spid="11" grpId="0"/>
      <p:bldP spid="1168394" grpId="0" animBg="1"/>
      <p:bldP spid="116839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41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259632" y="1412776"/>
            <a:ext cx="6019800" cy="2209800"/>
          </a:xfrm>
        </p:spPr>
        <p:txBody>
          <a:bodyPr/>
          <a:lstStyle/>
          <a:p>
            <a:pPr algn="ctr" eaLnBrk="1" hangingPunct="1"/>
            <a:r>
              <a:rPr kumimoji="1" lang="en-US" altLang="zh-CN" b="1" dirty="0">
                <a:solidFill>
                  <a:srgbClr val="CC0099"/>
                </a:solidFill>
              </a:rPr>
              <a:t>§4</a:t>
            </a:r>
            <a:r>
              <a:rPr kumimoji="1" lang="en-US" altLang="zh-CN" b="1" dirty="0">
                <a:solidFill>
                  <a:srgbClr val="CC0099"/>
                </a:solidFill>
                <a:latin typeface="楷体_GB2312"/>
              </a:rPr>
              <a:t>  </a:t>
            </a:r>
            <a:r>
              <a:rPr kumimoji="1" lang="zh-CN" altLang="en-US" b="1" dirty="0">
                <a:solidFill>
                  <a:srgbClr val="CC0099"/>
                </a:solidFill>
              </a:rPr>
              <a:t>克拉默法则</a:t>
            </a:r>
          </a:p>
        </p:txBody>
      </p:sp>
      <p:sp>
        <p:nvSpPr>
          <p:cNvPr id="2" name="矩形 1"/>
          <p:cNvSpPr/>
          <p:nvPr/>
        </p:nvSpPr>
        <p:spPr>
          <a:xfrm>
            <a:off x="3419872" y="2996952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Cramer’s Rule）</a:t>
            </a:r>
            <a:endParaRPr lang="zh-CN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434" name="标题 1"/>
          <p:cNvSpPr>
            <a:spLocks noGrp="1" noChangeArrowheads="1"/>
          </p:cNvSpPr>
          <p:nvPr>
            <p:ph type="title"/>
          </p:nvPr>
        </p:nvSpPr>
        <p:spPr>
          <a:xfrm>
            <a:off x="485775" y="113184"/>
            <a:ext cx="82296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简介</a:t>
            </a:r>
          </a:p>
        </p:txBody>
      </p:sp>
      <p:sp>
        <p:nvSpPr>
          <p:cNvPr id="1170435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84784"/>
            <a:ext cx="8229600" cy="3886200"/>
          </a:xfrm>
        </p:spPr>
        <p:txBody>
          <a:bodyPr/>
          <a:lstStyle/>
          <a:p>
            <a:pPr latinLnBrk="1">
              <a:lnSpc>
                <a:spcPct val="150000"/>
              </a:lnSpc>
            </a:pPr>
            <a:r>
              <a:rPr lang="zh-CN" altLang="en-US" sz="2800" dirty="0">
                <a:ea typeface="黑体" panose="02010609060101010101" pitchFamily="49" charset="-122"/>
              </a:rPr>
              <a:t>克拉默法则，又译克莱姆法则（</a:t>
            </a:r>
            <a:r>
              <a:rPr lang="en-US" altLang="zh-CN" sz="2800" dirty="0">
                <a:ea typeface="黑体" panose="02010609060101010101" pitchFamily="49" charset="-122"/>
              </a:rPr>
              <a:t>Cramer‘s Rule）</a:t>
            </a:r>
            <a:r>
              <a:rPr lang="zh-CN" altLang="en-US" sz="2800" dirty="0">
                <a:ea typeface="黑体" panose="02010609060101010101" pitchFamily="49" charset="-122"/>
              </a:rPr>
              <a:t>是线性代数中一个关于求解线性方程组的定理。它</a:t>
            </a:r>
            <a:r>
              <a:rPr lang="zh-CN" altLang="en-US" sz="2800" b="1" dirty="0">
                <a:solidFill>
                  <a:srgbClr val="3103F3"/>
                </a:solidFill>
                <a:ea typeface="黑体" panose="02010609060101010101" pitchFamily="49" charset="-122"/>
              </a:rPr>
              <a:t>适用于变量和方程数目相等的线性方程组</a:t>
            </a:r>
            <a:r>
              <a:rPr lang="zh-CN" altLang="en-US" sz="2800" dirty="0">
                <a:solidFill>
                  <a:srgbClr val="3103F3"/>
                </a:solidFill>
                <a:ea typeface="黑体" panose="02010609060101010101" pitchFamily="49" charset="-122"/>
              </a:rPr>
              <a:t>，</a:t>
            </a:r>
            <a:r>
              <a:rPr lang="zh-CN" altLang="en-US" sz="2800" dirty="0">
                <a:ea typeface="黑体" panose="02010609060101010101" pitchFamily="49" charset="-122"/>
              </a:rPr>
              <a:t>是瑞士数学家克拉默（</a:t>
            </a:r>
            <a:r>
              <a:rPr lang="en-US" altLang="zh-CN" sz="2800" dirty="0">
                <a:ea typeface="黑体" panose="02010609060101010101" pitchFamily="49" charset="-122"/>
              </a:rPr>
              <a:t>1704-1752</a:t>
            </a:r>
            <a:r>
              <a:rPr lang="zh-CN" altLang="en-US" sz="2800" dirty="0">
                <a:ea typeface="黑体" panose="02010609060101010101" pitchFamily="49" charset="-122"/>
              </a:rPr>
              <a:t>）于</a:t>
            </a:r>
            <a:r>
              <a:rPr lang="en-US" altLang="zh-CN" sz="2800" dirty="0">
                <a:ea typeface="黑体" panose="02010609060101010101" pitchFamily="49" charset="-122"/>
              </a:rPr>
              <a:t>1750</a:t>
            </a:r>
            <a:r>
              <a:rPr lang="zh-CN" altLang="en-US" sz="2800" dirty="0">
                <a:ea typeface="黑体" panose="02010609060101010101" pitchFamily="49" charset="-122"/>
              </a:rPr>
              <a:t>年，在他的</a:t>
            </a:r>
            <a:r>
              <a:rPr lang="en-US" altLang="zh-CN" sz="2800" dirty="0">
                <a:ea typeface="黑体" panose="02010609060101010101" pitchFamily="49" charset="-122"/>
              </a:rPr>
              <a:t>《</a:t>
            </a:r>
            <a:r>
              <a:rPr lang="zh-CN" altLang="en-US" sz="2800" dirty="0">
                <a:ea typeface="黑体" panose="02010609060101010101" pitchFamily="49" charset="-122"/>
              </a:rPr>
              <a:t>线性代数分析导言</a:t>
            </a:r>
            <a:r>
              <a:rPr lang="en-US" altLang="zh-CN" sz="2800" dirty="0">
                <a:ea typeface="黑体" panose="02010609060101010101" pitchFamily="49" charset="-122"/>
              </a:rPr>
              <a:t>》</a:t>
            </a:r>
            <a:r>
              <a:rPr lang="zh-CN" altLang="en-US" sz="2800" dirty="0">
                <a:ea typeface="黑体" panose="02010609060101010101" pitchFamily="49" charset="-122"/>
              </a:rPr>
              <a:t>中发表的。</a:t>
            </a:r>
            <a:endParaRPr lang="en-US" altLang="zh-CN" sz="28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6" name="Rectangle 2"/>
          <p:cNvSpPr>
            <a:spLocks noGrp="1" noChangeArrowheads="1"/>
          </p:cNvSpPr>
          <p:nvPr>
            <p:ph type="title"/>
          </p:nvPr>
        </p:nvSpPr>
        <p:spPr>
          <a:xfrm>
            <a:off x="760040" y="268329"/>
            <a:ext cx="6332240" cy="1000431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  <a:ea typeface="黑体" panose="02010609060101010101" pitchFamily="49" charset="-122"/>
              </a:rPr>
              <a:t>一、克拉默法则（</a:t>
            </a:r>
            <a:r>
              <a:rPr lang="en-US" altLang="zh-CN" sz="3200" i="1" dirty="0" err="1">
                <a:solidFill>
                  <a:srgbClr val="D60093"/>
                </a:solidFill>
                <a:ea typeface="黑体" panose="02010609060101010101" pitchFamily="49" charset="-122"/>
              </a:rPr>
              <a:t>Gramer’s</a:t>
            </a:r>
            <a:r>
              <a:rPr lang="en-US" altLang="zh-CN" sz="3200" i="1" dirty="0">
                <a:solidFill>
                  <a:srgbClr val="D60093"/>
                </a:solidFill>
                <a:ea typeface="黑体" panose="02010609060101010101" pitchFamily="49" charset="-122"/>
              </a:rPr>
              <a:t> Rule</a:t>
            </a:r>
            <a:r>
              <a:rPr lang="zh-CN" altLang="en-US" sz="3200" dirty="0">
                <a:solidFill>
                  <a:srgbClr val="0000FF"/>
                </a:solidFill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28357" name="Text Box 3"/>
          <p:cNvSpPr txBox="1">
            <a:spLocks noChangeArrowheads="1"/>
          </p:cNvSpPr>
          <p:nvPr/>
        </p:nvSpPr>
        <p:spPr bwMode="auto">
          <a:xfrm>
            <a:off x="1259632" y="1244972"/>
            <a:ext cx="2328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如果线性方程组</a:t>
            </a:r>
          </a:p>
        </p:txBody>
      </p:sp>
      <p:graphicFrame>
        <p:nvGraphicFramePr>
          <p:cNvPr id="22835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614602"/>
              </p:ext>
            </p:extLst>
          </p:nvPr>
        </p:nvGraphicFramePr>
        <p:xfrm>
          <a:off x="1955031" y="1771651"/>
          <a:ext cx="5209257" cy="188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031" y="1771651"/>
                        <a:ext cx="5209257" cy="18887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8358" name="Text Box 5"/>
              <p:cNvSpPr txBox="1">
                <a:spLocks noChangeArrowheads="1"/>
              </p:cNvSpPr>
              <p:nvPr/>
            </p:nvSpPr>
            <p:spPr bwMode="auto">
              <a:xfrm>
                <a:off x="755576" y="3789040"/>
                <a:ext cx="502894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的系数矩阵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的行列式不等于零，即</a:t>
                </a:r>
              </a:p>
            </p:txBody>
          </p:sp>
        </mc:Choice>
        <mc:Fallback xmlns="">
          <p:sp>
            <p:nvSpPr>
              <p:cNvPr id="228358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3789040"/>
                <a:ext cx="5028941" cy="461665"/>
              </a:xfrm>
              <a:prstGeom prst="rect">
                <a:avLst/>
              </a:prstGeom>
              <a:blipFill>
                <a:blip r:embed="rId4"/>
                <a:stretch>
                  <a:fillRect l="-1939" t="-14667" r="-242" b="-2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355" name="Object 9"/>
              <p:cNvSpPr txBox="1"/>
              <p:nvPr/>
            </p:nvSpPr>
            <p:spPr bwMode="auto">
              <a:xfrm>
                <a:off x="2395759" y="4443618"/>
                <a:ext cx="4264473" cy="157767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⋯⋯⋯⋯⋯⋯⋯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835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5759" y="4443618"/>
                <a:ext cx="4264473" cy="15776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Text Box 3"/>
              <p:cNvSpPr txBox="1">
                <a:spLocks noChangeArrowheads="1"/>
              </p:cNvSpPr>
              <p:nvPr/>
            </p:nvSpPr>
            <p:spPr bwMode="auto">
              <a:xfrm>
                <a:off x="479425" y="2260406"/>
                <a:ext cx="8153400" cy="10435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是把系数</a:t>
                </a:r>
                <a14:m>
                  <m:oMath xmlns:m="http://schemas.openxmlformats.org/officeDocument/2006/math">
                    <m:r>
                      <a:rPr kumimoji="1" lang="zh-CN" altLang="en-US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矩阵</m:t>
                    </m:r>
                    <m:r>
                      <a:rPr kumimoji="1" lang="en-US" altLang="zh-CN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中第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𝑗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列的元素用方程组右端的常数项代替后所得到的</a:t>
                </a:r>
                <a14:m>
                  <m:oMath xmlns:m="http://schemas.openxmlformats.org/officeDocument/2006/math">
                    <m:r>
                      <a:rPr kumimoji="1" lang="en-US" altLang="zh-CN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𝑛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阶矩阵，即</a:t>
                </a:r>
              </a:p>
            </p:txBody>
          </p:sp>
        </mc:Choice>
        <mc:Fallback xmlns="">
          <p:sp>
            <p:nvSpPr>
              <p:cNvPr id="256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425" y="2260406"/>
                <a:ext cx="8153400" cy="1043555"/>
              </a:xfrm>
              <a:prstGeom prst="rect">
                <a:avLst/>
              </a:prstGeom>
              <a:blipFill>
                <a:blip r:embed="rId2"/>
                <a:stretch>
                  <a:fillRect l="-1197" b="-111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8" name="Object 25"/>
              <p:cNvSpPr txBox="1"/>
              <p:nvPr/>
            </p:nvSpPr>
            <p:spPr bwMode="auto">
              <a:xfrm>
                <a:off x="1619672" y="3522614"/>
                <a:ext cx="5832648" cy="1490562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7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608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3522614"/>
                <a:ext cx="5832648" cy="14905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385" name="Rectangle 9"/>
          <p:cNvSpPr>
            <a:spLocks noChangeArrowheads="1"/>
          </p:cNvSpPr>
          <p:nvPr/>
        </p:nvSpPr>
        <p:spPr bwMode="auto">
          <a:xfrm>
            <a:off x="611560" y="776187"/>
            <a:ext cx="4830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那么，线性方程组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(1)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有惟一解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890708" y="1377349"/>
                <a:ext cx="1602810" cy="855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708" y="1377349"/>
                <a:ext cx="1602810" cy="8559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004048" y="1347179"/>
                <a:ext cx="2044919" cy="855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1347179"/>
                <a:ext cx="2044919" cy="8559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397839" y="1347179"/>
                <a:ext cx="1602810" cy="855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839" y="1347179"/>
                <a:ext cx="1602810" cy="8559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25608" grpId="0"/>
      <p:bldP spid="229385" grpId="0"/>
      <p:bldP spid="2" grpId="0"/>
      <p:bldP spid="7" grpId="0"/>
      <p:bldP spid="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9"/>
              <p:cNvSpPr>
                <a:spLocks noChangeArrowheads="1"/>
              </p:cNvSpPr>
              <p:nvPr/>
            </p:nvSpPr>
            <p:spPr bwMode="auto">
              <a:xfrm>
                <a:off x="1559084" y="447055"/>
                <a:ext cx="518457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把线性方程组写成矩阵方程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𝐴𝑥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𝑏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084" y="447055"/>
                <a:ext cx="5184576" cy="461665"/>
              </a:xfrm>
              <a:prstGeom prst="rect">
                <a:avLst/>
              </a:prstGeom>
              <a:blipFill>
                <a:blip r:embed="rId2"/>
                <a:stretch>
                  <a:fillRect l="-1882" t="-14474" b="-302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694988" y="434641"/>
            <a:ext cx="10801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  <a:cs typeface="楷体_GB2312"/>
              </a:rPr>
              <a:t>证明：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9"/>
              <p:cNvSpPr>
                <a:spLocks noChangeArrowheads="1"/>
              </p:cNvSpPr>
              <p:nvPr/>
            </p:nvSpPr>
            <p:spPr bwMode="auto">
              <a:xfrm>
                <a:off x="704212" y="990343"/>
                <a:ext cx="2232248" cy="47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所以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存在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212" y="990343"/>
                <a:ext cx="2232248" cy="470000"/>
              </a:xfrm>
              <a:prstGeom prst="rect">
                <a:avLst/>
              </a:prstGeom>
              <a:blipFill>
                <a:blip r:embed="rId3"/>
                <a:stretch>
                  <a:fillRect l="-4372" t="-14103" b="-2692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9"/>
              <p:cNvSpPr>
                <a:spLocks noChangeArrowheads="1"/>
              </p:cNvSpPr>
              <p:nvPr/>
            </p:nvSpPr>
            <p:spPr bwMode="auto">
              <a:xfrm>
                <a:off x="3558422" y="968789"/>
                <a:ext cx="2168321" cy="47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𝐴𝑥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𝑏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,</a:t>
                </a: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5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8422" y="968789"/>
                <a:ext cx="2168321" cy="470000"/>
              </a:xfrm>
              <a:prstGeom prst="rect">
                <a:avLst/>
              </a:prstGeom>
              <a:blipFill>
                <a:blip r:embed="rId4"/>
                <a:stretch>
                  <a:fillRect l="-845" t="-10390" r="-7887" b="-2727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2754997" y="97051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121767" y="952729"/>
                <a:ext cx="1546577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𝑥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−1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𝑏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767" y="952729"/>
                <a:ext cx="1546577" cy="470000"/>
              </a:xfrm>
              <a:prstGeom prst="rect">
                <a:avLst/>
              </a:prstGeom>
              <a:blipFill>
                <a:blip r:embed="rId5"/>
                <a:stretch>
                  <a:fillRect t="-10390" r="-275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7012668" y="160616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即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67411" y="1624134"/>
            <a:ext cx="805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由于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066548" y="1412776"/>
                <a:ext cx="3169748" cy="8484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𝑥</m:t>
                      </m:r>
                      <m:r>
                        <a:rPr kumimoji="1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楷体_GB231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𝑏</m:t>
                      </m:r>
                      <m:r>
                        <a:rPr kumimoji="1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548" y="1412776"/>
                <a:ext cx="3169748" cy="8484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815551" y="1430747"/>
                <a:ext cx="2027426" cy="8484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551" y="1430747"/>
                <a:ext cx="2027426" cy="8484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3707904" y="1624132"/>
            <a:ext cx="493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26743" y="9784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即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415893" y="2375497"/>
                <a:ext cx="5280548" cy="1514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893" y="2375497"/>
                <a:ext cx="5280548" cy="15149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123728" y="3932844"/>
                <a:ext cx="4916025" cy="1516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3932844"/>
                <a:ext cx="4916025" cy="15161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827584" y="566124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所以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619672" y="5429593"/>
                <a:ext cx="5070491" cy="848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⋯+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𝑛𝑗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5429593"/>
                <a:ext cx="5070491" cy="8484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6515285" y="481415"/>
                <a:ext cx="20171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因为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≠0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, 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285" y="481415"/>
                <a:ext cx="2017155" cy="461665"/>
              </a:xfrm>
              <a:prstGeom prst="rect">
                <a:avLst/>
              </a:prstGeom>
              <a:blipFill>
                <a:blip r:embed="rId11"/>
                <a:stretch>
                  <a:fillRect l="-4834" t="-14474" r="-2417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516216" y="5517232"/>
                <a:ext cx="2017154" cy="700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0" i="1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b="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altLang="zh-CN" b="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  </a:t>
                </a:r>
                <a:r>
                  <a:rPr lang="zh-CN" altLang="en-US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▋</a:t>
                </a:r>
                <a:endParaRPr lang="zh-CN" altLang="en-US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5517232"/>
                <a:ext cx="2017154" cy="7003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18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458" name="Text Box 2"/>
          <p:cNvSpPr txBox="1">
            <a:spLocks noChangeArrowheads="1"/>
          </p:cNvSpPr>
          <p:nvPr/>
        </p:nvSpPr>
        <p:spPr bwMode="auto">
          <a:xfrm>
            <a:off x="669925" y="742112"/>
            <a:ext cx="80785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克拉默法则可视为行列式的一个应用，包含着三个结论：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687388" y="1289799"/>
            <a:ext cx="5905784" cy="201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>
              <a:lnSpc>
                <a:spcPct val="130000"/>
              </a:lnSpc>
              <a:buFontTx/>
              <a:buChar char="•"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方程组有解；</a:t>
            </a:r>
            <a:r>
              <a:rPr kumimoji="1"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  <a:cs typeface="楷体_GB2312"/>
              </a:rPr>
              <a:t>（解的存在性） </a:t>
            </a:r>
          </a:p>
          <a:p>
            <a:pPr lvl="1">
              <a:lnSpc>
                <a:spcPct val="130000"/>
              </a:lnSpc>
              <a:buFontTx/>
              <a:buChar char="•"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解是唯一的；</a:t>
            </a:r>
            <a:r>
              <a:rPr kumimoji="1"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  <a:cs typeface="楷体_GB2312"/>
              </a:rPr>
              <a:t>（解的唯一性）</a:t>
            </a:r>
          </a:p>
          <a:p>
            <a:pPr lvl="1">
              <a:lnSpc>
                <a:spcPct val="130000"/>
              </a:lnSpc>
              <a:buFontTx/>
              <a:buChar char="•"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解可以由公式给出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.</a:t>
            </a:r>
            <a:r>
              <a:rPr kumimoji="1"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  <a:cs typeface="楷体_GB2312"/>
              </a:rPr>
              <a:t>（解的形式表示）</a:t>
            </a:r>
          </a:p>
          <a:p>
            <a:pPr lvl="1">
              <a:lnSpc>
                <a:spcPct val="130000"/>
              </a:lnSpc>
              <a:buFontTx/>
              <a:buChar char="•"/>
            </a:pPr>
            <a:endParaRPr kumimoji="1"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8" name="Text Box 4"/>
              <p:cNvSpPr txBox="1">
                <a:spLocks noChangeArrowheads="1"/>
              </p:cNvSpPr>
              <p:nvPr/>
            </p:nvSpPr>
            <p:spPr bwMode="auto">
              <a:xfrm>
                <a:off x="669925" y="3096250"/>
                <a:ext cx="7789863" cy="24929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      这三个结论是有联系的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应该注意，该定理所讨论的只是系数行列式不为零的方程组。</a:t>
                </a:r>
                <a:r>
                  <a:rPr kumimoji="1" lang="zh-CN" altLang="en-US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遗留问题：</a:t>
                </a:r>
                <a:endParaRPr kumimoji="1" lang="en-US" altLang="zh-CN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en-US" altLang="zh-CN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1.</a:t>
                </a:r>
                <a:r>
                  <a:rPr kumimoji="1" lang="zh-CN" altLang="en-US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系数行列式等于零的方程组；</a:t>
                </a:r>
                <a:endParaRPr kumimoji="1" lang="en-US" altLang="zh-CN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en-US" altLang="zh-CN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2.</a:t>
                </a:r>
                <a:r>
                  <a:rPr kumimoji="1" lang="zh-CN" altLang="en-US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方程个数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3103F3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≠</m:t>
                    </m:r>
                  </m:oMath>
                </a14:m>
                <a:r>
                  <a:rPr kumimoji="1" lang="zh-CN" altLang="en-US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未知量个数的方程组</a:t>
                </a:r>
                <a:r>
                  <a:rPr kumimoji="1" lang="en-US" altLang="zh-CN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       以上情形，将在第三章的学习中讨论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</a:p>
            </p:txBody>
          </p:sp>
        </mc:Choice>
        <mc:Fallback xmlns="">
          <p:sp>
            <p:nvSpPr>
              <p:cNvPr id="2662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925" y="3096250"/>
                <a:ext cx="7789863" cy="2492990"/>
              </a:xfrm>
              <a:prstGeom prst="rect">
                <a:avLst/>
              </a:prstGeom>
              <a:blipFill>
                <a:blip r:embed="rId2"/>
                <a:stretch>
                  <a:fillRect l="-1252" t="-244" b="-293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1458" grpId="0"/>
      <p:bldP spid="26627" grpId="0" build="p" autoUpdateAnimBg="0"/>
      <p:bldP spid="2662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31" name="Rectangle 2"/>
          <p:cNvSpPr>
            <a:spLocks noChangeArrowheads="1"/>
          </p:cNvSpPr>
          <p:nvPr/>
        </p:nvSpPr>
        <p:spPr bwMode="auto">
          <a:xfrm>
            <a:off x="632260" y="404664"/>
            <a:ext cx="4982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（克拉默法则）解线性方程组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426" name="Object 17"/>
              <p:cNvSpPr txBox="1"/>
              <p:nvPr/>
            </p:nvSpPr>
            <p:spPr bwMode="auto">
              <a:xfrm>
                <a:off x="2633830" y="963985"/>
                <a:ext cx="4420636" cy="182731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=8,  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=9,   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=−5,   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zh-CN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=0.   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1426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830" y="963985"/>
                <a:ext cx="4420636" cy="18273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88885" y="2607295"/>
            <a:ext cx="13628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解：因</a:t>
            </a:r>
          </a:p>
        </p:txBody>
      </p:sp>
      <p:graphicFrame>
        <p:nvGraphicFramePr>
          <p:cNvPr id="2867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977027"/>
              </p:ext>
            </p:extLst>
          </p:nvPr>
        </p:nvGraphicFramePr>
        <p:xfrm>
          <a:off x="1186030" y="2903043"/>
          <a:ext cx="2695469" cy="1822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030" y="2903043"/>
                        <a:ext cx="2695469" cy="18221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901238" y="3302352"/>
            <a:ext cx="1102810" cy="967946"/>
            <a:chOff x="2688" y="2703"/>
            <a:chExt cx="1008" cy="655"/>
          </a:xfrm>
        </p:grpSpPr>
        <p:grpSp>
          <p:nvGrpSpPr>
            <p:cNvPr id="231436" name="Group 7"/>
            <p:cNvGrpSpPr>
              <a:grpSpLocks/>
            </p:cNvGrpSpPr>
            <p:nvPr/>
          </p:nvGrpSpPr>
          <p:grpSpPr bwMode="auto">
            <a:xfrm>
              <a:off x="2688" y="3024"/>
              <a:ext cx="1008" cy="48"/>
              <a:chOff x="3216" y="2496"/>
              <a:chExt cx="1008" cy="48"/>
            </a:xfrm>
          </p:grpSpPr>
          <p:sp>
            <p:nvSpPr>
              <p:cNvPr id="231437" name="Line 8"/>
              <p:cNvSpPr>
                <a:spLocks noChangeShapeType="1"/>
              </p:cNvSpPr>
              <p:nvPr/>
            </p:nvSpPr>
            <p:spPr bwMode="auto">
              <a:xfrm>
                <a:off x="3216" y="2496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1438" name="Line 9"/>
              <p:cNvSpPr>
                <a:spLocks noChangeShapeType="1"/>
              </p:cNvSpPr>
              <p:nvPr/>
            </p:nvSpPr>
            <p:spPr bwMode="auto">
              <a:xfrm>
                <a:off x="3216" y="254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aphicFrame>
          <p:nvGraphicFramePr>
            <p:cNvPr id="23142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7057539"/>
                </p:ext>
              </p:extLst>
            </p:nvPr>
          </p:nvGraphicFramePr>
          <p:xfrm>
            <a:off x="2809" y="2703"/>
            <a:ext cx="6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0" imgH="0" progId="">
                    <p:embed/>
                  </p:oleObj>
                </mc:Choice>
                <mc:Fallback>
                  <p:oleObj name="Equation" r:id="rId5" imgW="0" imgH="0" progId="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9" y="2703"/>
                          <a:ext cx="608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30" name="Object 20"/>
            <p:cNvGraphicFramePr>
              <a:graphicFrameLocks noChangeAspect="1"/>
            </p:cNvGraphicFramePr>
            <p:nvPr/>
          </p:nvGraphicFramePr>
          <p:xfrm>
            <a:off x="2864" y="3054"/>
            <a:ext cx="52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0" imgH="0" progId="">
                    <p:embed/>
                  </p:oleObj>
                </mc:Choice>
                <mc:Fallback>
                  <p:oleObj name="Equation" r:id="rId7" imgW="0" imgH="0" progId="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3054"/>
                          <a:ext cx="523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813662"/>
              </p:ext>
            </p:extLst>
          </p:nvPr>
        </p:nvGraphicFramePr>
        <p:xfrm>
          <a:off x="5076056" y="2903043"/>
          <a:ext cx="2147213" cy="1822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2903043"/>
                        <a:ext cx="2147213" cy="18221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5181959" y="3573016"/>
            <a:ext cx="1838313" cy="0"/>
          </a:xfrm>
          <a:prstGeom prst="line">
            <a:avLst/>
          </a:pr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>
            <a:off x="5220072" y="2977335"/>
            <a:ext cx="0" cy="1675801"/>
          </a:xfrm>
          <a:prstGeom prst="line">
            <a:avLst/>
          </a:prstGeom>
          <a:noFill/>
          <a:ln w="28575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500515"/>
              </p:ext>
            </p:extLst>
          </p:nvPr>
        </p:nvGraphicFramePr>
        <p:xfrm>
          <a:off x="1412106" y="4866808"/>
          <a:ext cx="2209800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106" y="4866808"/>
                        <a:ext cx="2209800" cy="153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3"/>
          <p:cNvGrpSpPr>
            <a:grpSpLocks/>
          </p:cNvGrpSpPr>
          <p:nvPr/>
        </p:nvGrpSpPr>
        <p:grpSpPr bwMode="auto">
          <a:xfrm>
            <a:off x="3640956" y="5157321"/>
            <a:ext cx="1435100" cy="1106487"/>
            <a:chOff x="2208" y="624"/>
            <a:chExt cx="1008" cy="697"/>
          </a:xfrm>
        </p:grpSpPr>
        <p:grpSp>
          <p:nvGrpSpPr>
            <p:cNvPr id="17" name="Group 4"/>
            <p:cNvGrpSpPr>
              <a:grpSpLocks/>
            </p:cNvGrpSpPr>
            <p:nvPr/>
          </p:nvGrpSpPr>
          <p:grpSpPr bwMode="auto">
            <a:xfrm>
              <a:off x="2208" y="912"/>
              <a:ext cx="1008" cy="48"/>
              <a:chOff x="3216" y="2496"/>
              <a:chExt cx="1008" cy="48"/>
            </a:xfrm>
          </p:grpSpPr>
          <p:sp>
            <p:nvSpPr>
              <p:cNvPr id="20" name="Line 5"/>
              <p:cNvSpPr>
                <a:spLocks noChangeShapeType="1"/>
              </p:cNvSpPr>
              <p:nvPr/>
            </p:nvSpPr>
            <p:spPr bwMode="auto">
              <a:xfrm>
                <a:off x="3216" y="2496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Line 6"/>
              <p:cNvSpPr>
                <a:spLocks noChangeShapeType="1"/>
              </p:cNvSpPr>
              <p:nvPr/>
            </p:nvSpPr>
            <p:spPr bwMode="auto">
              <a:xfrm>
                <a:off x="3216" y="254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aphicFrame>
          <p:nvGraphicFramePr>
            <p:cNvPr id="18" name="Object 24"/>
            <p:cNvGraphicFramePr>
              <a:graphicFrameLocks noChangeAspect="1"/>
            </p:cNvGraphicFramePr>
            <p:nvPr/>
          </p:nvGraphicFramePr>
          <p:xfrm>
            <a:off x="2286" y="624"/>
            <a:ext cx="68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0" imgH="0" progId="">
                    <p:embed/>
                  </p:oleObj>
                </mc:Choice>
                <mc:Fallback>
                  <p:oleObj name="Equation" r:id="rId13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" y="624"/>
                          <a:ext cx="687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5"/>
            <p:cNvGraphicFramePr>
              <a:graphicFrameLocks noChangeAspect="1"/>
            </p:cNvGraphicFramePr>
            <p:nvPr/>
          </p:nvGraphicFramePr>
          <p:xfrm>
            <a:off x="2284" y="1004"/>
            <a:ext cx="70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0" imgH="0" progId="">
                    <p:embed/>
                  </p:oleObj>
                </mc:Choice>
                <mc:Fallback>
                  <p:oleObj name="Equation" r:id="rId15" imgW="0" imgH="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4" y="1004"/>
                          <a:ext cx="705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834779"/>
              </p:ext>
            </p:extLst>
          </p:nvPr>
        </p:nvGraphicFramePr>
        <p:xfrm>
          <a:off x="5080942" y="4866808"/>
          <a:ext cx="2154238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">
                  <p:embed/>
                </p:oleObj>
              </mc:Choice>
              <mc:Fallback>
                <p:oleObj name="Equation" r:id="rId1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942" y="4866808"/>
                        <a:ext cx="2154238" cy="153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415344"/>
              </p:ext>
            </p:extLst>
          </p:nvPr>
        </p:nvGraphicFramePr>
        <p:xfrm>
          <a:off x="7251055" y="5454183"/>
          <a:ext cx="11430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">
                  <p:embed/>
                </p:oleObj>
              </mc:Choice>
              <mc:Fallback>
                <p:oleObj name="Equation" r:id="rId1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055" y="5454183"/>
                        <a:ext cx="1143000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  <p:bldP spid="28685" grpId="0" animBg="1"/>
      <p:bldP spid="2868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5248501" y="586162"/>
            <a:ext cx="187595" cy="1519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587426" y="698475"/>
            <a:ext cx="187595" cy="1519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2970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089333"/>
              </p:ext>
            </p:extLst>
          </p:nvPr>
        </p:nvGraphicFramePr>
        <p:xfrm>
          <a:off x="899592" y="620688"/>
          <a:ext cx="2673575" cy="1992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620688"/>
                        <a:ext cx="2673575" cy="19928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707" name="Object 28"/>
              <p:cNvSpPr txBox="1"/>
              <p:nvPr/>
            </p:nvSpPr>
            <p:spPr bwMode="auto">
              <a:xfrm>
                <a:off x="4506270" y="644071"/>
                <a:ext cx="3306090" cy="1776818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−108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707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6270" y="644071"/>
                <a:ext cx="3306090" cy="1776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483768" y="2786324"/>
            <a:ext cx="262591" cy="1466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685450"/>
              </p:ext>
            </p:extLst>
          </p:nvPr>
        </p:nvGraphicFramePr>
        <p:xfrm>
          <a:off x="932687" y="2786324"/>
          <a:ext cx="2406657" cy="1891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687" y="2786324"/>
                        <a:ext cx="2406657" cy="18914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6208721" y="2756233"/>
            <a:ext cx="262592" cy="1466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1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472277"/>
              </p:ext>
            </p:extLst>
          </p:nvPr>
        </p:nvGraphicFramePr>
        <p:xfrm>
          <a:off x="4112813" y="2732874"/>
          <a:ext cx="2407910" cy="1891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2813" y="2732874"/>
                        <a:ext cx="2407910" cy="18914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057012"/>
              </p:ext>
            </p:extLst>
          </p:nvPr>
        </p:nvGraphicFramePr>
        <p:xfrm>
          <a:off x="944494" y="4725206"/>
          <a:ext cx="2131427" cy="728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494" y="4725206"/>
                        <a:ext cx="2131427" cy="728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952410"/>
              </p:ext>
            </p:extLst>
          </p:nvPr>
        </p:nvGraphicFramePr>
        <p:xfrm>
          <a:off x="3257632" y="4725144"/>
          <a:ext cx="2223367" cy="72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">
                  <p:embed/>
                </p:oleObj>
              </mc:Choice>
              <mc:Fallback>
                <p:oleObj name="Equation" r:id="rId11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632" y="4725144"/>
                        <a:ext cx="2223367" cy="7230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121516"/>
              </p:ext>
            </p:extLst>
          </p:nvPr>
        </p:nvGraphicFramePr>
        <p:xfrm>
          <a:off x="1147868" y="5589240"/>
          <a:ext cx="2134211" cy="72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">
                  <p:embed/>
                </p:oleObj>
              </mc:Choice>
              <mc:Fallback>
                <p:oleObj name="Equation" r:id="rId1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868" y="5589240"/>
                        <a:ext cx="2134211" cy="7230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847943"/>
              </p:ext>
            </p:extLst>
          </p:nvPr>
        </p:nvGraphicFramePr>
        <p:xfrm>
          <a:off x="3320759" y="5589240"/>
          <a:ext cx="1953110" cy="693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">
                  <p:embed/>
                </p:oleObj>
              </mc:Choice>
              <mc:Fallback>
                <p:oleObj name="Equation" r:id="rId1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759" y="5589240"/>
                        <a:ext cx="1953110" cy="6937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5424016" y="5661248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█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29707" grpId="0"/>
      <p:bldP spid="15" grpId="0" animBg="1"/>
      <p:bldP spid="17" grpId="0" animBg="1"/>
      <p:bldP spid="23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09134" y="661325"/>
            <a:ext cx="48269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例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.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（逆矩阵方法）解线性方程组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7"/>
              <p:cNvSpPr txBox="1"/>
              <p:nvPr/>
            </p:nvSpPr>
            <p:spPr bwMode="auto">
              <a:xfrm>
                <a:off x="2771800" y="1189515"/>
                <a:ext cx="3312368" cy="130162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b="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−5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+mn-lt"/>
                                  <a:ea typeface="黑体" panose="02010609060101010101" pitchFamily="49" charset="-122"/>
                                </a:rPr>
                                <m:t>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1189515"/>
                <a:ext cx="3312368" cy="13016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6"/>
              <p:cNvSpPr txBox="1"/>
              <p:nvPr/>
            </p:nvSpPr>
            <p:spPr bwMode="auto">
              <a:xfrm>
                <a:off x="1567343" y="2635158"/>
                <a:ext cx="1643062" cy="476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zh-CN" altLang="en-US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m:t>0,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7343" y="2635158"/>
                <a:ext cx="1643062" cy="476250"/>
              </a:xfrm>
              <a:prstGeom prst="rect">
                <a:avLst/>
              </a:prstGeom>
              <a:blipFill>
                <a:blip r:embed="rId3"/>
                <a:stretch>
                  <a:fillRect l="-2222" r="-1111" b="-6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2231" y="2635158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解：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97634" y="2635158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因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33018" y="2635158"/>
            <a:ext cx="2851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故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itchFamily="18" charset="0"/>
              </a:rPr>
              <a:t>A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itchFamily="18" charset="0"/>
              </a:rPr>
              <a:t>可逆，于是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/>
              <p:cNvSpPr txBox="1"/>
              <p:nvPr/>
            </p:nvSpPr>
            <p:spPr bwMode="auto">
              <a:xfrm>
                <a:off x="1115616" y="3552014"/>
                <a:ext cx="1403350" cy="595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3552014"/>
                <a:ext cx="1403350" cy="595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/>
              <p:cNvSpPr txBox="1"/>
              <p:nvPr/>
            </p:nvSpPr>
            <p:spPr bwMode="auto">
              <a:xfrm>
                <a:off x="2339752" y="3283230"/>
                <a:ext cx="3024336" cy="10801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b="0" i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b="0" i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752" y="3283230"/>
                <a:ext cx="3024336" cy="1080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7"/>
              <p:cNvSpPr txBox="1"/>
              <p:nvPr/>
            </p:nvSpPr>
            <p:spPr bwMode="auto">
              <a:xfrm>
                <a:off x="5148064" y="3211222"/>
                <a:ext cx="3312367" cy="11521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altLang="en-US" b="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altLang="en-US" b="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</m:t>
                                  </m:r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黑体" panose="02010609060101010101" pitchFamily="49" charset="-122"/>
                                    </a:rPr>
                                    <m:t>    1</m:t>
                                  </m:r>
                                </m:e>
                              </m:eqArr>
                            </m:e>
                          </m:d>
                        </m:e>
                        <m:sup/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8064" y="3211222"/>
                <a:ext cx="3312367" cy="11521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8"/>
              <p:cNvSpPr txBox="1"/>
              <p:nvPr/>
            </p:nvSpPr>
            <p:spPr bwMode="auto">
              <a:xfrm>
                <a:off x="1403649" y="4602518"/>
                <a:ext cx="1368152" cy="1346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649" y="4602518"/>
                <a:ext cx="1368152" cy="13467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9"/>
              <p:cNvSpPr txBox="1"/>
              <p:nvPr/>
            </p:nvSpPr>
            <p:spPr bwMode="auto">
              <a:xfrm>
                <a:off x="2716510" y="4579374"/>
                <a:ext cx="1408113" cy="10801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6510" y="4579374"/>
                <a:ext cx="1408113" cy="10801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995936" y="4888796"/>
            <a:ext cx="4937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1"/>
              <p:cNvSpPr txBox="1"/>
              <p:nvPr/>
            </p:nvSpPr>
            <p:spPr bwMode="auto">
              <a:xfrm>
                <a:off x="4427984" y="4456748"/>
                <a:ext cx="1244977" cy="1346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=5,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=3.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</a:b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984" y="4456748"/>
                <a:ext cx="1244977" cy="13467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6084168" y="4909797"/>
            <a:ext cx="6601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273413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482" name="Text Box 2"/>
          <p:cNvSpPr txBox="1">
            <a:spLocks noChangeArrowheads="1"/>
          </p:cNvSpPr>
          <p:nvPr/>
        </p:nvSpPr>
        <p:spPr bwMode="auto">
          <a:xfrm>
            <a:off x="914400" y="627410"/>
            <a:ext cx="15605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3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思考题</a:t>
            </a:r>
          </a:p>
        </p:txBody>
      </p:sp>
      <p:sp>
        <p:nvSpPr>
          <p:cNvPr id="1172483" name="Rectangle 3"/>
          <p:cNvSpPr>
            <a:spLocks noChangeArrowheads="1"/>
          </p:cNvSpPr>
          <p:nvPr/>
        </p:nvSpPr>
        <p:spPr bwMode="auto">
          <a:xfrm>
            <a:off x="914400" y="1600200"/>
            <a:ext cx="7618413" cy="98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当线性方程组的系数行列式为零时，能否用克拉默法则解方程组？为什么？此时方程组的解为何？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914400" y="2996952"/>
            <a:ext cx="7919156" cy="901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答：当线性方程组的系数行列式为零时，不能用克拉默法</a:t>
            </a:r>
          </a:p>
          <a:p>
            <a:pPr>
              <a:lnSpc>
                <a:spcPct val="140000"/>
              </a:lnSpc>
            </a:pPr>
            <a:r>
              <a:rPr kumimoji="1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则解方程组，因为此时方程组的解为无解或有无穷多解</a:t>
            </a:r>
            <a:r>
              <a:rPr kumimoji="1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6"/>
          <p:cNvSpPr txBox="1">
            <a:spLocks noChangeArrowheads="1"/>
          </p:cNvSpPr>
          <p:nvPr/>
        </p:nvSpPr>
        <p:spPr bwMode="auto">
          <a:xfrm>
            <a:off x="457200" y="766424"/>
            <a:ext cx="8229600" cy="934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4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  <a:cs typeface="楷体_GB2312"/>
              </a:rPr>
              <a:t>课堂练习</a:t>
            </a:r>
          </a:p>
        </p:txBody>
      </p:sp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882352" y="1902520"/>
            <a:ext cx="685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用克拉默法则和逆矩阵法求解线性方程组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71046" name="Object 6"/>
              <p:cNvSpPr txBox="1"/>
              <p:nvPr/>
            </p:nvSpPr>
            <p:spPr bwMode="auto">
              <a:xfrm>
                <a:off x="2699792" y="2564904"/>
                <a:ext cx="3888432" cy="15841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=2,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=3,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+9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=5.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zh-CN" altLang="en-US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</a:br>
                <a:endParaRPr lang="zh-CN" altLang="en-US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87104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2" y="2564904"/>
                <a:ext cx="3888432" cy="1584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914400" y="1676400"/>
            <a:ext cx="59105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1. </a:t>
            </a:r>
            <a:r>
              <a:rPr kumimoji="1"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用克拉默法则解线性方程组的两个条件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914400" y="2286000"/>
            <a:ext cx="43636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(1)</a:t>
            </a:r>
            <a:r>
              <a:rPr kumimoji="1"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方程个数等于未知量个数；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914400" y="2873375"/>
            <a:ext cx="35910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(2)</a:t>
            </a: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系数行列式不等于零</a:t>
            </a:r>
            <a:r>
              <a:rPr kumimoji="1"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.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935038" y="3559175"/>
            <a:ext cx="7457491" cy="1566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2. </a:t>
            </a: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克拉默法则的意义主要在于建立了线性方程组的解</a:t>
            </a:r>
          </a:p>
          <a:p>
            <a:pPr>
              <a:lnSpc>
                <a:spcPct val="14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和已知的系数以及常数项之间的关系．它主要适用于</a:t>
            </a:r>
          </a:p>
          <a:p>
            <a:pPr>
              <a:lnSpc>
                <a:spcPct val="140000"/>
              </a:lnSpc>
            </a:pPr>
            <a:r>
              <a:rPr kumimoji="1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理论推导</a:t>
            </a: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．</a:t>
            </a:r>
            <a:endParaRPr kumimoji="1"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1735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autoUpdateAnimBg="0"/>
      <p:bldP spid="36868" grpId="0" autoUpdateAnimBg="0"/>
      <p:bldP spid="36869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7667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solidFill>
                  <a:srgbClr val="CC0099"/>
                </a:solidFill>
                <a:latin typeface="+mn-lt"/>
                <a:ea typeface="黑体" panose="02010609060101010101" pitchFamily="49" charset="-122"/>
              </a:rPr>
              <a:t>§5  </a:t>
            </a:r>
            <a:r>
              <a:rPr lang="zh-CN" altLang="en-US" sz="3600" b="1" dirty="0">
                <a:solidFill>
                  <a:srgbClr val="CC0099"/>
                </a:solidFill>
                <a:latin typeface="+mn-lt"/>
                <a:ea typeface="黑体" panose="02010609060101010101" pitchFamily="49" charset="-122"/>
              </a:rPr>
              <a:t>矩阵分块法</a:t>
            </a:r>
          </a:p>
        </p:txBody>
      </p:sp>
      <p:sp>
        <p:nvSpPr>
          <p:cNvPr id="2" name="矩形 1"/>
          <p:cNvSpPr/>
          <p:nvPr/>
        </p:nvSpPr>
        <p:spPr>
          <a:xfrm>
            <a:off x="2627784" y="2348880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一、分块矩阵的概念</a:t>
            </a:r>
            <a:endParaRPr lang="en-US" altLang="zh-CN" sz="280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27784" y="2924944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二、分块矩阵的运算</a:t>
            </a:r>
            <a:endParaRPr lang="en-US" altLang="zh-CN" sz="280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27784" y="3501008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三、按行分块及按列分块</a:t>
            </a:r>
          </a:p>
        </p:txBody>
      </p:sp>
      <p:sp>
        <p:nvSpPr>
          <p:cNvPr id="5" name="矩形 4"/>
          <p:cNvSpPr/>
          <p:nvPr/>
        </p:nvSpPr>
        <p:spPr>
          <a:xfrm>
            <a:off x="2627784" y="4110217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四、分块矩阵的转置</a:t>
            </a:r>
          </a:p>
        </p:txBody>
      </p:sp>
      <p:sp>
        <p:nvSpPr>
          <p:cNvPr id="6" name="矩形 5"/>
          <p:cNvSpPr/>
          <p:nvPr/>
        </p:nvSpPr>
        <p:spPr>
          <a:xfrm>
            <a:off x="2627784" y="4748802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五、分块对角矩阵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06896" y="329208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896" y="1484883"/>
            <a:ext cx="8229600" cy="2088133"/>
          </a:xfrm>
        </p:spPr>
        <p:txBody>
          <a:bodyPr/>
          <a:lstStyle/>
          <a:p>
            <a:pPr eaLnBrk="1" hangingPunct="1">
              <a:spcBef>
                <a:spcPts val="276"/>
              </a:spcBef>
              <a:buClr>
                <a:srgbClr val="FF0000"/>
              </a:buClr>
              <a:buFont typeface="Wingdings" pitchFamily="2" charset="2"/>
              <a:buNone/>
            </a:pP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276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问题一：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什么是矩阵分块法？</a:t>
            </a:r>
          </a:p>
          <a:p>
            <a:pPr eaLnBrk="1" hangingPunct="1">
              <a:spcBef>
                <a:spcPts val="276"/>
              </a:spcBef>
              <a:buFont typeface="Wingdings" pitchFamily="2" charset="2"/>
              <a:buNone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276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问题二：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为什么提出矩阵分块法？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5888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问题一：</a:t>
            </a:r>
            <a:r>
              <a:rPr lang="zh-CN" altLang="en-US" sz="4000" dirty="0">
                <a:latin typeface="+mn-lt"/>
                <a:ea typeface="黑体" panose="02010609060101010101" pitchFamily="49" charset="-122"/>
              </a:rPr>
              <a:t>什么是矩阵分块法？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9323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ea typeface="黑体" panose="02010609060101010101" pitchFamily="49" charset="-122"/>
              </a:rPr>
              <a:t>一、分块矩阵的概念</a:t>
            </a:r>
            <a:endParaRPr lang="en-US" altLang="zh-CN" sz="32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</a:rPr>
              <a:t>         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 dirty="0">
                <a:ea typeface="黑体" panose="02010609060101010101" pitchFamily="49" charset="-122"/>
              </a:rPr>
              <a:t>用一些横线和竖线将矩阵分成若干个小块，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dirty="0">
                <a:ea typeface="黑体" panose="02010609060101010101" pitchFamily="49" charset="-122"/>
              </a:rPr>
              <a:t>这种操作称为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对矩阵进行分块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D60093"/>
                </a:solidFill>
                <a:ea typeface="黑体" panose="02010609060101010101" pitchFamily="49" charset="-122"/>
              </a:rPr>
              <a:t>matrix partition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)</a:t>
            </a:r>
            <a:r>
              <a:rPr lang="zh-CN" altLang="en-US" dirty="0"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 每一个小块称为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矩阵的子块（</a:t>
            </a:r>
            <a:r>
              <a:rPr lang="en-US" altLang="zh-CN" i="1" dirty="0">
                <a:solidFill>
                  <a:srgbClr val="D60093"/>
                </a:solidFill>
                <a:ea typeface="黑体" panose="02010609060101010101" pitchFamily="49" charset="-122"/>
              </a:rPr>
              <a:t>block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）</a:t>
            </a:r>
            <a:r>
              <a:rPr lang="zh-CN" altLang="en-US" dirty="0"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dirty="0">
                <a:ea typeface="黑体" panose="02010609060101010101" pitchFamily="49" charset="-122"/>
              </a:rPr>
              <a:t>       矩阵分块后，以子块为元素的形式上的矩阵称为</a:t>
            </a:r>
            <a:endParaRPr lang="en-US" altLang="zh-CN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分块矩阵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D60093"/>
                </a:solidFill>
                <a:ea typeface="黑体" panose="02010609060101010101" pitchFamily="49" charset="-122"/>
                <a:cs typeface="Times New Roman" pitchFamily="18" charset="0"/>
              </a:rPr>
              <a:t>block matrix/partitioned matrix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)</a:t>
            </a:r>
            <a:r>
              <a:rPr lang="en-US" altLang="zh-CN" dirty="0"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76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778545"/>
              </p:ext>
            </p:extLst>
          </p:nvPr>
        </p:nvGraphicFramePr>
        <p:xfrm>
          <a:off x="755650" y="4725343"/>
          <a:ext cx="3576638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25343"/>
                        <a:ext cx="3576638" cy="156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206728"/>
              </p:ext>
            </p:extLst>
          </p:nvPr>
        </p:nvGraphicFramePr>
        <p:xfrm>
          <a:off x="4346575" y="4987280"/>
          <a:ext cx="1954213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575" y="4987280"/>
                        <a:ext cx="1954213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533525" y="4876155"/>
            <a:ext cx="2592388" cy="1362075"/>
            <a:chOff x="1066" y="2567"/>
            <a:chExt cx="1995" cy="1043"/>
          </a:xfrm>
        </p:grpSpPr>
        <p:sp>
          <p:nvSpPr>
            <p:cNvPr id="239626" name="Rectangle 7"/>
            <p:cNvSpPr>
              <a:spLocks noChangeArrowheads="1"/>
            </p:cNvSpPr>
            <p:nvPr/>
          </p:nvSpPr>
          <p:spPr bwMode="auto">
            <a:xfrm>
              <a:off x="1066" y="2567"/>
              <a:ext cx="952" cy="6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9627" name="Rectangle 8"/>
            <p:cNvSpPr>
              <a:spLocks noChangeArrowheads="1"/>
            </p:cNvSpPr>
            <p:nvPr/>
          </p:nvSpPr>
          <p:spPr bwMode="auto">
            <a:xfrm>
              <a:off x="2109" y="2567"/>
              <a:ext cx="952" cy="681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9628" name="Rectangle 9"/>
            <p:cNvSpPr>
              <a:spLocks noChangeArrowheads="1"/>
            </p:cNvSpPr>
            <p:nvPr/>
          </p:nvSpPr>
          <p:spPr bwMode="auto">
            <a:xfrm>
              <a:off x="1066" y="3338"/>
              <a:ext cx="952" cy="272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9629" name="Rectangle 10"/>
            <p:cNvSpPr>
              <a:spLocks noChangeArrowheads="1"/>
            </p:cNvSpPr>
            <p:nvPr/>
          </p:nvSpPr>
          <p:spPr bwMode="auto">
            <a:xfrm>
              <a:off x="2109" y="3338"/>
              <a:ext cx="952" cy="2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00"/>
                </a:solidFill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7659" name="AutoShape 11"/>
          <p:cNvSpPr>
            <a:spLocks noChangeArrowheads="1"/>
          </p:cNvSpPr>
          <p:nvPr/>
        </p:nvSpPr>
        <p:spPr bwMode="auto">
          <a:xfrm>
            <a:off x="6516688" y="4149080"/>
            <a:ext cx="2160587" cy="1381125"/>
          </a:xfrm>
          <a:prstGeom prst="cloudCallout">
            <a:avLst>
              <a:gd name="adj1" fmla="val -60171"/>
              <a:gd name="adj2" fmla="val 5140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lvl="0"/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分块矩阵</a:t>
            </a: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1533525" y="5806430"/>
            <a:ext cx="2606675" cy="0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2828925" y="4869805"/>
            <a:ext cx="0" cy="143986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9" grpId="0" animBg="1" autoUpdateAnimBg="0"/>
      <p:bldP spid="27660" grpId="0" animBg="1"/>
      <p:bldP spid="2766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问题二：</a:t>
            </a:r>
            <a:r>
              <a:rPr lang="zh-CN" altLang="en-US" sz="4000" b="0" dirty="0">
                <a:latin typeface="黑体" panose="02010609060101010101" pitchFamily="49" charset="-122"/>
                <a:ea typeface="黑体" panose="02010609060101010101" pitchFamily="49" charset="-122"/>
              </a:rPr>
              <a:t>为什么提出矩阵分块法？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7488"/>
                <a:ext cx="8229600" cy="1717675"/>
              </a:xfrm>
            </p:spPr>
            <p:txBody>
              <a:bodyPr/>
              <a:lstStyle/>
              <a:p>
                <a:pPr eaLnBrk="1" hangingPunct="1">
                  <a:buFont typeface="Wingdings" pitchFamily="2" charset="2"/>
                  <a:buNone/>
                </a:pPr>
                <a:r>
                  <a:rPr lang="zh-CN" altLang="en-US" b="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答：对于行数和列数较高的矩阵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</m:oMath>
                </a14:m>
                <a:r>
                  <a:rPr lang="zh-CN" altLang="en-US" b="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，运算时采用分块法，可</a:t>
                </a:r>
                <a:endParaRPr lang="en-US" altLang="zh-CN" b="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zh-CN" altLang="en-US" b="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以使大矩阵的运算化成小矩阵的运算，体现了</a:t>
                </a:r>
                <a:r>
                  <a:rPr lang="zh-CN" altLang="en-US" b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化整为零</a:t>
                </a:r>
                <a:r>
                  <a:rPr lang="zh-CN" altLang="en-US" b="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的思</a:t>
                </a:r>
                <a:endParaRPr lang="en-US" altLang="zh-CN" b="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zh-CN" altLang="en-US" b="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想</a:t>
                </a:r>
                <a:r>
                  <a:rPr lang="en-US" altLang="zh-CN" b="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86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7488"/>
                <a:ext cx="8229600" cy="1717675"/>
              </a:xfrm>
              <a:blipFill>
                <a:blip r:embed="rId2"/>
                <a:stretch>
                  <a:fillRect l="-1111" t="-3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043608" y="2852936"/>
            <a:ext cx="5616624" cy="345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altLang="zh-CN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分块矩阵的运算：</a:t>
            </a:r>
            <a:endParaRPr lang="en-US" altLang="zh-CN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 1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、分块矩阵的加法</a:t>
            </a:r>
            <a:endParaRPr lang="en-US" altLang="zh-CN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2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分块矩阵的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数乘运算</a:t>
            </a:r>
            <a:endParaRPr lang="en-US" altLang="zh-CN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3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分块矩阵的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乘法</a:t>
            </a:r>
            <a:endParaRPr lang="en-US" altLang="zh-CN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4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 </a:t>
            </a:r>
          </a:p>
          <a:p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2" name="Text Box 4"/>
          <p:cNvSpPr txBox="1">
            <a:spLocks noChangeArrowheads="1"/>
          </p:cNvSpPr>
          <p:nvPr/>
        </p:nvSpPr>
        <p:spPr bwMode="auto">
          <a:xfrm>
            <a:off x="395536" y="1095127"/>
            <a:ext cx="8278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  <a:cs typeface="楷体_GB2312"/>
              </a:rPr>
              <a:t>定理</a:t>
            </a:r>
            <a:r>
              <a:rPr lang="en-US" altLang="zh-CN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  <a:cs typeface="楷体_GB2312"/>
              </a:rPr>
              <a:t>1.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若矩阵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、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是同型矩阵，且采用相同的分块法，即</a:t>
            </a:r>
          </a:p>
        </p:txBody>
      </p:sp>
      <p:graphicFrame>
        <p:nvGraphicFramePr>
          <p:cNvPr id="24269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32684"/>
              </p:ext>
            </p:extLst>
          </p:nvPr>
        </p:nvGraphicFramePr>
        <p:xfrm>
          <a:off x="1673225" y="1650876"/>
          <a:ext cx="583723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1650876"/>
                        <a:ext cx="5837238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693" name="Text Box 6"/>
          <p:cNvSpPr txBox="1">
            <a:spLocks noChangeArrowheads="1"/>
          </p:cNvSpPr>
          <p:nvPr/>
        </p:nvSpPr>
        <p:spPr bwMode="auto">
          <a:xfrm>
            <a:off x="685800" y="3810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则有</a:t>
            </a:r>
            <a:endParaRPr lang="zh-CN" altLang="en-US" i="1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10247" name="Object 9"/>
          <p:cNvGraphicFramePr>
            <a:graphicFrameLocks noChangeAspect="1"/>
          </p:cNvGraphicFramePr>
          <p:nvPr/>
        </p:nvGraphicFramePr>
        <p:xfrm>
          <a:off x="1673225" y="3357563"/>
          <a:ext cx="49149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3357563"/>
                        <a:ext cx="49149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AutoShape 8"/>
          <p:cNvSpPr>
            <a:spLocks noChangeArrowheads="1"/>
          </p:cNvSpPr>
          <p:nvPr/>
        </p:nvSpPr>
        <p:spPr bwMode="auto">
          <a:xfrm>
            <a:off x="6011863" y="5157063"/>
            <a:ext cx="2662237" cy="1546086"/>
          </a:xfrm>
          <a:prstGeom prst="cloudCallout">
            <a:avLst>
              <a:gd name="adj1" fmla="val -59778"/>
              <a:gd name="adj2" fmla="val -5944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lvl="0"/>
            <a:r>
              <a:rPr lang="zh-CN" altLang="en-US" sz="2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形式上看成是普通矩阵的加法！</a:t>
            </a:r>
          </a:p>
        </p:txBody>
      </p:sp>
      <p:pic>
        <p:nvPicPr>
          <p:cNvPr id="10249" name="Picture 9" descr="j0078625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03800" y="4887913"/>
            <a:ext cx="582613" cy="177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389141" y="211287"/>
            <a:ext cx="52629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4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二、分块矩阵的运算</a:t>
            </a:r>
            <a:endParaRPr lang="en-US" altLang="zh-CN" sz="440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2996" name="Text Box 2"/>
              <p:cNvSpPr txBox="1">
                <a:spLocks noChangeArrowheads="1"/>
              </p:cNvSpPr>
              <p:nvPr/>
            </p:nvSpPr>
            <p:spPr bwMode="auto">
              <a:xfrm>
                <a:off x="1115616" y="1143298"/>
                <a:ext cx="302433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zh-CN" altLang="en-US" b="1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定理</a:t>
                </a:r>
                <a:r>
                  <a:rPr lang="en-US" altLang="zh-CN" b="1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2.</a:t>
                </a:r>
                <a:r>
                  <a:rPr lang="en-US" altLang="zh-CN" dirty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是数，且</a:t>
                </a:r>
                <a:r>
                  <a:rPr lang="zh-CN" altLang="en-US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1299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1143298"/>
                <a:ext cx="3024336" cy="461665"/>
              </a:xfrm>
              <a:prstGeom prst="rect">
                <a:avLst/>
              </a:prstGeom>
              <a:blipFill>
                <a:blip r:embed="rId3"/>
                <a:stretch>
                  <a:fillRect l="-3024" t="-14667" b="-32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473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641408"/>
              </p:ext>
            </p:extLst>
          </p:nvPr>
        </p:nvGraphicFramePr>
        <p:xfrm>
          <a:off x="3956273" y="620688"/>
          <a:ext cx="284797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273" y="620688"/>
                        <a:ext cx="2847975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Text Box 4"/>
          <p:cNvSpPr txBox="1">
            <a:spLocks noChangeArrowheads="1"/>
          </p:cNvSpPr>
          <p:nvPr/>
        </p:nvSpPr>
        <p:spPr bwMode="auto">
          <a:xfrm>
            <a:off x="1259632" y="3115816"/>
            <a:ext cx="110199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则有</a:t>
            </a:r>
            <a:endParaRPr lang="zh-CN" altLang="en-US" i="1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</p:txBody>
      </p:sp>
      <p:graphicFrame>
        <p:nvGraphicFramePr>
          <p:cNvPr id="204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015214"/>
              </p:ext>
            </p:extLst>
          </p:nvPr>
        </p:nvGraphicFramePr>
        <p:xfrm>
          <a:off x="2287390" y="2594273"/>
          <a:ext cx="3490912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390" y="2594273"/>
                        <a:ext cx="3490912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AutoShape 6"/>
          <p:cNvSpPr>
            <a:spLocks noChangeArrowheads="1"/>
          </p:cNvSpPr>
          <p:nvPr/>
        </p:nvSpPr>
        <p:spPr bwMode="auto">
          <a:xfrm>
            <a:off x="5865615" y="4393773"/>
            <a:ext cx="2847975" cy="1546086"/>
          </a:xfrm>
          <a:prstGeom prst="cloudCallout">
            <a:avLst>
              <a:gd name="adj1" fmla="val -59778"/>
              <a:gd name="adj2" fmla="val -5944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lvl="0"/>
            <a:r>
              <a:rPr lang="zh-CN" altLang="en-US" sz="2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形式上看成是普通的数乘运算！</a:t>
            </a:r>
          </a:p>
        </p:txBody>
      </p:sp>
      <p:pic>
        <p:nvPicPr>
          <p:cNvPr id="20487" name="Picture 7" descr="j0078625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57552" y="4124623"/>
            <a:ext cx="582613" cy="177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nimBg="1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6" name="Text Box 4"/>
          <p:cNvSpPr txBox="1">
            <a:spLocks noChangeArrowheads="1"/>
          </p:cNvSpPr>
          <p:nvPr/>
        </p:nvSpPr>
        <p:spPr bwMode="auto">
          <a:xfrm>
            <a:off x="467544" y="719701"/>
            <a:ext cx="7992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  <a:cs typeface="楷体_GB2312"/>
              </a:rPr>
              <a:t>定理</a:t>
            </a:r>
            <a:r>
              <a:rPr lang="en-US" altLang="zh-CN" b="1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  <a:cs typeface="楷体_GB2312"/>
              </a:rPr>
              <a:t>3</a:t>
            </a:r>
            <a:r>
              <a:rPr lang="en-US" altLang="zh-CN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设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为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  <a:sym typeface="Symbol" pitchFamily="18" charset="2"/>
              </a:rPr>
              <a:t>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l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矩阵，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l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  <a:sym typeface="Symbol" pitchFamily="18" charset="2"/>
              </a:rPr>
              <a:t>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矩阵</a:t>
            </a:r>
            <a:r>
              <a:rPr lang="zh-CN" altLang="en-US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，把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、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B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分块如下：</a:t>
            </a:r>
          </a:p>
        </p:txBody>
      </p:sp>
      <p:graphicFrame>
        <p:nvGraphicFramePr>
          <p:cNvPr id="2970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391843"/>
              </p:ext>
            </p:extLst>
          </p:nvPr>
        </p:nvGraphicFramePr>
        <p:xfrm>
          <a:off x="539552" y="1156246"/>
          <a:ext cx="7515225" cy="233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156246"/>
                        <a:ext cx="7515225" cy="233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137482"/>
              </p:ext>
            </p:extLst>
          </p:nvPr>
        </p:nvGraphicFramePr>
        <p:xfrm>
          <a:off x="854349" y="4005064"/>
          <a:ext cx="7185025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49" y="4005064"/>
                        <a:ext cx="7185025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1414265" y="1156246"/>
            <a:ext cx="2952750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5100440" y="1156246"/>
            <a:ext cx="2952750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4898827" y="1654422"/>
            <a:ext cx="317500" cy="1800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1421" y="373338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那么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 animBg="1"/>
      <p:bldP spid="29710" grpId="0" animBg="1"/>
      <p:bldP spid="29711" grpId="0" animBg="1"/>
      <p:bldP spid="3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8" name="TextBox 1"/>
          <p:cNvSpPr txBox="1">
            <a:spLocks noChangeArrowheads="1"/>
          </p:cNvSpPr>
          <p:nvPr/>
        </p:nvSpPr>
        <p:spPr bwMode="auto">
          <a:xfrm>
            <a:off x="723503" y="456853"/>
            <a:ext cx="50006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例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设有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71046" name="Object 6"/>
              <p:cNvSpPr txBox="1"/>
              <p:nvPr/>
            </p:nvSpPr>
            <p:spPr bwMode="auto">
              <a:xfrm>
                <a:off x="1367012" y="1340768"/>
                <a:ext cx="3781052" cy="13348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87104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7012" y="1340768"/>
                <a:ext cx="3781052" cy="13348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 bwMode="auto">
              <a:xfrm>
                <a:off x="4956750" y="1414363"/>
                <a:ext cx="4151754" cy="12945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6750" y="1414363"/>
                <a:ext cx="4151754" cy="12945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2000250" y="1980853"/>
            <a:ext cx="2571750" cy="1588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</p:cNvCxnSpPr>
          <p:nvPr/>
        </p:nvCxnSpPr>
        <p:spPr>
          <a:xfrm>
            <a:off x="3189981" y="1268764"/>
            <a:ext cx="0" cy="1512164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572125" y="2033240"/>
            <a:ext cx="2571750" cy="1588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</p:cNvCxnSpPr>
          <p:nvPr/>
        </p:nvCxnSpPr>
        <p:spPr>
          <a:xfrm>
            <a:off x="6786564" y="1268762"/>
            <a:ext cx="0" cy="1512166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793" name="矩形 8"/>
              <p:cNvSpPr>
                <a:spLocks noChangeArrowheads="1"/>
              </p:cNvSpPr>
              <p:nvPr/>
            </p:nvSpPr>
            <p:spPr bwMode="auto">
              <a:xfrm>
                <a:off x="756300" y="2924944"/>
                <a:ext cx="1223412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latin typeface="Cambria Math" panose="02040503050406030204" pitchFamily="18" charset="0"/>
                        <a:ea typeface="楷体_GB2312"/>
                        <a:cs typeface="Times New Roman" pitchFamily="18" charset="0"/>
                      </a:rPr>
                      <m:t>𝐴𝐵</m:t>
                    </m:r>
                  </m:oMath>
                </a14:m>
                <a:r>
                  <a:rPr lang="en-US" altLang="zh-CN" sz="2800" i="1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itchFamily="18" charset="0"/>
                  </a:rPr>
                  <a:t>.</a:t>
                </a:r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246793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300" y="2924944"/>
                <a:ext cx="1223412" cy="523220"/>
              </a:xfrm>
              <a:prstGeom prst="rect">
                <a:avLst/>
              </a:prstGeom>
              <a:blipFill>
                <a:blip r:embed="rId4"/>
                <a:stretch>
                  <a:fillRect l="-9950" t="-15116" r="-6965" b="-2907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855180" y="3645024"/>
            <a:ext cx="675729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解：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58901" y="3645321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用分块矩阵运算，令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6"/>
              <p:cNvSpPr txBox="1"/>
              <p:nvPr/>
            </p:nvSpPr>
            <p:spPr bwMode="auto">
              <a:xfrm>
                <a:off x="3127796" y="4230195"/>
                <a:ext cx="2411453" cy="846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7796" y="4230195"/>
                <a:ext cx="2411453" cy="846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/>
              <p:cNvSpPr txBox="1"/>
              <p:nvPr/>
            </p:nvSpPr>
            <p:spPr bwMode="auto">
              <a:xfrm>
                <a:off x="5360043" y="4149080"/>
                <a:ext cx="3186641" cy="1071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60043" y="4149080"/>
                <a:ext cx="3186641" cy="10715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/>
              <p:cNvSpPr txBox="1"/>
              <p:nvPr/>
            </p:nvSpPr>
            <p:spPr bwMode="auto">
              <a:xfrm>
                <a:off x="915532" y="4230195"/>
                <a:ext cx="2411453" cy="846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5532" y="4230195"/>
                <a:ext cx="2411453" cy="8465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8"/>
              <p:cNvSpPr txBox="1"/>
              <p:nvPr/>
            </p:nvSpPr>
            <p:spPr bwMode="auto">
              <a:xfrm>
                <a:off x="915531" y="5344348"/>
                <a:ext cx="2454201" cy="743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5531" y="5344348"/>
                <a:ext cx="2454201" cy="743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5"/>
              <p:cNvSpPr txBox="1"/>
              <p:nvPr/>
            </p:nvSpPr>
            <p:spPr bwMode="auto">
              <a:xfrm>
                <a:off x="3326985" y="5330531"/>
                <a:ext cx="2613168" cy="8465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6985" y="5330531"/>
                <a:ext cx="2613168" cy="8465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7"/>
              <p:cNvSpPr txBox="1"/>
              <p:nvPr/>
            </p:nvSpPr>
            <p:spPr bwMode="auto">
              <a:xfrm>
                <a:off x="5689184" y="5237758"/>
                <a:ext cx="2987271" cy="8465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9184" y="5237758"/>
                <a:ext cx="2987271" cy="8465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3" grpId="0"/>
      <p:bldP spid="10" grpId="0"/>
      <p:bldP spid="2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/>
              <p:cNvSpPr txBox="1"/>
              <p:nvPr/>
            </p:nvSpPr>
            <p:spPr bwMode="auto">
              <a:xfrm>
                <a:off x="1134671" y="640656"/>
                <a:ext cx="2525392" cy="1132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4671" y="640656"/>
                <a:ext cx="2525392" cy="1132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"/>
              <p:cNvSpPr txBox="1"/>
              <p:nvPr/>
            </p:nvSpPr>
            <p:spPr bwMode="auto">
              <a:xfrm>
                <a:off x="3419872" y="640655"/>
                <a:ext cx="1730717" cy="11321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872" y="640655"/>
                <a:ext cx="1730717" cy="1132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/>
              <p:cNvSpPr txBox="1"/>
              <p:nvPr/>
            </p:nvSpPr>
            <p:spPr bwMode="auto">
              <a:xfrm>
                <a:off x="5004048" y="641564"/>
                <a:ext cx="3312368" cy="8065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4048" y="641564"/>
                <a:ext cx="3312368" cy="806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611560" y="784672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则</a:t>
            </a: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619791" y="1753673"/>
            <a:ext cx="571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6"/>
              <p:cNvSpPr txBox="1"/>
              <p:nvPr/>
            </p:nvSpPr>
            <p:spPr bwMode="auto">
              <a:xfrm>
                <a:off x="1259632" y="1844826"/>
                <a:ext cx="2736304" cy="10801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1844826"/>
                <a:ext cx="2736304" cy="1080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"/>
              <p:cNvSpPr txBox="1"/>
              <p:nvPr/>
            </p:nvSpPr>
            <p:spPr bwMode="auto">
              <a:xfrm>
                <a:off x="3615002" y="1844824"/>
                <a:ext cx="1535587" cy="7939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5002" y="1844824"/>
                <a:ext cx="1535587" cy="7939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"/>
              <p:cNvSpPr txBox="1"/>
              <p:nvPr/>
            </p:nvSpPr>
            <p:spPr bwMode="auto">
              <a:xfrm>
                <a:off x="5041582" y="1844824"/>
                <a:ext cx="2122706" cy="8065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10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1582" y="1844824"/>
                <a:ext cx="2122706" cy="8065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/>
              <p:cNvSpPr txBox="1"/>
              <p:nvPr/>
            </p:nvSpPr>
            <p:spPr bwMode="auto">
              <a:xfrm>
                <a:off x="1257602" y="2848213"/>
                <a:ext cx="2818685" cy="8688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7602" y="2848213"/>
                <a:ext cx="2818685" cy="8688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"/>
              <p:cNvSpPr txBox="1"/>
              <p:nvPr/>
            </p:nvSpPr>
            <p:spPr bwMode="auto">
              <a:xfrm>
                <a:off x="3669160" y="2858805"/>
                <a:ext cx="1372422" cy="7691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9160" y="2858805"/>
                <a:ext cx="1372422" cy="7691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7"/>
              <p:cNvSpPr txBox="1"/>
              <p:nvPr/>
            </p:nvSpPr>
            <p:spPr bwMode="auto">
              <a:xfrm>
                <a:off x="4950809" y="2900153"/>
                <a:ext cx="1853439" cy="8168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eqArr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0809" y="2900153"/>
                <a:ext cx="1853439" cy="8168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8"/>
              <p:cNvSpPr txBox="1"/>
              <p:nvPr/>
            </p:nvSpPr>
            <p:spPr bwMode="auto">
              <a:xfrm>
                <a:off x="1257603" y="4106580"/>
                <a:ext cx="3179396" cy="8065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zh-CN" altLang="en-US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7603" y="4106580"/>
                <a:ext cx="3179396" cy="8065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9"/>
              <p:cNvSpPr txBox="1"/>
              <p:nvPr/>
            </p:nvSpPr>
            <p:spPr bwMode="auto">
              <a:xfrm>
                <a:off x="4076288" y="4123224"/>
                <a:ext cx="2079888" cy="7235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6288" y="4123224"/>
                <a:ext cx="2079888" cy="7235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0"/>
              <p:cNvSpPr txBox="1"/>
              <p:nvPr/>
            </p:nvSpPr>
            <p:spPr bwMode="auto">
              <a:xfrm>
                <a:off x="6012160" y="4123224"/>
                <a:ext cx="1780017" cy="7235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&amp;−5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2160" y="4123224"/>
                <a:ext cx="1780017" cy="7235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755576" y="5380194"/>
            <a:ext cx="857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616978" y="5373216"/>
                <a:ext cx="175309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Times New Roman" pitchFamily="18" charset="0"/>
                      </a:rPr>
                      <m:t>𝐴𝐵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…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978" y="5373216"/>
                <a:ext cx="1753093" cy="461665"/>
              </a:xfrm>
              <a:prstGeom prst="rect">
                <a:avLst/>
              </a:prstGeom>
              <a:blipFill>
                <a:blip r:embed="rId14"/>
                <a:stretch>
                  <a:fillRect l="-694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3642483" y="5301208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7" grpId="0"/>
      <p:bldP spid="6" grpId="0"/>
      <p:bldP spid="9" grpId="0"/>
      <p:bldP spid="10" grpId="0"/>
      <p:bldP spid="11" grpId="0"/>
      <p:bldP spid="12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" grpId="0"/>
      <p:bldP spid="29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62880" y="30659"/>
            <a:ext cx="82296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kern="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三、按行分块以及按列分块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8"/>
              <p:cNvSpPr>
                <a:spLocks noChangeArrowheads="1"/>
              </p:cNvSpPr>
              <p:nvPr/>
            </p:nvSpPr>
            <p:spPr bwMode="auto">
              <a:xfrm>
                <a:off x="683568" y="980728"/>
                <a:ext cx="246631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𝐴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矩阵</a:t>
                </a:r>
              </a:p>
            </p:txBody>
          </p:sp>
        </mc:Choice>
        <mc:Fallback xmlns="">
          <p:sp>
            <p:nvSpPr>
              <p:cNvPr id="6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980728"/>
                <a:ext cx="2466316" cy="461665"/>
              </a:xfrm>
              <a:prstGeom prst="rect">
                <a:avLst/>
              </a:prstGeom>
              <a:blipFill>
                <a:blip r:embed="rId2"/>
                <a:stretch>
                  <a:fillRect l="-3704" t="-14474" r="-741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2"/>
              <p:cNvSpPr txBox="1"/>
              <p:nvPr/>
            </p:nvSpPr>
            <p:spPr bwMode="auto">
              <a:xfrm>
                <a:off x="2627784" y="1500630"/>
                <a:ext cx="4104456" cy="17843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784" y="1500630"/>
                <a:ext cx="4104456" cy="17843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04954" y="3283272"/>
                <a:ext cx="21388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buFont typeface="Wingdings" pitchFamily="2" charset="2"/>
                  <a:buNone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若将</a:t>
                </a:r>
                <a:r>
                  <a:rPr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行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记作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54" y="3283272"/>
                <a:ext cx="2138855" cy="461665"/>
              </a:xfrm>
              <a:prstGeom prst="rect">
                <a:avLst/>
              </a:prstGeom>
              <a:blipFill>
                <a:blip r:embed="rId4"/>
                <a:stretch>
                  <a:fillRect l="-4558" t="-14667" r="-313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931611"/>
              </p:ext>
            </p:extLst>
          </p:nvPr>
        </p:nvGraphicFramePr>
        <p:xfrm>
          <a:off x="2786971" y="3576339"/>
          <a:ext cx="29019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971" y="3576339"/>
                        <a:ext cx="290195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43299" y="4462741"/>
                <a:ext cx="224452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buFont typeface="Wingdings" pitchFamily="2" charset="2"/>
                  <a:buNone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可</a:t>
                </a:r>
                <a:r>
                  <a:rPr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按行分块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99" y="4462741"/>
                <a:ext cx="2244525" cy="461665"/>
              </a:xfrm>
              <a:prstGeom prst="rect">
                <a:avLst/>
              </a:prstGeom>
              <a:blipFill>
                <a:blip r:embed="rId7"/>
                <a:stretch>
                  <a:fillRect l="-4348" t="-14474" r="-2446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 bwMode="auto">
              <a:xfrm>
                <a:off x="2411760" y="4509120"/>
                <a:ext cx="5616624" cy="1728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1760" y="4509120"/>
                <a:ext cx="5616624" cy="17281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3347865" y="4941168"/>
            <a:ext cx="244827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3347865" y="5310320"/>
            <a:ext cx="2448272" cy="81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3347948" y="5733256"/>
            <a:ext cx="2448272" cy="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313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2" grpId="0"/>
      <p:bldP spid="13" grpId="0" animBg="1"/>
      <p:bldP spid="14" grpId="0" animBg="1"/>
      <p:bldP spid="1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692696"/>
            <a:ext cx="22701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+mn-lt"/>
                <a:ea typeface="黑体" panose="02010609060101010101" pitchFamily="49" charset="-122"/>
              </a:rPr>
              <a:t>若将第 </a:t>
            </a:r>
            <a:r>
              <a:rPr lang="en-US" altLang="zh-CN" i="1" dirty="0">
                <a:latin typeface="+mn-lt"/>
                <a:ea typeface="黑体" panose="02010609060101010101" pitchFamily="49" charset="-122"/>
              </a:rPr>
              <a:t>j 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列记作</a:t>
            </a:r>
          </a:p>
        </p:txBody>
      </p:sp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742828"/>
              </p:ext>
            </p:extLst>
          </p:nvPr>
        </p:nvGraphicFramePr>
        <p:xfrm>
          <a:off x="3006279" y="1001589"/>
          <a:ext cx="1709737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">
                  <p:embed/>
                </p:oleObj>
              </mc:Choice>
              <mc:Fallback>
                <p:oleObj name="Equation" r:id="rId2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279" y="1001589"/>
                        <a:ext cx="1709737" cy="221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62856" y="3039343"/>
                <a:ext cx="224452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buFont typeface="Wingdings" pitchFamily="2" charset="2"/>
                  <a:buNone/>
                </a:pPr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可</a:t>
                </a:r>
                <a:r>
                  <a:rPr lang="zh-CN" alt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按列分块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56" y="3039343"/>
                <a:ext cx="2244525" cy="461665"/>
              </a:xfrm>
              <a:prstGeom prst="rect">
                <a:avLst/>
              </a:prstGeom>
              <a:blipFill>
                <a:blip r:embed="rId4"/>
                <a:stretch>
                  <a:fillRect l="-4348" t="-14667" r="-244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2"/>
              <p:cNvSpPr txBox="1"/>
              <p:nvPr/>
            </p:nvSpPr>
            <p:spPr bwMode="auto">
              <a:xfrm>
                <a:off x="1691680" y="3719511"/>
                <a:ext cx="4608512" cy="18697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80" y="3719511"/>
                <a:ext cx="4608512" cy="18697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3131840" y="3645024"/>
            <a:ext cx="0" cy="17317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H="1">
            <a:off x="3923927" y="3645024"/>
            <a:ext cx="1" cy="17317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 flipH="1">
            <a:off x="4788024" y="3645024"/>
            <a:ext cx="0" cy="17317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A7595121-E0BA-1EF8-1431-678DE236D4FC}"/>
                  </a:ext>
                </a:extLst>
              </p:cNvPr>
              <p:cNvSpPr txBox="1"/>
              <p:nvPr/>
            </p:nvSpPr>
            <p:spPr bwMode="auto">
              <a:xfrm>
                <a:off x="5508104" y="4221088"/>
                <a:ext cx="2448272" cy="6480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A7595121-E0BA-1EF8-1431-678DE236D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8104" y="4221088"/>
                <a:ext cx="2448272" cy="6480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09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 animBg="1"/>
      <p:bldP spid="9" grpId="0" animBg="1"/>
      <p:bldP spid="10" grpId="0" animBg="1"/>
      <p:bldP spid="1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311842" y="3408108"/>
            <a:ext cx="503237" cy="1749084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23728" y="1374016"/>
            <a:ext cx="1871663" cy="5032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62880" y="482859"/>
            <a:ext cx="4413176" cy="813056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四、分块矩阵的转置</a:t>
            </a:r>
          </a:p>
        </p:txBody>
      </p:sp>
      <p:sp>
        <p:nvSpPr>
          <p:cNvPr id="5" name="矩形 4"/>
          <p:cNvSpPr/>
          <p:nvPr/>
        </p:nvSpPr>
        <p:spPr>
          <a:xfrm>
            <a:off x="693578" y="174319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+mn-lt"/>
                <a:ea typeface="黑体" panose="02010609060101010101" pitchFamily="49" charset="-122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4"/>
              <p:cNvSpPr txBox="1"/>
              <p:nvPr/>
            </p:nvSpPr>
            <p:spPr bwMode="auto">
              <a:xfrm>
                <a:off x="1403648" y="1395952"/>
                <a:ext cx="4179377" cy="1411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648" y="1395952"/>
                <a:ext cx="4179377" cy="14111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27584" y="40508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+mn-lt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092473"/>
              </p:ext>
            </p:extLst>
          </p:nvPr>
        </p:nvGraphicFramePr>
        <p:xfrm>
          <a:off x="1331640" y="3527195"/>
          <a:ext cx="301625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527195"/>
                        <a:ext cx="3016250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4968626" y="2778118"/>
            <a:ext cx="3563814" cy="1943472"/>
          </a:xfrm>
          <a:prstGeom prst="cloudCallout">
            <a:avLst>
              <a:gd name="adj1" fmla="val -70142"/>
              <a:gd name="adj2" fmla="val 44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lvl="0"/>
            <a:r>
              <a:rPr lang="zh-CN" altLang="en-US" sz="2000" b="1" dirty="0">
                <a:latin typeface="+mn-lt"/>
                <a:ea typeface="黑体" panose="02010609060101010101" pitchFamily="49" charset="-122"/>
                <a:cs typeface="楷体_GB2312"/>
              </a:rPr>
              <a:t>分块矩阵不仅形式上进行转置，而且每一个子块也进行转置．</a:t>
            </a:r>
          </a:p>
        </p:txBody>
      </p:sp>
    </p:spTree>
    <p:extLst>
      <p:ext uri="{BB962C8B-B14F-4D97-AF65-F5344CB8AC3E}">
        <p14:creationId xmlns:p14="http://schemas.microsoft.com/office/powerpoint/2010/main" val="79559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5" grpId="0"/>
      <p:bldP spid="6" grpId="0"/>
      <p:bldP spid="7" grpId="0"/>
      <p:bldP spid="12" grpId="0" uiExpand="1" build="p" animBg="1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2474913" y="475529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2068513" y="4339365"/>
            <a:ext cx="395287" cy="39528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2935288" y="5206140"/>
            <a:ext cx="863600" cy="9366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580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81502"/>
            <a:ext cx="4896544" cy="888799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五、分块对角矩阵</a:t>
            </a:r>
            <a:endParaRPr lang="en-US" altLang="zh-CN" sz="3200" dirty="0">
              <a:solidFill>
                <a:srgbClr val="0000CC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2675" y="886015"/>
            <a:ext cx="8147248" cy="1684244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b="0" dirty="0">
                <a:solidFill>
                  <a:srgbClr val="3103F3"/>
                </a:solidFill>
                <a:ea typeface="黑体" panose="02010609060101010101" pitchFamily="49" charset="-122"/>
              </a:rPr>
              <a:t>定义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zh-CN" altLang="en-US" b="0" dirty="0">
                <a:ea typeface="黑体" panose="02010609060101010101" pitchFamily="49" charset="-122"/>
              </a:rPr>
              <a:t>设 </a:t>
            </a:r>
            <a:r>
              <a:rPr lang="en-US" altLang="zh-CN" b="0" i="1" dirty="0">
                <a:ea typeface="黑体" panose="02010609060101010101" pitchFamily="49" charset="-122"/>
              </a:rPr>
              <a:t>A</a:t>
            </a:r>
            <a:r>
              <a:rPr lang="en-US" altLang="zh-CN" b="0" dirty="0">
                <a:ea typeface="黑体" panose="02010609060101010101" pitchFamily="49" charset="-122"/>
              </a:rPr>
              <a:t> </a:t>
            </a:r>
            <a:r>
              <a:rPr lang="zh-CN" altLang="en-US" b="0" dirty="0">
                <a:ea typeface="黑体" panose="02010609060101010101" pitchFamily="49" charset="-122"/>
              </a:rPr>
              <a:t>是 </a:t>
            </a:r>
            <a:r>
              <a:rPr lang="en-US" altLang="zh-CN" b="0" i="1" dirty="0">
                <a:ea typeface="黑体" panose="02010609060101010101" pitchFamily="49" charset="-122"/>
              </a:rPr>
              <a:t>n</a:t>
            </a:r>
            <a:r>
              <a:rPr lang="en-US" altLang="zh-CN" b="0" dirty="0">
                <a:ea typeface="黑体" panose="02010609060101010101" pitchFamily="49" charset="-122"/>
              </a:rPr>
              <a:t> </a:t>
            </a:r>
            <a:r>
              <a:rPr lang="zh-CN" altLang="en-US" b="0" dirty="0">
                <a:ea typeface="黑体" panose="02010609060101010101" pitchFamily="49" charset="-122"/>
              </a:rPr>
              <a:t>阶方阵，若 </a:t>
            </a:r>
            <a:r>
              <a:rPr lang="en-US" altLang="zh-CN" b="0" i="1" dirty="0">
                <a:ea typeface="黑体" panose="02010609060101010101" pitchFamily="49" charset="-122"/>
              </a:rPr>
              <a:t>A</a:t>
            </a:r>
            <a:r>
              <a:rPr lang="en-US" altLang="zh-CN" b="0" dirty="0">
                <a:ea typeface="黑体" panose="02010609060101010101" pitchFamily="49" charset="-122"/>
              </a:rPr>
              <a:t> </a:t>
            </a:r>
            <a:r>
              <a:rPr lang="zh-CN" altLang="en-US" b="0" dirty="0">
                <a:ea typeface="黑体" panose="02010609060101010101" pitchFamily="49" charset="-122"/>
              </a:rPr>
              <a:t>的分块矩阵只有在对角线上有非零子块，其余子块都为零矩阵，且对角线上的子块都是方阵，那么称 </a:t>
            </a:r>
            <a:r>
              <a:rPr lang="en-US" altLang="zh-CN" b="0" i="1" dirty="0">
                <a:ea typeface="黑体" panose="02010609060101010101" pitchFamily="49" charset="-122"/>
              </a:rPr>
              <a:t>A</a:t>
            </a:r>
            <a:r>
              <a:rPr lang="en-US" altLang="zh-CN" b="0" dirty="0">
                <a:ea typeface="黑体" panose="02010609060101010101" pitchFamily="49" charset="-122"/>
              </a:rPr>
              <a:t> </a:t>
            </a:r>
            <a:r>
              <a:rPr lang="zh-CN" altLang="en-US" b="0" dirty="0">
                <a:ea typeface="黑体" panose="02010609060101010101" pitchFamily="49" charset="-122"/>
              </a:rPr>
              <a:t>为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</a:rPr>
              <a:t>分块对角矩阵</a:t>
            </a:r>
            <a:r>
              <a:rPr lang="zh-CN" altLang="en-US" b="0" dirty="0">
                <a:ea typeface="黑体" panose="02010609060101010101" pitchFamily="49" charset="-122"/>
              </a:rPr>
              <a:t>．即</a:t>
            </a:r>
            <a:endParaRPr lang="en-US" altLang="zh-CN" b="0" dirty="0">
              <a:ea typeface="黑体" panose="02010609060101010101" pitchFamily="49" charset="-122"/>
            </a:endParaRPr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>
            <a:off x="2066925" y="4758465"/>
            <a:ext cx="17287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>
            <a:off x="2066925" y="5214078"/>
            <a:ext cx="17287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967" name="Line 7"/>
          <p:cNvSpPr>
            <a:spLocks noChangeShapeType="1"/>
          </p:cNvSpPr>
          <p:nvPr/>
        </p:nvSpPr>
        <p:spPr bwMode="auto">
          <a:xfrm>
            <a:off x="2484438" y="4342540"/>
            <a:ext cx="0" cy="180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>
            <a:off x="2916238" y="4358415"/>
            <a:ext cx="0" cy="180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/>
              <p:cNvSpPr txBox="1"/>
              <p:nvPr/>
            </p:nvSpPr>
            <p:spPr bwMode="auto">
              <a:xfrm>
                <a:off x="2439242" y="2623800"/>
                <a:ext cx="3356894" cy="15801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9242" y="2623800"/>
                <a:ext cx="3356894" cy="1580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70242" y="3890678"/>
            <a:ext cx="803425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例如</a:t>
            </a:r>
            <a:endParaRPr lang="en-US" altLang="zh-CN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5"/>
              <p:cNvSpPr txBox="1"/>
              <p:nvPr/>
            </p:nvSpPr>
            <p:spPr bwMode="auto">
              <a:xfrm>
                <a:off x="899592" y="4317877"/>
                <a:ext cx="3528392" cy="19914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alt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4317877"/>
                <a:ext cx="3528392" cy="1991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5"/>
              <p:cNvSpPr txBox="1"/>
              <p:nvPr/>
            </p:nvSpPr>
            <p:spPr bwMode="auto">
              <a:xfrm>
                <a:off x="4074046" y="4537267"/>
                <a:ext cx="2514178" cy="12679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4046" y="4537267"/>
                <a:ext cx="2514178" cy="1267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/>
              <p:cNvSpPr txBox="1"/>
              <p:nvPr/>
            </p:nvSpPr>
            <p:spPr bwMode="auto">
              <a:xfrm>
                <a:off x="6189191" y="4725144"/>
                <a:ext cx="1839193" cy="8798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9191" y="4725144"/>
                <a:ext cx="1839193" cy="8798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3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4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32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9" grpId="0" animBg="1"/>
      <p:bldP spid="40969" grpId="1" animBg="1"/>
      <p:bldP spid="40970" grpId="0" animBg="1"/>
      <p:bldP spid="40970" grpId="1" animBg="1"/>
      <p:bldP spid="40971" grpId="0" animBg="1"/>
      <p:bldP spid="40971" grpId="1" animBg="1"/>
      <p:bldP spid="40965" grpId="0" animBg="1"/>
      <p:bldP spid="40965" grpId="1" animBg="1"/>
      <p:bldP spid="40966" grpId="0" animBg="1"/>
      <p:bldP spid="40966" grpId="1" animBg="1"/>
      <p:bldP spid="40966" grpId="2" animBg="1"/>
      <p:bldP spid="40967" grpId="0" animBg="1"/>
      <p:bldP spid="40967" grpId="1" animBg="1"/>
      <p:bldP spid="40968" grpId="0" animBg="1"/>
      <p:bldP spid="40968" grpId="1" animBg="1"/>
      <p:bldP spid="40968" grpId="2" animBg="1"/>
      <p:bldP spid="16" grpId="0"/>
      <p:bldP spid="4" grpId="0"/>
      <p:bldP spid="18" grpId="0"/>
      <p:bldP spid="19" grpId="0"/>
      <p:bldP spid="20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99592" y="187896"/>
            <a:ext cx="5040560" cy="864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 kern="0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分块对角矩阵的性质</a:t>
            </a:r>
            <a:endParaRPr lang="en-US" altLang="zh-CN" sz="3200" kern="0" dirty="0">
              <a:solidFill>
                <a:schemeClr val="bg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/>
              <p:cNvSpPr txBox="1"/>
              <p:nvPr/>
            </p:nvSpPr>
            <p:spPr bwMode="auto">
              <a:xfrm>
                <a:off x="2051719" y="1442585"/>
                <a:ext cx="3858013" cy="1626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719" y="1442585"/>
                <a:ext cx="3858013" cy="1626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971600" y="981472"/>
            <a:ext cx="494046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43608" y="298474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326919" y="3444831"/>
                <a:ext cx="3812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rgbClr val="FF0000"/>
                  </a:buClr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∙|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|⋯|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;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919" y="3444831"/>
                <a:ext cx="3812967" cy="461665"/>
              </a:xfrm>
              <a:prstGeom prst="rect">
                <a:avLst/>
              </a:prstGeom>
              <a:blipFill>
                <a:blip r:embed="rId3"/>
                <a:stretch>
                  <a:fillRect l="-2560" t="-14474" r="-16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334890" y="3963111"/>
                <a:ext cx="45821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rgbClr val="FF0000"/>
                  </a:buClr>
                </a:pP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≠0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并有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90" y="3963111"/>
                <a:ext cx="4582152" cy="461665"/>
              </a:xfrm>
              <a:prstGeom prst="rect">
                <a:avLst/>
              </a:prstGeom>
              <a:blipFill>
                <a:blip r:embed="rId4"/>
                <a:stretch>
                  <a:fillRect l="-2128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2339752" y="4481391"/>
                <a:ext cx="4752528" cy="17559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zh-CN" altLang="en-US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zh-CN" altLang="en-US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zh-CN" altLang="en-US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zh-CN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752" y="4481391"/>
                <a:ext cx="4752528" cy="1755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81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67426" name="Object 2"/>
              <p:cNvSpPr txBox="1"/>
              <p:nvPr/>
            </p:nvSpPr>
            <p:spPr bwMode="auto">
              <a:xfrm>
                <a:off x="899592" y="1075874"/>
                <a:ext cx="4211713" cy="17770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742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1075874"/>
                <a:ext cx="4211713" cy="17770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cxnSpLocks/>
          </p:cNvCxnSpPr>
          <p:nvPr/>
        </p:nvCxnSpPr>
        <p:spPr>
          <a:xfrm>
            <a:off x="2158853" y="1484784"/>
            <a:ext cx="1872332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cxnSpLocks/>
          </p:cNvCxnSpPr>
          <p:nvPr/>
        </p:nvCxnSpPr>
        <p:spPr>
          <a:xfrm>
            <a:off x="2591025" y="908720"/>
            <a:ext cx="0" cy="1777062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7428" name="Object 4"/>
              <p:cNvSpPr txBox="1"/>
              <p:nvPr/>
            </p:nvSpPr>
            <p:spPr bwMode="auto">
              <a:xfrm>
                <a:off x="1821234" y="3285529"/>
                <a:ext cx="3398838" cy="18716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742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1234" y="3285529"/>
                <a:ext cx="3398838" cy="1871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/>
          <p:cNvCxnSpPr>
            <a:cxnSpLocks/>
          </p:cNvCxnSpPr>
          <p:nvPr/>
        </p:nvCxnSpPr>
        <p:spPr>
          <a:xfrm>
            <a:off x="2699792" y="3716338"/>
            <a:ext cx="1944216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cxnSpLocks/>
          </p:cNvCxnSpPr>
          <p:nvPr/>
        </p:nvCxnSpPr>
        <p:spPr>
          <a:xfrm>
            <a:off x="3347715" y="3285108"/>
            <a:ext cx="0" cy="1440036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7429" name="Object 5"/>
              <p:cNvSpPr txBox="1"/>
              <p:nvPr/>
            </p:nvSpPr>
            <p:spPr bwMode="auto">
              <a:xfrm>
                <a:off x="4565277" y="3486274"/>
                <a:ext cx="3967163" cy="138288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742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5277" y="3486274"/>
                <a:ext cx="3967163" cy="1382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7431" name="Object 7"/>
              <p:cNvSpPr txBox="1"/>
              <p:nvPr/>
            </p:nvSpPr>
            <p:spPr bwMode="auto">
              <a:xfrm>
                <a:off x="1907704" y="5301208"/>
                <a:ext cx="2481263" cy="6064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743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5301208"/>
                <a:ext cx="2481263" cy="6064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108" name="TextBox 19"/>
          <p:cNvSpPr txBox="1">
            <a:spLocks noChangeArrowheads="1"/>
          </p:cNvSpPr>
          <p:nvPr/>
        </p:nvSpPr>
        <p:spPr bwMode="auto">
          <a:xfrm>
            <a:off x="827584" y="692150"/>
            <a:ext cx="9350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6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6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6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7428" grpId="0"/>
      <p:bldP spid="1767429" grpId="0"/>
      <p:bldP spid="176743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68450" name="Object 2"/>
              <p:cNvSpPr txBox="1"/>
              <p:nvPr/>
            </p:nvSpPr>
            <p:spPr bwMode="auto">
              <a:xfrm>
                <a:off x="827584" y="1261864"/>
                <a:ext cx="6481762" cy="187910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845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1261864"/>
                <a:ext cx="6481762" cy="18791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8451" name="Object 3"/>
              <p:cNvSpPr txBox="1"/>
              <p:nvPr/>
            </p:nvSpPr>
            <p:spPr bwMode="auto">
              <a:xfrm>
                <a:off x="1131888" y="3501008"/>
                <a:ext cx="3532187" cy="22764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845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1888" y="3501008"/>
                <a:ext cx="3532187" cy="22764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8452" name="Object 4"/>
              <p:cNvSpPr txBox="1"/>
              <p:nvPr/>
            </p:nvSpPr>
            <p:spPr bwMode="auto">
              <a:xfrm>
                <a:off x="3995936" y="3505770"/>
                <a:ext cx="3328988" cy="22431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845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936" y="3505770"/>
                <a:ext cx="3328988" cy="2243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8453" name="Object 5"/>
              <p:cNvSpPr txBox="1"/>
              <p:nvPr/>
            </p:nvSpPr>
            <p:spPr bwMode="auto">
              <a:xfrm>
                <a:off x="6360418" y="4036615"/>
                <a:ext cx="992188" cy="5445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6845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0418" y="4036615"/>
                <a:ext cx="992188" cy="5445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224216" y="4018880"/>
            <a:ext cx="109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. 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6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6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6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8451" grpId="0"/>
      <p:bldP spid="1768452" grpId="0"/>
      <p:bldP spid="1768453" grpId="0"/>
      <p:bldP spid="6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941387"/>
            <a:ext cx="724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2.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7"/>
              <p:cNvSpPr txBox="1"/>
              <p:nvPr/>
            </p:nvSpPr>
            <p:spPr bwMode="auto">
              <a:xfrm>
                <a:off x="1496111" y="635769"/>
                <a:ext cx="2643841" cy="13530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6111" y="635769"/>
                <a:ext cx="2643841" cy="13530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3873102" y="941385"/>
            <a:ext cx="14189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求 </a:t>
            </a:r>
            <a:r>
              <a:rPr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A</a:t>
            </a:r>
            <a:r>
              <a:rPr lang="en-US" altLang="en-US" sz="1800" b="1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lang="en-US" altLang="zh-CN" b="1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．</a:t>
            </a:r>
          </a:p>
        </p:txBody>
      </p:sp>
      <p:sp>
        <p:nvSpPr>
          <p:cNvPr id="7" name="矩形 6"/>
          <p:cNvSpPr/>
          <p:nvPr/>
        </p:nvSpPr>
        <p:spPr>
          <a:xfrm>
            <a:off x="1087201" y="9413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设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7140" y="206084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解：</a:t>
            </a:r>
          </a:p>
        </p:txBody>
      </p:sp>
      <p:grpSp>
        <p:nvGrpSpPr>
          <p:cNvPr id="9" name="Group 22"/>
          <p:cNvGrpSpPr>
            <a:grpSpLocks/>
          </p:cNvGrpSpPr>
          <p:nvPr/>
        </p:nvGrpSpPr>
        <p:grpSpPr bwMode="auto">
          <a:xfrm>
            <a:off x="683568" y="2293331"/>
            <a:ext cx="4824535" cy="1279685"/>
            <a:chOff x="1005" y="1245"/>
            <a:chExt cx="2541" cy="9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8"/>
                <p:cNvSpPr txBox="1"/>
                <p:nvPr/>
              </p:nvSpPr>
              <p:spPr bwMode="auto">
                <a:xfrm>
                  <a:off x="1005" y="1245"/>
                  <a:ext cx="2541" cy="9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</m:oMath>
                    </m:oMathPara>
                  </a14:m>
                  <a:endParaRPr lang="zh-CN" altLang="en-US" dirty="0">
                    <a:latin typeface="+mn-lt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5" y="1245"/>
                  <a:ext cx="2541" cy="9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429" y="1535"/>
              <a:ext cx="9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726" y="1298"/>
              <a:ext cx="0" cy="8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059924"/>
              </p:ext>
            </p:extLst>
          </p:nvPr>
        </p:nvGraphicFramePr>
        <p:xfrm>
          <a:off x="4932040" y="2307084"/>
          <a:ext cx="27670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">
                  <p:embed/>
                </p:oleObj>
              </mc:Choice>
              <mc:Fallback>
                <p:oleObj name="Equation" r:id="rId4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307084"/>
                        <a:ext cx="27670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523447"/>
              </p:ext>
            </p:extLst>
          </p:nvPr>
        </p:nvGraphicFramePr>
        <p:xfrm>
          <a:off x="975570" y="3640818"/>
          <a:ext cx="42179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">
                  <p:embed/>
                </p:oleObj>
              </mc:Choice>
              <mc:Fallback>
                <p:oleObj name="Equation" r:id="rId6" imgW="0" imgH="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570" y="3640818"/>
                        <a:ext cx="421798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1"/>
              <p:cNvSpPr txBox="1"/>
              <p:nvPr/>
            </p:nvSpPr>
            <p:spPr bwMode="auto">
              <a:xfrm>
                <a:off x="1000065" y="4943110"/>
                <a:ext cx="2779847" cy="111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0065" y="4943110"/>
                <a:ext cx="2779847" cy="111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1"/>
              <p:cNvSpPr txBox="1"/>
              <p:nvPr/>
            </p:nvSpPr>
            <p:spPr bwMode="auto">
              <a:xfrm>
                <a:off x="3736369" y="4797152"/>
                <a:ext cx="4217987" cy="13511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1/5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.   </a:t>
                </a:r>
                <a:r>
                  <a:rPr lang="en-US" altLang="zh-CN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▋</a:t>
                </a:r>
                <a:endParaRPr lang="zh-CN" altLang="en-US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6369" y="4797152"/>
                <a:ext cx="4217987" cy="13511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4356174" y="5229200"/>
            <a:ext cx="1727994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>
            <a:off x="4932040" y="4871083"/>
            <a:ext cx="0" cy="93445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133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5" grpId="0" animBg="1"/>
      <p:bldP spid="16" grpId="0" animBg="1"/>
      <p:bldP spid="17" grpId="0" animBg="1"/>
      <p:bldP spid="1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3170" name="Object 6"/>
              <p:cNvSpPr txBox="1"/>
              <p:nvPr/>
            </p:nvSpPr>
            <p:spPr bwMode="auto">
              <a:xfrm>
                <a:off x="2051720" y="764704"/>
                <a:ext cx="4589462" cy="18476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0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0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0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0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0    2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0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0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0 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1    2 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317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720" y="764704"/>
                <a:ext cx="4589462" cy="18476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94903" y="1340768"/>
            <a:ext cx="8429625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楷体_GB2312"/>
              </a:rPr>
              <a:t>3 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设                                            ，求 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6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|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和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楷体_GB2312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endParaRPr lang="zh-CN" altLang="en-US" sz="2800" b="1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  <a:p>
            <a:endParaRPr lang="zh-CN" altLang="en-US" b="1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  <a:p>
            <a:endParaRPr lang="zh-CN" altLang="en-US" b="1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  <a:p>
            <a:endParaRPr lang="zh-CN" altLang="en-US" b="1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楷体_GB2312"/>
            </a:endParaRPr>
          </a:p>
          <a:p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  <a:cs typeface="楷体_GB2312"/>
              </a:rPr>
              <a:t>解：</a:t>
            </a:r>
            <a:r>
              <a:rPr lang="zh-CN" altLang="en-US" sz="2800" b="1" dirty="0">
                <a:latin typeface="+mn-lt"/>
                <a:ea typeface="黑体" panose="02010609060101010101" pitchFamily="49" charset="-122"/>
                <a:cs typeface="楷体_GB231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/>
              <p:cNvSpPr txBox="1"/>
              <p:nvPr/>
            </p:nvSpPr>
            <p:spPr bwMode="auto">
              <a:xfrm>
                <a:off x="1851025" y="3235325"/>
                <a:ext cx="2754313" cy="1214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1025" y="3235325"/>
                <a:ext cx="2754313" cy="1214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4613994" y="3235226"/>
                <a:ext cx="3054350" cy="1214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3994" y="3235226"/>
                <a:ext cx="3054350" cy="1214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176" name="矩形 5"/>
          <p:cNvSpPr>
            <a:spLocks noChangeArrowheads="1"/>
          </p:cNvSpPr>
          <p:nvPr/>
        </p:nvSpPr>
        <p:spPr bwMode="auto">
          <a:xfrm>
            <a:off x="976379" y="4423668"/>
            <a:ext cx="546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则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 bwMode="auto">
              <a:xfrm>
                <a:off x="1388856" y="4293096"/>
                <a:ext cx="3055937" cy="1282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8856" y="4293096"/>
                <a:ext cx="3055937" cy="1282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/>
          <p:cNvCxnSpPr/>
          <p:nvPr/>
        </p:nvCxnSpPr>
        <p:spPr>
          <a:xfrm>
            <a:off x="2920156" y="1590452"/>
            <a:ext cx="2928938" cy="1587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cxnSpLocks/>
          </p:cNvCxnSpPr>
          <p:nvPr/>
        </p:nvCxnSpPr>
        <p:spPr>
          <a:xfrm>
            <a:off x="4399409" y="661824"/>
            <a:ext cx="1" cy="2062103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5"/>
              <p:cNvSpPr>
                <a:spLocks noChangeArrowheads="1"/>
              </p:cNvSpPr>
              <p:nvPr/>
            </p:nvSpPr>
            <p:spPr bwMode="auto">
              <a:xfrm>
                <a:off x="3898743" y="4351660"/>
                <a:ext cx="2706767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=|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∙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|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/>
                      </a:rPr>
                      <m:t>|</m:t>
                    </m:r>
                  </m:oMath>
                </a14:m>
                <a:r>
                  <a:rPr lang="en-US" altLang="zh-CN" sz="2800" dirty="0">
                    <a:ea typeface="楷体_GB2312"/>
                    <a:cs typeface="楷体_GB2312"/>
                  </a:rPr>
                  <a:t>.</a:t>
                </a:r>
                <a:endParaRPr lang="zh-CN" altLang="en-US" sz="2800" dirty="0">
                  <a:ea typeface="楷体_GB2312"/>
                  <a:cs typeface="楷体_GB2312"/>
                </a:endParaRPr>
              </a:p>
            </p:txBody>
          </p:sp>
        </mc:Choice>
        <mc:Fallback xmlns="">
          <p:sp>
            <p:nvSpPr>
              <p:cNvPr id="13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8743" y="4351660"/>
                <a:ext cx="2706767" cy="523220"/>
              </a:xfrm>
              <a:prstGeom prst="rect">
                <a:avLst/>
              </a:prstGeom>
              <a:blipFill>
                <a:blip r:embed="rId6"/>
                <a:stretch>
                  <a:fillRect t="-12791" r="-3604" b="-3139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6"/>
              <p:cNvSpPr txBox="1">
                <a:spLocks noChangeArrowheads="1"/>
              </p:cNvSpPr>
              <p:nvPr/>
            </p:nvSpPr>
            <p:spPr bwMode="auto">
              <a:xfrm>
                <a:off x="971600" y="5229200"/>
                <a:ext cx="2855135" cy="5091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  <a:cs typeface="楷体_GB2312"/>
                  </a:rPr>
                  <a:t>于是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𝑨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𝟔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楷体_GB2312"/>
                                <a:cs typeface="楷体_GB2312"/>
                              </a:rPr>
                              <m:t>𝑨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楷体_GB2312"/>
                            <a:cs typeface="楷体_GB2312"/>
                          </a:rPr>
                          <m:t>𝟔</m:t>
                        </m:r>
                      </m:sup>
                    </m:sSup>
                  </m:oMath>
                </a14:m>
                <a:endPara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楷体_GB2312"/>
                </a:endParaRPr>
              </a:p>
            </p:txBody>
          </p:sp>
        </mc:Choice>
        <mc:Fallback xmlns="">
          <p:sp>
            <p:nvSpPr>
              <p:cNvPr id="14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5229200"/>
                <a:ext cx="2855135" cy="509178"/>
              </a:xfrm>
              <a:prstGeom prst="rect">
                <a:avLst/>
              </a:prstGeom>
              <a:blipFill>
                <a:blip r:embed="rId7"/>
                <a:stretch>
                  <a:fillRect l="-3198" t="-9639" b="-1807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458583" y="5656746"/>
                <a:ext cx="2316019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楷体_GB2312"/>
                                  <a:cs typeface="楷体_GB231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楷体_GB2312"/>
                                      <a:cs typeface="楷体_GB231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楷体_GB2312"/>
                                          <a:cs typeface="楷体_GB231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楷体_GB2312"/>
                                          <a:cs typeface="楷体_GB2312"/>
                                        </a:rPr>
                                        <m:t>𝐀</m:t>
                                      </m:r>
                                    </m:e>
                                    <m:sub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楷体_GB2312"/>
                                          <a:cs typeface="楷体_GB2312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楷体_GB2312"/>
                                </a:rPr>
                                <m:t>∙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楷体_GB231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楷体_GB231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楷体_GB2312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楷体_GB231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583" y="5656746"/>
                <a:ext cx="2316019" cy="470000"/>
              </a:xfrm>
              <a:prstGeom prst="rect">
                <a:avLst/>
              </a:prstGeom>
              <a:blipFill>
                <a:blip r:embed="rId8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545946" y="5680823"/>
                <a:ext cx="2056397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latin typeface="Cambria Math" panose="02040503050406030204" pitchFamily="18" charset="0"/>
                          <a:ea typeface="楷体_GB2312"/>
                          <a:cs typeface="楷体_GB231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(−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𝟏𝟎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楷体_GB2312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946" y="5680823"/>
                <a:ext cx="2056397" cy="470000"/>
              </a:xfrm>
              <a:prstGeom prst="rect">
                <a:avLst/>
              </a:prstGeom>
              <a:blipFill>
                <a:blip r:embed="rId9"/>
                <a:stretch>
                  <a:fillRect b="-19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438793" y="5694163"/>
                <a:ext cx="1733607" cy="470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smtClean="0">
                        <a:latin typeface="Cambria Math" panose="02040503050406030204" pitchFamily="18" charset="0"/>
                        <a:ea typeface="楷体_GB2312"/>
                        <a:cs typeface="楷体_GB2312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𝟒𝟎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楷体_GB2312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US" altLang="zh-CN" dirty="0"/>
                  <a:t>.  </a:t>
                </a:r>
                <a:r>
                  <a:rPr lang="en-US" altLang="zh-CN" dirty="0">
                    <a:solidFill>
                      <a:srgbClr val="3103F3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▋</a:t>
                </a:r>
                <a:endParaRPr lang="zh-CN" altLang="en-US" dirty="0">
                  <a:solidFill>
                    <a:srgbClr val="3103F3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793" y="5694163"/>
                <a:ext cx="1733607" cy="470000"/>
              </a:xfrm>
              <a:prstGeom prst="rect">
                <a:avLst/>
              </a:prstGeom>
              <a:blipFill>
                <a:blip r:embed="rId10"/>
                <a:stretch>
                  <a:fillRect t="-12987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63176" grpId="0"/>
      <p:bldP spid="5" grpId="0"/>
      <p:bldP spid="13" grpId="0"/>
      <p:bldP spid="14" grpId="0"/>
      <p:bldP spid="15" grpId="0"/>
      <p:bldP spid="16" grpId="0"/>
      <p:bldP spid="17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/>
              <p:cNvSpPr txBox="1"/>
              <p:nvPr/>
            </p:nvSpPr>
            <p:spPr bwMode="auto">
              <a:xfrm>
                <a:off x="1315984" y="632494"/>
                <a:ext cx="2944615" cy="1212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5984" y="632494"/>
                <a:ext cx="2944615" cy="1212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/>
              <p:cNvSpPr txBox="1"/>
              <p:nvPr/>
            </p:nvSpPr>
            <p:spPr bwMode="auto">
              <a:xfrm>
                <a:off x="1115616" y="1957080"/>
                <a:ext cx="5760640" cy="8958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1957080"/>
                <a:ext cx="5760640" cy="8958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/>
              <p:cNvSpPr txBox="1"/>
              <p:nvPr/>
            </p:nvSpPr>
            <p:spPr bwMode="auto">
              <a:xfrm>
                <a:off x="1043608" y="3181216"/>
                <a:ext cx="3096344" cy="8958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3181216"/>
                <a:ext cx="3096344" cy="8958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"/>
              <p:cNvSpPr txBox="1"/>
              <p:nvPr/>
            </p:nvSpPr>
            <p:spPr bwMode="auto">
              <a:xfrm>
                <a:off x="5652120" y="3068960"/>
                <a:ext cx="2868821" cy="8958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2120" y="3068960"/>
                <a:ext cx="2868821" cy="8958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"/>
              <p:cNvSpPr txBox="1"/>
              <p:nvPr/>
            </p:nvSpPr>
            <p:spPr bwMode="auto">
              <a:xfrm>
                <a:off x="2523451" y="4417294"/>
                <a:ext cx="4177231" cy="14599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0        0     0 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   0     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0      0        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黑体" panose="02010609060101010101" pitchFamily="49" charset="-122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0      0      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黑体" panose="02010609060101010101" pitchFamily="49" charset="-122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黑体" panose="02010609060101010101" pitchFamily="49" charset="-122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3451" y="4417294"/>
                <a:ext cx="4177231" cy="14599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979712" y="4849341"/>
                <a:ext cx="74411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楷体_GB2312"/>
                        </a:rPr>
                        <m:t>𝐴</m:t>
                      </m:r>
                      <m:r>
                        <a:rPr lang="en-US" altLang="zh-CN" sz="2800" b="0" i="1" baseline="30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4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849341"/>
                <a:ext cx="74411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672231" y="800684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由于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696136" y="2063015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而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7" name="矩形 5"/>
          <p:cNvSpPr>
            <a:spLocks noChangeArrowheads="1"/>
          </p:cNvSpPr>
          <p:nvPr/>
        </p:nvSpPr>
        <p:spPr bwMode="auto">
          <a:xfrm>
            <a:off x="827584" y="3933056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故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8" name="矩形 5"/>
          <p:cNvSpPr>
            <a:spLocks noChangeArrowheads="1"/>
          </p:cNvSpPr>
          <p:nvPr/>
        </p:nvSpPr>
        <p:spPr bwMode="auto">
          <a:xfrm>
            <a:off x="3990569" y="3251147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类似可计算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6792168" y="4869160"/>
            <a:ext cx="66015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7" grpId="0"/>
      <p:bldP spid="15" grpId="0"/>
      <p:bldP spid="16" grpId="0"/>
      <p:bldP spid="17" grpId="0"/>
      <p:bldP spid="18" grpId="0"/>
      <p:bldP spid="1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034" name="Text Box 4"/>
              <p:cNvSpPr txBox="1">
                <a:spLocks noChangeArrowheads="1"/>
              </p:cNvSpPr>
              <p:nvPr/>
            </p:nvSpPr>
            <p:spPr bwMode="auto">
              <a:xfrm>
                <a:off x="539552" y="307677"/>
                <a:ext cx="7693132" cy="6370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例</a:t>
                </a:r>
                <a:r>
                  <a:rPr lang="en-US" altLang="zh-CN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4.</a:t>
                </a:r>
                <a:r>
                  <a:rPr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lang="en-US" altLang="zh-CN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𝑚</m:t>
                    </m:r>
                    <m:r>
                      <a:rPr lang="en-US" altLang="zh-CN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  <a:sym typeface="Symbol" pitchFamily="18" charset="2"/>
                      </a:rPr>
                      <m:t></m:t>
                    </m:r>
                    <m:r>
                      <a:rPr lang="en-US" altLang="zh-CN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 </m:t>
                    </m:r>
                    <m:r>
                      <a:rPr lang="en-US" altLang="zh-CN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𝑂</m:t>
                    </m:r>
                    <m:r>
                      <a:rPr lang="en-US" altLang="zh-CN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𝑚</m:t>
                    </m:r>
                    <m:r>
                      <a:rPr lang="en-US" altLang="zh-CN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  <a:sym typeface="Symbol" pitchFamily="18" charset="2"/>
                      </a:rPr>
                      <m:t></m:t>
                    </m:r>
                    <m:r>
                      <a:rPr lang="en-US" altLang="zh-CN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的充分必要条件是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lang="en-US" altLang="zh-CN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𝑇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𝐴</m:t>
                    </m:r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= </m:t>
                    </m:r>
                    <m:r>
                      <a:rPr lang="en-US" altLang="zh-CN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𝑂</m:t>
                    </m:r>
                    <m:r>
                      <a:rPr lang="en-US" altLang="zh-CN" i="1" baseline="-2500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  <m:r>
                      <a:rPr lang="en-US" altLang="zh-CN" i="1" baseline="-2500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  <a:sym typeface="Symbol" pitchFamily="18" charset="2"/>
                      </a:rPr>
                      <m:t></m:t>
                    </m:r>
                    <m:r>
                      <a:rPr lang="en-US" altLang="zh-CN" i="1" baseline="-2500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𝑛</m:t>
                    </m:r>
                    <m:r>
                      <a:rPr lang="en-US" altLang="zh-CN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楷体_GB2312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．</a:t>
                </a:r>
                <a:endParaRPr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r>
                  <a:rPr lang="zh-CN" altLang="en-US" b="1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证明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必要性显然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 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下面证明充分性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.</a:t>
                </a:r>
                <a:endParaRPr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r>
                  <a:rPr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把 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A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按列分块，有</a:t>
                </a: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于是</a:t>
                </a: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那么</a:t>
                </a: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  <a:cs typeface="楷体_GB2312"/>
                </a:endParaRPr>
              </a:p>
              <a:p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即 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A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= 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O</a:t>
                </a:r>
                <a:r>
                  <a:rPr lang="en-US" altLang="zh-CN" b="1" i="1" baseline="-25000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  <a:cs typeface="楷体_GB2312"/>
                  </a:rPr>
                  <a:t>．</a:t>
                </a:r>
              </a:p>
            </p:txBody>
          </p:sp>
        </mc:Choice>
        <mc:Fallback xmlns="">
          <p:sp>
            <p:nvSpPr>
              <p:cNvPr id="4403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307677"/>
                <a:ext cx="7693132" cy="6370975"/>
              </a:xfrm>
              <a:prstGeom prst="rect">
                <a:avLst/>
              </a:prstGeom>
              <a:blipFill>
                <a:blip r:embed="rId2"/>
                <a:stretch>
                  <a:fillRect l="-1268" t="-1052" r="-238" b="-124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0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786497"/>
              </p:ext>
            </p:extLst>
          </p:nvPr>
        </p:nvGraphicFramePr>
        <p:xfrm>
          <a:off x="3419872" y="1412776"/>
          <a:ext cx="38433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">
                  <p:embed/>
                </p:oleObj>
              </mc:Choice>
              <mc:Fallback>
                <p:oleObj name="Equation" r:id="rId3" imgW="0" imgH="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412776"/>
                        <a:ext cx="384333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855907"/>
              </p:ext>
            </p:extLst>
          </p:nvPr>
        </p:nvGraphicFramePr>
        <p:xfrm>
          <a:off x="1331640" y="2132856"/>
          <a:ext cx="7048500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">
                  <p:embed/>
                </p:oleObj>
              </mc:Choice>
              <mc:Fallback>
                <p:oleObj name="Equation" r:id="rId5" imgW="0" imgH="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132856"/>
                        <a:ext cx="7048500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750356"/>
              </p:ext>
            </p:extLst>
          </p:nvPr>
        </p:nvGraphicFramePr>
        <p:xfrm>
          <a:off x="755576" y="4077072"/>
          <a:ext cx="7508875" cy="210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">
                  <p:embed/>
                </p:oleObj>
              </mc:Choice>
              <mc:Fallback>
                <p:oleObj name="Equation" r:id="rId7" imgW="0" imgH="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077072"/>
                        <a:ext cx="7508875" cy="210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413299"/>
              </p:ext>
            </p:extLst>
          </p:nvPr>
        </p:nvGraphicFramePr>
        <p:xfrm>
          <a:off x="5533503" y="5491452"/>
          <a:ext cx="3046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">
                  <p:embed/>
                </p:oleObj>
              </mc:Choice>
              <mc:Fallback>
                <p:oleObj name="Equation" r:id="rId9" imgW="0" imgH="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3503" y="5491452"/>
                        <a:ext cx="3046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AutoShape 11"/>
          <p:cNvSpPr>
            <a:spLocks noChangeArrowheads="1"/>
          </p:cNvSpPr>
          <p:nvPr/>
        </p:nvSpPr>
        <p:spPr bwMode="auto">
          <a:xfrm rot="19200000">
            <a:off x="5007127" y="5311700"/>
            <a:ext cx="360363" cy="647700"/>
          </a:xfrm>
          <a:prstGeom prst="curvedRightArrow">
            <a:avLst>
              <a:gd name="adj1" fmla="val 35947"/>
              <a:gd name="adj2" fmla="val 7189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2195736" y="6135687"/>
            <a:ext cx="109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40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3" grpId="0" animBg="1"/>
      <p:bldP spid="8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3166" y="137517"/>
            <a:ext cx="4828914" cy="915219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线性方程组的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种形式</a:t>
            </a: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92" y="968127"/>
            <a:ext cx="8229600" cy="457200"/>
          </a:xfrm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黑体" panose="02010609060101010101" pitchFamily="49" charset="-122"/>
              </a:rPr>
              <a:t>1. </a:t>
            </a:r>
            <a:r>
              <a:rPr lang="zh-CN" altLang="en-US" dirty="0">
                <a:ea typeface="黑体" panose="02010609060101010101" pitchFamily="49" charset="-122"/>
              </a:rPr>
              <a:t>线性方程组的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一般形式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0" name="Object 4"/>
              <p:cNvSpPr txBox="1"/>
              <p:nvPr/>
            </p:nvSpPr>
            <p:spPr bwMode="auto">
              <a:xfrm>
                <a:off x="2195736" y="1556792"/>
                <a:ext cx="4187825" cy="1512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⋯⋯⋯⋯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56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736" y="1556792"/>
                <a:ext cx="4187825" cy="15121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457200" y="3140968"/>
            <a:ext cx="8543925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indent="0" eaLnBrk="1" hangingPunct="1">
              <a:buClr>
                <a:srgbClr val="00007D"/>
              </a:buClr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2.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线性方程组的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矩阵形式</a:t>
            </a:r>
            <a:endParaRPr lang="en-US" altLang="zh-CN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00007D"/>
              </a:buClr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</a:t>
            </a:r>
            <a:endParaRPr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3782913"/>
            <a:ext cx="8231188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黑体" panose="02010609060101010101" pitchFamily="49" charset="-122"/>
              </a:rPr>
              <a:t>3. 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线性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方程组的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向量形式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，令</a:t>
            </a:r>
          </a:p>
        </p:txBody>
      </p:sp>
      <p:sp>
        <p:nvSpPr>
          <p:cNvPr id="23565" name="AutoShape 13"/>
          <p:cNvSpPr>
            <a:spLocks noChangeArrowheads="1"/>
          </p:cNvSpPr>
          <p:nvPr/>
        </p:nvSpPr>
        <p:spPr bwMode="auto">
          <a:xfrm>
            <a:off x="6372200" y="404664"/>
            <a:ext cx="2016125" cy="1008062"/>
          </a:xfrm>
          <a:prstGeom prst="cloudCallout">
            <a:avLst>
              <a:gd name="adj1" fmla="val -51023"/>
              <a:gd name="adj2" fmla="val 77245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180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不一定相等！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 bwMode="auto">
              <a:xfrm>
                <a:off x="1619672" y="4358977"/>
                <a:ext cx="7067128" cy="2022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4358977"/>
                <a:ext cx="7067128" cy="2022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 bwMode="auto">
              <a:xfrm>
                <a:off x="3995936" y="3109714"/>
                <a:ext cx="2808312" cy="679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936" y="3109714"/>
                <a:ext cx="2808312" cy="679326"/>
              </a:xfrm>
              <a:prstGeom prst="rect">
                <a:avLst/>
              </a:prstGeom>
              <a:blipFill>
                <a:blip r:embed="rId5"/>
                <a:stretch>
                  <a:fillRect l="-6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5249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build="p"/>
      <p:bldP spid="23560" grpId="0"/>
      <p:bldP spid="23561" grpId="0"/>
      <p:bldP spid="23563" grpId="0"/>
      <p:bldP spid="23565" grpId="0" animBg="1"/>
      <p:bldP spid="9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02" name="TextBox 1"/>
          <p:cNvSpPr txBox="1">
            <a:spLocks noChangeArrowheads="1"/>
          </p:cNvSpPr>
          <p:nvPr/>
        </p:nvSpPr>
        <p:spPr bwMode="auto">
          <a:xfrm>
            <a:off x="3491706" y="586780"/>
            <a:ext cx="1871663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  结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39750" y="1700213"/>
            <a:ext cx="458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一、分块矩阵的概念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11188" y="2484438"/>
            <a:ext cx="41052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二、分块矩阵的运算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4500563" y="1844675"/>
            <a:ext cx="358775" cy="1800225"/>
          </a:xfrm>
          <a:prstGeom prst="leftBrac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932363" y="1557338"/>
            <a:ext cx="2735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加法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859338" y="2195513"/>
            <a:ext cx="273685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数乘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932363" y="2781300"/>
            <a:ext cx="2735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乘法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932363" y="3421063"/>
            <a:ext cx="2735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转置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11188" y="4645025"/>
            <a:ext cx="41052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三、特殊的分块矩阵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4427538" y="4221163"/>
            <a:ext cx="288925" cy="1439862"/>
          </a:xfrm>
          <a:prstGeom prst="leftBrac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716463" y="4005263"/>
            <a:ext cx="2735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行分块矩阵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87900" y="4724400"/>
            <a:ext cx="27368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列分块矩阵</a:t>
            </a:r>
            <a:endParaRPr lang="en-US" altLang="zh-CN" sz="32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787900" y="5373688"/>
            <a:ext cx="37449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对角分块矩阵</a:t>
            </a:r>
            <a:r>
              <a:rPr lang="en-US" altLang="zh-CN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7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9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楷体_GB2312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9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0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0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7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ppt/theme/themeOverride2.xml><?xml version="1.0" encoding="utf-8"?>
<a:themeOverride xmlns:a="http://schemas.openxmlformats.org/drawingml/2006/main">
  <a:clrScheme name="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ppt/theme/themeOverride3.xml><?xml version="1.0" encoding="utf-8"?>
<a:themeOverride xmlns:a="http://schemas.openxmlformats.org/drawingml/2006/main">
  <a:clrScheme name="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ppt/theme/themeOverride4.xml><?xml version="1.0" encoding="utf-8"?>
<a:themeOverride xmlns:a="http://schemas.openxmlformats.org/drawingml/2006/main">
  <a:clrScheme name="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35203</TotalTime>
  <Words>6046</Words>
  <Application>Microsoft Office PowerPoint</Application>
  <PresentationFormat>全屏显示(4:3)</PresentationFormat>
  <Paragraphs>939</Paragraphs>
  <Slides>125</Slides>
  <Notes>0</Notes>
  <HiddenSlides>11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48" baseType="lpstr">
      <vt:lpstr>黑体</vt:lpstr>
      <vt:lpstr>楷体_GB2312</vt:lpstr>
      <vt:lpstr>宋体</vt:lpstr>
      <vt:lpstr>Arial</vt:lpstr>
      <vt:lpstr>Arial Black</vt:lpstr>
      <vt:lpstr>Calibri</vt:lpstr>
      <vt:lpstr>Cambria Math</vt:lpstr>
      <vt:lpstr>Tahoma</vt:lpstr>
      <vt:lpstr>Times New Roman</vt:lpstr>
      <vt:lpstr>Wingdings</vt:lpstr>
      <vt:lpstr>7_Pixel</vt:lpstr>
      <vt:lpstr>7_Blends</vt:lpstr>
      <vt:lpstr>8_Blends</vt:lpstr>
      <vt:lpstr>8_Pixel</vt:lpstr>
      <vt:lpstr>9_Blends</vt:lpstr>
      <vt:lpstr>9_Pixel</vt:lpstr>
      <vt:lpstr>10_Blends</vt:lpstr>
      <vt:lpstr>10_Pixel</vt:lpstr>
      <vt:lpstr>15_Pixel</vt:lpstr>
      <vt:lpstr>16_Pixel</vt:lpstr>
      <vt:lpstr>17_Pixel</vt:lpstr>
      <vt:lpstr>18_Pixel</vt:lpstr>
      <vt:lpstr>Equation</vt:lpstr>
      <vt:lpstr>第二章  矩阵及其运算</vt:lpstr>
      <vt:lpstr>§1  线性方程组和矩阵</vt:lpstr>
      <vt:lpstr>PowerPoint 演示文稿</vt:lpstr>
      <vt:lpstr>PowerPoint 演示文稿</vt:lpstr>
      <vt:lpstr>非齐次方程组可能有解，也可能无解.</vt:lpstr>
      <vt:lpstr>PowerPoint 演示文稿</vt:lpstr>
      <vt:lpstr>PowerPoint 演示文稿</vt:lpstr>
      <vt:lpstr>二、矩阵(Matrix)的定义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五、矩阵与线性方程组</vt:lpstr>
      <vt:lpstr>PowerPoint 演示文稿</vt:lpstr>
      <vt:lpstr>PowerPoint 演示文稿</vt:lpstr>
      <vt:lpstr>PowerPoint 演示文稿</vt:lpstr>
      <vt:lpstr>§2  矩阵的运算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  逆矩阵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定义</vt:lpstr>
      <vt:lpstr>PowerPoint 演示文稿</vt:lpstr>
      <vt:lpstr>PowerPoint 演示文稿</vt:lpstr>
      <vt:lpstr>PowerPoint 演示文稿</vt:lpstr>
      <vt:lpstr>PowerPoint 演示文稿</vt:lpstr>
      <vt:lpstr>性质</vt:lpstr>
      <vt:lpstr>PowerPoint 演示文稿</vt:lpstr>
      <vt:lpstr>PowerPoint 演示文稿</vt:lpstr>
      <vt:lpstr>PowerPoint 演示文稿</vt:lpstr>
      <vt:lpstr>PowerPoint 演示文稿</vt:lpstr>
      <vt:lpstr>§4  克拉默法则</vt:lpstr>
      <vt:lpstr>简介</vt:lpstr>
      <vt:lpstr>一、克拉默法则（Gramer’s Rule）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§5  矩阵分块法</vt:lpstr>
      <vt:lpstr>问题</vt:lpstr>
      <vt:lpstr>问题一：什么是矩阵分块法？</vt:lpstr>
      <vt:lpstr>问题二：为什么提出矩阵分块法？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四、分块矩阵的转置</vt:lpstr>
      <vt:lpstr>五、分块对角矩阵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线性方程组的3种形式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作强 谢</cp:lastModifiedBy>
  <cp:revision>916</cp:revision>
  <dcterms:created xsi:type="dcterms:W3CDTF">2012-04-21T04:49:10Z</dcterms:created>
  <dcterms:modified xsi:type="dcterms:W3CDTF">2024-11-13T14:36:10Z</dcterms:modified>
</cp:coreProperties>
</file>