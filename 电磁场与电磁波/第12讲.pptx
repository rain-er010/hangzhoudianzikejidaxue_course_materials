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6"/>
  </p:notesMasterIdLst>
  <p:handoutMasterIdLst>
    <p:handoutMasterId r:id="rId37"/>
  </p:handoutMasterIdLst>
  <p:sldIdLst>
    <p:sldId id="471" r:id="rId2"/>
    <p:sldId id="473" r:id="rId3"/>
    <p:sldId id="635" r:id="rId4"/>
    <p:sldId id="636" r:id="rId5"/>
    <p:sldId id="641" r:id="rId6"/>
    <p:sldId id="642" r:id="rId7"/>
    <p:sldId id="643" r:id="rId8"/>
    <p:sldId id="644" r:id="rId9"/>
    <p:sldId id="645" r:id="rId10"/>
    <p:sldId id="646" r:id="rId11"/>
    <p:sldId id="647" r:id="rId12"/>
    <p:sldId id="648" r:id="rId13"/>
    <p:sldId id="649" r:id="rId14"/>
    <p:sldId id="650" r:id="rId15"/>
    <p:sldId id="651" r:id="rId16"/>
    <p:sldId id="652" r:id="rId17"/>
    <p:sldId id="653" r:id="rId18"/>
    <p:sldId id="654" r:id="rId19"/>
    <p:sldId id="655" r:id="rId20"/>
    <p:sldId id="656" r:id="rId21"/>
    <p:sldId id="637" r:id="rId22"/>
    <p:sldId id="577" r:id="rId23"/>
    <p:sldId id="475" r:id="rId24"/>
    <p:sldId id="578" r:id="rId25"/>
    <p:sldId id="625" r:id="rId26"/>
    <p:sldId id="640" r:id="rId27"/>
    <p:sldId id="626" r:id="rId28"/>
    <p:sldId id="627" r:id="rId29"/>
    <p:sldId id="628" r:id="rId30"/>
    <p:sldId id="629" r:id="rId31"/>
    <p:sldId id="630" r:id="rId32"/>
    <p:sldId id="631" r:id="rId33"/>
    <p:sldId id="633" r:id="rId34"/>
    <p:sldId id="634" r:id="rId3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71"/>
    <a:srgbClr val="FFFF57"/>
    <a:srgbClr val="009DEC"/>
    <a:srgbClr val="E781E0"/>
    <a:srgbClr val="339933"/>
    <a:srgbClr val="9393FF"/>
    <a:srgbClr val="87E3E1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1" autoAdjust="0"/>
    <p:restoredTop sz="97849" autoAdjust="0"/>
  </p:normalViewPr>
  <p:slideViewPr>
    <p:cSldViewPr>
      <p:cViewPr>
        <p:scale>
          <a:sx n="100" d="100"/>
          <a:sy n="100" d="100"/>
        </p:scale>
        <p:origin x="-1944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56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6.emf"/><Relationship Id="rId3" Type="http://schemas.openxmlformats.org/officeDocument/2006/relationships/image" Target="../media/image6.emf"/><Relationship Id="rId7" Type="http://schemas.openxmlformats.org/officeDocument/2006/relationships/image" Target="../media/image10.wmf"/><Relationship Id="rId12" Type="http://schemas.openxmlformats.org/officeDocument/2006/relationships/image" Target="../media/image15.e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e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e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4" Type="http://schemas.openxmlformats.org/officeDocument/2006/relationships/image" Target="../media/image6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image" Target="../media/image77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12" Type="http://schemas.openxmlformats.org/officeDocument/2006/relationships/image" Target="../media/image76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11" Type="http://schemas.openxmlformats.org/officeDocument/2006/relationships/image" Target="../media/image75.emf"/><Relationship Id="rId5" Type="http://schemas.openxmlformats.org/officeDocument/2006/relationships/image" Target="../media/image69.emf"/><Relationship Id="rId15" Type="http://schemas.openxmlformats.org/officeDocument/2006/relationships/image" Target="../media/image79.emf"/><Relationship Id="rId10" Type="http://schemas.openxmlformats.org/officeDocument/2006/relationships/image" Target="../media/image74.emf"/><Relationship Id="rId4" Type="http://schemas.openxmlformats.org/officeDocument/2006/relationships/image" Target="../media/image68.emf"/><Relationship Id="rId9" Type="http://schemas.openxmlformats.org/officeDocument/2006/relationships/image" Target="../media/image73.emf"/><Relationship Id="rId14" Type="http://schemas.openxmlformats.org/officeDocument/2006/relationships/image" Target="../media/image78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image" Target="../media/image93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12" Type="http://schemas.openxmlformats.org/officeDocument/2006/relationships/image" Target="../media/image92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emf"/><Relationship Id="rId11" Type="http://schemas.openxmlformats.org/officeDocument/2006/relationships/image" Target="../media/image91.emf"/><Relationship Id="rId5" Type="http://schemas.openxmlformats.org/officeDocument/2006/relationships/image" Target="../media/image85.emf"/><Relationship Id="rId15" Type="http://schemas.openxmlformats.org/officeDocument/2006/relationships/image" Target="../media/image9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Relationship Id="rId14" Type="http://schemas.openxmlformats.org/officeDocument/2006/relationships/image" Target="../media/image9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image" Target="../media/image103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image" Target="../media/image118.wmf"/><Relationship Id="rId3" Type="http://schemas.openxmlformats.org/officeDocument/2006/relationships/image" Target="../media/image108.emf"/><Relationship Id="rId7" Type="http://schemas.openxmlformats.org/officeDocument/2006/relationships/image" Target="../media/image112.wmf"/><Relationship Id="rId12" Type="http://schemas.openxmlformats.org/officeDocument/2006/relationships/image" Target="../media/image117.w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wmf"/><Relationship Id="rId11" Type="http://schemas.openxmlformats.org/officeDocument/2006/relationships/image" Target="../media/image116.wmf"/><Relationship Id="rId5" Type="http://schemas.openxmlformats.org/officeDocument/2006/relationships/image" Target="../media/image110.wmf"/><Relationship Id="rId10" Type="http://schemas.openxmlformats.org/officeDocument/2006/relationships/image" Target="../media/image115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Relationship Id="rId14" Type="http://schemas.openxmlformats.org/officeDocument/2006/relationships/image" Target="../media/image11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135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12" Type="http://schemas.openxmlformats.org/officeDocument/2006/relationships/image" Target="../media/image134.w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Relationship Id="rId6" Type="http://schemas.openxmlformats.org/officeDocument/2006/relationships/image" Target="../media/image128.wmf"/><Relationship Id="rId11" Type="http://schemas.openxmlformats.org/officeDocument/2006/relationships/image" Target="../media/image133.wmf"/><Relationship Id="rId5" Type="http://schemas.openxmlformats.org/officeDocument/2006/relationships/image" Target="../media/image127.wmf"/><Relationship Id="rId10" Type="http://schemas.openxmlformats.org/officeDocument/2006/relationships/image" Target="../media/image132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image" Target="../media/image143.emf"/><Relationship Id="rId7" Type="http://schemas.openxmlformats.org/officeDocument/2006/relationships/image" Target="../media/image147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6" Type="http://schemas.openxmlformats.org/officeDocument/2006/relationships/image" Target="../media/image146.emf"/><Relationship Id="rId5" Type="http://schemas.openxmlformats.org/officeDocument/2006/relationships/image" Target="../media/image145.emf"/><Relationship Id="rId4" Type="http://schemas.openxmlformats.org/officeDocument/2006/relationships/image" Target="../media/image144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Relationship Id="rId4" Type="http://schemas.openxmlformats.org/officeDocument/2006/relationships/image" Target="../media/image152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7" Type="http://schemas.openxmlformats.org/officeDocument/2006/relationships/image" Target="../media/image159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6" Type="http://schemas.openxmlformats.org/officeDocument/2006/relationships/image" Target="../media/image158.emf"/><Relationship Id="rId5" Type="http://schemas.openxmlformats.org/officeDocument/2006/relationships/image" Target="../media/image157.emf"/><Relationship Id="rId4" Type="http://schemas.openxmlformats.org/officeDocument/2006/relationships/image" Target="../media/image156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3" Type="http://schemas.openxmlformats.org/officeDocument/2006/relationships/image" Target="../media/image162.emf"/><Relationship Id="rId7" Type="http://schemas.openxmlformats.org/officeDocument/2006/relationships/image" Target="../media/image166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Relationship Id="rId6" Type="http://schemas.openxmlformats.org/officeDocument/2006/relationships/image" Target="../media/image165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Relationship Id="rId9" Type="http://schemas.openxmlformats.org/officeDocument/2006/relationships/image" Target="../media/image168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image" Target="../media/image17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7" Type="http://schemas.openxmlformats.org/officeDocument/2006/relationships/image" Target="../media/image182.emf"/><Relationship Id="rId2" Type="http://schemas.openxmlformats.org/officeDocument/2006/relationships/image" Target="../media/image177.emf"/><Relationship Id="rId1" Type="http://schemas.openxmlformats.org/officeDocument/2006/relationships/image" Target="../media/image176.wmf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9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3" Type="http://schemas.openxmlformats.org/officeDocument/2006/relationships/image" Target="../media/image185.emf"/><Relationship Id="rId7" Type="http://schemas.openxmlformats.org/officeDocument/2006/relationships/image" Target="../media/image189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6" Type="http://schemas.openxmlformats.org/officeDocument/2006/relationships/image" Target="../media/image188.emf"/><Relationship Id="rId11" Type="http://schemas.openxmlformats.org/officeDocument/2006/relationships/image" Target="../media/image193.emf"/><Relationship Id="rId5" Type="http://schemas.openxmlformats.org/officeDocument/2006/relationships/image" Target="../media/image187.emf"/><Relationship Id="rId10" Type="http://schemas.openxmlformats.org/officeDocument/2006/relationships/image" Target="../media/image192.emf"/><Relationship Id="rId4" Type="http://schemas.openxmlformats.org/officeDocument/2006/relationships/image" Target="../media/image186.emf"/><Relationship Id="rId9" Type="http://schemas.openxmlformats.org/officeDocument/2006/relationships/image" Target="../media/image19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C3B40687-9210-4C69-9466-FE68A60124F9}" type="datetime1">
              <a:rPr lang="zh-CN" altLang="en-US"/>
              <a:pPr>
                <a:defRPr/>
              </a:pPr>
              <a:t>2026/5/28</a:t>
            </a:fld>
            <a:endParaRPr lang="en-US" altLang="zh-CN"/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EE7F6602-B84B-4D3A-ACE3-38F54B0442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23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96B232FA-B95D-46C9-B38D-3FD0E5B86826}" type="datetime1">
              <a:rPr lang="zh-CN" altLang="en-US"/>
              <a:pPr>
                <a:defRPr/>
              </a:pPr>
              <a:t>2026/5/28</a:t>
            </a:fld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E7186C7C-36F5-495E-BF24-09118474E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07944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209B4-8A62-4B94-90E1-60C4DFE720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19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D48D3-A80B-402E-A968-0C7887BEC2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825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817734-D556-415A-BA71-9A3960D36D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36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C6D5E-0527-48B7-B8C9-2058022B24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91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A8608-CE48-4144-8BF4-8C21975747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631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3B283-007E-457F-9899-EB4ACF632E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76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E9ED4-3F3A-41BF-B0B2-F467872486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03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830EA-3DD3-479C-8F85-59A7329A5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51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52375-D6A5-4385-9B83-F86377E180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23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0AD7-4294-4CF6-A049-FE91E08F3D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587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0A6DF-6430-469B-99EF-5217AB0CF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1287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64EF3-C1B1-41F5-851C-029AFFCAB7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912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BD208-0F8A-45C3-8087-C1569F3281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434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4" name="Rectangle 4"/>
          <p:cNvSpPr>
            <a:spLocks noChangeArrowheads="1"/>
          </p:cNvSpPr>
          <p:nvPr/>
        </p:nvSpPr>
        <p:spPr bwMode="ltGray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algn="ctr">
              <a:lnSpc>
                <a:spcPct val="60000"/>
              </a:lnSpc>
              <a:spcBef>
                <a:spcPct val="0"/>
              </a:spcBef>
              <a:defRPr/>
            </a:pPr>
            <a:r>
              <a:rPr lang="zh-CN" altLang="en-US" b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6</a:t>
            </a:r>
            <a:r>
              <a:rPr lang="zh-CN" altLang="en-US" b="0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章 均匀平面波的反射与透射</a:t>
            </a:r>
            <a:endParaRPr lang="zh-CN" altLang="en-US" b="0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ltGray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tIns="1080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smtClean="0">
                <a:solidFill>
                  <a:srgbClr val="573CFC"/>
                </a:solidFill>
                <a:ea typeface="华文行楷" pitchFamily="2" charset="-122"/>
              </a:rPr>
              <a:t>电磁场与电磁波</a:t>
            </a:r>
          </a:p>
        </p:txBody>
      </p:sp>
      <p:sp>
        <p:nvSpPr>
          <p:cNvPr id="1028" name="Rectangle 9" descr="深色横线"/>
          <p:cNvSpPr>
            <a:spLocks noChangeArrowheads="1"/>
          </p:cNvSpPr>
          <p:nvPr/>
        </p:nvSpPr>
        <p:spPr bwMode="ltGray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716810" name="Rectangle 10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ea typeface="+mn-ea"/>
              </a:defRPr>
            </a:lvl1pPr>
          </a:lstStyle>
          <a:p>
            <a:pPr>
              <a:defRPr/>
            </a:pPr>
            <a:fld id="{8868C87E-A464-4C16-98D2-EFAFA7F924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31" name="Rectangle 16" descr="栎木"/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33" name="Rectangle 18" descr="深色横线"/>
          <p:cNvSpPr>
            <a:spLocks noChangeArrowheads="1"/>
          </p:cNvSpPr>
          <p:nvPr userDrawn="1"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Relationship Id="rId5" Type="http://schemas.openxmlformats.org/officeDocument/2006/relationships/slide" Target="slide3.xml"/><Relationship Id="rId4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1.wmf"/><Relationship Id="rId26" Type="http://schemas.openxmlformats.org/officeDocument/2006/relationships/image" Target="../media/image15.e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29" Type="http://schemas.openxmlformats.org/officeDocument/2006/relationships/slide" Target="slide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16.emf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wmf"/><Relationship Id="rId22" Type="http://schemas.openxmlformats.org/officeDocument/2006/relationships/image" Target="../media/image13.emf"/><Relationship Id="rId27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slide" Target="slide4.xml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4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e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21.bin"/><Relationship Id="rId1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0.bin"/><Relationship Id="rId26" Type="http://schemas.openxmlformats.org/officeDocument/2006/relationships/oleObject" Target="../embeddings/oleObject36.bin"/><Relationship Id="rId3" Type="http://schemas.openxmlformats.org/officeDocument/2006/relationships/image" Target="../media/image3.png"/><Relationship Id="rId21" Type="http://schemas.openxmlformats.org/officeDocument/2006/relationships/image" Target="../media/image35.png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7.bin"/><Relationship Id="rId17" Type="http://schemas.openxmlformats.org/officeDocument/2006/relationships/oleObject" Target="../embeddings/oleObject29.bin"/><Relationship Id="rId25" Type="http://schemas.openxmlformats.org/officeDocument/2006/relationships/image" Target="../media/image33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4.png"/><Relationship Id="rId20" Type="http://schemas.openxmlformats.org/officeDocument/2006/relationships/oleObject" Target="../embeddings/oleObject32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35.bin"/><Relationship Id="rId5" Type="http://schemas.openxmlformats.org/officeDocument/2006/relationships/image" Target="../media/image27.emf"/><Relationship Id="rId15" Type="http://schemas.openxmlformats.org/officeDocument/2006/relationships/image" Target="../media/image32.wmf"/><Relationship Id="rId23" Type="http://schemas.openxmlformats.org/officeDocument/2006/relationships/oleObject" Target="../embeddings/oleObject34.bin"/><Relationship Id="rId10" Type="http://schemas.openxmlformats.org/officeDocument/2006/relationships/oleObject" Target="../embeddings/oleObject26.bin"/><Relationship Id="rId19" Type="http://schemas.openxmlformats.org/officeDocument/2006/relationships/oleObject" Target="../embeddings/oleObject31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3.bin"/><Relationship Id="rId27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6.emf"/><Relationship Id="rId9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slide" Target="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1.emf"/><Relationship Id="rId9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image" Target="../media/image47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" Type="http://schemas.openxmlformats.org/officeDocument/2006/relationships/oleObject" Target="../embeddings/oleObject45.bin"/><Relationship Id="rId21" Type="http://schemas.openxmlformats.org/officeDocument/2006/relationships/image" Target="../media/image51.wmf"/><Relationship Id="rId7" Type="http://schemas.openxmlformats.org/officeDocument/2006/relationships/oleObject" Target="../embeddings/oleObject47.bin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9.wmf"/><Relationship Id="rId25" Type="http://schemas.openxmlformats.org/officeDocument/2006/relationships/image" Target="../media/image53.wmf"/><Relationship Id="rId33" Type="http://schemas.openxmlformats.org/officeDocument/2006/relationships/image" Target="../media/image57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5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emf"/><Relationship Id="rId11" Type="http://schemas.openxmlformats.org/officeDocument/2006/relationships/slide" Target="slide4.xml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5" Type="http://schemas.openxmlformats.org/officeDocument/2006/relationships/oleObject" Target="../embeddings/oleObject46.bin"/><Relationship Id="rId15" Type="http://schemas.openxmlformats.org/officeDocument/2006/relationships/image" Target="../media/image48.wmf"/><Relationship Id="rId23" Type="http://schemas.openxmlformats.org/officeDocument/2006/relationships/image" Target="../media/image52.wmf"/><Relationship Id="rId28" Type="http://schemas.openxmlformats.org/officeDocument/2006/relationships/oleObject" Target="../embeddings/oleObject56.bin"/><Relationship Id="rId10" Type="http://schemas.openxmlformats.org/officeDocument/2006/relationships/image" Target="../media/image3.png"/><Relationship Id="rId19" Type="http://schemas.openxmlformats.org/officeDocument/2006/relationships/image" Target="../media/image50.wmf"/><Relationship Id="rId31" Type="http://schemas.openxmlformats.org/officeDocument/2006/relationships/image" Target="../media/image56.wmf"/><Relationship Id="rId4" Type="http://schemas.openxmlformats.org/officeDocument/2006/relationships/image" Target="../media/image44.emf"/><Relationship Id="rId9" Type="http://schemas.openxmlformats.org/officeDocument/2006/relationships/image" Target="../media/image25.png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54.wmf"/><Relationship Id="rId30" Type="http://schemas.openxmlformats.org/officeDocument/2006/relationships/oleObject" Target="../embeddings/oleObject5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slide" Target="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emf"/><Relationship Id="rId11" Type="http://schemas.openxmlformats.org/officeDocument/2006/relationships/image" Target="../media/image62.gi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1.emf"/><Relationship Id="rId4" Type="http://schemas.openxmlformats.org/officeDocument/2006/relationships/image" Target="../media/image58.emf"/><Relationship Id="rId9" Type="http://schemas.openxmlformats.org/officeDocument/2006/relationships/oleObject" Target="../embeddings/oleObject6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oleObject" Target="../embeddings/oleObject63.bin"/><Relationship Id="rId7" Type="http://schemas.openxmlformats.org/officeDocument/2006/relationships/image" Target="../media/image64.gi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6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9.emf"/><Relationship Id="rId18" Type="http://schemas.openxmlformats.org/officeDocument/2006/relationships/oleObject" Target="../embeddings/oleObject71.bin"/><Relationship Id="rId26" Type="http://schemas.openxmlformats.org/officeDocument/2006/relationships/oleObject" Target="../embeddings/oleObject75.bin"/><Relationship Id="rId3" Type="http://schemas.openxmlformats.org/officeDocument/2006/relationships/oleObject" Target="../embeddings/oleObject64.bin"/><Relationship Id="rId21" Type="http://schemas.openxmlformats.org/officeDocument/2006/relationships/image" Target="../media/image73.emf"/><Relationship Id="rId34" Type="http://schemas.openxmlformats.org/officeDocument/2006/relationships/image" Target="../media/image79.emf"/><Relationship Id="rId7" Type="http://schemas.openxmlformats.org/officeDocument/2006/relationships/image" Target="../media/image80.gi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71.emf"/><Relationship Id="rId25" Type="http://schemas.openxmlformats.org/officeDocument/2006/relationships/image" Target="../media/image75.emf"/><Relationship Id="rId33" Type="http://schemas.openxmlformats.org/officeDocument/2006/relationships/oleObject" Target="../embeddings/oleObject78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29" Type="http://schemas.openxmlformats.org/officeDocument/2006/relationships/image" Target="../media/image77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6.emf"/><Relationship Id="rId11" Type="http://schemas.openxmlformats.org/officeDocument/2006/relationships/image" Target="../media/image68.emf"/><Relationship Id="rId24" Type="http://schemas.openxmlformats.org/officeDocument/2006/relationships/oleObject" Target="../embeddings/oleObject74.bin"/><Relationship Id="rId32" Type="http://schemas.openxmlformats.org/officeDocument/2006/relationships/image" Target="../media/image78.emf"/><Relationship Id="rId5" Type="http://schemas.openxmlformats.org/officeDocument/2006/relationships/oleObject" Target="../embeddings/oleObject65.bin"/><Relationship Id="rId15" Type="http://schemas.openxmlformats.org/officeDocument/2006/relationships/image" Target="../media/image70.emf"/><Relationship Id="rId23" Type="http://schemas.openxmlformats.org/officeDocument/2006/relationships/image" Target="../media/image74.emf"/><Relationship Id="rId28" Type="http://schemas.openxmlformats.org/officeDocument/2006/relationships/oleObject" Target="../embeddings/oleObject76.bin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72.emf"/><Relationship Id="rId31" Type="http://schemas.openxmlformats.org/officeDocument/2006/relationships/oleObject" Target="../embeddings/oleObject77.bin"/><Relationship Id="rId4" Type="http://schemas.openxmlformats.org/officeDocument/2006/relationships/image" Target="../media/image65.emf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Relationship Id="rId27" Type="http://schemas.openxmlformats.org/officeDocument/2006/relationships/image" Target="../media/image76.emf"/><Relationship Id="rId30" Type="http://schemas.openxmlformats.org/officeDocument/2006/relationships/image" Target="../media/image3.png"/><Relationship Id="rId35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../embeddings/oleObject83.bin"/><Relationship Id="rId18" Type="http://schemas.openxmlformats.org/officeDocument/2006/relationships/image" Target="../media/image87.emf"/><Relationship Id="rId26" Type="http://schemas.openxmlformats.org/officeDocument/2006/relationships/image" Target="../media/image91.e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7.bin"/><Relationship Id="rId34" Type="http://schemas.openxmlformats.org/officeDocument/2006/relationships/image" Target="../media/image95.emf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4.e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33" Type="http://schemas.openxmlformats.org/officeDocument/2006/relationships/oleObject" Target="../embeddings/oleObject9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6.emf"/><Relationship Id="rId20" Type="http://schemas.openxmlformats.org/officeDocument/2006/relationships/image" Target="../media/image88.emf"/><Relationship Id="rId29" Type="http://schemas.openxmlformats.org/officeDocument/2006/relationships/oleObject" Target="../embeddings/oleObject91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82.bin"/><Relationship Id="rId24" Type="http://schemas.openxmlformats.org/officeDocument/2006/relationships/image" Target="../media/image90.emf"/><Relationship Id="rId32" Type="http://schemas.openxmlformats.org/officeDocument/2006/relationships/image" Target="../media/image94.e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8.bin"/><Relationship Id="rId28" Type="http://schemas.openxmlformats.org/officeDocument/2006/relationships/image" Target="../media/image92.emf"/><Relationship Id="rId10" Type="http://schemas.openxmlformats.org/officeDocument/2006/relationships/image" Target="../media/image96.gif"/><Relationship Id="rId19" Type="http://schemas.openxmlformats.org/officeDocument/2006/relationships/oleObject" Target="../embeddings/oleObject86.bin"/><Relationship Id="rId31" Type="http://schemas.openxmlformats.org/officeDocument/2006/relationships/oleObject" Target="../embeddings/oleObject92.bin"/><Relationship Id="rId4" Type="http://schemas.openxmlformats.org/officeDocument/2006/relationships/image" Target="../media/image81.emf"/><Relationship Id="rId9" Type="http://schemas.openxmlformats.org/officeDocument/2006/relationships/image" Target="../media/image3.png"/><Relationship Id="rId14" Type="http://schemas.openxmlformats.org/officeDocument/2006/relationships/image" Target="../media/image85.emf"/><Relationship Id="rId22" Type="http://schemas.openxmlformats.org/officeDocument/2006/relationships/image" Target="../media/image89.emf"/><Relationship Id="rId27" Type="http://schemas.openxmlformats.org/officeDocument/2006/relationships/oleObject" Target="../embeddings/oleObject90.bin"/><Relationship Id="rId30" Type="http://schemas.openxmlformats.org/officeDocument/2006/relationships/image" Target="../media/image93.emf"/><Relationship Id="rId35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94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8.emf"/><Relationship Id="rId11" Type="http://schemas.openxmlformats.org/officeDocument/2006/relationships/slide" Target="slide4.xml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99.emf"/><Relationship Id="rId4" Type="http://schemas.openxmlformats.org/officeDocument/2006/relationships/image" Target="../media/image97.emf"/><Relationship Id="rId9" Type="http://schemas.openxmlformats.org/officeDocument/2006/relationships/oleObject" Target="../embeddings/oleObject9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04.emf"/><Relationship Id="rId3" Type="http://schemas.openxmlformats.org/officeDocument/2006/relationships/oleObject" Target="../embeddings/oleObject97.bin"/><Relationship Id="rId7" Type="http://schemas.openxmlformats.org/officeDocument/2006/relationships/image" Target="../media/image101.emf"/><Relationship Id="rId12" Type="http://schemas.openxmlformats.org/officeDocument/2006/relationships/oleObject" Target="../embeddings/oleObject101.bin"/><Relationship Id="rId2" Type="http://schemas.openxmlformats.org/officeDocument/2006/relationships/slideLayout" Target="../slideLayouts/slideLayout6.xml"/><Relationship Id="rId16" Type="http://schemas.openxmlformats.org/officeDocument/2006/relationships/slide" Target="slide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3.emf"/><Relationship Id="rId5" Type="http://schemas.openxmlformats.org/officeDocument/2006/relationships/image" Target="../media/image25.png"/><Relationship Id="rId15" Type="http://schemas.openxmlformats.org/officeDocument/2006/relationships/image" Target="../media/image105.emf"/><Relationship Id="rId10" Type="http://schemas.openxmlformats.org/officeDocument/2006/relationships/oleObject" Target="../embeddings/oleObject100.bin"/><Relationship Id="rId4" Type="http://schemas.openxmlformats.org/officeDocument/2006/relationships/image" Target="../media/image100.emf"/><Relationship Id="rId9" Type="http://schemas.openxmlformats.org/officeDocument/2006/relationships/image" Target="../media/image102.emf"/><Relationship Id="rId14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13.wmf"/><Relationship Id="rId26" Type="http://schemas.openxmlformats.org/officeDocument/2006/relationships/image" Target="../media/image117.wmf"/><Relationship Id="rId3" Type="http://schemas.openxmlformats.org/officeDocument/2006/relationships/oleObject" Target="../embeddings/oleObject103.bin"/><Relationship Id="rId21" Type="http://schemas.openxmlformats.org/officeDocument/2006/relationships/oleObject" Target="../embeddings/oleObject112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16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118.wmf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11.bin"/><Relationship Id="rId31" Type="http://schemas.openxmlformats.org/officeDocument/2006/relationships/slide" Target="slide4.xml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11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1.e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20.emf"/><Relationship Id="rId9" Type="http://schemas.openxmlformats.org/officeDocument/2006/relationships/slide" Target="slide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9.wmf"/><Relationship Id="rId26" Type="http://schemas.openxmlformats.org/officeDocument/2006/relationships/image" Target="../media/image133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8.bin"/><Relationship Id="rId7" Type="http://schemas.openxmlformats.org/officeDocument/2006/relationships/image" Target="../media/image3.png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29" Type="http://schemas.openxmlformats.org/officeDocument/2006/relationships/oleObject" Target="../embeddings/oleObject13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34.wmf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27.bin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7.wmf"/><Relationship Id="rId22" Type="http://schemas.openxmlformats.org/officeDocument/2006/relationships/image" Target="../media/image131.w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13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13" Type="http://schemas.openxmlformats.org/officeDocument/2006/relationships/slide" Target="slide4.xml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0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3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13" Type="http://schemas.openxmlformats.org/officeDocument/2006/relationships/oleObject" Target="../embeddings/oleObject143.bin"/><Relationship Id="rId18" Type="http://schemas.openxmlformats.org/officeDocument/2006/relationships/oleObject" Target="../embeddings/oleObject145.bin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5.emf"/><Relationship Id="rId17" Type="http://schemas.openxmlformats.org/officeDocument/2006/relationships/slide" Target="slide4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47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2.e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44.emf"/><Relationship Id="rId19" Type="http://schemas.openxmlformats.org/officeDocument/2006/relationships/image" Target="../media/image148.emf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slide" Target="slide4.xml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0.emf"/><Relationship Id="rId11" Type="http://schemas.openxmlformats.org/officeDocument/2006/relationships/image" Target="../media/image152.emf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49.bin"/><Relationship Id="rId4" Type="http://schemas.openxmlformats.org/officeDocument/2006/relationships/image" Target="../media/image149.emf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7.emf"/><Relationship Id="rId17" Type="http://schemas.openxmlformats.org/officeDocument/2006/relationships/slide" Target="slide25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9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4.e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56.e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67.emf"/><Relationship Id="rId3" Type="http://schemas.openxmlformats.org/officeDocument/2006/relationships/oleObject" Target="../embeddings/oleObject157.bin"/><Relationship Id="rId21" Type="http://schemas.openxmlformats.org/officeDocument/2006/relationships/slide" Target="slide25.xml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64.emf"/><Relationship Id="rId17" Type="http://schemas.openxmlformats.org/officeDocument/2006/relationships/oleObject" Target="../embeddings/oleObject1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6.emf"/><Relationship Id="rId20" Type="http://schemas.openxmlformats.org/officeDocument/2006/relationships/image" Target="../media/image168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1.e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63.e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60.e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6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13" Type="http://schemas.openxmlformats.org/officeDocument/2006/relationships/slide" Target="slide25.xml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73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0.e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72.emf"/><Relationship Id="rId4" Type="http://schemas.openxmlformats.org/officeDocument/2006/relationships/image" Target="../media/image169.emf"/><Relationship Id="rId9" Type="http://schemas.openxmlformats.org/officeDocument/2006/relationships/oleObject" Target="../embeddings/oleObject16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1.bin"/><Relationship Id="rId7" Type="http://schemas.openxmlformats.org/officeDocument/2006/relationships/slide" Target="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5.e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7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13" Type="http://schemas.openxmlformats.org/officeDocument/2006/relationships/image" Target="../media/image180.e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8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9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7.emf"/><Relationship Id="rId11" Type="http://schemas.openxmlformats.org/officeDocument/2006/relationships/slide" Target="slide25.xml"/><Relationship Id="rId5" Type="http://schemas.openxmlformats.org/officeDocument/2006/relationships/oleObject" Target="../embeddings/oleObject174.bin"/><Relationship Id="rId15" Type="http://schemas.openxmlformats.org/officeDocument/2006/relationships/image" Target="../media/image181.emf"/><Relationship Id="rId10" Type="http://schemas.openxmlformats.org/officeDocument/2006/relationships/image" Target="../media/image179.e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76.bin"/><Relationship Id="rId14" Type="http://schemas.openxmlformats.org/officeDocument/2006/relationships/oleObject" Target="../embeddings/oleObject17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90.emf"/><Relationship Id="rId3" Type="http://schemas.openxmlformats.org/officeDocument/2006/relationships/oleObject" Target="../embeddings/oleObject180.bin"/><Relationship Id="rId21" Type="http://schemas.openxmlformats.org/officeDocument/2006/relationships/oleObject" Target="../embeddings/oleObject189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7.emf"/><Relationship Id="rId17" Type="http://schemas.openxmlformats.org/officeDocument/2006/relationships/oleObject" Target="../embeddings/oleObject187.bin"/><Relationship Id="rId25" Type="http://schemas.openxmlformats.org/officeDocument/2006/relationships/slide" Target="slide25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emf"/><Relationship Id="rId20" Type="http://schemas.openxmlformats.org/officeDocument/2006/relationships/image" Target="../media/image191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84.emf"/><Relationship Id="rId11" Type="http://schemas.openxmlformats.org/officeDocument/2006/relationships/oleObject" Target="../embeddings/oleObject184.bin"/><Relationship Id="rId24" Type="http://schemas.openxmlformats.org/officeDocument/2006/relationships/image" Target="../media/image193.emf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23" Type="http://schemas.openxmlformats.org/officeDocument/2006/relationships/oleObject" Target="../embeddings/oleObject190.bin"/><Relationship Id="rId10" Type="http://schemas.openxmlformats.org/officeDocument/2006/relationships/image" Target="../media/image186.emf"/><Relationship Id="rId19" Type="http://schemas.openxmlformats.org/officeDocument/2006/relationships/oleObject" Target="../embeddings/oleObject188.bin"/><Relationship Id="rId4" Type="http://schemas.openxmlformats.org/officeDocument/2006/relationships/image" Target="../media/image183.e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88.emf"/><Relationship Id="rId22" Type="http://schemas.openxmlformats.org/officeDocument/2006/relationships/image" Target="../media/image192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C1DEA6-5336-45B6-9385-AF21CE6538EA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35906" name="WordArt 2"/>
          <p:cNvSpPr>
            <a:spLocks noChangeArrowheads="1" noChangeShapeType="1" noTextEdit="1"/>
          </p:cNvSpPr>
          <p:nvPr/>
        </p:nvSpPr>
        <p:spPr bwMode="auto">
          <a:xfrm>
            <a:off x="611188" y="2133600"/>
            <a:ext cx="8307387" cy="1801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38"/>
              </a:avLst>
            </a:prstTxWarp>
          </a:bodyPr>
          <a:lstStyle/>
          <a:p>
            <a:pPr algn="ctr">
              <a:defRPr/>
            </a:pPr>
            <a:r>
              <a:rPr lang="zh-CN" altLang="en-US" sz="3600" kern="10">
                <a:ln w="12700">
                  <a:solidFill>
                    <a:srgbClr val="FF00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CC99">
                        <a:gamma/>
                        <a:shade val="66275"/>
                        <a:invGamma/>
                      </a:srgbClr>
                    </a:gs>
                    <a:gs pos="100000">
                      <a:srgbClr val="FFCC99">
                        <a:alpha val="50000"/>
                      </a:srgbClr>
                    </a:gs>
                  </a:gsLst>
                  <a:lin ang="5400000" scaled="1"/>
                </a:gra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第</a:t>
            </a:r>
            <a:r>
              <a:rPr lang="en-US" altLang="zh-CN" sz="3600" kern="10">
                <a:ln w="12700">
                  <a:solidFill>
                    <a:srgbClr val="FF00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CC99">
                        <a:gamma/>
                        <a:shade val="66275"/>
                        <a:invGamma/>
                      </a:srgbClr>
                    </a:gs>
                    <a:gs pos="100000">
                      <a:srgbClr val="FFCC99">
                        <a:alpha val="50000"/>
                      </a:srgbClr>
                    </a:gs>
                  </a:gsLst>
                  <a:lin ang="5400000" scaled="1"/>
                </a:gra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6</a:t>
            </a:r>
            <a:r>
              <a:rPr lang="zh-CN" altLang="en-US" sz="3600" kern="10">
                <a:ln w="12700">
                  <a:solidFill>
                    <a:srgbClr val="FF00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CC99">
                        <a:gamma/>
                        <a:shade val="66275"/>
                        <a:invGamma/>
                      </a:srgbClr>
                    </a:gs>
                    <a:gs pos="100000">
                      <a:srgbClr val="FFCC99">
                        <a:alpha val="50000"/>
                      </a:srgbClr>
                    </a:gs>
                  </a:gsLst>
                  <a:lin ang="5400000" scaled="1"/>
                </a:gra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章 均匀平面波的反射与透射</a:t>
            </a:r>
          </a:p>
        </p:txBody>
      </p:sp>
      <p:sp>
        <p:nvSpPr>
          <p:cNvPr id="2052" name="AutoShape 1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3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4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5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A2D5CF-5D9D-4D85-9462-73245A4E5352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58800" y="5373688"/>
            <a:ext cx="8477250" cy="709612"/>
            <a:chOff x="216" y="3391"/>
            <a:chExt cx="5340" cy="447"/>
          </a:xfrm>
        </p:grpSpPr>
        <p:sp>
          <p:nvSpPr>
            <p:cNvPr id="3088" name="Line 4"/>
            <p:cNvSpPr>
              <a:spLocks noChangeShapeType="1"/>
            </p:cNvSpPr>
            <p:nvPr/>
          </p:nvSpPr>
          <p:spPr bwMode="auto">
            <a:xfrm>
              <a:off x="3198" y="3686"/>
              <a:ext cx="590" cy="0"/>
            </a:xfrm>
            <a:prstGeom prst="line">
              <a:avLst/>
            </a:prstGeom>
            <a:noFill/>
            <a:ln w="34925">
              <a:solidFill>
                <a:srgbClr val="FF6600"/>
              </a:solidFill>
              <a:round/>
              <a:headEnd type="stealth" w="sm" len="med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Text Box 5"/>
            <p:cNvSpPr txBox="1">
              <a:spLocks noChangeArrowheads="1"/>
            </p:cNvSpPr>
            <p:nvPr/>
          </p:nvSpPr>
          <p:spPr bwMode="auto">
            <a:xfrm>
              <a:off x="3107" y="3391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边界条件</a:t>
              </a:r>
            </a:p>
          </p:txBody>
        </p:sp>
        <p:sp>
          <p:nvSpPr>
            <p:cNvPr id="3090" name="Rectangle 9"/>
            <p:cNvSpPr>
              <a:spLocks noChangeArrowheads="1"/>
            </p:cNvSpPr>
            <p:nvPr/>
          </p:nvSpPr>
          <p:spPr bwMode="auto">
            <a:xfrm>
              <a:off x="216" y="3550"/>
              <a:ext cx="53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入射波（已知）＋反射波（未知）                  透射波（未知）</a:t>
              </a:r>
            </a:p>
          </p:txBody>
        </p:sp>
      </p:grpSp>
      <p:sp>
        <p:nvSpPr>
          <p:cNvPr id="637968" name="Text Box 16"/>
          <p:cNvSpPr txBox="1">
            <a:spLocks noChangeArrowheads="1"/>
          </p:cNvSpPr>
          <p:nvPr/>
        </p:nvSpPr>
        <p:spPr bwMode="auto">
          <a:xfrm>
            <a:off x="0" y="549275"/>
            <a:ext cx="54006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E781E0"/>
                </a:solidFill>
                <a:ea typeface="宋体" pitchFamily="2" charset="-122"/>
              </a:rPr>
              <a:t>现象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电磁波入射到不同媒质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                 分界面上时，一部分波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                 被分界面反射，一部分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                 波透过分界面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。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076825" y="549275"/>
            <a:ext cx="3995738" cy="4392613"/>
            <a:chOff x="3243" y="346"/>
            <a:chExt cx="2517" cy="2767"/>
          </a:xfrm>
        </p:grpSpPr>
        <p:sp>
          <p:nvSpPr>
            <p:cNvPr id="3085" name="Rectangle 18"/>
            <p:cNvSpPr>
              <a:spLocks noChangeArrowheads="1"/>
            </p:cNvSpPr>
            <p:nvPr/>
          </p:nvSpPr>
          <p:spPr bwMode="auto">
            <a:xfrm>
              <a:off x="3243" y="346"/>
              <a:ext cx="2517" cy="276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86" name="Text Box 19"/>
            <p:cNvSpPr txBox="1">
              <a:spLocks noChangeArrowheads="1"/>
            </p:cNvSpPr>
            <p:nvPr/>
          </p:nvSpPr>
          <p:spPr bwMode="auto">
            <a:xfrm>
              <a:off x="3288" y="2692"/>
              <a:ext cx="239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latin typeface="Times New Roman" pitchFamily="18" charset="0"/>
                  <a:ea typeface="宋体" pitchFamily="2" charset="-122"/>
                </a:rPr>
                <a:t>均匀平面波垂直入射到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  <a:p>
              <a:pPr algn="ctr" eaLnBrk="1" hangingPunct="1"/>
              <a:r>
                <a:rPr lang="zh-CN" altLang="en-US" sz="1800">
                  <a:latin typeface="Times New Roman" pitchFamily="18" charset="0"/>
                  <a:ea typeface="宋体" pitchFamily="2" charset="-122"/>
                </a:rPr>
                <a:t>两种不同媒质的分界平面</a:t>
              </a:r>
              <a:endParaRPr lang="zh-CN" altLang="en-US" sz="1800">
                <a:ea typeface="宋体" pitchFamily="2" charset="-122"/>
              </a:endParaRPr>
            </a:p>
          </p:txBody>
        </p:sp>
        <p:graphicFrame>
          <p:nvGraphicFramePr>
            <p:cNvPr id="3087" name="Object 20"/>
            <p:cNvGraphicFramePr>
              <a:graphicFrameLocks/>
            </p:cNvGraphicFramePr>
            <p:nvPr/>
          </p:nvGraphicFramePr>
          <p:xfrm>
            <a:off x="3243" y="422"/>
            <a:ext cx="2404" cy="2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图片" r:id="rId4" imgW="2729484" imgH="2782824" progId="Word.Picture.8">
                    <p:embed/>
                  </p:oleObj>
                </mc:Choice>
                <mc:Fallback>
                  <p:oleObj name="图片" r:id="rId4" imgW="2729484" imgH="2782824" progId="Word.Picture.8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422"/>
                          <a:ext cx="2404" cy="2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7973" name="Text Box 21"/>
          <p:cNvSpPr txBox="1">
            <a:spLocks noChangeArrowheads="1"/>
          </p:cNvSpPr>
          <p:nvPr/>
        </p:nvSpPr>
        <p:spPr bwMode="auto">
          <a:xfrm>
            <a:off x="107950" y="2862263"/>
            <a:ext cx="54006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E781E0"/>
                </a:solidFill>
                <a:ea typeface="宋体" pitchFamily="2" charset="-122"/>
              </a:rPr>
              <a:t>入射方式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垂直入射、斜入射；</a:t>
            </a:r>
          </a:p>
        </p:txBody>
      </p:sp>
      <p:sp>
        <p:nvSpPr>
          <p:cNvPr id="637974" name="Text Box 22"/>
          <p:cNvSpPr txBox="1">
            <a:spLocks noChangeArrowheads="1"/>
          </p:cNvSpPr>
          <p:nvPr/>
        </p:nvSpPr>
        <p:spPr bwMode="auto">
          <a:xfrm>
            <a:off x="107950" y="3683000"/>
            <a:ext cx="54006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rgbClr val="E781E0"/>
                </a:solidFill>
                <a:ea typeface="宋体" pitchFamily="2" charset="-122"/>
              </a:rPr>
              <a:t>媒质类型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      导电媒质、理想导体、理想介质</a:t>
            </a:r>
          </a:p>
        </p:txBody>
      </p:sp>
      <p:sp>
        <p:nvSpPr>
          <p:cNvPr id="637975" name="Text Box 23"/>
          <p:cNvSpPr txBox="1">
            <a:spLocks noChangeArrowheads="1"/>
          </p:cNvSpPr>
          <p:nvPr/>
        </p:nvSpPr>
        <p:spPr bwMode="auto">
          <a:xfrm>
            <a:off x="107950" y="4949825"/>
            <a:ext cx="30956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E781E0"/>
                </a:solidFill>
                <a:ea typeface="宋体" pitchFamily="2" charset="-122"/>
              </a:rPr>
              <a:t>分析方法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81" name="AutoShape 2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2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3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4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37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37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637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637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63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3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3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37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68" grpId="0" build="p" autoUpdateAnimBg="0"/>
      <p:bldP spid="637973" grpId="0" build="p" autoUpdateAnimBg="0"/>
      <p:bldP spid="637974" grpId="0" build="p" autoUpdateAnimBg="0"/>
      <p:bldP spid="63797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2B13E-74EB-4AF5-9873-E956988F13EB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50825" y="1196975"/>
            <a:ext cx="8301038" cy="4646613"/>
          </a:xfrm>
          <a:prstGeom prst="rect">
            <a:avLst/>
          </a:prstGeom>
          <a:solidFill>
            <a:srgbClr val="CCFFFF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  <a:ea typeface="幼圆" pitchFamily="49" charset="-122"/>
              </a:rPr>
              <a:t>                      </a:t>
            </a:r>
            <a:r>
              <a:rPr lang="zh-CN" altLang="en-US" sz="3200">
                <a:solidFill>
                  <a:srgbClr val="FF0000"/>
                </a:solidFill>
                <a:ea typeface="隶书" pitchFamily="49" charset="-122"/>
              </a:rPr>
              <a:t>本章内容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6.1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hlinkClick r:id="rId2" action="ppaction://hlinksldjump"/>
              </a:rPr>
              <a:t>均匀平面波对分界平面的垂直入射</a:t>
            </a:r>
            <a:endParaRPr lang="zh-CN" altLang="en-US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/>
              <a:t> </a:t>
            </a:r>
            <a:r>
              <a:rPr lang="en-US" altLang="zh-CN">
                <a:latin typeface="Times New Roman" pitchFamily="18" charset="0"/>
              </a:rPr>
              <a:t>6.2 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hlinkClick r:id="rId3" action="ppaction://hlinksldjump"/>
              </a:rPr>
              <a:t>均匀平面波对多层介质分界平面的垂直入射</a:t>
            </a:r>
            <a:endParaRPr lang="en-US" altLang="zh-CN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>
                <a:latin typeface="Times New Roman" pitchFamily="18" charset="0"/>
              </a:rPr>
              <a:t> 6.3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hlinkClick r:id="rId2" action="ppaction://hlinksldjump"/>
              </a:rPr>
              <a:t>均匀平面波对理想介质分界平面的斜入射</a:t>
            </a:r>
            <a:r>
              <a:rPr lang="zh-CN" altLang="en-US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（不作要求）</a:t>
            </a:r>
            <a:endParaRPr lang="en-US" altLang="zh-CN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>
                <a:latin typeface="Times New Roman" pitchFamily="18" charset="0"/>
              </a:rPr>
              <a:t> 6.4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hlinkClick r:id="rId2" action="ppaction://hlinksldjump"/>
              </a:rPr>
              <a:t>均匀平面波对理想导体平面的斜入射</a:t>
            </a:r>
            <a:r>
              <a:rPr lang="zh-CN" altLang="en-US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（不作要求）</a:t>
            </a:r>
            <a:endParaRPr lang="en-US" altLang="zh-CN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>
                <a:latin typeface="Times New Roman" pitchFamily="18" charset="0"/>
              </a:rPr>
              <a:t> 6.5*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hlinkClick r:id="rId2" action="ppaction://hlinksldjump"/>
              </a:rPr>
              <a:t>均匀平面波在负折射率媒质表面上的反射和透射</a:t>
            </a:r>
            <a:endParaRPr lang="en-US" altLang="zh-CN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00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1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2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2F6F3B-69E4-40D2-8E6B-1A6FF9524642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blackGray">
          <a:xfrm>
            <a:off x="519113" y="922338"/>
            <a:ext cx="8229600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6.1 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均匀平面波对分界平面的垂直入射</a:t>
            </a:r>
            <a:r>
              <a:rPr lang="zh-CN" altLang="en-US" sz="1800" smtClean="0">
                <a:solidFill>
                  <a:schemeClr val="bg1"/>
                </a:solidFill>
                <a:latin typeface="宋体" pitchFamily="2" charset="-122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5124" name="Text Box 51"/>
          <p:cNvSpPr txBox="1">
            <a:spLocks noChangeArrowheads="1"/>
          </p:cNvSpPr>
          <p:nvPr/>
        </p:nvSpPr>
        <p:spPr bwMode="auto">
          <a:xfrm>
            <a:off x="1835150" y="2132013"/>
            <a:ext cx="5689600" cy="3563937"/>
          </a:xfrm>
          <a:prstGeom prst="rect">
            <a:avLst/>
          </a:prstGeom>
          <a:solidFill>
            <a:srgbClr val="CCFFFF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FF0000"/>
                </a:solidFill>
                <a:ea typeface="隶书" pitchFamily="49" charset="-122"/>
              </a:rPr>
              <a:t>本节内容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>
                <a:latin typeface="Times New Roman" pitchFamily="18" charset="0"/>
              </a:rPr>
              <a:t> 6.1.1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2" action="ppaction://hlinksldjump"/>
              </a:rPr>
              <a:t>对理想导体平面的垂直入射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6.1.2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3" action="ppaction://hlinksldjump"/>
              </a:rPr>
              <a:t>对理想介质分界面的垂直入射</a:t>
            </a:r>
            <a:endParaRPr lang="en-US" altLang="zh-CN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zh-CN">
                <a:latin typeface="Times New Roman" pitchFamily="18" charset="0"/>
              </a:rPr>
              <a:t> 6.1.3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4" action="ppaction://hlinksldjump"/>
              </a:rPr>
              <a:t>对导电媒质分界面的垂直入射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endParaRPr lang="en-US" altLang="zh-CN" sz="16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25" name="AutoShape 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6" name="AutoShape 5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7" name="AutoShape 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8" name="AutoShape 5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88C91E-8EC8-4606-B4B6-812D5A240FF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641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891909"/>
              </p:ext>
            </p:extLst>
          </p:nvPr>
        </p:nvGraphicFramePr>
        <p:xfrm>
          <a:off x="673497" y="5733256"/>
          <a:ext cx="27463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Equation" r:id="rId3" imgW="1143087" imgH="171334" progId="Equation.DSMT4">
                  <p:embed/>
                </p:oleObj>
              </mc:Choice>
              <mc:Fallback>
                <p:oleObj name="Equation" r:id="rId3" imgW="1143087" imgH="17133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673497" y="5733256"/>
                        <a:ext cx="274637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56" name="Text Box 32"/>
          <p:cNvSpPr txBox="1">
            <a:spLocks noChangeArrowheads="1"/>
          </p:cNvSpPr>
          <p:nvPr/>
        </p:nvSpPr>
        <p:spPr bwMode="blackGray">
          <a:xfrm>
            <a:off x="107950" y="523875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6.1.1 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对理想导体平面的垂直入射</a:t>
            </a: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5899149" y="116632"/>
            <a:ext cx="3281363" cy="4189412"/>
            <a:chOff x="3564" y="391"/>
            <a:chExt cx="2067" cy="2639"/>
          </a:xfrm>
        </p:grpSpPr>
        <p:sp>
          <p:nvSpPr>
            <p:cNvPr id="6169" name="Text Box 34"/>
            <p:cNvSpPr txBox="1">
              <a:spLocks noChangeArrowheads="1"/>
            </p:cNvSpPr>
            <p:nvPr/>
          </p:nvSpPr>
          <p:spPr bwMode="blackGray">
            <a:xfrm>
              <a:off x="4642" y="391"/>
              <a:ext cx="32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kumimoji="1" lang="en-US" altLang="zh-CN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6170" name="Rectangle 35"/>
            <p:cNvSpPr>
              <a:spLocks noChangeArrowheads="1"/>
            </p:cNvSpPr>
            <p:nvPr/>
          </p:nvSpPr>
          <p:spPr bwMode="blackGray">
            <a:xfrm>
              <a:off x="3564" y="565"/>
              <a:ext cx="1079" cy="223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71" name="Rectangle 36" descr="宽上对角线"/>
            <p:cNvSpPr>
              <a:spLocks noChangeArrowheads="1"/>
            </p:cNvSpPr>
            <p:nvPr/>
          </p:nvSpPr>
          <p:spPr bwMode="blackGray">
            <a:xfrm>
              <a:off x="4653" y="573"/>
              <a:ext cx="931" cy="2238"/>
            </a:xfrm>
            <a:prstGeom prst="rect">
              <a:avLst/>
            </a:prstGeom>
            <a:pattFill prst="wdUpDiag">
              <a:fgClr>
                <a:srgbClr val="545454"/>
              </a:fgClr>
              <a:bgClr>
                <a:srgbClr val="339966"/>
              </a:bgClr>
            </a:patt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72" name="Line 37"/>
            <p:cNvSpPr>
              <a:spLocks noChangeShapeType="1"/>
            </p:cNvSpPr>
            <p:nvPr/>
          </p:nvSpPr>
          <p:spPr bwMode="blackGray">
            <a:xfrm flipV="1">
              <a:off x="4643" y="565"/>
              <a:ext cx="2" cy="2238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3" name="Line 38"/>
            <p:cNvSpPr>
              <a:spLocks noChangeShapeType="1"/>
            </p:cNvSpPr>
            <p:nvPr/>
          </p:nvSpPr>
          <p:spPr bwMode="blackGray">
            <a:xfrm>
              <a:off x="3573" y="1812"/>
              <a:ext cx="2040" cy="0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4" name="Text Box 39"/>
            <p:cNvSpPr txBox="1">
              <a:spLocks noChangeArrowheads="1"/>
            </p:cNvSpPr>
            <p:nvPr/>
          </p:nvSpPr>
          <p:spPr bwMode="blackGray">
            <a:xfrm>
              <a:off x="3750" y="648"/>
              <a:ext cx="8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理想介质</a:t>
              </a:r>
            </a:p>
          </p:txBody>
        </p:sp>
        <p:sp>
          <p:nvSpPr>
            <p:cNvPr id="6175" name="Text Box 40"/>
            <p:cNvSpPr txBox="1">
              <a:spLocks noChangeArrowheads="1"/>
            </p:cNvSpPr>
            <p:nvPr/>
          </p:nvSpPr>
          <p:spPr bwMode="blackGray">
            <a:xfrm>
              <a:off x="4785" y="603"/>
              <a:ext cx="8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FFFFFF"/>
                  </a:solidFill>
                  <a:latin typeface="楷体_GB2312" pitchFamily="49" charset="-122"/>
                </a:rPr>
                <a:t>理想导体</a:t>
              </a:r>
            </a:p>
          </p:txBody>
        </p:sp>
        <p:graphicFrame>
          <p:nvGraphicFramePr>
            <p:cNvPr id="6176" name="Object 41"/>
            <p:cNvGraphicFramePr>
              <a:graphicFrameLocks noChangeAspect="1"/>
            </p:cNvGraphicFramePr>
            <p:nvPr/>
          </p:nvGraphicFramePr>
          <p:xfrm>
            <a:off x="3926" y="809"/>
            <a:ext cx="385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6" name="Equation" r:id="rId5" imgW="342751" imgH="228501" progId="Equation.DSMT4">
                    <p:embed/>
                  </p:oleObj>
                </mc:Choice>
                <mc:Fallback>
                  <p:oleObj name="Equation" r:id="rId5" imgW="342751" imgH="228501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3926" y="809"/>
                          <a:ext cx="385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7" name="Object 42"/>
            <p:cNvGraphicFramePr>
              <a:graphicFrameLocks noChangeAspect="1"/>
            </p:cNvGraphicFramePr>
            <p:nvPr/>
          </p:nvGraphicFramePr>
          <p:xfrm>
            <a:off x="4926" y="913"/>
            <a:ext cx="433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7" name="Equation" r:id="rId7" imgW="352573" imgH="76110" progId="Equation.DSMT4">
                    <p:embed/>
                  </p:oleObj>
                </mc:Choice>
                <mc:Fallback>
                  <p:oleObj name="Equation" r:id="rId7" imgW="352573" imgH="7611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926" y="913"/>
                          <a:ext cx="433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Text Box 43"/>
            <p:cNvSpPr txBox="1">
              <a:spLocks noChangeArrowheads="1"/>
            </p:cNvSpPr>
            <p:nvPr/>
          </p:nvSpPr>
          <p:spPr bwMode="blackGray">
            <a:xfrm>
              <a:off x="5448" y="1767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</a:p>
          </p:txBody>
        </p:sp>
        <p:sp>
          <p:nvSpPr>
            <p:cNvPr id="6179" name="Text Box 44"/>
            <p:cNvSpPr txBox="1">
              <a:spLocks noChangeArrowheads="1"/>
            </p:cNvSpPr>
            <p:nvPr/>
          </p:nvSpPr>
          <p:spPr bwMode="blackGray">
            <a:xfrm>
              <a:off x="4488" y="2742"/>
              <a:ext cx="4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z</a:t>
              </a:r>
              <a:r>
                <a:rPr kumimoji="1" lang="en-US" altLang="zh-CN" sz="2000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1" lang="en-US" altLang="zh-CN" sz="200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= 0</a:t>
              </a:r>
            </a:p>
          </p:txBody>
        </p:sp>
        <p:grpSp>
          <p:nvGrpSpPr>
            <p:cNvPr id="6180" name="Group 45"/>
            <p:cNvGrpSpPr>
              <a:grpSpLocks/>
            </p:cNvGrpSpPr>
            <p:nvPr/>
          </p:nvGrpSpPr>
          <p:grpSpPr bwMode="auto">
            <a:xfrm>
              <a:off x="4570" y="1762"/>
              <a:ext cx="141" cy="140"/>
              <a:chOff x="5136" y="2880"/>
              <a:chExt cx="144" cy="144"/>
            </a:xfrm>
          </p:grpSpPr>
          <p:sp>
            <p:nvSpPr>
              <p:cNvPr id="6198" name="Oval 46"/>
              <p:cNvSpPr>
                <a:spLocks noChangeArrowheads="1"/>
              </p:cNvSpPr>
              <p:nvPr/>
            </p:nvSpPr>
            <p:spPr bwMode="blackGray">
              <a:xfrm>
                <a:off x="5136" y="2880"/>
                <a:ext cx="144" cy="14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199" name="Oval 47"/>
              <p:cNvSpPr>
                <a:spLocks noChangeArrowheads="1"/>
              </p:cNvSpPr>
              <p:nvPr/>
            </p:nvSpPr>
            <p:spPr bwMode="blackGray">
              <a:xfrm>
                <a:off x="5178" y="2922"/>
                <a:ext cx="54" cy="5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181" name="Text Box 48"/>
            <p:cNvSpPr txBox="1">
              <a:spLocks noChangeArrowheads="1"/>
            </p:cNvSpPr>
            <p:nvPr/>
          </p:nvSpPr>
          <p:spPr bwMode="blackGray">
            <a:xfrm>
              <a:off x="4653" y="1782"/>
              <a:ext cx="3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y</a:t>
              </a:r>
            </a:p>
          </p:txBody>
        </p:sp>
        <p:graphicFrame>
          <p:nvGraphicFramePr>
            <p:cNvPr id="6182" name="Object 49"/>
            <p:cNvGraphicFramePr>
              <a:graphicFrameLocks noChangeAspect="1"/>
            </p:cNvGraphicFramePr>
            <p:nvPr/>
          </p:nvGraphicFramePr>
          <p:xfrm>
            <a:off x="3974" y="1088"/>
            <a:ext cx="21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8" name="Equation" r:id="rId9" imgW="164957" imgH="253780" progId="Equation.DSMT4">
                    <p:embed/>
                  </p:oleObj>
                </mc:Choice>
                <mc:Fallback>
                  <p:oleObj name="Equation" r:id="rId9" imgW="164957" imgH="25378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3974" y="1088"/>
                          <a:ext cx="216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83" name="Group 50"/>
            <p:cNvGrpSpPr>
              <a:grpSpLocks/>
            </p:cNvGrpSpPr>
            <p:nvPr/>
          </p:nvGrpSpPr>
          <p:grpSpPr bwMode="auto">
            <a:xfrm>
              <a:off x="3908" y="1586"/>
              <a:ext cx="138" cy="140"/>
              <a:chOff x="288" y="2688"/>
              <a:chExt cx="144" cy="144"/>
            </a:xfrm>
          </p:grpSpPr>
          <p:sp>
            <p:nvSpPr>
              <p:cNvPr id="6196" name="Oval 51"/>
              <p:cNvSpPr>
                <a:spLocks noChangeArrowheads="1"/>
              </p:cNvSpPr>
              <p:nvPr/>
            </p:nvSpPr>
            <p:spPr bwMode="blackGray">
              <a:xfrm>
                <a:off x="288" y="2688"/>
                <a:ext cx="144" cy="14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197" name="Oval 52"/>
              <p:cNvSpPr>
                <a:spLocks noChangeArrowheads="1"/>
              </p:cNvSpPr>
              <p:nvPr/>
            </p:nvSpPr>
            <p:spPr bwMode="blackGray">
              <a:xfrm>
                <a:off x="330" y="2730"/>
                <a:ext cx="54" cy="5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184" name="Line 53"/>
            <p:cNvSpPr>
              <a:spLocks noChangeShapeType="1"/>
            </p:cNvSpPr>
            <p:nvPr/>
          </p:nvSpPr>
          <p:spPr bwMode="blackGray">
            <a:xfrm flipV="1">
              <a:off x="3973" y="1144"/>
              <a:ext cx="0" cy="442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" name="Line 54"/>
            <p:cNvSpPr>
              <a:spLocks noChangeShapeType="1"/>
            </p:cNvSpPr>
            <p:nvPr/>
          </p:nvSpPr>
          <p:spPr bwMode="blackGray">
            <a:xfrm>
              <a:off x="4026" y="1656"/>
              <a:ext cx="451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86" name="Object 55"/>
            <p:cNvGraphicFramePr>
              <a:graphicFrameLocks noChangeAspect="1"/>
            </p:cNvGraphicFramePr>
            <p:nvPr/>
          </p:nvGraphicFramePr>
          <p:xfrm>
            <a:off x="3687" y="1530"/>
            <a:ext cx="26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9" name="Equation" r:id="rId11" imgW="203024" imgH="253780" progId="Equation.DSMT4">
                    <p:embed/>
                  </p:oleObj>
                </mc:Choice>
                <mc:Fallback>
                  <p:oleObj name="Equation" r:id="rId11" imgW="203024" imgH="25378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3687" y="1530"/>
                          <a:ext cx="264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7" name="Object 56"/>
            <p:cNvGraphicFramePr>
              <a:graphicFrameLocks noChangeAspect="1"/>
            </p:cNvGraphicFramePr>
            <p:nvPr/>
          </p:nvGraphicFramePr>
          <p:xfrm>
            <a:off x="4373" y="1361"/>
            <a:ext cx="18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0" name="Equation" r:id="rId13" imgW="139639" imgH="253890" progId="Equation.DSMT4">
                    <p:embed/>
                  </p:oleObj>
                </mc:Choice>
                <mc:Fallback>
                  <p:oleObj name="Equation" r:id="rId13" imgW="139639" imgH="253890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373" y="1361"/>
                          <a:ext cx="18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88" name="Group 57"/>
            <p:cNvGrpSpPr>
              <a:grpSpLocks/>
            </p:cNvGrpSpPr>
            <p:nvPr/>
          </p:nvGrpSpPr>
          <p:grpSpPr bwMode="auto">
            <a:xfrm>
              <a:off x="4152" y="2034"/>
              <a:ext cx="138" cy="140"/>
              <a:chOff x="288" y="2688"/>
              <a:chExt cx="144" cy="144"/>
            </a:xfrm>
          </p:grpSpPr>
          <p:sp>
            <p:nvSpPr>
              <p:cNvPr id="6194" name="Oval 58"/>
              <p:cNvSpPr>
                <a:spLocks noChangeArrowheads="1"/>
              </p:cNvSpPr>
              <p:nvPr/>
            </p:nvSpPr>
            <p:spPr bwMode="blackGray">
              <a:xfrm>
                <a:off x="288" y="2688"/>
                <a:ext cx="144" cy="14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6195" name="Oval 59"/>
              <p:cNvSpPr>
                <a:spLocks noChangeArrowheads="1"/>
              </p:cNvSpPr>
              <p:nvPr/>
            </p:nvSpPr>
            <p:spPr bwMode="blackGray">
              <a:xfrm>
                <a:off x="330" y="2730"/>
                <a:ext cx="54" cy="5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189" name="Line 60"/>
            <p:cNvSpPr>
              <a:spLocks noChangeShapeType="1"/>
            </p:cNvSpPr>
            <p:nvPr/>
          </p:nvSpPr>
          <p:spPr bwMode="blackGray">
            <a:xfrm flipH="1">
              <a:off x="3701" y="2104"/>
              <a:ext cx="45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90" name="Object 61"/>
            <p:cNvGraphicFramePr>
              <a:graphicFrameLocks noChangeAspect="1"/>
            </p:cNvGraphicFramePr>
            <p:nvPr/>
          </p:nvGraphicFramePr>
          <p:xfrm>
            <a:off x="4231" y="2367"/>
            <a:ext cx="23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1" name="Equation" r:id="rId15" imgW="177569" imgH="253670" progId="Equation.DSMT4">
                    <p:embed/>
                  </p:oleObj>
                </mc:Choice>
                <mc:Fallback>
                  <p:oleObj name="Equation" r:id="rId15" imgW="177569" imgH="25367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231" y="2367"/>
                          <a:ext cx="232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1" name="Object 62"/>
            <p:cNvGraphicFramePr>
              <a:graphicFrameLocks noChangeAspect="1"/>
            </p:cNvGraphicFramePr>
            <p:nvPr/>
          </p:nvGraphicFramePr>
          <p:xfrm>
            <a:off x="4289" y="1968"/>
            <a:ext cx="26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2" name="Equation" r:id="rId17" imgW="203024" imgH="253780" progId="Equation.DSMT4">
                    <p:embed/>
                  </p:oleObj>
                </mc:Choice>
                <mc:Fallback>
                  <p:oleObj name="Equation" r:id="rId17" imgW="203024" imgH="25378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289" y="1968"/>
                          <a:ext cx="26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2" name="Object 63"/>
            <p:cNvGraphicFramePr>
              <a:graphicFrameLocks noChangeAspect="1"/>
            </p:cNvGraphicFramePr>
            <p:nvPr/>
          </p:nvGraphicFramePr>
          <p:xfrm>
            <a:off x="3746" y="2126"/>
            <a:ext cx="19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3" name="Equation" r:id="rId19" imgW="152268" imgH="253780" progId="Equation.DSMT4">
                    <p:embed/>
                  </p:oleObj>
                </mc:Choice>
                <mc:Fallback>
                  <p:oleObj name="Equation" r:id="rId19" imgW="152268" imgH="25378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3746" y="2126"/>
                          <a:ext cx="19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3" name="Line 64"/>
            <p:cNvSpPr>
              <a:spLocks noChangeShapeType="1"/>
            </p:cNvSpPr>
            <p:nvPr/>
          </p:nvSpPr>
          <p:spPr bwMode="blackGray">
            <a:xfrm>
              <a:off x="4223" y="2176"/>
              <a:ext cx="0" cy="442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1104" name="Text Box 80"/>
          <p:cNvSpPr txBox="1">
            <a:spLocks noChangeArrowheads="1"/>
          </p:cNvSpPr>
          <p:nvPr/>
        </p:nvSpPr>
        <p:spPr bwMode="blackGray">
          <a:xfrm>
            <a:off x="61650" y="2132856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FFFFFF"/>
                </a:solidFill>
                <a:latin typeface="Times New Roman" pitchFamily="18" charset="0"/>
              </a:rPr>
              <a:t>理想介质中的入射波：</a:t>
            </a:r>
          </a:p>
        </p:txBody>
      </p:sp>
      <p:graphicFrame>
        <p:nvGraphicFramePr>
          <p:cNvPr id="641105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718322"/>
              </p:ext>
            </p:extLst>
          </p:nvPr>
        </p:nvGraphicFramePr>
        <p:xfrm>
          <a:off x="35496" y="2636912"/>
          <a:ext cx="57102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" name="Equation" r:id="rId21" imgW="2333715" imgH="361783" progId="Equation.DSMT4">
                  <p:embed/>
                </p:oleObj>
              </mc:Choice>
              <mc:Fallback>
                <p:oleObj name="Equation" r:id="rId21" imgW="2333715" imgH="361783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35496" y="2636912"/>
                        <a:ext cx="571023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106" name="Text Box 82"/>
          <p:cNvSpPr txBox="1">
            <a:spLocks noChangeArrowheads="1"/>
          </p:cNvSpPr>
          <p:nvPr/>
        </p:nvSpPr>
        <p:spPr bwMode="blackGray">
          <a:xfrm>
            <a:off x="35496" y="3573016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FFFFFF"/>
                </a:solidFill>
                <a:latin typeface="Times New Roman" pitchFamily="18" charset="0"/>
              </a:rPr>
              <a:t>理想介质中的反射波</a:t>
            </a:r>
            <a:r>
              <a:rPr kumimoji="1" lang="zh-CN" altLang="en-US" dirty="0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：</a:t>
            </a:r>
          </a:p>
        </p:txBody>
      </p:sp>
      <p:graphicFrame>
        <p:nvGraphicFramePr>
          <p:cNvPr id="641107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198197"/>
              </p:ext>
            </p:extLst>
          </p:nvPr>
        </p:nvGraphicFramePr>
        <p:xfrm>
          <a:off x="107504" y="4077073"/>
          <a:ext cx="564742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" name="Equation" r:id="rId23" imgW="2489040" imgH="431640" progId="Equation.DSMT4">
                  <p:embed/>
                </p:oleObj>
              </mc:Choice>
              <mc:Fallback>
                <p:oleObj name="Equation" r:id="rId23" imgW="2489040" imgH="43164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07504" y="4077073"/>
                        <a:ext cx="5647421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799630" y="1036265"/>
            <a:ext cx="3405161" cy="995363"/>
            <a:chOff x="514" y="1377"/>
            <a:chExt cx="2144" cy="627"/>
          </a:xfrm>
        </p:grpSpPr>
        <p:graphicFrame>
          <p:nvGraphicFramePr>
            <p:cNvPr id="6164" name="Object 77"/>
            <p:cNvGraphicFramePr>
              <a:graphicFrameLocks noChangeAspect="1"/>
            </p:cNvGraphicFramePr>
            <p:nvPr/>
          </p:nvGraphicFramePr>
          <p:xfrm>
            <a:off x="514" y="1517"/>
            <a:ext cx="101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6" name="Equation" r:id="rId25" imgW="742972" imgH="171334" progId="Equation.DSMT4">
                    <p:embed/>
                  </p:oleObj>
                </mc:Choice>
                <mc:Fallback>
                  <p:oleObj name="Equation" r:id="rId25" imgW="742972" imgH="171334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514" y="1517"/>
                          <a:ext cx="101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79"/>
            <p:cNvGraphicFramePr>
              <a:graphicFrameLocks noChangeAspect="1"/>
            </p:cNvGraphicFramePr>
            <p:nvPr/>
          </p:nvGraphicFramePr>
          <p:xfrm>
            <a:off x="1742" y="1377"/>
            <a:ext cx="916" cy="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7" name="Equation" r:id="rId27" imgW="543088" imgH="390628" progId="Equation.DSMT4">
                    <p:embed/>
                  </p:oleObj>
                </mc:Choice>
                <mc:Fallback>
                  <p:oleObj name="Equation" r:id="rId27" imgW="543088" imgH="390628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1742" y="1377"/>
                          <a:ext cx="916" cy="6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2" name="Rectangle 88"/>
          <p:cNvSpPr>
            <a:spLocks noChangeArrowheads="1"/>
          </p:cNvSpPr>
          <p:nvPr/>
        </p:nvSpPr>
        <p:spPr bwMode="blackGray">
          <a:xfrm>
            <a:off x="3585195" y="5861069"/>
            <a:ext cx="5523309" cy="400110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FF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在分界面</a:t>
            </a:r>
            <a:r>
              <a:rPr lang="zh-CN" altLang="en-US" sz="2000" dirty="0" smtClean="0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上反射波</a:t>
            </a:r>
            <a:r>
              <a:rPr lang="zh-CN" altLang="en-US" sz="2000" dirty="0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电场与入射波电场相位差为</a:t>
            </a:r>
            <a:r>
              <a:rPr lang="el-GR" altLang="zh-CN" sz="2000" dirty="0">
                <a:solidFill>
                  <a:srgbClr val="99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π</a:t>
            </a:r>
          </a:p>
        </p:txBody>
      </p:sp>
      <p:sp>
        <p:nvSpPr>
          <p:cNvPr id="641118" name="AutoShape 94"/>
          <p:cNvSpPr>
            <a:spLocks noChangeArrowheads="1"/>
          </p:cNvSpPr>
          <p:nvPr/>
        </p:nvSpPr>
        <p:spPr bwMode="blackGray">
          <a:xfrm>
            <a:off x="179512" y="5879307"/>
            <a:ext cx="360362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FF9900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58" name="AutoShape 95">
            <a:hlinkClick r:id="rId2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59" name="AutoShape 9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0" name="AutoShape 9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1" name="AutoShape 9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0" name="Text Box 82"/>
          <p:cNvSpPr txBox="1">
            <a:spLocks noChangeArrowheads="1"/>
          </p:cNvSpPr>
          <p:nvPr/>
        </p:nvSpPr>
        <p:spPr bwMode="blackGray">
          <a:xfrm>
            <a:off x="35496" y="5085184"/>
            <a:ext cx="8221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根据边界条件：</a:t>
            </a:r>
            <a:r>
              <a:rPr kumimoji="1" lang="zh-CN" altLang="en-US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dirty="0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z=0</a:t>
            </a:r>
            <a:r>
              <a:rPr kumimoji="1" lang="zh-CN" altLang="en-US" dirty="0" smtClean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的分界面上，电场的切向分量连续。</a:t>
            </a:r>
            <a:endParaRPr kumimoji="1" lang="zh-CN" altLang="en-US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4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64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64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4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4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64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56" grpId="0"/>
      <p:bldP spid="641104" grpId="0"/>
      <p:bldP spid="641106" grpId="0"/>
      <p:bldP spid="6162" grpId="0" animBg="1"/>
      <p:bldP spid="641118" grpId="0" animBg="1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AEADD6-31CE-4B6D-A0FC-5D1B8CC80FD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642053" name="Object 5"/>
          <p:cNvGraphicFramePr>
            <a:graphicFrameLocks noChangeAspect="1"/>
          </p:cNvGraphicFramePr>
          <p:nvPr/>
        </p:nvGraphicFramePr>
        <p:xfrm>
          <a:off x="960438" y="885825"/>
          <a:ext cx="6721475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3" imgW="2838284" imgH="618958" progId="Equation.DSMT4">
                  <p:embed/>
                </p:oleObj>
              </mc:Choice>
              <mc:Fallback>
                <p:oleObj name="Equation" r:id="rId3" imgW="2838284" imgH="61895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960438" y="885825"/>
                        <a:ext cx="6721475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54" name="Rectangle 6"/>
          <p:cNvSpPr>
            <a:spLocks noChangeArrowheads="1"/>
          </p:cNvSpPr>
          <p:nvPr/>
        </p:nvSpPr>
        <p:spPr bwMode="blackGray">
          <a:xfrm>
            <a:off x="107950" y="444500"/>
            <a:ext cx="5759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理想介质中合成波的电场和</a:t>
            </a:r>
            <a:r>
              <a:rPr kumimoji="1" lang="zh-CN" altLang="en-US">
                <a:solidFill>
                  <a:srgbClr val="FFFFFF"/>
                </a:solidFill>
              </a:rPr>
              <a:t>磁场分别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为</a:t>
            </a:r>
          </a:p>
        </p:txBody>
      </p:sp>
      <p:sp>
        <p:nvSpPr>
          <p:cNvPr id="642055" name="Text Box 7"/>
          <p:cNvSpPr txBox="1">
            <a:spLocks noChangeArrowheads="1"/>
          </p:cNvSpPr>
          <p:nvPr/>
        </p:nvSpPr>
        <p:spPr bwMode="blackGray">
          <a:xfrm>
            <a:off x="107950" y="3789363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合成波的平均坡印廷矢量</a:t>
            </a:r>
          </a:p>
        </p:txBody>
      </p:sp>
      <p:graphicFrame>
        <p:nvGraphicFramePr>
          <p:cNvPr id="642056" name="Object 8"/>
          <p:cNvGraphicFramePr>
            <a:graphicFrameLocks noChangeAspect="1"/>
          </p:cNvGraphicFramePr>
          <p:nvPr/>
        </p:nvGraphicFramePr>
        <p:xfrm>
          <a:off x="522288" y="4206875"/>
          <a:ext cx="844073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5" imgW="4390855" imgH="495236" progId="Equation.DSMT4">
                  <p:embed/>
                </p:oleObj>
              </mc:Choice>
              <mc:Fallback>
                <p:oleObj name="Equation" r:id="rId5" imgW="4390855" imgH="49523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522288" y="4206875"/>
                        <a:ext cx="844073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61" name="Object 13"/>
          <p:cNvGraphicFramePr>
            <a:graphicFrameLocks noChangeAspect="1"/>
          </p:cNvGraphicFramePr>
          <p:nvPr/>
        </p:nvGraphicFramePr>
        <p:xfrm>
          <a:off x="1968500" y="2389188"/>
          <a:ext cx="6783388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7" imgW="3095773" imgH="666917" progId="Equation.DSMT4">
                  <p:embed/>
                </p:oleObj>
              </mc:Choice>
              <mc:Fallback>
                <p:oleObj name="Equation" r:id="rId7" imgW="3095773" imgH="66691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968500" y="2389188"/>
                        <a:ext cx="6783388" cy="154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62" name="Rectangle 14"/>
          <p:cNvSpPr>
            <a:spLocks noChangeArrowheads="1"/>
          </p:cNvSpPr>
          <p:nvPr/>
        </p:nvSpPr>
        <p:spPr bwMode="blackGray">
          <a:xfrm>
            <a:off x="107950" y="2420938"/>
            <a:ext cx="194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瞬时值形式</a:t>
            </a:r>
          </a:p>
        </p:txBody>
      </p:sp>
      <p:graphicFrame>
        <p:nvGraphicFramePr>
          <p:cNvPr id="642063" name="Object 15"/>
          <p:cNvGraphicFramePr>
            <a:graphicFrameLocks noChangeAspect="1"/>
          </p:cNvGraphicFramePr>
          <p:nvPr/>
        </p:nvGraphicFramePr>
        <p:xfrm>
          <a:off x="881063" y="5637213"/>
          <a:ext cx="7634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9" imgW="3428913" imgH="361783" progId="Equation.DSMT4">
                  <p:embed/>
                </p:oleObj>
              </mc:Choice>
              <mc:Fallback>
                <p:oleObj name="Equation" r:id="rId9" imgW="3428913" imgH="36178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881063" y="5637213"/>
                        <a:ext cx="76342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64" name="Text Box 16"/>
          <p:cNvSpPr txBox="1">
            <a:spLocks noChangeArrowheads="1"/>
          </p:cNvSpPr>
          <p:nvPr/>
        </p:nvSpPr>
        <p:spPr bwMode="blackGray">
          <a:xfrm>
            <a:off x="144463" y="5167313"/>
            <a:ext cx="529113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FFFFFF"/>
                </a:solidFill>
              </a:rPr>
              <a:t>理想导体表面上的感应电流</a:t>
            </a:r>
          </a:p>
        </p:txBody>
      </p:sp>
      <p:sp>
        <p:nvSpPr>
          <p:cNvPr id="7179" name="AutoShape 17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80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81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82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4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64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4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4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4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4" grpId="0"/>
      <p:bldP spid="642055" grpId="0"/>
      <p:bldP spid="642062" grpId="0"/>
      <p:bldP spid="64206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F2EED6-D089-4496-A7FD-C7947390A4E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43114" name="Text Box 42"/>
          <p:cNvSpPr txBox="1">
            <a:spLocks noChangeArrowheads="1"/>
          </p:cNvSpPr>
          <p:nvPr/>
        </p:nvSpPr>
        <p:spPr bwMode="blackGray">
          <a:xfrm>
            <a:off x="107950" y="485775"/>
            <a:ext cx="28797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合成波的特点</a:t>
            </a:r>
          </a:p>
        </p:txBody>
      </p:sp>
      <p:sp>
        <p:nvSpPr>
          <p:cNvPr id="643161" name="Text Box 89"/>
          <p:cNvSpPr txBox="1">
            <a:spLocks noChangeArrowheads="1"/>
          </p:cNvSpPr>
          <p:nvPr/>
        </p:nvSpPr>
        <p:spPr bwMode="blackGray">
          <a:xfrm>
            <a:off x="120650" y="1035050"/>
            <a:ext cx="4522788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理想介质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中的合成波是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驻波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电场振幅的最大值为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lang="en-US" altLang="zh-CN" i="1">
                <a:solidFill>
                  <a:srgbClr val="FFFFFF"/>
                </a:solidFill>
                <a:latin typeface="Times New Roman" pitchFamily="18" charset="0"/>
              </a:rPr>
              <a:t>E</a:t>
            </a:r>
            <a:r>
              <a:rPr lang="en-US" altLang="zh-CN" baseline="-25000">
                <a:solidFill>
                  <a:srgbClr val="FFFFFF"/>
                </a:solidFill>
                <a:latin typeface="Times New Roman" pitchFamily="18" charset="0"/>
              </a:rPr>
              <a:t>im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，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最小值为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0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；磁场振幅的最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大值为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i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baseline="-25000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im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/</a:t>
            </a:r>
            <a:r>
              <a:rPr lang="el-GR" altLang="zh-CN" i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US" altLang="zh-CN" baseline="-250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，最小值也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为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0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12311" name="Text Box 90"/>
          <p:cNvSpPr txBox="1">
            <a:spLocks noChangeArrowheads="1"/>
          </p:cNvSpPr>
          <p:nvPr/>
        </p:nvSpPr>
        <p:spPr bwMode="blackGray">
          <a:xfrm>
            <a:off x="107950" y="3522663"/>
            <a:ext cx="623728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电场波节点（电场振幅取得最小值的位置）</a:t>
            </a:r>
          </a:p>
        </p:txBody>
      </p:sp>
      <p:sp>
        <p:nvSpPr>
          <p:cNvPr id="12308" name="Text Box 91"/>
          <p:cNvSpPr txBox="1">
            <a:spLocks noChangeArrowheads="1"/>
          </p:cNvSpPr>
          <p:nvPr/>
        </p:nvSpPr>
        <p:spPr bwMode="blackGray">
          <a:xfrm>
            <a:off x="179388" y="4948238"/>
            <a:ext cx="662463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电场波腹点（ 电场振幅取得最大值的位置）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58888" y="4048125"/>
            <a:ext cx="7634287" cy="820738"/>
            <a:chOff x="1259632" y="4048422"/>
            <a:chExt cx="7632848" cy="820738"/>
          </a:xfrm>
        </p:grpSpPr>
        <p:graphicFrame>
          <p:nvGraphicFramePr>
            <p:cNvPr id="8210" name="Object 57"/>
            <p:cNvGraphicFramePr>
              <a:graphicFrameLocks noChangeAspect="1"/>
            </p:cNvGraphicFramePr>
            <p:nvPr/>
          </p:nvGraphicFramePr>
          <p:xfrm>
            <a:off x="1259632" y="4221088"/>
            <a:ext cx="1744663" cy="496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2" name="Equation" r:id="rId5" imgW="704799" imgH="133453" progId="Equation.DSMT4">
                    <p:embed/>
                  </p:oleObj>
                </mc:Choice>
                <mc:Fallback>
                  <p:oleObj name="Equation" r:id="rId5" imgW="704799" imgH="133453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1259632" y="4221088"/>
                          <a:ext cx="1744663" cy="496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1" name="Object 55"/>
            <p:cNvGraphicFramePr>
              <a:graphicFrameLocks noChangeAspect="1"/>
            </p:cNvGraphicFramePr>
            <p:nvPr/>
          </p:nvGraphicFramePr>
          <p:xfrm>
            <a:off x="4355827" y="4048422"/>
            <a:ext cx="1584325" cy="820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3" name="Equation" r:id="rId7" imgW="657258" imgH="295404" progId="Equation.DSMT4">
                    <p:embed/>
                  </p:oleObj>
                </mc:Choice>
                <mc:Fallback>
                  <p:oleObj name="Equation" r:id="rId7" imgW="657258" imgH="295404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355827" y="4048422"/>
                          <a:ext cx="1584325" cy="820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Rectangle 81"/>
            <p:cNvSpPr>
              <a:spLocks noChangeArrowheads="1"/>
            </p:cNvSpPr>
            <p:nvPr/>
          </p:nvSpPr>
          <p:spPr bwMode="blackGray">
            <a:xfrm>
              <a:off x="6409630" y="4265613"/>
              <a:ext cx="2482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n </a:t>
              </a: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= 0 ,1,2,3, </a:t>
              </a:r>
              <a:r>
                <a:rPr lang="en-US" altLang="zh-CN" b="0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…</a:t>
              </a: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8213" name="AutoShape 480"/>
            <p:cNvSpPr>
              <a:spLocks noChangeArrowheads="1"/>
            </p:cNvSpPr>
            <p:nvPr/>
          </p:nvSpPr>
          <p:spPr bwMode="blackGray">
            <a:xfrm>
              <a:off x="3353236" y="4350544"/>
              <a:ext cx="720725" cy="287338"/>
            </a:xfrm>
            <a:prstGeom prst="rightArrow">
              <a:avLst>
                <a:gd name="adj1" fmla="val 50000"/>
                <a:gd name="adj2" fmla="val 62707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085850" y="5521325"/>
            <a:ext cx="7905750" cy="819150"/>
            <a:chOff x="1085850" y="5520705"/>
            <a:chExt cx="7906047" cy="819150"/>
          </a:xfrm>
        </p:grpSpPr>
        <p:graphicFrame>
          <p:nvGraphicFramePr>
            <p:cNvPr id="8206" name="Object 51"/>
            <p:cNvGraphicFramePr>
              <a:graphicFrameLocks noChangeAspect="1"/>
            </p:cNvGraphicFramePr>
            <p:nvPr/>
          </p:nvGraphicFramePr>
          <p:xfrm>
            <a:off x="4283968" y="5520705"/>
            <a:ext cx="2376487" cy="819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4" name="Equation" r:id="rId9" imgW="1047656" imgH="295404" progId="Equation.DSMT4">
                    <p:embed/>
                  </p:oleObj>
                </mc:Choice>
                <mc:Fallback>
                  <p:oleObj name="Equation" r:id="rId9" imgW="1047656" imgH="295404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283968" y="5520705"/>
                          <a:ext cx="2376487" cy="819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7" name="Rectangle 71"/>
            <p:cNvSpPr>
              <a:spLocks noChangeArrowheads="1"/>
            </p:cNvSpPr>
            <p:nvPr/>
          </p:nvSpPr>
          <p:spPr bwMode="blackGray">
            <a:xfrm>
              <a:off x="6012160" y="5636096"/>
              <a:ext cx="29797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666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(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 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= </a:t>
              </a: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0,1,2,3,</a:t>
              </a:r>
              <a:r>
                <a:rPr lang="en-US" altLang="zh-CN" b="0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…</a:t>
              </a:r>
              <a:r>
                <a:rPr lang="en-US" altLang="zh-CN" b="0">
                  <a:solidFill>
                    <a:srgbClr val="FFFF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  </a:t>
              </a:r>
            </a:p>
          </p:txBody>
        </p:sp>
        <p:graphicFrame>
          <p:nvGraphicFramePr>
            <p:cNvPr id="8208" name="Object 97"/>
            <p:cNvGraphicFramePr>
              <a:graphicFrameLocks noChangeAspect="1"/>
            </p:cNvGraphicFramePr>
            <p:nvPr/>
          </p:nvGraphicFramePr>
          <p:xfrm>
            <a:off x="1085850" y="5522913"/>
            <a:ext cx="2134533" cy="786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5" name="Equation" r:id="rId11" imgW="1076459" imgH="323901" progId="Equation.DSMT4">
                    <p:embed/>
                  </p:oleObj>
                </mc:Choice>
                <mc:Fallback>
                  <p:oleObj name="Equation" r:id="rId11" imgW="1076459" imgH="323901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1085850" y="5522913"/>
                          <a:ext cx="2134533" cy="786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9" name="AutoShape 481"/>
            <p:cNvSpPr>
              <a:spLocks noChangeArrowheads="1"/>
            </p:cNvSpPr>
            <p:nvPr/>
          </p:nvSpPr>
          <p:spPr bwMode="blackGray">
            <a:xfrm>
              <a:off x="3353236" y="5793581"/>
              <a:ext cx="720725" cy="287337"/>
            </a:xfrm>
            <a:prstGeom prst="rightArrow">
              <a:avLst>
                <a:gd name="adj1" fmla="val 50000"/>
                <a:gd name="adj2" fmla="val 62707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643554" name="Picture 482" descr="63"/>
          <p:cNvPicPr>
            <a:picLocks noGrp="1" noChangeAspect="1" noChangeArrowheads="1"/>
          </p:cNvPicPr>
          <p:nvPr>
            <p:ph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Gray">
          <a:xfrm>
            <a:off x="4864100" y="804863"/>
            <a:ext cx="4171950" cy="2552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2" name="AutoShape 484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203" name="AutoShape 48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204" name="AutoShape 4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205" name="AutoShape 48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4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43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43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643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643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43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114" grpId="0" autoUpdateAnimBg="0"/>
      <p:bldP spid="643161" grpId="0" build="p" autoUpdateAnimBg="0"/>
      <p:bldP spid="12311" grpId="0"/>
      <p:bldP spid="123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00184-89F9-4D10-A680-DD3DF469C28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70091" name="Text Box 43"/>
          <p:cNvSpPr txBox="1">
            <a:spLocks noChangeArrowheads="1"/>
          </p:cNvSpPr>
          <p:nvPr/>
        </p:nvSpPr>
        <p:spPr bwMode="blackGray">
          <a:xfrm>
            <a:off x="179388" y="4292600"/>
            <a:ext cx="48164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 b="0">
                <a:solidFill>
                  <a:srgbClr val="FFFFFF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坡印廷矢量的平均值为零，不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发生能量的传输，仅在两个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波节间进行电场能量和磁场能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 量的交换。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07950" y="2060575"/>
            <a:ext cx="5903913" cy="571500"/>
            <a:chOff x="59" y="2659"/>
            <a:chExt cx="3719" cy="360"/>
          </a:xfrm>
        </p:grpSpPr>
        <p:sp>
          <p:nvSpPr>
            <p:cNvPr id="9248" name="Text Box 45"/>
            <p:cNvSpPr txBox="1">
              <a:spLocks noChangeArrowheads="1"/>
            </p:cNvSpPr>
            <p:nvPr/>
          </p:nvSpPr>
          <p:spPr bwMode="blackGray">
            <a:xfrm>
              <a:off x="59" y="2659"/>
              <a:ext cx="371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rgbClr val="FFFFFF"/>
                  </a:solidFill>
                </a:rPr>
                <a:t>               </a:t>
              </a:r>
              <a:r>
                <a:rPr lang="zh-CN" altLang="en-US">
                  <a:solidFill>
                    <a:srgbClr val="FFFFFF"/>
                  </a:solidFill>
                </a:rPr>
                <a:t>在</a:t>
              </a:r>
              <a:r>
                <a:rPr lang="zh-CN" altLang="en-US">
                  <a:solidFill>
                    <a:srgbClr val="FF0000"/>
                  </a:solidFill>
                </a:rPr>
                <a:t>时间</a:t>
              </a:r>
              <a:r>
                <a:rPr lang="zh-CN" altLang="en-US">
                  <a:solidFill>
                    <a:srgbClr val="FFFFFF"/>
                  </a:solidFill>
                </a:rPr>
                <a:t>上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有</a:t>
              </a:r>
              <a:r>
                <a:rPr lang="el-GR" altLang="zh-CN">
                  <a:solidFill>
                    <a:srgbClr val="FFFFFF"/>
                  </a:solidFill>
                  <a:latin typeface="Times New Roman" pitchFamily="18" charset="0"/>
                  <a:cs typeface="Arial" charset="0"/>
                </a:rPr>
                <a:t>π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cs typeface="Arial" charset="0"/>
                </a:rPr>
                <a:t>/ 2</a:t>
              </a:r>
              <a:r>
                <a:rPr lang="en-US" altLang="zh-CN">
                  <a:solidFill>
                    <a:srgbClr val="FFFFFF"/>
                  </a:solidFill>
                </a:rPr>
                <a:t> </a:t>
              </a:r>
              <a:r>
                <a:rPr lang="zh-CN" altLang="en-US">
                  <a:solidFill>
                    <a:srgbClr val="FFFFFF"/>
                  </a:solidFill>
                </a:rPr>
                <a:t>的相移。 </a:t>
              </a:r>
            </a:p>
          </p:txBody>
        </p:sp>
        <p:graphicFrame>
          <p:nvGraphicFramePr>
            <p:cNvPr id="9249" name="Object 46"/>
            <p:cNvGraphicFramePr>
              <a:graphicFrameLocks noChangeAspect="1"/>
            </p:cNvGraphicFramePr>
            <p:nvPr/>
          </p:nvGraphicFramePr>
          <p:xfrm>
            <a:off x="491" y="2705"/>
            <a:ext cx="567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8" name="Equation" r:id="rId4" imgW="371312" imgH="161951" progId="Equation.DSMT4">
                    <p:embed/>
                  </p:oleObj>
                </mc:Choice>
                <mc:Fallback>
                  <p:oleObj name="Equation" r:id="rId4" imgW="371312" imgH="161951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91" y="2705"/>
                          <a:ext cx="567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106363" y="2781300"/>
            <a:ext cx="4897437" cy="1516063"/>
            <a:chOff x="67" y="1752"/>
            <a:chExt cx="3085" cy="955"/>
          </a:xfrm>
        </p:grpSpPr>
        <p:sp>
          <p:nvSpPr>
            <p:cNvPr id="9246" name="Text Box 42"/>
            <p:cNvSpPr txBox="1">
              <a:spLocks noChangeArrowheads="1"/>
            </p:cNvSpPr>
            <p:nvPr/>
          </p:nvSpPr>
          <p:spPr bwMode="blackGray">
            <a:xfrm>
              <a:off x="67" y="1752"/>
              <a:ext cx="3085" cy="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 b="0">
                  <a:solidFill>
                    <a:srgbClr val="FFFFFF"/>
                  </a:solidFill>
                  <a:ea typeface="宋体" pitchFamily="2" charset="-122"/>
                </a:rPr>
                <a:t>              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在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空间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上错开</a:t>
              </a:r>
              <a:r>
                <a:rPr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λ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/ 4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，电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        场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的波腹（节）点正好是磁场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       的波节（腹）点。</a:t>
              </a:r>
            </a:p>
          </p:txBody>
        </p:sp>
        <p:graphicFrame>
          <p:nvGraphicFramePr>
            <p:cNvPr id="9247" name="Object 47"/>
            <p:cNvGraphicFramePr>
              <a:graphicFrameLocks noChangeAspect="1"/>
            </p:cNvGraphicFramePr>
            <p:nvPr/>
          </p:nvGraphicFramePr>
          <p:xfrm>
            <a:off x="483" y="1797"/>
            <a:ext cx="56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9" name="Equation" r:id="rId6" imgW="371312" imgH="161951" progId="Equation.DSMT4">
                    <p:embed/>
                  </p:oleObj>
                </mc:Choice>
                <mc:Fallback>
                  <p:oleObj name="Equation" r:id="rId6" imgW="371312" imgH="161951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483" y="1797"/>
                          <a:ext cx="567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0099" name="Text Box 51"/>
          <p:cNvSpPr txBox="1">
            <a:spLocks noChangeArrowheads="1"/>
          </p:cNvSpPr>
          <p:nvPr/>
        </p:nvSpPr>
        <p:spPr bwMode="blackGray">
          <a:xfrm>
            <a:off x="106363" y="476250"/>
            <a:ext cx="4681537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 </a:t>
            </a:r>
            <a:r>
              <a:rPr kumimoji="1" lang="zh-CN" altLang="en-US">
                <a:solidFill>
                  <a:srgbClr val="FFFFFF"/>
                </a:solidFill>
              </a:rPr>
              <a:t>两相邻波节点之间任意两点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FFFFFF"/>
                </a:solidFill>
              </a:rPr>
              <a:t>       的电场同相。同一波节点两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FFFFFF"/>
                </a:solidFill>
              </a:rPr>
              <a:t>      侧的电场反相。</a:t>
            </a:r>
          </a:p>
        </p:txBody>
      </p: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5327650" y="642938"/>
            <a:ext cx="3778250" cy="2698750"/>
            <a:chOff x="3380" y="2069"/>
            <a:chExt cx="2380" cy="1700"/>
          </a:xfrm>
        </p:grpSpPr>
        <p:grpSp>
          <p:nvGrpSpPr>
            <p:cNvPr id="9235" name="Group 79"/>
            <p:cNvGrpSpPr>
              <a:grpSpLocks/>
            </p:cNvGrpSpPr>
            <p:nvPr/>
          </p:nvGrpSpPr>
          <p:grpSpPr bwMode="auto">
            <a:xfrm>
              <a:off x="3602" y="3410"/>
              <a:ext cx="1512" cy="359"/>
              <a:chOff x="3602" y="3410"/>
              <a:chExt cx="1512" cy="359"/>
            </a:xfrm>
          </p:grpSpPr>
          <p:graphicFrame>
            <p:nvGraphicFramePr>
              <p:cNvPr id="9242" name="Object 70"/>
              <p:cNvGraphicFramePr>
                <a:graphicFrameLocks noChangeAspect="1"/>
              </p:cNvGraphicFramePr>
              <p:nvPr/>
            </p:nvGraphicFramePr>
            <p:xfrm>
              <a:off x="4876" y="3430"/>
              <a:ext cx="23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0" name="Equation" r:id="rId8" imgW="266353" imgH="215619" progId="Equation.DSMT4">
                      <p:embed/>
                    </p:oleObj>
                  </mc:Choice>
                  <mc:Fallback>
                    <p:oleObj name="Equation" r:id="rId8" imgW="266353" imgH="215619" progId="Equation.DSMT4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6" y="3430"/>
                            <a:ext cx="238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3" name="Object 71"/>
              <p:cNvGraphicFramePr>
                <a:graphicFrameLocks noChangeAspect="1"/>
              </p:cNvGraphicFramePr>
              <p:nvPr/>
            </p:nvGraphicFramePr>
            <p:xfrm>
              <a:off x="4713" y="3576"/>
              <a:ext cx="23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1" name="Equation" r:id="rId10" imgW="266353" imgH="215619" progId="Equation.DSMT4">
                      <p:embed/>
                    </p:oleObj>
                  </mc:Choice>
                  <mc:Fallback>
                    <p:oleObj name="Equation" r:id="rId10" imgW="266353" imgH="215619" progId="Equation.DSMT4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3" y="3576"/>
                            <a:ext cx="238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4" name="Object 72"/>
              <p:cNvGraphicFramePr>
                <a:graphicFrameLocks noChangeAspect="1"/>
              </p:cNvGraphicFramePr>
              <p:nvPr/>
            </p:nvGraphicFramePr>
            <p:xfrm>
              <a:off x="3602" y="3410"/>
              <a:ext cx="294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2" name="Equation" r:id="rId12" imgW="330057" imgH="215806" progId="Equation.DSMT4">
                      <p:embed/>
                    </p:oleObj>
                  </mc:Choice>
                  <mc:Fallback>
                    <p:oleObj name="Equation" r:id="rId12" imgW="330057" imgH="215806" progId="Equation.DSMT4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2" y="3410"/>
                            <a:ext cx="294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5" name="Object 73"/>
              <p:cNvGraphicFramePr>
                <a:graphicFrameLocks noChangeAspect="1"/>
              </p:cNvGraphicFramePr>
              <p:nvPr/>
            </p:nvGraphicFramePr>
            <p:xfrm>
              <a:off x="4023" y="3557"/>
              <a:ext cx="294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3" name="Equation" r:id="rId14" imgW="330057" imgH="215806" progId="Equation.DSMT4">
                      <p:embed/>
                    </p:oleObj>
                  </mc:Choice>
                  <mc:Fallback>
                    <p:oleObj name="Equation" r:id="rId14" imgW="330057" imgH="215806" progId="Equation.DSMT4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3" y="3557"/>
                            <a:ext cx="294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9236" name="Picture 80" descr="64"/>
            <p:cNvPicPr>
              <a:picLocks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blackGray">
            <a:xfrm>
              <a:off x="3380" y="2069"/>
              <a:ext cx="2380" cy="1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37" name="Group 81"/>
            <p:cNvGrpSpPr>
              <a:grpSpLocks/>
            </p:cNvGrpSpPr>
            <p:nvPr/>
          </p:nvGrpSpPr>
          <p:grpSpPr bwMode="auto">
            <a:xfrm>
              <a:off x="3739" y="3290"/>
              <a:ext cx="1512" cy="359"/>
              <a:chOff x="3602" y="3410"/>
              <a:chExt cx="1512" cy="359"/>
            </a:xfrm>
          </p:grpSpPr>
          <p:graphicFrame>
            <p:nvGraphicFramePr>
              <p:cNvPr id="9238" name="Object 82"/>
              <p:cNvGraphicFramePr>
                <a:graphicFrameLocks noChangeAspect="1"/>
              </p:cNvGraphicFramePr>
              <p:nvPr/>
            </p:nvGraphicFramePr>
            <p:xfrm>
              <a:off x="4876" y="3430"/>
              <a:ext cx="23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4" name="Equation" r:id="rId17" imgW="266353" imgH="215619" progId="Equation.DSMT4">
                      <p:embed/>
                    </p:oleObj>
                  </mc:Choice>
                  <mc:Fallback>
                    <p:oleObj name="Equation" r:id="rId17" imgW="266353" imgH="215619" progId="Equation.DSMT4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6" y="3430"/>
                            <a:ext cx="238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9" name="Object 83"/>
              <p:cNvGraphicFramePr>
                <a:graphicFrameLocks noChangeAspect="1"/>
              </p:cNvGraphicFramePr>
              <p:nvPr/>
            </p:nvGraphicFramePr>
            <p:xfrm>
              <a:off x="4713" y="3576"/>
              <a:ext cx="23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5" name="Equation" r:id="rId18" imgW="266353" imgH="215619" progId="Equation.DSMT4">
                      <p:embed/>
                    </p:oleObj>
                  </mc:Choice>
                  <mc:Fallback>
                    <p:oleObj name="Equation" r:id="rId18" imgW="266353" imgH="215619" progId="Equation.DSMT4">
                      <p:embed/>
                      <p:pic>
                        <p:nvPicPr>
                          <p:cNvPr id="0" name="Object 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3" y="3576"/>
                            <a:ext cx="238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0" name="Object 84"/>
              <p:cNvGraphicFramePr>
                <a:graphicFrameLocks noChangeAspect="1"/>
              </p:cNvGraphicFramePr>
              <p:nvPr/>
            </p:nvGraphicFramePr>
            <p:xfrm>
              <a:off x="3602" y="3410"/>
              <a:ext cx="294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6" name="Equation" r:id="rId19" imgW="330057" imgH="215806" progId="Equation.DSMT4">
                      <p:embed/>
                    </p:oleObj>
                  </mc:Choice>
                  <mc:Fallback>
                    <p:oleObj name="Equation" r:id="rId19" imgW="330057" imgH="215806" progId="Equation.DSMT4">
                      <p:embed/>
                      <p:pic>
                        <p:nvPicPr>
                          <p:cNvPr id="0" name="Object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2" y="3410"/>
                            <a:ext cx="294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1" name="Object 85"/>
              <p:cNvGraphicFramePr>
                <a:graphicFrameLocks noChangeAspect="1"/>
              </p:cNvGraphicFramePr>
              <p:nvPr/>
            </p:nvGraphicFramePr>
            <p:xfrm>
              <a:off x="4023" y="3557"/>
              <a:ext cx="294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7" name="Equation" r:id="rId20" imgW="330057" imgH="215806" progId="Equation.DSMT4">
                      <p:embed/>
                    </p:oleObj>
                  </mc:Choice>
                  <mc:Fallback>
                    <p:oleObj name="Equation" r:id="rId20" imgW="330057" imgH="215806" progId="Equation.DSMT4">
                      <p:embed/>
                      <p:pic>
                        <p:nvPicPr>
                          <p:cNvPr id="0" name="Object 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3" y="3557"/>
                            <a:ext cx="294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95"/>
          <p:cNvGrpSpPr>
            <a:grpSpLocks/>
          </p:cNvGrpSpPr>
          <p:nvPr/>
        </p:nvGrpSpPr>
        <p:grpSpPr bwMode="auto">
          <a:xfrm>
            <a:off x="5327650" y="3511550"/>
            <a:ext cx="3778250" cy="2698750"/>
            <a:chOff x="3225" y="397"/>
            <a:chExt cx="2380" cy="1700"/>
          </a:xfrm>
        </p:grpSpPr>
        <p:pic>
          <p:nvPicPr>
            <p:cNvPr id="9229" name="Picture 88" descr="65"/>
            <p:cNvPicPr>
              <a:picLocks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blackGray">
            <a:xfrm>
              <a:off x="3225" y="397"/>
              <a:ext cx="2380" cy="1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230" name="Group 90"/>
            <p:cNvGrpSpPr>
              <a:grpSpLocks/>
            </p:cNvGrpSpPr>
            <p:nvPr/>
          </p:nvGrpSpPr>
          <p:grpSpPr bwMode="auto">
            <a:xfrm>
              <a:off x="4005" y="557"/>
              <a:ext cx="1056" cy="1376"/>
              <a:chOff x="4005" y="557"/>
              <a:chExt cx="1056" cy="1376"/>
            </a:xfrm>
          </p:grpSpPr>
          <p:graphicFrame>
            <p:nvGraphicFramePr>
              <p:cNvPr id="9231" name="Object 91"/>
              <p:cNvGraphicFramePr>
                <a:graphicFrameLocks noChangeAspect="1"/>
              </p:cNvGraphicFramePr>
              <p:nvPr/>
            </p:nvGraphicFramePr>
            <p:xfrm>
              <a:off x="4005" y="1740"/>
              <a:ext cx="238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8" name="Equation" r:id="rId22" imgW="266353" imgH="215619" progId="Equation.DSMT4">
                      <p:embed/>
                    </p:oleObj>
                  </mc:Choice>
                  <mc:Fallback>
                    <p:oleObj name="Equation" r:id="rId22" imgW="266353" imgH="215619" progId="Equation.DSMT4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5" y="1740"/>
                            <a:ext cx="238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2" name="Object 92"/>
              <p:cNvGraphicFramePr>
                <a:graphicFrameLocks noChangeAspect="1"/>
              </p:cNvGraphicFramePr>
              <p:nvPr/>
            </p:nvGraphicFramePr>
            <p:xfrm>
              <a:off x="4694" y="561"/>
              <a:ext cx="294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9" name="Equation" r:id="rId23" imgW="330057" imgH="215806" progId="Equation.DSMT4">
                      <p:embed/>
                    </p:oleObj>
                  </mc:Choice>
                  <mc:Fallback>
                    <p:oleObj name="Equation" r:id="rId23" imgW="330057" imgH="215806" progId="Equation.DSMT4">
                      <p:embed/>
                      <p:pic>
                        <p:nvPicPr>
                          <p:cNvPr id="0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4" y="561"/>
                            <a:ext cx="294" cy="19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3" name="Object 93"/>
              <p:cNvGraphicFramePr>
                <a:graphicFrameLocks noChangeAspect="1"/>
              </p:cNvGraphicFramePr>
              <p:nvPr/>
            </p:nvGraphicFramePr>
            <p:xfrm>
              <a:off x="4240" y="557"/>
              <a:ext cx="114" cy="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60" name="Equation" r:id="rId24" imgW="126835" imgH="139518" progId="Equation.DSMT4">
                      <p:embed/>
                    </p:oleObj>
                  </mc:Choice>
                  <mc:Fallback>
                    <p:oleObj name="Equation" r:id="rId24" imgW="126835" imgH="139518" progId="Equation.DSMT4">
                      <p:embed/>
                      <p:pic>
                        <p:nvPicPr>
                          <p:cNvPr id="0" name="Object 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0" y="557"/>
                            <a:ext cx="114" cy="12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4" name="Object 94"/>
              <p:cNvGraphicFramePr>
                <a:graphicFrameLocks noChangeAspect="1"/>
              </p:cNvGraphicFramePr>
              <p:nvPr/>
            </p:nvGraphicFramePr>
            <p:xfrm>
              <a:off x="4803" y="1625"/>
              <a:ext cx="258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61" name="Equation" r:id="rId26" imgW="266353" imgH="215619" progId="Equation.DSMT4">
                      <p:embed/>
                    </p:oleObj>
                  </mc:Choice>
                  <mc:Fallback>
                    <p:oleObj name="Equation" r:id="rId26" imgW="266353" imgH="215619" progId="Equation.DSMT4">
                      <p:embed/>
                      <p:pic>
                        <p:nvPicPr>
                          <p:cNvPr id="0" name="Object 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3" y="1625"/>
                            <a:ext cx="258" cy="209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225" name="AutoShape 96">
            <a:hlinkClick r:id="rId2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226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227" name="AutoShape 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228" name="AutoShape 9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77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70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70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70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70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91" grpId="0" build="allAtOnce"/>
      <p:bldP spid="7700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B63C76-A9A7-44F3-9C0B-DABAD46B389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72124" name="Rectangle 28"/>
          <p:cNvSpPr>
            <a:spLocks noChangeArrowheads="1"/>
          </p:cNvSpPr>
          <p:nvPr/>
        </p:nvSpPr>
        <p:spPr bwMode="blackGray">
          <a:xfrm>
            <a:off x="107950" y="568325"/>
            <a:ext cx="8443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en-US" altLang="zh-CN">
                <a:solidFill>
                  <a:srgbClr val="E781E0"/>
                </a:solidFill>
                <a:latin typeface="幼圆" pitchFamily="49" charset="-122"/>
                <a:ea typeface="幼圆" pitchFamily="49" charset="-122"/>
              </a:rPr>
              <a:t>【</a:t>
            </a:r>
            <a:r>
              <a:rPr lang="zh-CN" altLang="en-US">
                <a:solidFill>
                  <a:srgbClr val="E781E0"/>
                </a:solidFill>
                <a:latin typeface="幼圆" pitchFamily="49" charset="-122"/>
                <a:ea typeface="幼圆" pitchFamily="49" charset="-122"/>
              </a:rPr>
              <a:t>例</a:t>
            </a:r>
            <a:r>
              <a:rPr lang="en-US" altLang="zh-CN">
                <a:solidFill>
                  <a:srgbClr val="E781E0"/>
                </a:solidFill>
                <a:latin typeface="幼圆" pitchFamily="49" charset="-122"/>
                <a:ea typeface="幼圆" pitchFamily="49" charset="-122"/>
              </a:rPr>
              <a:t>】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一均匀平面波沿</a:t>
            </a:r>
            <a:r>
              <a:rPr lang="en-US" altLang="zh-CN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+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rPr>
              <a:t>z 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方向传播，其电场强度矢量为</a:t>
            </a:r>
          </a:p>
        </p:txBody>
      </p:sp>
      <p:graphicFrame>
        <p:nvGraphicFramePr>
          <p:cNvPr id="772126" name="Object 30"/>
          <p:cNvGraphicFramePr>
            <a:graphicFrameLocks noChangeAspect="1"/>
          </p:cNvGraphicFramePr>
          <p:nvPr/>
        </p:nvGraphicFramePr>
        <p:xfrm>
          <a:off x="1458913" y="981075"/>
          <a:ext cx="61372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3" imgW="2981256" imgH="171334" progId="Equation.DSMT4">
                  <p:embed/>
                </p:oleObj>
              </mc:Choice>
              <mc:Fallback>
                <p:oleObj name="Equation" r:id="rId3" imgW="2981256" imgH="17133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458913" y="981075"/>
                        <a:ext cx="61372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27" name="Rectangle 31"/>
          <p:cNvSpPr>
            <a:spLocks noChangeArrowheads="1"/>
          </p:cNvSpPr>
          <p:nvPr/>
        </p:nvSpPr>
        <p:spPr bwMode="blackGray">
          <a:xfrm>
            <a:off x="255588" y="3908425"/>
            <a:ext cx="440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E781E0"/>
                </a:solidFill>
                <a:latin typeface="幼圆" pitchFamily="49" charset="-122"/>
                <a:ea typeface="幼圆" pitchFamily="49" charset="-122"/>
              </a:rPr>
              <a:t>解</a:t>
            </a:r>
            <a:r>
              <a:rPr lang="zh-CN" altLang="en-US">
                <a:solidFill>
                  <a:srgbClr val="FFFFFF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1</a:t>
            </a:r>
            <a:r>
              <a:rPr lang="zh-CN" altLang="en-US">
                <a:solidFill>
                  <a:srgbClr val="FFFFFF"/>
                </a:solidFill>
                <a:latin typeface="幼圆" pitchFamily="49" charset="-122"/>
                <a:ea typeface="幼圆" pitchFamily="49" charset="-122"/>
                <a:sym typeface="Wingdings" pitchFamily="2" charset="2"/>
              </a:rPr>
              <a:t>）</a:t>
            </a: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电场强度的复数表示式</a:t>
            </a:r>
            <a:r>
              <a:rPr lang="zh-CN" altLang="en-US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graphicFrame>
        <p:nvGraphicFramePr>
          <p:cNvPr id="772128" name="Object 32"/>
          <p:cNvGraphicFramePr>
            <a:graphicFrameLocks noChangeAspect="1"/>
          </p:cNvGraphicFramePr>
          <p:nvPr/>
        </p:nvGraphicFramePr>
        <p:xfrm>
          <a:off x="1258888" y="4581525"/>
          <a:ext cx="51498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5" imgW="2076573" imgH="171334" progId="Equation.DSMT4">
                  <p:embed/>
                </p:oleObj>
              </mc:Choice>
              <mc:Fallback>
                <p:oleObj name="Equation" r:id="rId5" imgW="2076573" imgH="17133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258888" y="4581525"/>
                        <a:ext cx="51498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35" name="Rectangle 39"/>
          <p:cNvSpPr>
            <a:spLocks noChangeArrowheads="1"/>
          </p:cNvSpPr>
          <p:nvPr/>
        </p:nvSpPr>
        <p:spPr bwMode="blackGray">
          <a:xfrm>
            <a:off x="34925" y="1425575"/>
            <a:ext cx="92535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571500" algn="l"/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40000"/>
              </a:lnSpc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）求相伴的磁场强度 ；</a:t>
            </a:r>
            <a:endParaRPr lang="en-US" altLang="zh-CN">
              <a:solidFill>
                <a:srgbClr val="FFFFFF"/>
              </a:solidFill>
              <a:latin typeface="Times New Roman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）若在传播方向上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= 0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处，放置一无限大的理想导体平板， 求区域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 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&lt; 0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中的电场强度和磁场强度 ；</a:t>
            </a:r>
            <a:endParaRPr lang="en-US" altLang="zh-CN">
              <a:solidFill>
                <a:srgbClr val="FFFFFF"/>
              </a:solidFill>
              <a:latin typeface="Times New Roman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3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）求理想导体平板表面的电流密度。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682625" y="5270500"/>
            <a:ext cx="7723188" cy="1093788"/>
            <a:chOff x="383" y="2790"/>
            <a:chExt cx="4753" cy="608"/>
          </a:xfrm>
        </p:grpSpPr>
        <p:graphicFrame>
          <p:nvGraphicFramePr>
            <p:cNvPr id="10253" name="Object 41"/>
            <p:cNvGraphicFramePr>
              <a:graphicFrameLocks noChangeAspect="1"/>
            </p:cNvGraphicFramePr>
            <p:nvPr/>
          </p:nvGraphicFramePr>
          <p:xfrm>
            <a:off x="683" y="2790"/>
            <a:ext cx="4453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8" name="Equation" r:id="rId7" imgW="3457716" imgH="390628" progId="Equation.DSMT4">
                    <p:embed/>
                  </p:oleObj>
                </mc:Choice>
                <mc:Fallback>
                  <p:oleObj name="Equation" r:id="rId7" imgW="3457716" imgH="390628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Gray">
                        <a:xfrm>
                          <a:off x="683" y="2790"/>
                          <a:ext cx="4453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4" name="Rectangle 42"/>
            <p:cNvSpPr>
              <a:spLocks noChangeArrowheads="1"/>
            </p:cNvSpPr>
            <p:nvPr/>
          </p:nvSpPr>
          <p:spPr bwMode="blackGray">
            <a:xfrm>
              <a:off x="383" y="2927"/>
              <a:ext cx="39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>
                  <a:solidFill>
                    <a:srgbClr val="FFFFFF"/>
                  </a:solidFill>
                  <a:latin typeface="楷体_GB2312" pitchFamily="49" charset="-122"/>
                </a:rPr>
                <a:t>则</a:t>
              </a:r>
              <a:r>
                <a:rPr lang="zh-CN" altLang="en-US">
                  <a:solidFill>
                    <a:srgbClr val="FFFFFF"/>
                  </a:solidFill>
                  <a:latin typeface="黑体" pitchFamily="49" charset="-122"/>
                  <a:ea typeface="黑体" pitchFamily="49" charset="-122"/>
                </a:rPr>
                <a:t> </a:t>
              </a:r>
            </a:p>
          </p:txBody>
        </p:sp>
      </p:grpSp>
      <p:sp>
        <p:nvSpPr>
          <p:cNvPr id="10249" name="AutoShape 43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50" name="AutoShape 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51" name="AutoShape 4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52" name="AutoShape 4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2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7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77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7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7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24" grpId="0"/>
      <p:bldP spid="772127" grpId="0"/>
      <p:bldP spid="7721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4674E6-6D85-4DBB-9A7F-FBCCC9C0C9E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73138" name="Rectangle 18"/>
          <p:cNvSpPr>
            <a:spLocks noChangeArrowheads="1"/>
          </p:cNvSpPr>
          <p:nvPr/>
        </p:nvSpPr>
        <p:spPr bwMode="auto">
          <a:xfrm>
            <a:off x="71438" y="1017588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）反射波的电场为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773140" name="Rectangle 20"/>
          <p:cNvSpPr>
            <a:spLocks noChangeArrowheads="1"/>
          </p:cNvSpPr>
          <p:nvPr/>
        </p:nvSpPr>
        <p:spPr bwMode="auto">
          <a:xfrm>
            <a:off x="836613" y="3429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反射波的磁场为</a:t>
            </a:r>
          </a:p>
        </p:txBody>
      </p:sp>
      <p:graphicFrame>
        <p:nvGraphicFramePr>
          <p:cNvPr id="773141" name="Object 21"/>
          <p:cNvGraphicFramePr>
            <a:graphicFrameLocks noChangeAspect="1"/>
          </p:cNvGraphicFramePr>
          <p:nvPr/>
        </p:nvGraphicFramePr>
        <p:xfrm>
          <a:off x="1085850" y="2036763"/>
          <a:ext cx="613410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3" imgW="2190743" imgH="200179" progId="Equation.DSMT4">
                  <p:embed/>
                </p:oleObj>
              </mc:Choice>
              <mc:Fallback>
                <p:oleObj name="Equation" r:id="rId3" imgW="2190743" imgH="20017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2036763"/>
                        <a:ext cx="613410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42" name="Object 22"/>
          <p:cNvGraphicFramePr>
            <a:graphicFrameLocks noChangeAspect="1"/>
          </p:cNvGraphicFramePr>
          <p:nvPr/>
        </p:nvGraphicFramePr>
        <p:xfrm>
          <a:off x="679450" y="4313238"/>
          <a:ext cx="844867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Equation" r:id="rId5" imgW="3781486" imgH="390628" progId="Equation.DSMT4">
                  <p:embed/>
                </p:oleObj>
              </mc:Choice>
              <mc:Fallback>
                <p:oleObj name="Equation" r:id="rId5" imgW="3781486" imgH="39062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4313238"/>
                        <a:ext cx="8448675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AutoShape 23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272" name="AutoShape 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273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274" name="AutoShape 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7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7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7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38" grpId="0"/>
      <p:bldP spid="7731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669F18-AB65-45E4-856C-D635495749B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774152" name="Object 8"/>
          <p:cNvGraphicFramePr>
            <a:graphicFrameLocks noChangeAspect="1"/>
          </p:cNvGraphicFramePr>
          <p:nvPr/>
        </p:nvGraphicFramePr>
        <p:xfrm>
          <a:off x="1373188" y="1484313"/>
          <a:ext cx="5791200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3" imgW="2438516" imgH="647803" progId="Equation.DSMT4">
                  <p:embed/>
                </p:oleObj>
              </mc:Choice>
              <mc:Fallback>
                <p:oleObj name="Equation" r:id="rId3" imgW="2438516" imgH="64780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1484313"/>
                        <a:ext cx="5791200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53" name="Object 9"/>
          <p:cNvGraphicFramePr>
            <a:graphicFrameLocks noChangeAspect="1"/>
          </p:cNvGraphicFramePr>
          <p:nvPr/>
        </p:nvGraphicFramePr>
        <p:xfrm>
          <a:off x="1517650" y="4941888"/>
          <a:ext cx="66548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5" imgW="2933714" imgH="361783" progId="Equation.DSMT4">
                  <p:embed/>
                </p:oleObj>
              </mc:Choice>
              <mc:Fallback>
                <p:oleObj name="Equation" r:id="rId5" imgW="2933714" imgH="36178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4941888"/>
                        <a:ext cx="66548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54" name="Rectangle 10"/>
          <p:cNvSpPr>
            <a:spLocks noChangeArrowheads="1"/>
          </p:cNvSpPr>
          <p:nvPr/>
        </p:nvSpPr>
        <p:spPr bwMode="auto">
          <a:xfrm>
            <a:off x="215900" y="739775"/>
            <a:ext cx="6948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      区域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&lt; 0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的合成波电场和磁场分别为 </a:t>
            </a:r>
          </a:p>
        </p:txBody>
      </p:sp>
      <p:sp>
        <p:nvSpPr>
          <p:cNvPr id="774155" name="Rectangle 11"/>
          <p:cNvSpPr>
            <a:spLocks noChangeArrowheads="1"/>
          </p:cNvSpPr>
          <p:nvPr/>
        </p:nvSpPr>
        <p:spPr bwMode="auto">
          <a:xfrm>
            <a:off x="0" y="3357563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3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）理想导体表面电流密度为</a:t>
            </a:r>
            <a:r>
              <a:rPr lang="zh-CN" altLang="en-US" sz="2800">
                <a:solidFill>
                  <a:srgbClr val="FFFFFF"/>
                </a:solidFill>
                <a:latin typeface="宋体" pitchFamily="2" charset="-122"/>
                <a:ea typeface="宋体" pitchFamily="2" charset="-122"/>
              </a:rPr>
              <a:t> </a:t>
            </a:r>
          </a:p>
        </p:txBody>
      </p:sp>
      <p:graphicFrame>
        <p:nvGraphicFramePr>
          <p:cNvPr id="774156" name="Object 12"/>
          <p:cNvGraphicFramePr>
            <a:graphicFrameLocks noChangeAspect="1"/>
          </p:cNvGraphicFramePr>
          <p:nvPr/>
        </p:nvGraphicFramePr>
        <p:xfrm>
          <a:off x="1116013" y="4076700"/>
          <a:ext cx="25209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7" imgW="961942" imgH="171334" progId="Equation.DSMT4">
                  <p:embed/>
                </p:oleObj>
              </mc:Choice>
              <mc:Fallback>
                <p:oleObj name="Equation" r:id="rId7" imgW="961942" imgH="17133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76700"/>
                        <a:ext cx="25209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AutoShape 13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297" name="AutoShape 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298" name="AutoShape 1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299" name="AutoShape 1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7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77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77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0"/>
                                        <p:tgtEl>
                                          <p:spTgt spid="77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0"/>
                                        <p:tgtEl>
                                          <p:spTgt spid="77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4" grpId="0"/>
      <p:bldP spid="7741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B928D7-68D6-495E-A507-FD471E75F85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48196" name="Rectangle 4"/>
          <p:cNvSpPr>
            <a:spLocks noChangeArrowheads="1"/>
          </p:cNvSpPr>
          <p:nvPr/>
        </p:nvSpPr>
        <p:spPr bwMode="auto">
          <a:xfrm>
            <a:off x="112713" y="476250"/>
            <a:ext cx="51276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6.1.2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对理想介质分界面的垂直入射</a:t>
            </a:r>
          </a:p>
        </p:txBody>
      </p:sp>
      <p:graphicFrame>
        <p:nvGraphicFramePr>
          <p:cNvPr id="648261" name="Object 69"/>
          <p:cNvGraphicFramePr>
            <a:graphicFrameLocks noChangeAspect="1"/>
          </p:cNvGraphicFramePr>
          <p:nvPr/>
        </p:nvGraphicFramePr>
        <p:xfrm>
          <a:off x="661988" y="3141663"/>
          <a:ext cx="398145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" name="Equation" r:id="rId3" imgW="1895428" imgH="390628" progId="Equation.DSMT4">
                  <p:embed/>
                </p:oleObj>
              </mc:Choice>
              <mc:Fallback>
                <p:oleObj name="Equation" r:id="rId3" imgW="1895428" imgH="390628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3141663"/>
                        <a:ext cx="398145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266" name="Text Box 74"/>
          <p:cNvSpPr txBox="1">
            <a:spLocks noChangeArrowheads="1"/>
          </p:cNvSpPr>
          <p:nvPr/>
        </p:nvSpPr>
        <p:spPr bwMode="auto">
          <a:xfrm>
            <a:off x="612775" y="908050"/>
            <a:ext cx="51117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设两种媒质均为理想介质，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即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                  </a:t>
            </a:r>
            <a:r>
              <a:rPr kumimoji="1" lang="zh-CN" altLang="en-US" b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</a:t>
            </a:r>
            <a:r>
              <a:rPr kumimoji="1" lang="en-US" altLang="zh-CN" b="0" baseline="-2500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en-US" altLang="zh-CN" b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= </a:t>
            </a:r>
            <a:r>
              <a:rPr kumimoji="1" lang="en-US" altLang="zh-CN" b="0" baseline="-2500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en-US" altLang="zh-CN" b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= 0</a:t>
            </a:r>
          </a:p>
        </p:txBody>
      </p:sp>
      <p:graphicFrame>
        <p:nvGraphicFramePr>
          <p:cNvPr id="648267" name="Object 75"/>
          <p:cNvGraphicFramePr>
            <a:graphicFrameLocks noChangeAspect="1"/>
          </p:cNvGraphicFramePr>
          <p:nvPr/>
        </p:nvGraphicFramePr>
        <p:xfrm>
          <a:off x="611188" y="4149725"/>
          <a:ext cx="32051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" name="Equation" r:id="rId5" imgW="1505030" imgH="333285" progId="Equation.DSMT4">
                  <p:embed/>
                </p:oleObj>
              </mc:Choice>
              <mc:Fallback>
                <p:oleObj name="Equation" r:id="rId5" imgW="1505030" imgH="333285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49725"/>
                        <a:ext cx="32051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107950" y="2008188"/>
            <a:ext cx="2824163" cy="1060450"/>
            <a:chOff x="68" y="1265"/>
            <a:chExt cx="1779" cy="668"/>
          </a:xfrm>
        </p:grpSpPr>
        <p:graphicFrame>
          <p:nvGraphicFramePr>
            <p:cNvPr id="13370" name="Object 62"/>
            <p:cNvGraphicFramePr>
              <a:graphicFrameLocks noChangeAspect="1"/>
            </p:cNvGraphicFramePr>
            <p:nvPr/>
          </p:nvGraphicFramePr>
          <p:xfrm>
            <a:off x="431" y="1265"/>
            <a:ext cx="1416" cy="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72" name="Equation" r:id="rId7" imgW="1171542" imgH="438240" progId="Equation.DSMT4">
                    <p:embed/>
                  </p:oleObj>
                </mc:Choice>
                <mc:Fallback>
                  <p:oleObj name="Equation" r:id="rId7" imgW="1171542" imgH="43824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265"/>
                          <a:ext cx="1416" cy="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1" name="Rectangle 76"/>
            <p:cNvSpPr>
              <a:spLocks noChangeArrowheads="1"/>
            </p:cNvSpPr>
            <p:nvPr/>
          </p:nvSpPr>
          <p:spPr bwMode="auto">
            <a:xfrm>
              <a:off x="68" y="1282"/>
              <a:ext cx="7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zh-CN" altLang="en-US">
                  <a:solidFill>
                    <a:srgbClr val="FFFFFF"/>
                  </a:solidFill>
                  <a:sym typeface="Symbol" pitchFamily="18" charset="2"/>
                </a:rPr>
                <a:t>则</a:t>
              </a:r>
            </a:p>
          </p:txBody>
        </p:sp>
      </p:grpSp>
      <p:sp>
        <p:nvSpPr>
          <p:cNvPr id="648269" name="Text Box 77"/>
          <p:cNvSpPr txBox="1">
            <a:spLocks noChangeArrowheads="1"/>
          </p:cNvSpPr>
          <p:nvPr/>
        </p:nvSpPr>
        <p:spPr bwMode="auto">
          <a:xfrm>
            <a:off x="107950" y="4878388"/>
            <a:ext cx="277336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9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讨论</a:t>
            </a:r>
          </a:p>
        </p:txBody>
      </p:sp>
      <p:sp>
        <p:nvSpPr>
          <p:cNvPr id="648274" name="Text Box 82"/>
          <p:cNvSpPr txBox="1">
            <a:spLocks noChangeArrowheads="1"/>
          </p:cNvSpPr>
          <p:nvPr/>
        </p:nvSpPr>
        <p:spPr bwMode="auto">
          <a:xfrm>
            <a:off x="265113" y="5373688"/>
            <a:ext cx="859948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10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当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</a:rPr>
              <a:t>η</a:t>
            </a:r>
            <a:r>
              <a:rPr kumimoji="1" lang="en-US" altLang="zh-CN" baseline="-25000">
                <a:solidFill>
                  <a:srgbClr val="FFFFFF"/>
                </a:solidFill>
                <a:latin typeface="Times New Roman" pitchFamily="18" charset="0"/>
              </a:rPr>
              <a:t>2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&gt;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</a:rPr>
              <a:t>η</a:t>
            </a:r>
            <a:r>
              <a:rPr kumimoji="1" lang="en-US" altLang="zh-CN" baseline="-25000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时，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kumimoji="1" lang="en-US" altLang="zh-CN" i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&gt; 0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反射波电场与入射波电场同相。</a:t>
            </a:r>
          </a:p>
        </p:txBody>
      </p:sp>
      <p:sp>
        <p:nvSpPr>
          <p:cNvPr id="648276" name="Text Box 84"/>
          <p:cNvSpPr txBox="1">
            <a:spLocks noChangeArrowheads="1"/>
          </p:cNvSpPr>
          <p:nvPr/>
        </p:nvSpPr>
        <p:spPr bwMode="auto">
          <a:xfrm>
            <a:off x="293688" y="5886450"/>
            <a:ext cx="8599487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10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当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</a:rPr>
              <a:t>η</a:t>
            </a:r>
            <a:r>
              <a:rPr kumimoji="1" lang="en-US" altLang="zh-CN" baseline="-25000">
                <a:solidFill>
                  <a:srgbClr val="FFFFFF"/>
                </a:solidFill>
                <a:latin typeface="Times New Roman" pitchFamily="18" charset="0"/>
              </a:rPr>
              <a:t>2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&lt;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</a:rPr>
              <a:t>η</a:t>
            </a:r>
            <a:r>
              <a:rPr kumimoji="1" lang="en-US" altLang="zh-CN" baseline="-25000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时，</a:t>
            </a:r>
            <a:r>
              <a:rPr kumimoji="1" lang="el-GR" altLang="zh-CN" i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kumimoji="1" lang="en-US" altLang="zh-CN" i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&lt; 0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反射波电场与入射波电场反相。</a:t>
            </a:r>
          </a:p>
        </p:txBody>
      </p:sp>
      <p:sp>
        <p:nvSpPr>
          <p:cNvPr id="13324" name="AutoShape 128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5" name="AutoShape 1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6" name="AutoShape 1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327" name="AutoShape 1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03800" y="992188"/>
            <a:ext cx="4032250" cy="4237037"/>
            <a:chOff x="5003800" y="992188"/>
            <a:chExt cx="4032250" cy="4237037"/>
          </a:xfrm>
        </p:grpSpPr>
        <p:grpSp>
          <p:nvGrpSpPr>
            <p:cNvPr id="3" name="Group 127"/>
            <p:cNvGrpSpPr>
              <a:grpSpLocks/>
            </p:cNvGrpSpPr>
            <p:nvPr/>
          </p:nvGrpSpPr>
          <p:grpSpPr bwMode="auto">
            <a:xfrm>
              <a:off x="5003800" y="992188"/>
              <a:ext cx="4032250" cy="4237037"/>
              <a:chOff x="3152" y="625"/>
              <a:chExt cx="2540" cy="2669"/>
            </a:xfrm>
          </p:grpSpPr>
          <p:sp>
            <p:nvSpPr>
              <p:cNvPr id="13331" name="Rectangle 86"/>
              <p:cNvSpPr>
                <a:spLocks noChangeArrowheads="1"/>
              </p:cNvSpPr>
              <p:nvPr/>
            </p:nvSpPr>
            <p:spPr bwMode="auto">
              <a:xfrm>
                <a:off x="3152" y="670"/>
                <a:ext cx="2540" cy="2586"/>
              </a:xfrm>
              <a:prstGeom prst="rect">
                <a:avLst/>
              </a:prstGeom>
              <a:solidFill>
                <a:srgbClr val="CCFFFF"/>
              </a:solidFill>
              <a:ln w="222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3332" name="Group 87"/>
              <p:cNvGrpSpPr>
                <a:grpSpLocks/>
              </p:cNvGrpSpPr>
              <p:nvPr/>
            </p:nvGrpSpPr>
            <p:grpSpPr bwMode="auto">
              <a:xfrm>
                <a:off x="3301" y="625"/>
                <a:ext cx="2318" cy="2669"/>
                <a:chOff x="3285" y="572"/>
                <a:chExt cx="2318" cy="2669"/>
              </a:xfrm>
            </p:grpSpPr>
            <p:sp>
              <p:nvSpPr>
                <p:cNvPr id="13333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4286" y="572"/>
                  <a:ext cx="325" cy="2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0"/>
                    </a:spcBef>
                  </a:pPr>
                  <a:r>
                    <a:rPr kumimoji="1" lang="en-US" altLang="zh-CN" i="1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13334" name="Rectangle 89"/>
                <p:cNvSpPr>
                  <a:spLocks noChangeArrowheads="1"/>
                </p:cNvSpPr>
                <p:nvPr/>
              </p:nvSpPr>
              <p:spPr bwMode="auto">
                <a:xfrm>
                  <a:off x="3288" y="776"/>
                  <a:ext cx="1079" cy="2238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335" name="Rectangle 90"/>
                <p:cNvSpPr>
                  <a:spLocks noChangeArrowheads="1"/>
                </p:cNvSpPr>
                <p:nvPr/>
              </p:nvSpPr>
              <p:spPr bwMode="auto">
                <a:xfrm>
                  <a:off x="4377" y="784"/>
                  <a:ext cx="1098" cy="2238"/>
                </a:xfrm>
                <a:prstGeom prst="rect">
                  <a:avLst/>
                </a:prstGeom>
                <a:solidFill>
                  <a:srgbClr val="00FF00"/>
                </a:solidFill>
                <a:ln w="9525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336" name="Line 91"/>
                <p:cNvSpPr>
                  <a:spLocks noChangeShapeType="1"/>
                </p:cNvSpPr>
                <p:nvPr/>
              </p:nvSpPr>
              <p:spPr bwMode="auto">
                <a:xfrm flipV="1">
                  <a:off x="4367" y="776"/>
                  <a:ext cx="2" cy="2238"/>
                </a:xfrm>
                <a:prstGeom prst="line">
                  <a:avLst/>
                </a:prstGeom>
                <a:noFill/>
                <a:ln w="317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7" name="Line 92"/>
                <p:cNvSpPr>
                  <a:spLocks noChangeShapeType="1"/>
                </p:cNvSpPr>
                <p:nvPr/>
              </p:nvSpPr>
              <p:spPr bwMode="auto">
                <a:xfrm>
                  <a:off x="3285" y="2038"/>
                  <a:ext cx="2226" cy="0"/>
                </a:xfrm>
                <a:prstGeom prst="line">
                  <a:avLst/>
                </a:prstGeom>
                <a:noFill/>
                <a:ln w="317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8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3474" y="859"/>
                  <a:ext cx="81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0"/>
                    </a:spcBef>
                  </a:pPr>
                  <a:r>
                    <a:rPr kumimoji="1" lang="zh-CN" altLang="en-US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介质 </a:t>
                  </a:r>
                  <a:r>
                    <a:rPr kumimoji="1" lang="en-US" altLang="zh-CN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1</a:t>
                  </a:r>
                  <a:r>
                    <a:rPr kumimoji="1" lang="zh-CN" altLang="en-US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：</a:t>
                  </a:r>
                </a:p>
              </p:txBody>
            </p:sp>
            <p:sp>
              <p:nvSpPr>
                <p:cNvPr id="13339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603" y="814"/>
                  <a:ext cx="81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介质 </a:t>
                  </a:r>
                  <a:r>
                    <a:rPr kumimoji="1" lang="en-US" altLang="zh-CN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2</a:t>
                  </a:r>
                  <a:r>
                    <a:rPr kumimoji="1" lang="zh-CN" altLang="en-US" sz="2000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：</a:t>
                  </a:r>
                </a:p>
              </p:txBody>
            </p:sp>
            <p:graphicFrame>
              <p:nvGraphicFramePr>
                <p:cNvPr id="13340" name="Object 95"/>
                <p:cNvGraphicFramePr>
                  <a:graphicFrameLocks noChangeAspect="1"/>
                </p:cNvGraphicFramePr>
                <p:nvPr/>
              </p:nvGraphicFramePr>
              <p:xfrm>
                <a:off x="3643" y="1026"/>
                <a:ext cx="400" cy="2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3" name="公式" r:id="rId12" imgW="355292" imgH="215713" progId="Equation.3">
                        <p:embed/>
                      </p:oleObj>
                    </mc:Choice>
                    <mc:Fallback>
                      <p:oleObj name="公式" r:id="rId12" imgW="355292" imgH="215713" progId="Equation.3">
                        <p:embed/>
                        <p:pic>
                          <p:nvPicPr>
                            <p:cNvPr id="0" name="Object 9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43" y="1026"/>
                              <a:ext cx="400" cy="2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41" name="Object 96"/>
                <p:cNvGraphicFramePr>
                  <a:graphicFrameLocks noChangeAspect="1"/>
                </p:cNvGraphicFramePr>
                <p:nvPr/>
              </p:nvGraphicFramePr>
              <p:xfrm>
                <a:off x="4755" y="981"/>
                <a:ext cx="374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4" name="公式" r:id="rId14" imgW="380835" imgH="215806" progId="Equation.3">
                        <p:embed/>
                      </p:oleObj>
                    </mc:Choice>
                    <mc:Fallback>
                      <p:oleObj name="公式" r:id="rId14" imgW="380835" imgH="215806" progId="Equation.3">
                        <p:embed/>
                        <p:pic>
                          <p:nvPicPr>
                            <p:cNvPr id="0" name="Object 9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55" y="981"/>
                              <a:ext cx="374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42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5420" y="1979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b="0" i="1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z</a:t>
                  </a:r>
                </a:p>
              </p:txBody>
            </p:sp>
            <p:sp>
              <p:nvSpPr>
                <p:cNvPr id="13343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212" y="2953"/>
                  <a:ext cx="48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b="0" i="1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z</a:t>
                  </a:r>
                  <a:r>
                    <a:rPr kumimoji="1" lang="en-US" altLang="zh-CN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=0</a:t>
                  </a:r>
                </a:p>
              </p:txBody>
            </p:sp>
            <p:grpSp>
              <p:nvGrpSpPr>
                <p:cNvPr id="13344" name="Group 99"/>
                <p:cNvGrpSpPr>
                  <a:grpSpLocks/>
                </p:cNvGrpSpPr>
                <p:nvPr/>
              </p:nvGrpSpPr>
              <p:grpSpPr bwMode="auto">
                <a:xfrm>
                  <a:off x="4294" y="1973"/>
                  <a:ext cx="141" cy="140"/>
                  <a:chOff x="5136" y="2880"/>
                  <a:chExt cx="144" cy="144"/>
                </a:xfrm>
              </p:grpSpPr>
              <p:sp>
                <p:nvSpPr>
                  <p:cNvPr id="13368" name="Oval 100"/>
                  <p:cNvSpPr>
                    <a:spLocks noChangeArrowheads="1"/>
                  </p:cNvSpPr>
                  <p:nvPr/>
                </p:nvSpPr>
                <p:spPr bwMode="auto">
                  <a:xfrm>
                    <a:off x="5136" y="2880"/>
                    <a:ext cx="144" cy="144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3369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5178" y="2922"/>
                    <a:ext cx="54" cy="54"/>
                  </a:xfrm>
                  <a:prstGeom prst="ellipse">
                    <a:avLst/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3345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4377" y="1993"/>
                  <a:ext cx="324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b="0" i="1">
                      <a:solidFill>
                        <a:srgbClr val="000000"/>
                      </a:solidFill>
                      <a:latin typeface="Times New Roman" pitchFamily="18" charset="0"/>
                      <a:ea typeface="宋体" pitchFamily="2" charset="-122"/>
                    </a:rPr>
                    <a:t>y</a:t>
                  </a:r>
                </a:p>
              </p:txBody>
            </p:sp>
            <p:graphicFrame>
              <p:nvGraphicFramePr>
                <p:cNvPr id="13346" name="Object 103"/>
                <p:cNvGraphicFramePr>
                  <a:graphicFrameLocks noChangeAspect="1"/>
                </p:cNvGraphicFramePr>
                <p:nvPr/>
              </p:nvGraphicFramePr>
              <p:xfrm>
                <a:off x="3698" y="1299"/>
                <a:ext cx="217" cy="2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5" name="Equation" r:id="rId16" imgW="164957" imgH="253780" progId="Equation.DSMT4">
                        <p:embed/>
                      </p:oleObj>
                    </mc:Choice>
                    <mc:Fallback>
                      <p:oleObj name="Equation" r:id="rId16" imgW="164957" imgH="253780" progId="Equation.DSMT4">
                        <p:embed/>
                        <p:pic>
                          <p:nvPicPr>
                            <p:cNvPr id="0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98" y="1299"/>
                              <a:ext cx="217" cy="2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3347" name="Group 104"/>
                <p:cNvGrpSpPr>
                  <a:grpSpLocks/>
                </p:cNvGrpSpPr>
                <p:nvPr/>
              </p:nvGrpSpPr>
              <p:grpSpPr bwMode="auto">
                <a:xfrm>
                  <a:off x="3632" y="1797"/>
                  <a:ext cx="138" cy="140"/>
                  <a:chOff x="288" y="2688"/>
                  <a:chExt cx="144" cy="144"/>
                </a:xfrm>
              </p:grpSpPr>
              <p:sp>
                <p:nvSpPr>
                  <p:cNvPr id="13366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2688"/>
                    <a:ext cx="144" cy="144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3367" name="Oval 106"/>
                  <p:cNvSpPr>
                    <a:spLocks noChangeArrowheads="1"/>
                  </p:cNvSpPr>
                  <p:nvPr/>
                </p:nvSpPr>
                <p:spPr bwMode="auto">
                  <a:xfrm>
                    <a:off x="330" y="2730"/>
                    <a:ext cx="54" cy="54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3348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3697" y="1355"/>
                  <a:ext cx="0" cy="442"/>
                </a:xfrm>
                <a:prstGeom prst="line">
                  <a:avLst/>
                </a:prstGeom>
                <a:noFill/>
                <a:ln w="38100">
                  <a:solidFill>
                    <a:srgbClr val="D6009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9" name="Line 108"/>
                <p:cNvSpPr>
                  <a:spLocks noChangeShapeType="1"/>
                </p:cNvSpPr>
                <p:nvPr/>
              </p:nvSpPr>
              <p:spPr bwMode="auto">
                <a:xfrm>
                  <a:off x="3750" y="1867"/>
                  <a:ext cx="451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50" name="Object 109"/>
                <p:cNvGraphicFramePr>
                  <a:graphicFrameLocks noChangeAspect="1"/>
                </p:cNvGraphicFramePr>
                <p:nvPr/>
              </p:nvGraphicFramePr>
              <p:xfrm>
                <a:off x="3411" y="1741"/>
                <a:ext cx="264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6" name="Equation" r:id="rId18" imgW="203024" imgH="253780" progId="Equation.DSMT4">
                        <p:embed/>
                      </p:oleObj>
                    </mc:Choice>
                    <mc:Fallback>
                      <p:oleObj name="Equation" r:id="rId18" imgW="203024" imgH="253780" progId="Equation.DSMT4">
                        <p:embed/>
                        <p:pic>
                          <p:nvPicPr>
                            <p:cNvPr id="0" name="Object 10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11" y="1741"/>
                              <a:ext cx="264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51" name="Object 110"/>
                <p:cNvGraphicFramePr>
                  <a:graphicFrameLocks noChangeAspect="1"/>
                </p:cNvGraphicFramePr>
                <p:nvPr/>
              </p:nvGraphicFramePr>
              <p:xfrm>
                <a:off x="4097" y="1572"/>
                <a:ext cx="180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7" name="Equation" r:id="rId20" imgW="139639" imgH="253890" progId="Equation.DSMT4">
                        <p:embed/>
                      </p:oleObj>
                    </mc:Choice>
                    <mc:Fallback>
                      <p:oleObj name="Equation" r:id="rId20" imgW="139639" imgH="253890" progId="Equation.DSMT4">
                        <p:embed/>
                        <p:pic>
                          <p:nvPicPr>
                            <p:cNvPr id="0" name="Object 1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97" y="1572"/>
                              <a:ext cx="180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52" name="Oval 112"/>
                <p:cNvSpPr>
                  <a:spLocks noChangeArrowheads="1"/>
                </p:cNvSpPr>
                <p:nvPr/>
              </p:nvSpPr>
              <p:spPr bwMode="auto">
                <a:xfrm>
                  <a:off x="3876" y="2597"/>
                  <a:ext cx="138" cy="140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3353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3425" y="2670"/>
                  <a:ext cx="453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54" name="Object 115"/>
                <p:cNvGraphicFramePr>
                  <a:graphicFrameLocks noChangeAspect="1"/>
                </p:cNvGraphicFramePr>
                <p:nvPr/>
              </p:nvGraphicFramePr>
              <p:xfrm>
                <a:off x="3955" y="2093"/>
                <a:ext cx="231" cy="2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8" name="Equation" r:id="rId22" imgW="177569" imgH="253670" progId="Equation.DSMT4">
                        <p:embed/>
                      </p:oleObj>
                    </mc:Choice>
                    <mc:Fallback>
                      <p:oleObj name="Equation" r:id="rId22" imgW="177569" imgH="253670" progId="Equation.DSMT4">
                        <p:embed/>
                        <p:pic>
                          <p:nvPicPr>
                            <p:cNvPr id="0" name="Object 1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55" y="2093"/>
                              <a:ext cx="231" cy="2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55" name="Object 116"/>
                <p:cNvGraphicFramePr>
                  <a:graphicFrameLocks noChangeAspect="1"/>
                </p:cNvGraphicFramePr>
                <p:nvPr/>
              </p:nvGraphicFramePr>
              <p:xfrm>
                <a:off x="4013" y="2541"/>
                <a:ext cx="265" cy="2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79" name="Equation" r:id="rId24" imgW="203024" imgH="253780" progId="Equation.DSMT4">
                        <p:embed/>
                      </p:oleObj>
                    </mc:Choice>
                    <mc:Fallback>
                      <p:oleObj name="Equation" r:id="rId24" imgW="203024" imgH="253780" progId="Equation.DSMT4">
                        <p:embed/>
                        <p:pic>
                          <p:nvPicPr>
                            <p:cNvPr id="0" name="Object 1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13" y="2541"/>
                              <a:ext cx="265" cy="2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56" name="Object 117"/>
                <p:cNvGraphicFramePr>
                  <a:graphicFrameLocks noChangeAspect="1"/>
                </p:cNvGraphicFramePr>
                <p:nvPr/>
              </p:nvGraphicFramePr>
              <p:xfrm>
                <a:off x="3611" y="2377"/>
                <a:ext cx="198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80" name="Equation" r:id="rId26" imgW="152268" imgH="253780" progId="Equation.DSMT4">
                        <p:embed/>
                      </p:oleObj>
                    </mc:Choice>
                    <mc:Fallback>
                      <p:oleObj name="Equation" r:id="rId26" imgW="152268" imgH="253780" progId="Equation.DSMT4">
                        <p:embed/>
                        <p:pic>
                          <p:nvPicPr>
                            <p:cNvPr id="0" name="Object 1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1" y="2377"/>
                              <a:ext cx="198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57" name="Line 118"/>
                <p:cNvSpPr>
                  <a:spLocks noChangeShapeType="1"/>
                </p:cNvSpPr>
                <p:nvPr/>
              </p:nvSpPr>
              <p:spPr bwMode="auto">
                <a:xfrm rot="10800000">
                  <a:off x="3947" y="2152"/>
                  <a:ext cx="0" cy="442"/>
                </a:xfrm>
                <a:prstGeom prst="line">
                  <a:avLst/>
                </a:prstGeom>
                <a:noFill/>
                <a:ln w="38100">
                  <a:solidFill>
                    <a:srgbClr val="D6009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58" name="Object 119"/>
                <p:cNvGraphicFramePr>
                  <a:graphicFrameLocks noChangeAspect="1"/>
                </p:cNvGraphicFramePr>
                <p:nvPr/>
              </p:nvGraphicFramePr>
              <p:xfrm>
                <a:off x="4688" y="1297"/>
                <a:ext cx="233" cy="2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81" name="Equation" r:id="rId28" imgW="177569" imgH="253670" progId="Equation.DSMT4">
                        <p:embed/>
                      </p:oleObj>
                    </mc:Choice>
                    <mc:Fallback>
                      <p:oleObj name="Equation" r:id="rId28" imgW="177569" imgH="253670" progId="Equation.DSMT4">
                        <p:embed/>
                        <p:pic>
                          <p:nvPicPr>
                            <p:cNvPr id="0" name="Object 1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88" y="1297"/>
                              <a:ext cx="233" cy="28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3359" name="Group 120"/>
                <p:cNvGrpSpPr>
                  <a:grpSpLocks/>
                </p:cNvGrpSpPr>
                <p:nvPr/>
              </p:nvGrpSpPr>
              <p:grpSpPr bwMode="auto">
                <a:xfrm>
                  <a:off x="4630" y="1795"/>
                  <a:ext cx="138" cy="140"/>
                  <a:chOff x="288" y="2688"/>
                  <a:chExt cx="144" cy="144"/>
                </a:xfrm>
              </p:grpSpPr>
              <p:sp>
                <p:nvSpPr>
                  <p:cNvPr id="13364" name="Oval 121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2688"/>
                    <a:ext cx="144" cy="144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13365" name="Oval 122"/>
                  <p:cNvSpPr>
                    <a:spLocks noChangeArrowheads="1"/>
                  </p:cNvSpPr>
                  <p:nvPr/>
                </p:nvSpPr>
                <p:spPr bwMode="auto">
                  <a:xfrm>
                    <a:off x="330" y="2730"/>
                    <a:ext cx="54" cy="54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13360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4695" y="1353"/>
                  <a:ext cx="0" cy="442"/>
                </a:xfrm>
                <a:prstGeom prst="line">
                  <a:avLst/>
                </a:prstGeom>
                <a:noFill/>
                <a:ln w="38100">
                  <a:solidFill>
                    <a:srgbClr val="D6009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1" name="Line 124"/>
                <p:cNvSpPr>
                  <a:spLocks noChangeShapeType="1"/>
                </p:cNvSpPr>
                <p:nvPr/>
              </p:nvSpPr>
              <p:spPr bwMode="auto">
                <a:xfrm>
                  <a:off x="4748" y="1865"/>
                  <a:ext cx="451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2" name="Object 125"/>
                <p:cNvGraphicFramePr>
                  <a:graphicFrameLocks noChangeAspect="1"/>
                </p:cNvGraphicFramePr>
                <p:nvPr/>
              </p:nvGraphicFramePr>
              <p:xfrm>
                <a:off x="4409" y="1739"/>
                <a:ext cx="264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82" name="Equation" r:id="rId30" imgW="203024" imgH="253780" progId="Equation.DSMT4">
                        <p:embed/>
                      </p:oleObj>
                    </mc:Choice>
                    <mc:Fallback>
                      <p:oleObj name="Equation" r:id="rId30" imgW="203024" imgH="253780" progId="Equation.DSMT4">
                        <p:embed/>
                        <p:pic>
                          <p:nvPicPr>
                            <p:cNvPr id="0" name="Object 1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9" y="1739"/>
                              <a:ext cx="264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63" name="Object 126"/>
                <p:cNvGraphicFramePr>
                  <a:graphicFrameLocks noChangeAspect="1"/>
                </p:cNvGraphicFramePr>
                <p:nvPr/>
              </p:nvGraphicFramePr>
              <p:xfrm>
                <a:off x="5087" y="1570"/>
                <a:ext cx="197" cy="28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483" name="Equation" r:id="rId32" imgW="152268" imgH="253780" progId="Equation.DSMT4">
                        <p:embed/>
                      </p:oleObj>
                    </mc:Choice>
                    <mc:Fallback>
                      <p:oleObj name="Equation" r:id="rId32" imgW="152268" imgH="253780" progId="Equation.DSMT4">
                        <p:embed/>
                        <p:pic>
                          <p:nvPicPr>
                            <p:cNvPr id="0" name="Object 1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87" y="1570"/>
                              <a:ext cx="197" cy="28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13328" name="组合 67"/>
            <p:cNvGrpSpPr>
              <a:grpSpLocks/>
            </p:cNvGrpSpPr>
            <p:nvPr/>
          </p:nvGrpSpPr>
          <p:grpSpPr bwMode="auto">
            <a:xfrm>
              <a:off x="6230938" y="4265613"/>
              <a:ext cx="107950" cy="107950"/>
              <a:chOff x="5143504" y="4929198"/>
              <a:chExt cx="152400" cy="152401"/>
            </a:xfrm>
          </p:grpSpPr>
          <p:cxnSp>
            <p:nvCxnSpPr>
              <p:cNvPr id="13329" name="直接连接符 63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143504" y="4929198"/>
                <a:ext cx="142876" cy="14287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30" name="直接连接符 65"/>
              <p:cNvCxnSpPr>
                <a:cxnSpLocks noChangeShapeType="1"/>
              </p:cNvCxnSpPr>
              <p:nvPr/>
            </p:nvCxnSpPr>
            <p:spPr bwMode="auto">
              <a:xfrm rot="16200000" flipV="1">
                <a:off x="5143504" y="4929199"/>
                <a:ext cx="152400" cy="152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4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4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4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4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4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4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/>
      <p:bldP spid="648266" grpId="0"/>
      <p:bldP spid="648269" grpId="0" autoUpdateAnimBg="0"/>
      <p:bldP spid="648274" grpId="0"/>
      <p:bldP spid="6482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477D57-D922-44E1-AD3A-D2028203FBA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107950" y="765175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媒质</a:t>
            </a:r>
            <a:r>
              <a:rPr kumimoji="1" lang="en-US" altLang="zh-CN">
                <a:solidFill>
                  <a:srgbClr val="FFFFFF"/>
                </a:solidFill>
                <a:latin typeface="楷体_GB2312" pitchFamily="49" charset="-122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中的入射波：</a:t>
            </a:r>
          </a:p>
        </p:txBody>
      </p:sp>
      <p:graphicFrame>
        <p:nvGraphicFramePr>
          <p:cNvPr id="755717" name="Object 5"/>
          <p:cNvGraphicFramePr>
            <a:graphicFrameLocks noChangeAspect="1"/>
          </p:cNvGraphicFramePr>
          <p:nvPr/>
        </p:nvGraphicFramePr>
        <p:xfrm>
          <a:off x="2674938" y="765175"/>
          <a:ext cx="24606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Equation" r:id="rId3" imgW="1133370" imgH="590460" progId="Equation.DSMT4">
                  <p:embed/>
                </p:oleObj>
              </mc:Choice>
              <mc:Fallback>
                <p:oleObj name="Equation" r:id="rId3" imgW="1133370" imgH="5904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8" y="765175"/>
                        <a:ext cx="246062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18" name="Text Box 6"/>
          <p:cNvSpPr txBox="1">
            <a:spLocks noChangeArrowheads="1"/>
          </p:cNvSpPr>
          <p:nvPr/>
        </p:nvSpPr>
        <p:spPr bwMode="auto">
          <a:xfrm>
            <a:off x="107950" y="21336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媒质</a:t>
            </a:r>
            <a:r>
              <a:rPr kumimoji="1" lang="en-US" altLang="zh-CN">
                <a:solidFill>
                  <a:srgbClr val="FFFFFF"/>
                </a:solidFill>
                <a:latin typeface="楷体_GB2312" pitchFamily="49" charset="-122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中的反射波：</a:t>
            </a:r>
          </a:p>
        </p:txBody>
      </p:sp>
      <p:graphicFrame>
        <p:nvGraphicFramePr>
          <p:cNvPr id="755719" name="Object 7"/>
          <p:cNvGraphicFramePr>
            <a:graphicFrameLocks noChangeAspect="1"/>
          </p:cNvGraphicFramePr>
          <p:nvPr/>
        </p:nvGraphicFramePr>
        <p:xfrm>
          <a:off x="2589213" y="2133600"/>
          <a:ext cx="2876550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Equation" r:id="rId5" imgW="1342971" imgH="590460" progId="Equation.DSMT4">
                  <p:embed/>
                </p:oleObj>
              </mc:Choice>
              <mc:Fallback>
                <p:oleObj name="Equation" r:id="rId5" imgW="1342971" imgH="5904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2133600"/>
                        <a:ext cx="2876550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0" name="Text Box 8"/>
          <p:cNvSpPr txBox="1">
            <a:spLocks noChangeArrowheads="1"/>
          </p:cNvSpPr>
          <p:nvPr/>
        </p:nvSpPr>
        <p:spPr bwMode="auto">
          <a:xfrm>
            <a:off x="142875" y="36195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媒质</a:t>
            </a:r>
            <a:r>
              <a:rPr kumimoji="1" lang="en-US" altLang="zh-CN">
                <a:solidFill>
                  <a:srgbClr val="FFFFFF"/>
                </a:solidFill>
                <a:latin typeface="楷体_GB2312" pitchFamily="49" charset="-122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中的合成波：</a:t>
            </a:r>
          </a:p>
        </p:txBody>
      </p:sp>
      <p:graphicFrame>
        <p:nvGraphicFramePr>
          <p:cNvPr id="755721" name="Object 9"/>
          <p:cNvGraphicFramePr>
            <a:graphicFrameLocks noChangeAspect="1"/>
          </p:cNvGraphicFramePr>
          <p:nvPr/>
        </p:nvGraphicFramePr>
        <p:xfrm>
          <a:off x="2771775" y="3644900"/>
          <a:ext cx="6415088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Equation" r:id="rId7" imgW="2790742" imgH="590460" progId="Equation.DSMT4">
                  <p:embed/>
                </p:oleObj>
              </mc:Choice>
              <mc:Fallback>
                <p:oleObj name="Equation" r:id="rId7" imgW="2790742" imgH="5904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644900"/>
                        <a:ext cx="6415088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4" name="Text Box 12"/>
          <p:cNvSpPr txBox="1">
            <a:spLocks noChangeArrowheads="1"/>
          </p:cNvSpPr>
          <p:nvPr/>
        </p:nvSpPr>
        <p:spPr bwMode="auto">
          <a:xfrm>
            <a:off x="71438" y="508476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媒质</a:t>
            </a:r>
            <a:r>
              <a:rPr kumimoji="1" lang="en-US" altLang="zh-CN">
                <a:solidFill>
                  <a:srgbClr val="FFFFFF"/>
                </a:solidFill>
                <a:latin typeface="楷体_GB2312" pitchFamily="49" charset="-122"/>
              </a:rPr>
              <a:t>2</a:t>
            </a:r>
            <a:r>
              <a:rPr kumimoji="1" lang="zh-CN" altLang="en-US">
                <a:solidFill>
                  <a:srgbClr val="FFFFFF"/>
                </a:solidFill>
                <a:latin typeface="楷体_GB2312" pitchFamily="49" charset="-122"/>
              </a:rPr>
              <a:t>中的透射波：</a:t>
            </a:r>
          </a:p>
        </p:txBody>
      </p:sp>
      <p:graphicFrame>
        <p:nvGraphicFramePr>
          <p:cNvPr id="755725" name="Object 13"/>
          <p:cNvGraphicFramePr>
            <a:graphicFrameLocks noChangeAspect="1"/>
          </p:cNvGraphicFramePr>
          <p:nvPr/>
        </p:nvGraphicFramePr>
        <p:xfrm>
          <a:off x="2784475" y="5089525"/>
          <a:ext cx="38608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9" imgW="1743086" imgH="590460" progId="Equation.DSMT4">
                  <p:embed/>
                </p:oleObj>
              </mc:Choice>
              <mc:Fallback>
                <p:oleObj name="Equation" r:id="rId9" imgW="1743086" imgH="5904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5089525"/>
                        <a:ext cx="3860800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5581650" y="620713"/>
            <a:ext cx="3527425" cy="2519362"/>
            <a:chOff x="480" y="912"/>
            <a:chExt cx="4704" cy="2736"/>
          </a:xfrm>
        </p:grpSpPr>
        <p:pic>
          <p:nvPicPr>
            <p:cNvPr id="14352" name="Picture 21" descr="3"/>
            <p:cNvPicPr>
              <a:picLocks noChangeAspect="1" noChangeArrowheads="1" noCrop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960"/>
              <a:ext cx="4704" cy="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3" name="Rectangle 22"/>
            <p:cNvSpPr>
              <a:spLocks noChangeArrowheads="1"/>
            </p:cNvSpPr>
            <p:nvPr/>
          </p:nvSpPr>
          <p:spPr bwMode="auto">
            <a:xfrm>
              <a:off x="2688" y="912"/>
              <a:ext cx="2496" cy="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4" name="Rectangle 23"/>
            <p:cNvSpPr>
              <a:spLocks noChangeArrowheads="1"/>
            </p:cNvSpPr>
            <p:nvPr/>
          </p:nvSpPr>
          <p:spPr bwMode="auto">
            <a:xfrm>
              <a:off x="2688" y="960"/>
              <a:ext cx="2496" cy="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5" name="Rectangle 24"/>
            <p:cNvSpPr>
              <a:spLocks noChangeArrowheads="1"/>
            </p:cNvSpPr>
            <p:nvPr/>
          </p:nvSpPr>
          <p:spPr bwMode="auto">
            <a:xfrm>
              <a:off x="2688" y="960"/>
              <a:ext cx="2496" cy="2688"/>
            </a:xfrm>
            <a:prstGeom prst="rect">
              <a:avLst/>
            </a:prstGeom>
            <a:solidFill>
              <a:srgbClr val="CCFF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6" name="Rectangle 25"/>
            <p:cNvSpPr>
              <a:spLocks noChangeArrowheads="1"/>
            </p:cNvSpPr>
            <p:nvPr/>
          </p:nvSpPr>
          <p:spPr bwMode="auto">
            <a:xfrm>
              <a:off x="480" y="960"/>
              <a:ext cx="2208" cy="2688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4348" name="AutoShape 26">
            <a:hlinkClick r:id="rId1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49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50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51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5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5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5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5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5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5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6" grpId="0"/>
      <p:bldP spid="755718" grpId="0"/>
      <p:bldP spid="755720" grpId="0"/>
      <p:bldP spid="7557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88699F-41E0-41EA-8D8A-78EDEAE968C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652290" name="Object 2"/>
          <p:cNvGraphicFramePr>
            <a:graphicFrameLocks noChangeAspect="1"/>
          </p:cNvGraphicFramePr>
          <p:nvPr/>
        </p:nvGraphicFramePr>
        <p:xfrm>
          <a:off x="774700" y="1020763"/>
          <a:ext cx="6249988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3" imgW="2838284" imgH="780908" progId="Equation.DSMT4">
                  <p:embed/>
                </p:oleObj>
              </mc:Choice>
              <mc:Fallback>
                <p:oleObj name="Equation" r:id="rId3" imgW="2838284" imgH="780908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1020763"/>
                        <a:ext cx="6249988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2297" name="Text Box 9"/>
          <p:cNvSpPr txBox="1">
            <a:spLocks noChangeArrowheads="1"/>
          </p:cNvSpPr>
          <p:nvPr/>
        </p:nvSpPr>
        <p:spPr bwMode="auto">
          <a:xfrm>
            <a:off x="179388" y="476250"/>
            <a:ext cx="331311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合成波的特点</a:t>
            </a:r>
          </a:p>
        </p:txBody>
      </p:sp>
      <p:sp>
        <p:nvSpPr>
          <p:cNvPr id="652298" name="Text Box 10"/>
          <p:cNvSpPr txBox="1">
            <a:spLocks noChangeArrowheads="1"/>
          </p:cNvSpPr>
          <p:nvPr/>
        </p:nvSpPr>
        <p:spPr bwMode="auto">
          <a:xfrm>
            <a:off x="179388" y="2852738"/>
            <a:ext cx="859948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6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kumimoji="1" lang="zh-CN" altLang="en-US">
                <a:solidFill>
                  <a:srgbClr val="FFFFFF"/>
                </a:solidFill>
              </a:rPr>
              <a:t>这种由行波和纯驻波合成的波称为</a:t>
            </a:r>
            <a:r>
              <a:rPr kumimoji="1" lang="zh-CN" altLang="en-US">
                <a:solidFill>
                  <a:srgbClr val="FF3300"/>
                </a:solidFill>
                <a:ea typeface="宋体" pitchFamily="2" charset="-122"/>
              </a:rPr>
              <a:t>行驻波（混合波）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971550" y="3500438"/>
            <a:ext cx="7580313" cy="2933700"/>
            <a:chOff x="1338" y="2205"/>
            <a:chExt cx="4218" cy="1848"/>
          </a:xfrm>
        </p:grpSpPr>
        <p:pic>
          <p:nvPicPr>
            <p:cNvPr id="15371" name="Picture 4" descr="3"/>
            <p:cNvPicPr>
              <a:picLocks noChangeAspect="1"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" y="2205"/>
              <a:ext cx="3493" cy="1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2" name="Rectangle 14"/>
            <p:cNvSpPr>
              <a:spLocks noChangeArrowheads="1"/>
            </p:cNvSpPr>
            <p:nvPr/>
          </p:nvSpPr>
          <p:spPr bwMode="auto">
            <a:xfrm>
              <a:off x="4830" y="2205"/>
              <a:ext cx="726" cy="1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3" name="Text Box 15"/>
            <p:cNvSpPr txBox="1">
              <a:spLocks noChangeArrowheads="1"/>
            </p:cNvSpPr>
            <p:nvPr/>
          </p:nvSpPr>
          <p:spPr bwMode="auto">
            <a:xfrm>
              <a:off x="4241" y="3430"/>
              <a:ext cx="12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FF0066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FF0066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FF0066"/>
                  </a:solidFill>
                  <a:latin typeface="楷体_GB2312" pitchFamily="49" charset="-122"/>
                </a:rPr>
                <a:t>合成波电场</a:t>
              </a:r>
            </a:p>
          </p:txBody>
        </p:sp>
        <p:sp>
          <p:nvSpPr>
            <p:cNvPr id="15374" name="Text Box 16"/>
            <p:cNvSpPr txBox="1">
              <a:spLocks noChangeArrowheads="1"/>
            </p:cNvSpPr>
            <p:nvPr/>
          </p:nvSpPr>
          <p:spPr bwMode="auto">
            <a:xfrm>
              <a:off x="4241" y="2387"/>
              <a:ext cx="1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3333CC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3333CC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3333CC"/>
                  </a:solidFill>
                  <a:latin typeface="楷体_GB2312" pitchFamily="49" charset="-122"/>
                </a:rPr>
                <a:t>驻波电场</a:t>
              </a:r>
            </a:p>
          </p:txBody>
        </p:sp>
        <p:sp>
          <p:nvSpPr>
            <p:cNvPr id="15375" name="Rectangle 17"/>
            <p:cNvSpPr>
              <a:spLocks noChangeArrowheads="1"/>
            </p:cNvSpPr>
            <p:nvPr/>
          </p:nvSpPr>
          <p:spPr bwMode="auto">
            <a:xfrm>
              <a:off x="4877" y="3131"/>
              <a:ext cx="136" cy="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6" name="Text Box 18"/>
            <p:cNvSpPr txBox="1">
              <a:spLocks noChangeArrowheads="1"/>
            </p:cNvSpPr>
            <p:nvPr/>
          </p:nvSpPr>
          <p:spPr bwMode="auto">
            <a:xfrm>
              <a:off x="4649" y="3022"/>
              <a:ext cx="272" cy="3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b="0" i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z</a:t>
              </a:r>
              <a:endParaRPr kumimoji="1" lang="en-US" altLang="zh-CN" b="0" i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377" name="Text Box 25"/>
            <p:cNvSpPr txBox="1">
              <a:spLocks noChangeArrowheads="1"/>
            </p:cNvSpPr>
            <p:nvPr/>
          </p:nvSpPr>
          <p:spPr bwMode="auto">
            <a:xfrm>
              <a:off x="4241" y="2750"/>
              <a:ext cx="127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00CC00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00CC00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00CC00"/>
                  </a:solidFill>
                  <a:latin typeface="楷体_GB2312" pitchFamily="49" charset="-122"/>
                </a:rPr>
                <a:t>行波电场</a:t>
              </a:r>
            </a:p>
          </p:txBody>
        </p:sp>
      </p:grpSp>
      <p:sp>
        <p:nvSpPr>
          <p:cNvPr id="15367" name="AutoShape 27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368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369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370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65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7" grpId="0"/>
      <p:bldP spid="65229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E02F34-A8AD-4E30-A2A6-2C1236250DB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653316" name="Object 4"/>
          <p:cNvGraphicFramePr>
            <a:graphicFrameLocks noChangeAspect="1"/>
          </p:cNvGraphicFramePr>
          <p:nvPr/>
        </p:nvGraphicFramePr>
        <p:xfrm>
          <a:off x="1187450" y="908050"/>
          <a:ext cx="62833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7" name="Equation" r:id="rId3" imgW="3152685" imgH="209563" progId="Equation.DSMT4">
                  <p:embed/>
                </p:oleObj>
              </mc:Choice>
              <mc:Fallback>
                <p:oleObj name="Equation" r:id="rId3" imgW="3152685" imgH="20956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908050"/>
                        <a:ext cx="62833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3317" name="Object 5"/>
          <p:cNvGraphicFramePr>
            <a:graphicFrameLocks noChangeAspect="1"/>
          </p:cNvGraphicFramePr>
          <p:nvPr/>
        </p:nvGraphicFramePr>
        <p:xfrm>
          <a:off x="2835275" y="2171700"/>
          <a:ext cx="279876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8" name="Equation" r:id="rId5" imgW="1314515" imgH="238061" progId="Equation.DSMT4">
                  <p:embed/>
                </p:oleObj>
              </mc:Choice>
              <mc:Fallback>
                <p:oleObj name="Equation" r:id="rId5" imgW="1314515" imgH="23806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171700"/>
                        <a:ext cx="279876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755650" y="3932238"/>
            <a:ext cx="7591425" cy="2597150"/>
            <a:chOff x="703" y="2477"/>
            <a:chExt cx="4782" cy="1636"/>
          </a:xfrm>
        </p:grpSpPr>
        <p:grpSp>
          <p:nvGrpSpPr>
            <p:cNvPr id="16402" name="Group 60"/>
            <p:cNvGrpSpPr>
              <a:grpSpLocks/>
            </p:cNvGrpSpPr>
            <p:nvPr/>
          </p:nvGrpSpPr>
          <p:grpSpPr bwMode="auto">
            <a:xfrm>
              <a:off x="703" y="2477"/>
              <a:ext cx="4782" cy="1636"/>
              <a:chOff x="975" y="708"/>
              <a:chExt cx="4782" cy="1726"/>
            </a:xfrm>
          </p:grpSpPr>
          <p:grpSp>
            <p:nvGrpSpPr>
              <p:cNvPr id="16407" name="Group 58"/>
              <p:cNvGrpSpPr>
                <a:grpSpLocks/>
              </p:cNvGrpSpPr>
              <p:nvPr/>
            </p:nvGrpSpPr>
            <p:grpSpPr bwMode="auto">
              <a:xfrm>
                <a:off x="975" y="709"/>
                <a:ext cx="3737" cy="1725"/>
                <a:chOff x="1865" y="707"/>
                <a:chExt cx="3737" cy="1725"/>
              </a:xfrm>
            </p:grpSpPr>
            <p:pic>
              <p:nvPicPr>
                <p:cNvPr id="16409" name="Picture 2" descr="3"/>
                <p:cNvPicPr preferRelativeResize="0">
                  <a:picLocks noChangeArrowheads="1" noCrop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65" y="707"/>
                  <a:ext cx="3737" cy="17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10" name="Line 35"/>
                <p:cNvSpPr>
                  <a:spLocks noChangeShapeType="1"/>
                </p:cNvSpPr>
                <p:nvPr/>
              </p:nvSpPr>
              <p:spPr bwMode="auto">
                <a:xfrm>
                  <a:off x="4603" y="746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1" name="Line 36"/>
                <p:cNvSpPr>
                  <a:spLocks noChangeShapeType="1"/>
                </p:cNvSpPr>
                <p:nvPr/>
              </p:nvSpPr>
              <p:spPr bwMode="auto">
                <a:xfrm>
                  <a:off x="4116" y="746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2" name="Line 37"/>
                <p:cNvSpPr>
                  <a:spLocks noChangeShapeType="1"/>
                </p:cNvSpPr>
                <p:nvPr/>
              </p:nvSpPr>
              <p:spPr bwMode="auto">
                <a:xfrm>
                  <a:off x="3120" y="717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3" name="Line 38"/>
                <p:cNvSpPr>
                  <a:spLocks noChangeShapeType="1"/>
                </p:cNvSpPr>
                <p:nvPr/>
              </p:nvSpPr>
              <p:spPr bwMode="auto">
                <a:xfrm>
                  <a:off x="3380" y="717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4" name="Line 39"/>
                <p:cNvSpPr>
                  <a:spLocks noChangeShapeType="1"/>
                </p:cNvSpPr>
                <p:nvPr/>
              </p:nvSpPr>
              <p:spPr bwMode="auto">
                <a:xfrm>
                  <a:off x="3856" y="726"/>
                  <a:ext cx="0" cy="163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5" name="Line 40"/>
                <p:cNvSpPr>
                  <a:spLocks noChangeShapeType="1"/>
                </p:cNvSpPr>
                <p:nvPr/>
              </p:nvSpPr>
              <p:spPr bwMode="auto">
                <a:xfrm>
                  <a:off x="3607" y="717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6" name="Line 41"/>
                <p:cNvSpPr>
                  <a:spLocks noChangeShapeType="1"/>
                </p:cNvSpPr>
                <p:nvPr/>
              </p:nvSpPr>
              <p:spPr bwMode="auto">
                <a:xfrm>
                  <a:off x="4354" y="746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7" name="Line 42"/>
                <p:cNvSpPr>
                  <a:spLocks noChangeShapeType="1"/>
                </p:cNvSpPr>
                <p:nvPr/>
              </p:nvSpPr>
              <p:spPr bwMode="auto">
                <a:xfrm>
                  <a:off x="2374" y="736"/>
                  <a:ext cx="0" cy="163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8" name="Line 43"/>
                <p:cNvSpPr>
                  <a:spLocks noChangeShapeType="1"/>
                </p:cNvSpPr>
                <p:nvPr/>
              </p:nvSpPr>
              <p:spPr bwMode="auto">
                <a:xfrm>
                  <a:off x="2623" y="717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9" name="Line 44"/>
                <p:cNvSpPr>
                  <a:spLocks noChangeShapeType="1"/>
                </p:cNvSpPr>
                <p:nvPr/>
              </p:nvSpPr>
              <p:spPr bwMode="auto">
                <a:xfrm>
                  <a:off x="2861" y="717"/>
                  <a:ext cx="0" cy="1629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0" name="Line 45"/>
                <p:cNvSpPr>
                  <a:spLocks noChangeShapeType="1"/>
                </p:cNvSpPr>
                <p:nvPr/>
              </p:nvSpPr>
              <p:spPr bwMode="auto">
                <a:xfrm>
                  <a:off x="1865" y="707"/>
                  <a:ext cx="0" cy="163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1" name="Line 46"/>
                <p:cNvSpPr>
                  <a:spLocks noChangeShapeType="1"/>
                </p:cNvSpPr>
                <p:nvPr/>
              </p:nvSpPr>
              <p:spPr bwMode="auto">
                <a:xfrm>
                  <a:off x="2125" y="736"/>
                  <a:ext cx="0" cy="1630"/>
                </a:xfrm>
                <a:prstGeom prst="line">
                  <a:avLst/>
                </a:prstGeom>
                <a:noFill/>
                <a:ln w="9525">
                  <a:solidFill>
                    <a:srgbClr val="33CC33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6422" name="Object 47"/>
                <p:cNvGraphicFramePr>
                  <a:graphicFrameLocks noChangeAspect="1"/>
                </p:cNvGraphicFramePr>
                <p:nvPr/>
              </p:nvGraphicFramePr>
              <p:xfrm>
                <a:off x="4187" y="2181"/>
                <a:ext cx="405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39" name="Equation" r:id="rId8" imgW="257142" imgH="123722" progId="Equation.3">
                        <p:embed/>
                      </p:oleObj>
                    </mc:Choice>
                    <mc:Fallback>
                      <p:oleObj name="Equation" r:id="rId8" imgW="257142" imgH="123722" progId="Equation.3">
                        <p:embed/>
                        <p:pic>
                          <p:nvPicPr>
                            <p:cNvPr id="0" name="Object 4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87" y="2181"/>
                              <a:ext cx="405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3" name="Object 48"/>
                <p:cNvGraphicFramePr>
                  <a:graphicFrameLocks noChangeAspect="1"/>
                </p:cNvGraphicFramePr>
                <p:nvPr/>
              </p:nvGraphicFramePr>
              <p:xfrm>
                <a:off x="3770" y="2181"/>
                <a:ext cx="202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0" name="Equation" r:id="rId10" imgW="85714" imgH="123722" progId="Equation.3">
                        <p:embed/>
                      </p:oleObj>
                    </mc:Choice>
                    <mc:Fallback>
                      <p:oleObj name="Equation" r:id="rId10" imgW="85714" imgH="123722" progId="Equation.3">
                        <p:embed/>
                        <p:pic>
                          <p:nvPicPr>
                            <p:cNvPr id="0" name="Object 4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70" y="2181"/>
                              <a:ext cx="202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4" name="Object 49"/>
                <p:cNvGraphicFramePr>
                  <a:graphicFrameLocks noChangeAspect="1"/>
                </p:cNvGraphicFramePr>
                <p:nvPr/>
              </p:nvGraphicFramePr>
              <p:xfrm>
                <a:off x="3135" y="2181"/>
                <a:ext cx="492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1" name="Equation" r:id="rId12" imgW="333487" imgH="123722" progId="Equation.3">
                        <p:embed/>
                      </p:oleObj>
                    </mc:Choice>
                    <mc:Fallback>
                      <p:oleObj name="Equation" r:id="rId12" imgW="333487" imgH="123722" progId="Equation.3">
                        <p:embed/>
                        <p:pic>
                          <p:nvPicPr>
                            <p:cNvPr id="0" name="Object 4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35" y="2181"/>
                              <a:ext cx="492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5" name="Object 50"/>
                <p:cNvGraphicFramePr>
                  <a:graphicFrameLocks noChangeAspect="1"/>
                </p:cNvGraphicFramePr>
                <p:nvPr/>
              </p:nvGraphicFramePr>
              <p:xfrm>
                <a:off x="2731" y="2181"/>
                <a:ext cx="289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2" name="Equation" r:id="rId14" imgW="162059" imgH="123722" progId="Equation.3">
                        <p:embed/>
                      </p:oleObj>
                    </mc:Choice>
                    <mc:Fallback>
                      <p:oleObj name="Equation" r:id="rId14" imgW="162059" imgH="123722" progId="Equation.3">
                        <p:embed/>
                        <p:pic>
                          <p:nvPicPr>
                            <p:cNvPr id="0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31" y="2181"/>
                              <a:ext cx="289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6" name="Object 51"/>
                <p:cNvGraphicFramePr>
                  <a:graphicFrameLocks noChangeAspect="1"/>
                </p:cNvGraphicFramePr>
                <p:nvPr/>
              </p:nvGraphicFramePr>
              <p:xfrm>
                <a:off x="2108" y="2181"/>
                <a:ext cx="493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3" name="Equation" r:id="rId16" imgW="333487" imgH="123722" progId="Equation.3">
                        <p:embed/>
                      </p:oleObj>
                    </mc:Choice>
                    <mc:Fallback>
                      <p:oleObj name="Equation" r:id="rId16" imgW="333487" imgH="123722" progId="Equation.3">
                        <p:embed/>
                        <p:pic>
                          <p:nvPicPr>
                            <p:cNvPr id="0" name="Object 5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08" y="2181"/>
                              <a:ext cx="493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7" name="Object 52"/>
                <p:cNvGraphicFramePr>
                  <a:graphicFrameLocks/>
                </p:cNvGraphicFramePr>
                <p:nvPr/>
              </p:nvGraphicFramePr>
              <p:xfrm>
                <a:off x="4405" y="707"/>
                <a:ext cx="397" cy="2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4" name="公式" r:id="rId18" imgW="218970" imgH="123722" progId="Equation.3">
                        <p:embed/>
                      </p:oleObj>
                    </mc:Choice>
                    <mc:Fallback>
                      <p:oleObj name="公式" r:id="rId18" imgW="218970" imgH="123722" progId="Equation.3">
                        <p:embed/>
                        <p:pic>
                          <p:nvPicPr>
                            <p:cNvPr id="0" name="Object 52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05" y="707"/>
                              <a:ext cx="397" cy="2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8" name="Object 53"/>
                <p:cNvGraphicFramePr>
                  <a:graphicFrameLocks/>
                </p:cNvGraphicFramePr>
                <p:nvPr/>
              </p:nvGraphicFramePr>
              <p:xfrm>
                <a:off x="3892" y="707"/>
                <a:ext cx="444" cy="2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5" name="公式" r:id="rId20" imgW="295315" imgH="123722" progId="Equation.3">
                        <p:embed/>
                      </p:oleObj>
                    </mc:Choice>
                    <mc:Fallback>
                      <p:oleObj name="公式" r:id="rId20" imgW="295315" imgH="123722" progId="Equation.3">
                        <p:embed/>
                        <p:pic>
                          <p:nvPicPr>
                            <p:cNvPr id="0" name="Object 53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92" y="707"/>
                              <a:ext cx="444" cy="26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29" name="Object 54"/>
                <p:cNvGraphicFramePr>
                  <a:graphicFrameLocks/>
                </p:cNvGraphicFramePr>
                <p:nvPr/>
              </p:nvGraphicFramePr>
              <p:xfrm>
                <a:off x="3401" y="707"/>
                <a:ext cx="414" cy="2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6" name="公式" r:id="rId22" imgW="295315" imgH="123722" progId="Equation.3">
                        <p:embed/>
                      </p:oleObj>
                    </mc:Choice>
                    <mc:Fallback>
                      <p:oleObj name="公式" r:id="rId22" imgW="295315" imgH="123722" progId="Equation.3">
                        <p:embed/>
                        <p:pic>
                          <p:nvPicPr>
                            <p:cNvPr id="0" name="Object 5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01" y="707"/>
                              <a:ext cx="414" cy="26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30" name="Object 55"/>
                <p:cNvGraphicFramePr>
                  <a:graphicFrameLocks/>
                </p:cNvGraphicFramePr>
                <p:nvPr/>
              </p:nvGraphicFramePr>
              <p:xfrm>
                <a:off x="2390" y="707"/>
                <a:ext cx="449" cy="2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7" name="公式" r:id="rId24" imgW="295315" imgH="123722" progId="Equation.3">
                        <p:embed/>
                      </p:oleObj>
                    </mc:Choice>
                    <mc:Fallback>
                      <p:oleObj name="公式" r:id="rId24" imgW="295315" imgH="123722" progId="Equation.3">
                        <p:embed/>
                        <p:pic>
                          <p:nvPicPr>
                            <p:cNvPr id="0" name="Object 55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90" y="707"/>
                              <a:ext cx="449" cy="2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431" name="Object 56"/>
                <p:cNvGraphicFramePr>
                  <a:graphicFrameLocks/>
                </p:cNvGraphicFramePr>
                <p:nvPr/>
              </p:nvGraphicFramePr>
              <p:xfrm>
                <a:off x="2908" y="707"/>
                <a:ext cx="414" cy="2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6548" name="公式" r:id="rId26" imgW="295315" imgH="123722" progId="Equation.3">
                        <p:embed/>
                      </p:oleObj>
                    </mc:Choice>
                    <mc:Fallback>
                      <p:oleObj name="公式" r:id="rId26" imgW="295315" imgH="123722" progId="Equation.3">
                        <p:embed/>
                        <p:pic>
                          <p:nvPicPr>
                            <p:cNvPr id="0" name="Object 5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08" y="707"/>
                              <a:ext cx="414" cy="26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08" name="Rectangle 59"/>
              <p:cNvSpPr>
                <a:spLocks noChangeArrowheads="1"/>
              </p:cNvSpPr>
              <p:nvPr/>
            </p:nvSpPr>
            <p:spPr bwMode="auto">
              <a:xfrm>
                <a:off x="4712" y="708"/>
                <a:ext cx="1045" cy="1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6403" name="Text Box 61"/>
            <p:cNvSpPr txBox="1">
              <a:spLocks noChangeArrowheads="1"/>
            </p:cNvSpPr>
            <p:nvPr/>
          </p:nvSpPr>
          <p:spPr bwMode="auto">
            <a:xfrm>
              <a:off x="3821" y="2811"/>
              <a:ext cx="164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FF0066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FF0066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FF0066"/>
                  </a:solidFill>
                  <a:latin typeface="楷体_GB2312" pitchFamily="49" charset="-122"/>
                </a:rPr>
                <a:t>合成波电场振幅</a:t>
              </a:r>
            </a:p>
          </p:txBody>
        </p:sp>
        <p:sp>
          <p:nvSpPr>
            <p:cNvPr id="16404" name="Text Box 63"/>
            <p:cNvSpPr txBox="1">
              <a:spLocks noChangeArrowheads="1"/>
            </p:cNvSpPr>
            <p:nvPr/>
          </p:nvSpPr>
          <p:spPr bwMode="auto">
            <a:xfrm>
              <a:off x="3901" y="3612"/>
              <a:ext cx="148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6666FF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6666FF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6666FF"/>
                  </a:solidFill>
                  <a:latin typeface="楷体_GB2312" pitchFamily="49" charset="-122"/>
                </a:rPr>
                <a:t>合成波电场</a:t>
              </a:r>
            </a:p>
          </p:txBody>
        </p:sp>
        <p:sp>
          <p:nvSpPr>
            <p:cNvPr id="16405" name="Rectangle 64"/>
            <p:cNvSpPr>
              <a:spLocks noChangeArrowheads="1"/>
            </p:cNvSpPr>
            <p:nvPr/>
          </p:nvSpPr>
          <p:spPr bwMode="auto">
            <a:xfrm>
              <a:off x="4287" y="3131"/>
              <a:ext cx="136" cy="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6406" name="Text Box 65"/>
            <p:cNvSpPr txBox="1">
              <a:spLocks noChangeArrowheads="1"/>
            </p:cNvSpPr>
            <p:nvPr/>
          </p:nvSpPr>
          <p:spPr bwMode="auto">
            <a:xfrm>
              <a:off x="4150" y="3161"/>
              <a:ext cx="272" cy="3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b="0" i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z</a:t>
              </a:r>
              <a:endParaRPr kumimoji="1" lang="en-US" altLang="zh-CN" b="0" i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653381" name="Object 69"/>
          <p:cNvGraphicFramePr>
            <a:graphicFrameLocks noChangeAspect="1"/>
          </p:cNvGraphicFramePr>
          <p:nvPr/>
        </p:nvGraphicFramePr>
        <p:xfrm>
          <a:off x="2879725" y="3249613"/>
          <a:ext cx="27781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Equation" r:id="rId28" imgW="1304798" imgH="238061" progId="Equation.DSMT4">
                  <p:embed/>
                </p:oleObj>
              </mc:Choice>
              <mc:Fallback>
                <p:oleObj name="Equation" r:id="rId28" imgW="1304798" imgH="238061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3249613"/>
                        <a:ext cx="27781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82" name="Text Box 70"/>
          <p:cNvSpPr txBox="1">
            <a:spLocks noChangeArrowheads="1"/>
          </p:cNvSpPr>
          <p:nvPr/>
        </p:nvSpPr>
        <p:spPr bwMode="auto">
          <a:xfrm>
            <a:off x="107950" y="333375"/>
            <a:ext cx="859948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0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合成波电场振幅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（</a:t>
            </a:r>
            <a:r>
              <a:rPr kumimoji="1" lang="zh-CN" altLang="en-US" i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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&gt; 0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）</a:t>
            </a:r>
          </a:p>
        </p:txBody>
      </p: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250825" y="1566863"/>
            <a:ext cx="8599488" cy="573087"/>
            <a:chOff x="158" y="987"/>
            <a:chExt cx="5417" cy="361"/>
          </a:xfrm>
        </p:grpSpPr>
        <p:sp>
          <p:nvSpPr>
            <p:cNvPr id="16400" name="Text Box 67"/>
            <p:cNvSpPr txBox="1">
              <a:spLocks noChangeArrowheads="1"/>
            </p:cNvSpPr>
            <p:nvPr/>
          </p:nvSpPr>
          <p:spPr bwMode="auto">
            <a:xfrm>
              <a:off x="158" y="987"/>
              <a:ext cx="5417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当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β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</a:t>
              </a:r>
              <a:r>
                <a:rPr kumimoji="1" lang="en-US" altLang="zh-CN" b="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l-GR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π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，即 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λ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 2                        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时，有</a:t>
              </a:r>
              <a:endParaRPr kumimoji="1" lang="zh-CN" altLang="el-GR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16401" name="Object 74"/>
            <p:cNvGraphicFramePr>
              <a:graphicFrameLocks noChangeAspect="1"/>
            </p:cNvGraphicFramePr>
            <p:nvPr/>
          </p:nvGraphicFramePr>
          <p:xfrm>
            <a:off x="2562" y="1071"/>
            <a:ext cx="110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0" name="Equation" r:id="rId31" imgW="781144" imgH="104608" progId="Equation.DSMT4">
                    <p:embed/>
                  </p:oleObj>
                </mc:Choice>
                <mc:Fallback>
                  <p:oleObj name="Equation" r:id="rId31" imgW="781144" imgH="104608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071"/>
                          <a:ext cx="110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7"/>
          <p:cNvGrpSpPr>
            <a:grpSpLocks/>
          </p:cNvGrpSpPr>
          <p:nvPr/>
        </p:nvGrpSpPr>
        <p:grpSpPr bwMode="auto">
          <a:xfrm>
            <a:off x="250825" y="2717800"/>
            <a:ext cx="8893175" cy="573088"/>
            <a:chOff x="158" y="1712"/>
            <a:chExt cx="5602" cy="361"/>
          </a:xfrm>
        </p:grpSpPr>
        <p:sp>
          <p:nvSpPr>
            <p:cNvPr id="16398" name="Text Box 72"/>
            <p:cNvSpPr txBox="1">
              <a:spLocks noChangeArrowheads="1"/>
            </p:cNvSpPr>
            <p:nvPr/>
          </p:nvSpPr>
          <p:spPr bwMode="auto">
            <a:xfrm>
              <a:off x="158" y="1712"/>
              <a:ext cx="5602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当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β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(2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＋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1)</a:t>
              </a:r>
              <a:r>
                <a:rPr kumimoji="1" lang="el-GR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π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/2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，即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/2+1/4)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λ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                      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时，有</a:t>
              </a:r>
              <a:endParaRPr kumimoji="1" lang="zh-CN" altLang="el-GR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16399" name="Object 75"/>
            <p:cNvGraphicFramePr>
              <a:graphicFrameLocks noChangeAspect="1"/>
            </p:cNvGraphicFramePr>
            <p:nvPr/>
          </p:nvGraphicFramePr>
          <p:xfrm>
            <a:off x="3639" y="1788"/>
            <a:ext cx="110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51" name="Equation" r:id="rId33" imgW="781144" imgH="104608" progId="Equation.DSMT4">
                    <p:embed/>
                  </p:oleObj>
                </mc:Choice>
                <mc:Fallback>
                  <p:oleObj name="Equation" r:id="rId33" imgW="781144" imgH="104608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9" y="1788"/>
                          <a:ext cx="110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4" name="AutoShape 78">
            <a:hlinkClick r:id="rId3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5" name="AutoShape 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6" name="AutoShape 8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397" name="AutoShape 8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5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5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5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E035FE-F497-44B7-842B-6F6CAD71630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778242" name="Object 2"/>
          <p:cNvGraphicFramePr>
            <a:graphicFrameLocks noChangeAspect="1"/>
          </p:cNvGraphicFramePr>
          <p:nvPr/>
        </p:nvGraphicFramePr>
        <p:xfrm>
          <a:off x="1150938" y="908050"/>
          <a:ext cx="63563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1" name="Equation" r:id="rId3" imgW="3190857" imgH="209563" progId="Equation.DSMT4">
                  <p:embed/>
                </p:oleObj>
              </mc:Choice>
              <mc:Fallback>
                <p:oleObj name="Equation" r:id="rId3" imgW="3190857" imgH="209563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908050"/>
                        <a:ext cx="63563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3" name="Object 3"/>
          <p:cNvGraphicFramePr>
            <a:graphicFrameLocks noChangeAspect="1"/>
          </p:cNvGraphicFramePr>
          <p:nvPr/>
        </p:nvGraphicFramePr>
        <p:xfrm>
          <a:off x="2852738" y="2171700"/>
          <a:ext cx="27654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2" name="Equation" r:id="rId5" imgW="1304798" imgH="238061" progId="Equation.DSMT4">
                  <p:embed/>
                </p:oleObj>
              </mc:Choice>
              <mc:Fallback>
                <p:oleObj name="Equation" r:id="rId5" imgW="1304798" imgH="23806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2171700"/>
                        <a:ext cx="276542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5" name="Object 35"/>
          <p:cNvGraphicFramePr>
            <a:graphicFrameLocks noChangeAspect="1"/>
          </p:cNvGraphicFramePr>
          <p:nvPr/>
        </p:nvGraphicFramePr>
        <p:xfrm>
          <a:off x="2863850" y="3322638"/>
          <a:ext cx="28098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Equation" r:id="rId7" imgW="1314515" imgH="238061" progId="Equation.DSMT4">
                  <p:embed/>
                </p:oleObj>
              </mc:Choice>
              <mc:Fallback>
                <p:oleObj name="Equation" r:id="rId7" imgW="1314515" imgH="23806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3322638"/>
                        <a:ext cx="280987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6" name="Text Box 36"/>
          <p:cNvSpPr txBox="1">
            <a:spLocks noChangeArrowheads="1"/>
          </p:cNvSpPr>
          <p:nvPr/>
        </p:nvSpPr>
        <p:spPr bwMode="auto">
          <a:xfrm>
            <a:off x="107950" y="333375"/>
            <a:ext cx="859948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9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合成波电场振幅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（</a:t>
            </a:r>
            <a:r>
              <a:rPr kumimoji="1" lang="zh-CN" altLang="en-US" i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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&lt; 0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）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728663" y="4005263"/>
            <a:ext cx="7588250" cy="2520950"/>
            <a:chOff x="975" y="2523"/>
            <a:chExt cx="4780" cy="1588"/>
          </a:xfrm>
        </p:grpSpPr>
        <p:pic>
          <p:nvPicPr>
            <p:cNvPr id="17426" name="Picture 39" descr="3"/>
            <p:cNvPicPr>
              <a:picLocks noChangeArrowheads="1" noCrop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2523"/>
              <a:ext cx="3629" cy="1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27" name="Group 69"/>
            <p:cNvGrpSpPr>
              <a:grpSpLocks/>
            </p:cNvGrpSpPr>
            <p:nvPr/>
          </p:nvGrpSpPr>
          <p:grpSpPr bwMode="auto">
            <a:xfrm>
              <a:off x="975" y="2569"/>
              <a:ext cx="2676" cy="1405"/>
              <a:chOff x="975" y="2524"/>
              <a:chExt cx="2676" cy="1668"/>
            </a:xfrm>
          </p:grpSpPr>
          <p:sp>
            <p:nvSpPr>
              <p:cNvPr id="17444" name="Line 40"/>
              <p:cNvSpPr>
                <a:spLocks noChangeShapeType="1"/>
              </p:cNvSpPr>
              <p:nvPr/>
            </p:nvSpPr>
            <p:spPr bwMode="auto">
              <a:xfrm>
                <a:off x="3651" y="2563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5" name="Line 41"/>
              <p:cNvSpPr>
                <a:spLocks noChangeShapeType="1"/>
              </p:cNvSpPr>
              <p:nvPr/>
            </p:nvSpPr>
            <p:spPr bwMode="auto">
              <a:xfrm>
                <a:off x="3170" y="2563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6" name="Line 42"/>
              <p:cNvSpPr>
                <a:spLocks noChangeShapeType="1"/>
              </p:cNvSpPr>
              <p:nvPr/>
            </p:nvSpPr>
            <p:spPr bwMode="auto">
              <a:xfrm>
                <a:off x="2214" y="2534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7" name="Line 43"/>
              <p:cNvSpPr>
                <a:spLocks noChangeShapeType="1"/>
              </p:cNvSpPr>
              <p:nvPr/>
            </p:nvSpPr>
            <p:spPr bwMode="auto">
              <a:xfrm>
                <a:off x="2442" y="2534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8" name="Line 44"/>
              <p:cNvSpPr>
                <a:spLocks noChangeShapeType="1"/>
              </p:cNvSpPr>
              <p:nvPr/>
            </p:nvSpPr>
            <p:spPr bwMode="auto">
              <a:xfrm>
                <a:off x="2926" y="2543"/>
                <a:ext cx="0" cy="163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9" name="Line 45"/>
              <p:cNvSpPr>
                <a:spLocks noChangeShapeType="1"/>
              </p:cNvSpPr>
              <p:nvPr/>
            </p:nvSpPr>
            <p:spPr bwMode="auto">
              <a:xfrm>
                <a:off x="2701" y="2534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0" name="Line 46"/>
              <p:cNvSpPr>
                <a:spLocks noChangeShapeType="1"/>
              </p:cNvSpPr>
              <p:nvPr/>
            </p:nvSpPr>
            <p:spPr bwMode="auto">
              <a:xfrm>
                <a:off x="3417" y="2563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1" name="Line 47"/>
              <p:cNvSpPr>
                <a:spLocks noChangeShapeType="1"/>
              </p:cNvSpPr>
              <p:nvPr/>
            </p:nvSpPr>
            <p:spPr bwMode="auto">
              <a:xfrm>
                <a:off x="1484" y="2553"/>
                <a:ext cx="0" cy="163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2" name="Line 48"/>
              <p:cNvSpPr>
                <a:spLocks noChangeShapeType="1"/>
              </p:cNvSpPr>
              <p:nvPr/>
            </p:nvSpPr>
            <p:spPr bwMode="auto">
              <a:xfrm>
                <a:off x="1733" y="2534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3" name="Line 49"/>
              <p:cNvSpPr>
                <a:spLocks noChangeShapeType="1"/>
              </p:cNvSpPr>
              <p:nvPr/>
            </p:nvSpPr>
            <p:spPr bwMode="auto">
              <a:xfrm>
                <a:off x="1971" y="2534"/>
                <a:ext cx="0" cy="1629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4" name="Line 50"/>
              <p:cNvSpPr>
                <a:spLocks noChangeShapeType="1"/>
              </p:cNvSpPr>
              <p:nvPr/>
            </p:nvSpPr>
            <p:spPr bwMode="auto">
              <a:xfrm>
                <a:off x="975" y="2524"/>
                <a:ext cx="0" cy="163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5" name="Line 51"/>
              <p:cNvSpPr>
                <a:spLocks noChangeShapeType="1"/>
              </p:cNvSpPr>
              <p:nvPr/>
            </p:nvSpPr>
            <p:spPr bwMode="auto">
              <a:xfrm>
                <a:off x="1235" y="2553"/>
                <a:ext cx="0" cy="1630"/>
              </a:xfrm>
              <a:prstGeom prst="line">
                <a:avLst/>
              </a:prstGeom>
              <a:noFill/>
              <a:ln w="9525">
                <a:solidFill>
                  <a:srgbClr val="33CC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28" name="Group 68"/>
            <p:cNvGrpSpPr>
              <a:grpSpLocks/>
            </p:cNvGrpSpPr>
            <p:nvPr/>
          </p:nvGrpSpPr>
          <p:grpSpPr bwMode="auto">
            <a:xfrm>
              <a:off x="1211" y="3867"/>
              <a:ext cx="2385" cy="243"/>
              <a:chOff x="1218" y="3748"/>
              <a:chExt cx="2385" cy="221"/>
            </a:xfrm>
          </p:grpSpPr>
          <p:graphicFrame>
            <p:nvGraphicFramePr>
              <p:cNvPr id="17439" name="Object 52"/>
              <p:cNvGraphicFramePr>
                <a:graphicFrameLocks noChangeAspect="1"/>
              </p:cNvGraphicFramePr>
              <p:nvPr/>
            </p:nvGraphicFramePr>
            <p:xfrm>
              <a:off x="3198" y="3748"/>
              <a:ext cx="405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4" name="Equation" r:id="rId11" imgW="257142" imgH="123722" progId="Equation.3">
                      <p:embed/>
                    </p:oleObj>
                  </mc:Choice>
                  <mc:Fallback>
                    <p:oleObj name="Equation" r:id="rId11" imgW="257142" imgH="123722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3748"/>
                            <a:ext cx="405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0" name="Object 53"/>
              <p:cNvGraphicFramePr>
                <a:graphicFrameLocks noChangeAspect="1"/>
              </p:cNvGraphicFramePr>
              <p:nvPr/>
            </p:nvGraphicFramePr>
            <p:xfrm>
              <a:off x="2835" y="3748"/>
              <a:ext cx="202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5" name="Equation" r:id="rId13" imgW="85714" imgH="123722" progId="Equation.3">
                      <p:embed/>
                    </p:oleObj>
                  </mc:Choice>
                  <mc:Fallback>
                    <p:oleObj name="Equation" r:id="rId13" imgW="85714" imgH="123722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5" y="3748"/>
                            <a:ext cx="202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1" name="Object 54"/>
              <p:cNvGraphicFramePr>
                <a:graphicFrameLocks noChangeAspect="1"/>
              </p:cNvGraphicFramePr>
              <p:nvPr/>
            </p:nvGraphicFramePr>
            <p:xfrm>
              <a:off x="2200" y="3748"/>
              <a:ext cx="492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6" name="Equation" r:id="rId15" imgW="333487" imgH="123722" progId="Equation.3">
                      <p:embed/>
                    </p:oleObj>
                  </mc:Choice>
                  <mc:Fallback>
                    <p:oleObj name="Equation" r:id="rId15" imgW="333487" imgH="123722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0" y="3748"/>
                            <a:ext cx="492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2" name="Object 55"/>
              <p:cNvGraphicFramePr>
                <a:graphicFrameLocks noChangeAspect="1"/>
              </p:cNvGraphicFramePr>
              <p:nvPr/>
            </p:nvGraphicFramePr>
            <p:xfrm>
              <a:off x="1841" y="3748"/>
              <a:ext cx="289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7" name="Equation" r:id="rId17" imgW="162059" imgH="123722" progId="Equation.3">
                      <p:embed/>
                    </p:oleObj>
                  </mc:Choice>
                  <mc:Fallback>
                    <p:oleObj name="Equation" r:id="rId17" imgW="162059" imgH="123722" progId="Equation.3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41" y="3748"/>
                            <a:ext cx="289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43" name="Object 56"/>
              <p:cNvGraphicFramePr>
                <a:graphicFrameLocks noChangeAspect="1"/>
              </p:cNvGraphicFramePr>
              <p:nvPr/>
            </p:nvGraphicFramePr>
            <p:xfrm>
              <a:off x="1218" y="3748"/>
              <a:ext cx="493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8" name="Equation" r:id="rId19" imgW="333487" imgH="123722" progId="Equation.3">
                      <p:embed/>
                    </p:oleObj>
                  </mc:Choice>
                  <mc:Fallback>
                    <p:oleObj name="Equation" r:id="rId19" imgW="333487" imgH="123722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8" y="3748"/>
                            <a:ext cx="493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429" name="Group 67"/>
            <p:cNvGrpSpPr>
              <a:grpSpLocks/>
            </p:cNvGrpSpPr>
            <p:nvPr/>
          </p:nvGrpSpPr>
          <p:grpSpPr bwMode="auto">
            <a:xfrm>
              <a:off x="1474" y="2523"/>
              <a:ext cx="2367" cy="265"/>
              <a:chOff x="1500" y="2524"/>
              <a:chExt cx="2367" cy="265"/>
            </a:xfrm>
          </p:grpSpPr>
          <p:graphicFrame>
            <p:nvGraphicFramePr>
              <p:cNvPr id="17434" name="Object 57"/>
              <p:cNvGraphicFramePr>
                <a:graphicFrameLocks/>
              </p:cNvGraphicFramePr>
              <p:nvPr/>
            </p:nvGraphicFramePr>
            <p:xfrm>
              <a:off x="3470" y="2524"/>
              <a:ext cx="397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69" name="公式" r:id="rId21" imgW="218970" imgH="123722" progId="Equation.3">
                      <p:embed/>
                    </p:oleObj>
                  </mc:Choice>
                  <mc:Fallback>
                    <p:oleObj name="公式" r:id="rId21" imgW="218970" imgH="123722" progId="Equation.3">
                      <p:embed/>
                      <p:pic>
                        <p:nvPicPr>
                          <p:cNvPr id="0" name="Object 5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0" y="2524"/>
                            <a:ext cx="397" cy="2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5" name="Object 58"/>
              <p:cNvGraphicFramePr>
                <a:graphicFrameLocks/>
              </p:cNvGraphicFramePr>
              <p:nvPr/>
            </p:nvGraphicFramePr>
            <p:xfrm>
              <a:off x="2934" y="2524"/>
              <a:ext cx="444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0" name="公式" r:id="rId23" imgW="295315" imgH="123722" progId="Equation.3">
                      <p:embed/>
                    </p:oleObj>
                  </mc:Choice>
                  <mc:Fallback>
                    <p:oleObj name="公式" r:id="rId23" imgW="295315" imgH="123722" progId="Equation.3">
                      <p:embed/>
                      <p:pic>
                        <p:nvPicPr>
                          <p:cNvPr id="0" name="Object 5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4" y="2524"/>
                            <a:ext cx="444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6" name="Object 59"/>
              <p:cNvGraphicFramePr>
                <a:graphicFrameLocks/>
              </p:cNvGraphicFramePr>
              <p:nvPr/>
            </p:nvGraphicFramePr>
            <p:xfrm>
              <a:off x="2487" y="2524"/>
              <a:ext cx="414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1" name="公式" r:id="rId25" imgW="295315" imgH="123722" progId="Equation.3">
                      <p:embed/>
                    </p:oleObj>
                  </mc:Choice>
                  <mc:Fallback>
                    <p:oleObj name="公式" r:id="rId25" imgW="295315" imgH="123722" progId="Equation.3">
                      <p:embed/>
                      <p:pic>
                        <p:nvPicPr>
                          <p:cNvPr id="0" name="Object 5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7" y="2524"/>
                            <a:ext cx="414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7" name="Object 60"/>
              <p:cNvGraphicFramePr>
                <a:graphicFrameLocks/>
              </p:cNvGraphicFramePr>
              <p:nvPr/>
            </p:nvGraphicFramePr>
            <p:xfrm>
              <a:off x="1500" y="2524"/>
              <a:ext cx="449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2" name="公式" r:id="rId27" imgW="295315" imgH="123722" progId="Equation.3">
                      <p:embed/>
                    </p:oleObj>
                  </mc:Choice>
                  <mc:Fallback>
                    <p:oleObj name="公式" r:id="rId27" imgW="295315" imgH="123722" progId="Equation.3">
                      <p:embed/>
                      <p:pic>
                        <p:nvPicPr>
                          <p:cNvPr id="0" name="Object 6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0" y="2524"/>
                            <a:ext cx="449" cy="2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8" name="Object 61"/>
              <p:cNvGraphicFramePr>
                <a:graphicFrameLocks/>
              </p:cNvGraphicFramePr>
              <p:nvPr/>
            </p:nvGraphicFramePr>
            <p:xfrm>
              <a:off x="2002" y="2524"/>
              <a:ext cx="414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73" name="公式" r:id="rId29" imgW="295315" imgH="123722" progId="Equation.3">
                      <p:embed/>
                    </p:oleObj>
                  </mc:Choice>
                  <mc:Fallback>
                    <p:oleObj name="公式" r:id="rId29" imgW="295315" imgH="123722" progId="Equation.3">
                      <p:embed/>
                      <p:pic>
                        <p:nvPicPr>
                          <p:cNvPr id="0" name="Object 6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2" y="2524"/>
                            <a:ext cx="414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7430" name="Rectangle 62"/>
            <p:cNvSpPr>
              <a:spLocks noChangeArrowheads="1"/>
            </p:cNvSpPr>
            <p:nvPr/>
          </p:nvSpPr>
          <p:spPr bwMode="auto">
            <a:xfrm>
              <a:off x="4604" y="2523"/>
              <a:ext cx="1151" cy="1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431" name="Text Box 63"/>
            <p:cNvSpPr txBox="1">
              <a:spLocks noChangeArrowheads="1"/>
            </p:cNvSpPr>
            <p:nvPr/>
          </p:nvSpPr>
          <p:spPr bwMode="auto">
            <a:xfrm>
              <a:off x="4061" y="2851"/>
              <a:ext cx="167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FF0066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FF0066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FF0066"/>
                  </a:solidFill>
                  <a:latin typeface="楷体_GB2312" pitchFamily="49" charset="-122"/>
                </a:rPr>
                <a:t>合成波电场振幅</a:t>
              </a:r>
            </a:p>
          </p:txBody>
        </p:sp>
        <p:sp>
          <p:nvSpPr>
            <p:cNvPr id="17432" name="Text Box 64"/>
            <p:cNvSpPr txBox="1">
              <a:spLocks noChangeArrowheads="1"/>
            </p:cNvSpPr>
            <p:nvPr/>
          </p:nvSpPr>
          <p:spPr bwMode="auto">
            <a:xfrm>
              <a:off x="4100" y="3621"/>
              <a:ext cx="140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sz="2000">
                  <a:solidFill>
                    <a:srgbClr val="6666FF"/>
                  </a:solidFill>
                  <a:latin typeface="Times New Roman" pitchFamily="18" charset="0"/>
                  <a:ea typeface="黑体" pitchFamily="49" charset="-122"/>
                </a:rPr>
                <a:t>——</a:t>
              </a:r>
              <a:r>
                <a:rPr kumimoji="1" lang="en-US" altLang="zh-CN" sz="2000">
                  <a:solidFill>
                    <a:srgbClr val="6666FF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r>
                <a:rPr kumimoji="1" lang="zh-CN" altLang="en-US" sz="2000">
                  <a:solidFill>
                    <a:srgbClr val="6666FF"/>
                  </a:solidFill>
                  <a:latin typeface="楷体_GB2312" pitchFamily="49" charset="-122"/>
                </a:rPr>
                <a:t>合成波电场</a:t>
              </a:r>
            </a:p>
          </p:txBody>
        </p:sp>
        <p:sp>
          <p:nvSpPr>
            <p:cNvPr id="17433" name="Text Box 66"/>
            <p:cNvSpPr txBox="1">
              <a:spLocks noChangeArrowheads="1"/>
            </p:cNvSpPr>
            <p:nvPr/>
          </p:nvSpPr>
          <p:spPr bwMode="auto">
            <a:xfrm>
              <a:off x="4378" y="3206"/>
              <a:ext cx="272" cy="3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en-US" altLang="zh-CN" b="0" i="1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z</a:t>
              </a:r>
              <a:endParaRPr kumimoji="1" lang="en-US" altLang="zh-CN" b="0" i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250825" y="1557338"/>
            <a:ext cx="8599488" cy="566737"/>
            <a:chOff x="158" y="987"/>
            <a:chExt cx="5417" cy="357"/>
          </a:xfrm>
        </p:grpSpPr>
        <p:sp>
          <p:nvSpPr>
            <p:cNvPr id="17424" name="Text Box 73"/>
            <p:cNvSpPr txBox="1">
              <a:spLocks noChangeArrowheads="1"/>
            </p:cNvSpPr>
            <p:nvPr/>
          </p:nvSpPr>
          <p:spPr bwMode="auto">
            <a:xfrm>
              <a:off x="158" y="987"/>
              <a:ext cx="5417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当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β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</a:t>
              </a:r>
              <a:r>
                <a:rPr kumimoji="1" lang="en-US" altLang="zh-CN" b="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l-GR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π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，即 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λ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 2                       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时，有</a:t>
              </a:r>
              <a:endParaRPr kumimoji="1" lang="zh-CN" altLang="el-GR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17425" name="Object 74"/>
            <p:cNvGraphicFramePr>
              <a:graphicFrameLocks noChangeAspect="1"/>
            </p:cNvGraphicFramePr>
            <p:nvPr/>
          </p:nvGraphicFramePr>
          <p:xfrm>
            <a:off x="2517" y="1053"/>
            <a:ext cx="110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4" name="Equation" r:id="rId31" imgW="781144" imgH="104608" progId="Equation.DSMT4">
                    <p:embed/>
                  </p:oleObj>
                </mc:Choice>
                <mc:Fallback>
                  <p:oleObj name="Equation" r:id="rId31" imgW="781144" imgH="104608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1053"/>
                          <a:ext cx="110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77"/>
          <p:cNvGrpSpPr>
            <a:grpSpLocks/>
          </p:cNvGrpSpPr>
          <p:nvPr/>
        </p:nvGrpSpPr>
        <p:grpSpPr bwMode="auto">
          <a:xfrm>
            <a:off x="250825" y="2717800"/>
            <a:ext cx="8893175" cy="566738"/>
            <a:chOff x="158" y="1712"/>
            <a:chExt cx="5602" cy="357"/>
          </a:xfrm>
        </p:grpSpPr>
        <p:sp>
          <p:nvSpPr>
            <p:cNvPr id="17422" name="Text Box 75"/>
            <p:cNvSpPr txBox="1">
              <a:spLocks noChangeArrowheads="1"/>
            </p:cNvSpPr>
            <p:nvPr/>
          </p:nvSpPr>
          <p:spPr bwMode="auto">
            <a:xfrm>
              <a:off x="158" y="1712"/>
              <a:ext cx="560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当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β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(2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＋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1)</a:t>
              </a:r>
              <a:r>
                <a:rPr kumimoji="1" lang="el-GR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π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/2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，即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z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－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b="0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/2+1/4)</a:t>
              </a:r>
              <a:r>
                <a:rPr kumimoji="1"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λ</a:t>
              </a:r>
              <a:r>
                <a:rPr kumimoji="1"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1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                     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时，有</a:t>
              </a:r>
              <a:endParaRPr kumimoji="1" lang="zh-CN" altLang="el-GR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17423" name="Object 76"/>
            <p:cNvGraphicFramePr>
              <a:graphicFrameLocks noChangeAspect="1"/>
            </p:cNvGraphicFramePr>
            <p:nvPr/>
          </p:nvGraphicFramePr>
          <p:xfrm>
            <a:off x="3560" y="1779"/>
            <a:ext cx="110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75" name="Equation" r:id="rId33" imgW="781144" imgH="104608" progId="Equation.DSMT4">
                    <p:embed/>
                  </p:oleObj>
                </mc:Choice>
                <mc:Fallback>
                  <p:oleObj name="Equation" r:id="rId33" imgW="781144" imgH="104608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779"/>
                          <a:ext cx="110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8" name="AutoShape 78">
            <a:hlinkClick r:id="rId3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7419" name="AutoShape 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7420" name="AutoShape 8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7421" name="AutoShape 8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7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7BBEF1-474F-4DDB-9CE4-BCF17C936B9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55362" name="Text Box 2"/>
          <p:cNvSpPr txBox="1">
            <a:spLocks noChangeArrowheads="1"/>
          </p:cNvSpPr>
          <p:nvPr/>
        </p:nvSpPr>
        <p:spPr bwMode="auto">
          <a:xfrm>
            <a:off x="107950" y="981075"/>
            <a:ext cx="88931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    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驻波系数定义为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合成波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的电场强度振幅的最大值与最小值之比，即</a:t>
            </a:r>
          </a:p>
        </p:txBody>
      </p:sp>
      <p:graphicFrame>
        <p:nvGraphicFramePr>
          <p:cNvPr id="655364" name="Object 4"/>
          <p:cNvGraphicFramePr>
            <a:graphicFrameLocks noChangeAspect="1"/>
          </p:cNvGraphicFramePr>
          <p:nvPr/>
        </p:nvGraphicFramePr>
        <p:xfrm>
          <a:off x="5435600" y="2276475"/>
          <a:ext cx="13430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Equation" r:id="rId3" imgW="580913" imgH="295404" progId="Equation.DSMT4">
                  <p:embed/>
                </p:oleObj>
              </mc:Choice>
              <mc:Fallback>
                <p:oleObj name="Equation" r:id="rId3" imgW="580913" imgH="29540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76475"/>
                        <a:ext cx="134302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66" name="Text Box 6"/>
          <p:cNvSpPr txBox="1">
            <a:spLocks noChangeArrowheads="1"/>
          </p:cNvSpPr>
          <p:nvPr/>
        </p:nvSpPr>
        <p:spPr bwMode="auto">
          <a:xfrm>
            <a:off x="169863" y="549275"/>
            <a:ext cx="3106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驻波系数（驻波比）</a:t>
            </a:r>
            <a:endParaRPr kumimoji="1" lang="en-US" altLang="zh-CN">
              <a:solidFill>
                <a:srgbClr val="FFFFFF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55370" name="Object 10"/>
          <p:cNvGraphicFramePr>
            <a:graphicFrameLocks noChangeAspect="1"/>
          </p:cNvGraphicFramePr>
          <p:nvPr/>
        </p:nvGraphicFramePr>
        <p:xfrm>
          <a:off x="1763713" y="2060575"/>
          <a:ext cx="235902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Equation" r:id="rId5" imgW="1085828" imgH="485852" progId="Equation.DSMT4">
                  <p:embed/>
                </p:oleObj>
              </mc:Choice>
              <mc:Fallback>
                <p:oleObj name="Equation" r:id="rId5" imgW="1085828" imgH="48585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060575"/>
                        <a:ext cx="2359025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71" name="AutoShape 11"/>
          <p:cNvSpPr>
            <a:spLocks noChangeArrowheads="1"/>
          </p:cNvSpPr>
          <p:nvPr/>
        </p:nvSpPr>
        <p:spPr bwMode="auto">
          <a:xfrm>
            <a:off x="4356100" y="2565400"/>
            <a:ext cx="863600" cy="2159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5372" name="Text Box 12"/>
          <p:cNvSpPr txBox="1">
            <a:spLocks noChangeArrowheads="1"/>
          </p:cNvSpPr>
          <p:nvPr/>
        </p:nvSpPr>
        <p:spPr bwMode="auto">
          <a:xfrm>
            <a:off x="107950" y="3213100"/>
            <a:ext cx="277336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7"/>
              </a:buBlip>
            </a:pPr>
            <a:r>
              <a:rPr kumimoji="1" lang="en-US" altLang="zh-CN">
                <a:solidFill>
                  <a:srgbClr val="FFFFFF"/>
                </a:solidFill>
                <a:ea typeface="宋体" pitchFamily="2" charset="-122"/>
              </a:rPr>
              <a:t>  </a:t>
            </a:r>
            <a:r>
              <a:rPr kumimoji="1" lang="zh-CN" altLang="en-US">
                <a:solidFill>
                  <a:srgbClr val="FFFFFF"/>
                </a:solidFill>
                <a:ea typeface="宋体" pitchFamily="2" charset="-122"/>
              </a:rPr>
              <a:t>讨论</a:t>
            </a:r>
          </a:p>
        </p:txBody>
      </p:sp>
      <p:sp>
        <p:nvSpPr>
          <p:cNvPr id="655373" name="Text Box 13"/>
          <p:cNvSpPr txBox="1">
            <a:spLocks noChangeArrowheads="1"/>
          </p:cNvSpPr>
          <p:nvPr/>
        </p:nvSpPr>
        <p:spPr bwMode="auto">
          <a:xfrm>
            <a:off x="468313" y="3789363"/>
            <a:ext cx="4751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8"/>
              </a:buBlip>
            </a:pPr>
            <a:r>
              <a:rPr kumimoji="1" lang="en-US" altLang="zh-CN" i="1">
                <a:solidFill>
                  <a:srgbClr val="FFFFFF"/>
                </a:solidFill>
                <a:latin typeface="Times New Roman" pitchFamily="18" charset="0"/>
              </a:rPr>
              <a:t>  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当</a:t>
            </a:r>
            <a:r>
              <a:rPr kumimoji="1" lang="ru-RU" altLang="zh-CN" i="1">
                <a:solidFill>
                  <a:srgbClr val="FFFFFF"/>
                </a:solidFill>
                <a:latin typeface="Times New Roman" pitchFamily="18" charset="0"/>
              </a:rPr>
              <a:t>Г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＝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0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时，</a:t>
            </a:r>
            <a:r>
              <a:rPr kumimoji="1" lang="en-US" altLang="zh-CN" i="1">
                <a:solidFill>
                  <a:srgbClr val="FFFFFF"/>
                </a:solidFill>
                <a:latin typeface="Times New Roman" pitchFamily="18" charset="0"/>
              </a:rPr>
              <a:t>S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＝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，为行波；</a:t>
            </a:r>
          </a:p>
        </p:txBody>
      </p:sp>
      <p:sp>
        <p:nvSpPr>
          <p:cNvPr id="655375" name="Text Box 15"/>
          <p:cNvSpPr txBox="1">
            <a:spLocks noChangeArrowheads="1"/>
          </p:cNvSpPr>
          <p:nvPr/>
        </p:nvSpPr>
        <p:spPr bwMode="auto">
          <a:xfrm>
            <a:off x="468313" y="4518025"/>
            <a:ext cx="54721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8"/>
              </a:buBlip>
            </a:pP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  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当</a:t>
            </a:r>
            <a:r>
              <a:rPr kumimoji="1" lang="ru-RU" altLang="zh-CN" i="1">
                <a:solidFill>
                  <a:srgbClr val="FFFFFF"/>
                </a:solidFill>
                <a:latin typeface="Times New Roman" pitchFamily="18" charset="0"/>
              </a:rPr>
              <a:t>Г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＝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±1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时，</a:t>
            </a:r>
            <a:r>
              <a:rPr kumimoji="1" lang="en-US" altLang="zh-CN" i="1">
                <a:solidFill>
                  <a:srgbClr val="FFFFFF"/>
                </a:solidFill>
                <a:latin typeface="Times New Roman" pitchFamily="18" charset="0"/>
              </a:rPr>
              <a:t>S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</a:rPr>
              <a:t>= </a:t>
            </a:r>
            <a:r>
              <a:rPr kumimoji="1" lang="en-US" altLang="zh-CN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 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，</a:t>
            </a:r>
            <a:r>
              <a:rPr kumimoji="1" lang="zh-CN" altLang="en-US">
                <a:solidFill>
                  <a:srgbClr val="FFFFFF"/>
                </a:solidFill>
                <a:latin typeface="Times New Roman" pitchFamily="18" charset="0"/>
              </a:rPr>
              <a:t>是纯驻波；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68313" y="5195888"/>
            <a:ext cx="8455025" cy="1052512"/>
            <a:chOff x="295" y="3339"/>
            <a:chExt cx="5326" cy="663"/>
          </a:xfrm>
        </p:grpSpPr>
        <p:sp>
          <p:nvSpPr>
            <p:cNvPr id="18448" name="Text Box 14"/>
            <p:cNvSpPr txBox="1">
              <a:spLocks noChangeArrowheads="1"/>
            </p:cNvSpPr>
            <p:nvPr/>
          </p:nvSpPr>
          <p:spPr bwMode="auto">
            <a:xfrm>
              <a:off x="295" y="3339"/>
              <a:ext cx="5326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8"/>
                </a:buBlip>
              </a:pP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</a:rPr>
                <a:t>  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</a:rPr>
                <a:t>当                 时，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&lt;</a:t>
              </a:r>
              <a:r>
                <a:rPr kumimoji="1" lang="en-US" altLang="zh-CN" i="1">
                  <a:solidFill>
                    <a:srgbClr val="FFFFFF"/>
                  </a:solidFill>
                  <a:latin typeface="Times New Roman" pitchFamily="18" charset="0"/>
                </a:rPr>
                <a:t> S 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</a:rPr>
                <a:t>&lt;</a:t>
              </a:r>
              <a:r>
                <a:rPr kumimoji="1" lang="en-US" altLang="zh-CN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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  <a:sym typeface="Symbol" pitchFamily="18" charset="2"/>
                </a:rPr>
                <a:t>，为行驻波。</a:t>
              </a:r>
              <a:r>
                <a:rPr kumimoji="1" lang="en-US" altLang="zh-CN" i="1">
                  <a:solidFill>
                    <a:srgbClr val="FFFFFF"/>
                  </a:solidFill>
                  <a:latin typeface="Times New Roman" pitchFamily="18" charset="0"/>
                </a:rPr>
                <a:t>S </a:t>
              </a: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</a:rPr>
                <a:t>越大，驻波分量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rgbClr val="FFFFFF"/>
                  </a:solidFill>
                  <a:latin typeface="Times New Roman" pitchFamily="18" charset="0"/>
                </a:rPr>
                <a:t>      越大，行波分量越小。</a:t>
              </a:r>
            </a:p>
          </p:txBody>
        </p:sp>
        <p:graphicFrame>
          <p:nvGraphicFramePr>
            <p:cNvPr id="18449" name="Object 16"/>
            <p:cNvGraphicFramePr>
              <a:graphicFrameLocks noChangeAspect="1"/>
            </p:cNvGraphicFramePr>
            <p:nvPr/>
          </p:nvGraphicFramePr>
          <p:xfrm>
            <a:off x="793" y="3385"/>
            <a:ext cx="81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" name="Equation" r:id="rId9" imgW="552457" imgH="161951" progId="Equation.DSMT4">
                    <p:embed/>
                  </p:oleObj>
                </mc:Choice>
                <mc:Fallback>
                  <p:oleObj name="Equation" r:id="rId9" imgW="552457" imgH="16195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385"/>
                          <a:ext cx="81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44" name="AutoShape 18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445" name="AutoShape 1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446" name="AutoShape 2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447" name="AutoShape 2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5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5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5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5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5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2" grpId="0"/>
      <p:bldP spid="655366" grpId="0"/>
      <p:bldP spid="655371" grpId="0" animBg="1"/>
      <p:bldP spid="655372" grpId="0" autoUpdateAnimBg="0"/>
      <p:bldP spid="655373" grpId="0"/>
      <p:bldP spid="65537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BFA4C-7638-44F1-9561-9ADD012B7FF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79279" name="Rectangle 15"/>
          <p:cNvSpPr>
            <a:spLocks noChangeArrowheads="1"/>
          </p:cNvSpPr>
          <p:nvPr/>
        </p:nvSpPr>
        <p:spPr bwMode="auto">
          <a:xfrm>
            <a:off x="539750" y="4365625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媒质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中的平均功率密度</a:t>
            </a:r>
          </a:p>
        </p:txBody>
      </p:sp>
      <p:sp>
        <p:nvSpPr>
          <p:cNvPr id="779280" name="Rectangle 16"/>
          <p:cNvSpPr>
            <a:spLocks noChangeArrowheads="1"/>
          </p:cNvSpPr>
          <p:nvPr/>
        </p:nvSpPr>
        <p:spPr bwMode="auto">
          <a:xfrm>
            <a:off x="611188" y="1052513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媒质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中沿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方向传播的平均功率密度</a:t>
            </a:r>
          </a:p>
        </p:txBody>
      </p:sp>
      <p:graphicFrame>
        <p:nvGraphicFramePr>
          <p:cNvPr id="779283" name="Object 19"/>
          <p:cNvGraphicFramePr>
            <a:graphicFrameLocks noChangeAspect="1"/>
          </p:cNvGraphicFramePr>
          <p:nvPr/>
        </p:nvGraphicFramePr>
        <p:xfrm>
          <a:off x="1116013" y="1557338"/>
          <a:ext cx="43211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Equation" r:id="rId3" imgW="1933600" imgH="333285" progId="Equation.DSMT4">
                  <p:embed/>
                </p:oleObj>
              </mc:Choice>
              <mc:Fallback>
                <p:oleObj name="Equation" r:id="rId3" imgW="1933600" imgH="33328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557338"/>
                        <a:ext cx="43211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87" name="Text Box 23"/>
          <p:cNvSpPr txBox="1">
            <a:spLocks noChangeArrowheads="1"/>
          </p:cNvSpPr>
          <p:nvPr/>
        </p:nvSpPr>
        <p:spPr bwMode="auto">
          <a:xfrm>
            <a:off x="142875" y="414338"/>
            <a:ext cx="52212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</a:t>
            </a:r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电磁能流密度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68313" y="5600700"/>
            <a:ext cx="4321175" cy="852488"/>
            <a:chOff x="295" y="3566"/>
            <a:chExt cx="2722" cy="537"/>
          </a:xfrm>
        </p:grpSpPr>
        <p:graphicFrame>
          <p:nvGraphicFramePr>
            <p:cNvPr id="19477" name="Object 9"/>
            <p:cNvGraphicFramePr>
              <a:graphicFrameLocks noChangeAspect="1"/>
            </p:cNvGraphicFramePr>
            <p:nvPr/>
          </p:nvGraphicFramePr>
          <p:xfrm>
            <a:off x="657" y="3566"/>
            <a:ext cx="2360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2" name="Equation" r:id="rId6" imgW="1762172" imgH="333285" progId="Equation.DSMT4">
                    <p:embed/>
                  </p:oleObj>
                </mc:Choice>
                <mc:Fallback>
                  <p:oleObj name="Equation" r:id="rId6" imgW="1762172" imgH="33328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566"/>
                          <a:ext cx="2360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Rectangle 24"/>
            <p:cNvSpPr>
              <a:spLocks noChangeArrowheads="1"/>
            </p:cNvSpPr>
            <p:nvPr/>
          </p:nvSpPr>
          <p:spPr bwMode="auto">
            <a:xfrm>
              <a:off x="295" y="3634"/>
              <a:ext cx="1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由</a:t>
              </a: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5076825" y="5676900"/>
            <a:ext cx="2179638" cy="488950"/>
            <a:chOff x="3288" y="3666"/>
            <a:chExt cx="1373" cy="308"/>
          </a:xfrm>
        </p:grpSpPr>
        <p:sp>
          <p:nvSpPr>
            <p:cNvPr id="19475" name="AutoShape 26"/>
            <p:cNvSpPr>
              <a:spLocks noChangeArrowheads="1"/>
            </p:cNvSpPr>
            <p:nvPr/>
          </p:nvSpPr>
          <p:spPr bwMode="auto">
            <a:xfrm>
              <a:off x="3288" y="3793"/>
              <a:ext cx="454" cy="136"/>
            </a:xfrm>
            <a:prstGeom prst="rightArrow">
              <a:avLst>
                <a:gd name="adj1" fmla="val 50000"/>
                <a:gd name="adj2" fmla="val 8345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9476" name="Object 27"/>
            <p:cNvGraphicFramePr>
              <a:graphicFrameLocks noChangeAspect="1"/>
            </p:cNvGraphicFramePr>
            <p:nvPr/>
          </p:nvGraphicFramePr>
          <p:xfrm>
            <a:off x="3812" y="3666"/>
            <a:ext cx="849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3" name="Equation" r:id="rId8" imgW="543088" imgH="161951" progId="Equation.DSMT4">
                    <p:embed/>
                  </p:oleObj>
                </mc:Choice>
                <mc:Fallback>
                  <p:oleObj name="Equation" r:id="rId8" imgW="543088" imgH="161951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2" y="3666"/>
                          <a:ext cx="849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156325" y="2133600"/>
            <a:ext cx="2879725" cy="1512888"/>
            <a:chOff x="3833" y="1298"/>
            <a:chExt cx="1814" cy="953"/>
          </a:xfrm>
        </p:grpSpPr>
        <p:sp>
          <p:nvSpPr>
            <p:cNvPr id="19473" name="Line 28"/>
            <p:cNvSpPr>
              <a:spLocks noChangeShapeType="1"/>
            </p:cNvSpPr>
            <p:nvPr/>
          </p:nvSpPr>
          <p:spPr bwMode="auto">
            <a:xfrm flipH="1">
              <a:off x="3833" y="1933"/>
              <a:ext cx="726" cy="31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Text Box 30"/>
            <p:cNvSpPr txBox="1">
              <a:spLocks noChangeArrowheads="1"/>
            </p:cNvSpPr>
            <p:nvPr/>
          </p:nvSpPr>
          <p:spPr bwMode="auto">
            <a:xfrm>
              <a:off x="4332" y="1298"/>
              <a:ext cx="1315" cy="65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990000"/>
                  </a:solidFill>
                  <a:ea typeface="宋体" pitchFamily="2" charset="-122"/>
                </a:rPr>
                <a:t>入射波平均功率密度减去反射波平均功率密度</a:t>
              </a:r>
              <a:endParaRPr kumimoji="1" lang="zh-CN" altLang="en-US" sz="2000">
                <a:solidFill>
                  <a:srgbClr val="99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779296" name="Object 32"/>
          <p:cNvGraphicFramePr>
            <a:graphicFrameLocks noChangeAspect="1"/>
          </p:cNvGraphicFramePr>
          <p:nvPr/>
        </p:nvGraphicFramePr>
        <p:xfrm>
          <a:off x="1116013" y="2492375"/>
          <a:ext cx="49434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Equation" r:id="rId10" imgW="2219198" imgH="333285" progId="Equation.DSMT4">
                  <p:embed/>
                </p:oleObj>
              </mc:Choice>
              <mc:Fallback>
                <p:oleObj name="Equation" r:id="rId10" imgW="2219198" imgH="33328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92375"/>
                        <a:ext cx="4943475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7" name="Object 33"/>
          <p:cNvGraphicFramePr>
            <a:graphicFrameLocks noChangeAspect="1"/>
          </p:cNvGraphicFramePr>
          <p:nvPr/>
        </p:nvGraphicFramePr>
        <p:xfrm>
          <a:off x="1184275" y="3397250"/>
          <a:ext cx="51895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name="Equation" r:id="rId12" imgW="2276457" imgH="400011" progId="Equation.DSMT4">
                  <p:embed/>
                </p:oleObj>
              </mc:Choice>
              <mc:Fallback>
                <p:oleObj name="Equation" r:id="rId12" imgW="2276457" imgH="40001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397250"/>
                        <a:ext cx="51895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8" name="Object 34"/>
          <p:cNvGraphicFramePr>
            <a:graphicFrameLocks noChangeAspect="1"/>
          </p:cNvGraphicFramePr>
          <p:nvPr/>
        </p:nvGraphicFramePr>
        <p:xfrm>
          <a:off x="1116013" y="4652963"/>
          <a:ext cx="43211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6" name="Equation" r:id="rId14" imgW="1923884" imgH="361783" progId="Equation.DSMT4">
                  <p:embed/>
                </p:oleObj>
              </mc:Choice>
              <mc:Fallback>
                <p:oleObj name="Equation" r:id="rId14" imgW="1923884" imgH="361783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52963"/>
                        <a:ext cx="43211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AutoShape 37">
            <a:hlinkClick r:id="rId1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470" name="AutoShape 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471" name="AutoShape 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472" name="AutoShape 4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9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7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7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7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7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7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7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79" grpId="0"/>
      <p:bldP spid="77928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1C01D2-8D16-40CE-89D5-D7EE6183071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0" y="476250"/>
            <a:ext cx="8815388" cy="1643063"/>
            <a:chOff x="94" y="300"/>
            <a:chExt cx="5553" cy="1035"/>
          </a:xfrm>
        </p:grpSpPr>
        <p:sp>
          <p:nvSpPr>
            <p:cNvPr id="20534" name="Rectangle 17"/>
            <p:cNvSpPr>
              <a:spLocks noChangeArrowheads="1"/>
            </p:cNvSpPr>
            <p:nvPr/>
          </p:nvSpPr>
          <p:spPr bwMode="auto">
            <a:xfrm>
              <a:off x="94" y="300"/>
              <a:ext cx="5553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  <a:ea typeface="幼圆" pitchFamily="49" charset="-122"/>
                </a:rPr>
                <a:t>         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幼圆" pitchFamily="49" charset="-122"/>
                </a:rPr>
                <a:t>【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ea typeface="幼圆" pitchFamily="49" charset="-122"/>
                </a:rPr>
                <a:t>例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ea typeface="幼圆" pitchFamily="49" charset="-122"/>
                </a:rPr>
                <a:t>】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入射波电场                                                          ，从空气（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</a:rPr>
                <a:t>z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</a:t>
              </a:r>
              <a:r>
                <a:rPr lang="en-US" altLang="zh-CN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&lt;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0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区域）中垂直入射到 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</a:rPr>
                <a:t>z 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= 0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的分界面上，在 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</a:rPr>
                <a:t>z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</a:t>
              </a:r>
              <a:r>
                <a:rPr lang="en-US" altLang="zh-CN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&gt;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0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区域中，</a:t>
              </a:r>
              <a:r>
                <a:rPr lang="el-GR" altLang="zh-CN" i="1">
                  <a:solidFill>
                    <a:srgbClr val="FFFFFF"/>
                  </a:solidFill>
                  <a:latin typeface="Times New Roman" pitchFamily="18" charset="0"/>
                </a:rPr>
                <a:t>μ</a:t>
              </a:r>
              <a:r>
                <a:rPr lang="en-US" altLang="zh-CN" baseline="-25000">
                  <a:solidFill>
                    <a:srgbClr val="FFFFFF"/>
                  </a:solidFill>
                  <a:latin typeface="Times New Roman" pitchFamily="18" charset="0"/>
                </a:rPr>
                <a:t>r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=1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、</a:t>
              </a:r>
              <a:r>
                <a:rPr lang="el-GR" altLang="zh-CN" i="1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ε</a:t>
              </a:r>
              <a:r>
                <a:rPr lang="en-US" altLang="zh-CN" baseline="-25000">
                  <a:solidFill>
                    <a:srgbClr val="FFFFFF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= 4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、</a:t>
              </a:r>
              <a:r>
                <a:rPr lang="el-GR" altLang="zh-CN">
                  <a:solidFill>
                    <a:srgbClr val="FFFFFF"/>
                  </a:solidFill>
                  <a:latin typeface="楷体_GB2312" pitchFamily="49" charset="-122"/>
                </a:rPr>
                <a:t>σ</a:t>
              </a:r>
              <a:r>
                <a:rPr lang="en-US" altLang="zh-CN">
                  <a:solidFill>
                    <a:srgbClr val="FFFFFF"/>
                  </a:solidFill>
                  <a:latin typeface="楷体_GB2312" pitchFamily="49" charset="-122"/>
                </a:rPr>
                <a:t>=0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。求 </a:t>
              </a:r>
              <a:r>
                <a:rPr lang="en-US" altLang="zh-CN" b="0" i="1">
                  <a:solidFill>
                    <a:srgbClr val="FFFFFF"/>
                  </a:solidFill>
                  <a:latin typeface="Times New Roman" pitchFamily="18" charset="0"/>
                </a:rPr>
                <a:t>z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</a:t>
              </a:r>
              <a:r>
                <a:rPr lang="en-US" altLang="zh-CN">
                  <a:solidFill>
                    <a:srgbClr val="FFFFFF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&gt;</a:t>
              </a:r>
              <a:r>
                <a:rPr lang="en-US" altLang="zh-CN">
                  <a:solidFill>
                    <a:srgbClr val="FFFFFF"/>
                  </a:solidFill>
                  <a:latin typeface="Times New Roman" pitchFamily="18" charset="0"/>
                </a:rPr>
                <a:t> 0</a:t>
              </a:r>
              <a:r>
                <a:rPr lang="zh-CN" altLang="en-US">
                  <a:solidFill>
                    <a:srgbClr val="FFFFFF"/>
                  </a:solidFill>
                  <a:latin typeface="Times New Roman" pitchFamily="18" charset="0"/>
                </a:rPr>
                <a:t>区域的电场和磁场 。 </a:t>
              </a:r>
            </a:p>
          </p:txBody>
        </p:sp>
        <p:graphicFrame>
          <p:nvGraphicFramePr>
            <p:cNvPr id="20535" name="Object 18"/>
            <p:cNvGraphicFramePr>
              <a:graphicFrameLocks noChangeAspect="1"/>
            </p:cNvGraphicFramePr>
            <p:nvPr/>
          </p:nvGraphicFramePr>
          <p:xfrm>
            <a:off x="2223" y="374"/>
            <a:ext cx="278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4" name="Equation" r:id="rId3" imgW="2085942" imgH="161951" progId="Equation.DSMT4">
                    <p:embed/>
                  </p:oleObj>
                </mc:Choice>
                <mc:Fallback>
                  <p:oleObj name="Equation" r:id="rId3" imgW="2085942" imgH="16195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3" y="374"/>
                          <a:ext cx="278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1331" name="Rectangle 19"/>
          <p:cNvSpPr>
            <a:spLocks noChangeArrowheads="1"/>
          </p:cNvSpPr>
          <p:nvPr/>
        </p:nvSpPr>
        <p:spPr bwMode="auto">
          <a:xfrm>
            <a:off x="250825" y="2349500"/>
            <a:ext cx="565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   </a:t>
            </a:r>
            <a:r>
              <a:rPr lang="zh-CN" altLang="en-US">
                <a:solidFill>
                  <a:srgbClr val="E781E0"/>
                </a:solidFill>
                <a:latin typeface="Times New Roman" pitchFamily="18" charset="0"/>
                <a:ea typeface="幼圆" pitchFamily="49" charset="-122"/>
              </a:rPr>
              <a:t>解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：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&gt;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0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区域的本征阻抗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 </a:t>
            </a:r>
          </a:p>
        </p:txBody>
      </p:sp>
      <p:graphicFrame>
        <p:nvGraphicFramePr>
          <p:cNvPr id="781332" name="Object 20"/>
          <p:cNvGraphicFramePr>
            <a:graphicFrameLocks noChangeAspect="1"/>
          </p:cNvGraphicFramePr>
          <p:nvPr/>
        </p:nvGraphicFramePr>
        <p:xfrm>
          <a:off x="481013" y="2965450"/>
          <a:ext cx="460533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5" name="Equation" r:id="rId5" imgW="2219198" imgH="390628" progId="Equation.DSMT4">
                  <p:embed/>
                </p:oleObj>
              </mc:Choice>
              <mc:Fallback>
                <p:oleObj name="Equation" r:id="rId5" imgW="2219198" imgH="39062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2965450"/>
                        <a:ext cx="460533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33" name="Rectangle 21"/>
          <p:cNvSpPr>
            <a:spLocks noChangeArrowheads="1"/>
          </p:cNvSpPr>
          <p:nvPr/>
        </p:nvSpPr>
        <p:spPr bwMode="auto">
          <a:xfrm>
            <a:off x="684213" y="40767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透射系数 </a:t>
            </a:r>
          </a:p>
        </p:txBody>
      </p:sp>
      <p:graphicFrame>
        <p:nvGraphicFramePr>
          <p:cNvPr id="781334" name="Object 22"/>
          <p:cNvGraphicFramePr>
            <a:graphicFrameLocks noChangeAspect="1"/>
          </p:cNvGraphicFramePr>
          <p:nvPr/>
        </p:nvGraphicFramePr>
        <p:xfrm>
          <a:off x="900113" y="4581525"/>
          <a:ext cx="40528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6" name="Equation" r:id="rId7" imgW="1933600" imgH="333285" progId="Equation.DSMT4">
                  <p:embed/>
                </p:oleObj>
              </mc:Choice>
              <mc:Fallback>
                <p:oleObj name="Equation" r:id="rId7" imgW="1933600" imgH="33328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81525"/>
                        <a:ext cx="40528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5148263" y="2636838"/>
            <a:ext cx="4003675" cy="3168650"/>
            <a:chOff x="3243" y="1661"/>
            <a:chExt cx="2522" cy="1996"/>
          </a:xfrm>
        </p:grpSpPr>
        <p:sp>
          <p:nvSpPr>
            <p:cNvPr id="20496" name="Rectangle 24"/>
            <p:cNvSpPr>
              <a:spLocks noChangeArrowheads="1"/>
            </p:cNvSpPr>
            <p:nvPr/>
          </p:nvSpPr>
          <p:spPr bwMode="auto">
            <a:xfrm>
              <a:off x="3243" y="1752"/>
              <a:ext cx="2445" cy="1905"/>
            </a:xfrm>
            <a:prstGeom prst="rect">
              <a:avLst/>
            </a:prstGeom>
            <a:solidFill>
              <a:srgbClr val="CCFFFF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20497" name="Group 63"/>
            <p:cNvGrpSpPr>
              <a:grpSpLocks/>
            </p:cNvGrpSpPr>
            <p:nvPr/>
          </p:nvGrpSpPr>
          <p:grpSpPr bwMode="auto">
            <a:xfrm>
              <a:off x="3316" y="1661"/>
              <a:ext cx="2449" cy="1860"/>
              <a:chOff x="3433" y="1752"/>
              <a:chExt cx="2259" cy="1740"/>
            </a:xfrm>
          </p:grpSpPr>
          <p:sp>
            <p:nvSpPr>
              <p:cNvPr id="20498" name="Rectangle 25"/>
              <p:cNvSpPr>
                <a:spLocks noChangeArrowheads="1"/>
              </p:cNvSpPr>
              <p:nvPr/>
            </p:nvSpPr>
            <p:spPr bwMode="auto">
              <a:xfrm>
                <a:off x="3433" y="1945"/>
                <a:ext cx="1062" cy="154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ysDot"/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99" name="Rectangle 26"/>
              <p:cNvSpPr>
                <a:spLocks noChangeArrowheads="1"/>
              </p:cNvSpPr>
              <p:nvPr/>
            </p:nvSpPr>
            <p:spPr bwMode="auto">
              <a:xfrm>
                <a:off x="4495" y="1945"/>
                <a:ext cx="1061" cy="1547"/>
              </a:xfrm>
              <a:prstGeom prst="rect">
                <a:avLst/>
              </a:prstGeom>
              <a:solidFill>
                <a:srgbClr val="3399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ysDot"/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00" name="Line 27"/>
              <p:cNvSpPr>
                <a:spLocks noChangeShapeType="1"/>
              </p:cNvSpPr>
              <p:nvPr/>
            </p:nvSpPr>
            <p:spPr bwMode="auto">
              <a:xfrm flipV="1">
                <a:off x="4495" y="1945"/>
                <a:ext cx="0" cy="1547"/>
              </a:xfrm>
              <a:prstGeom prst="line">
                <a:avLst/>
              </a:prstGeom>
              <a:noFill/>
              <a:ln w="31750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1" name="Line 28"/>
              <p:cNvSpPr>
                <a:spLocks noChangeShapeType="1"/>
              </p:cNvSpPr>
              <p:nvPr/>
            </p:nvSpPr>
            <p:spPr bwMode="auto">
              <a:xfrm>
                <a:off x="3433" y="2909"/>
                <a:ext cx="2123" cy="0"/>
              </a:xfrm>
              <a:prstGeom prst="line">
                <a:avLst/>
              </a:prstGeom>
              <a:noFill/>
              <a:ln w="31750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2" name="Text Box 29"/>
              <p:cNvSpPr txBox="1">
                <a:spLocks noChangeArrowheads="1"/>
              </p:cNvSpPr>
              <p:nvPr/>
            </p:nvSpPr>
            <p:spPr bwMode="auto">
              <a:xfrm>
                <a:off x="3492" y="2010"/>
                <a:ext cx="820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16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媒质</a:t>
                </a:r>
                <a:r>
                  <a:rPr kumimoji="1" lang="en-US" altLang="zh-CN" sz="16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20503" name="Text Box 30"/>
              <p:cNvSpPr txBox="1">
                <a:spLocks noChangeArrowheads="1"/>
              </p:cNvSpPr>
              <p:nvPr/>
            </p:nvSpPr>
            <p:spPr bwMode="auto">
              <a:xfrm>
                <a:off x="4465" y="2010"/>
                <a:ext cx="1001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zh-CN" altLang="en-US" sz="16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媒质</a:t>
                </a:r>
                <a:r>
                  <a:rPr kumimoji="1" lang="en-US" altLang="zh-CN" sz="16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2</a:t>
                </a:r>
              </a:p>
            </p:txBody>
          </p:sp>
          <p:graphicFrame>
            <p:nvGraphicFramePr>
              <p:cNvPr id="20504" name="Object 31"/>
              <p:cNvGraphicFramePr>
                <a:graphicFrameLocks noChangeAspect="1"/>
              </p:cNvGraphicFramePr>
              <p:nvPr/>
            </p:nvGraphicFramePr>
            <p:xfrm>
              <a:off x="3557" y="2160"/>
              <a:ext cx="857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7" name="Equation" r:id="rId9" imgW="787058" imgH="215806" progId="Equation.3">
                      <p:embed/>
                    </p:oleObj>
                  </mc:Choice>
                  <mc:Fallback>
                    <p:oleObj name="Equation" r:id="rId9" imgW="787058" imgH="215806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7" y="2160"/>
                            <a:ext cx="857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5" name="Object 32"/>
              <p:cNvGraphicFramePr>
                <a:graphicFrameLocks noChangeAspect="1"/>
              </p:cNvGraphicFramePr>
              <p:nvPr/>
            </p:nvGraphicFramePr>
            <p:xfrm>
              <a:off x="4711" y="2160"/>
              <a:ext cx="846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8" name="Equation" r:id="rId11" imgW="837836" imgH="215806" progId="Equation.3">
                      <p:embed/>
                    </p:oleObj>
                  </mc:Choice>
                  <mc:Fallback>
                    <p:oleObj name="Equation" r:id="rId11" imgW="837836" imgH="215806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1" y="2160"/>
                            <a:ext cx="846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6" name="Text Box 33"/>
              <p:cNvSpPr txBox="1">
                <a:spLocks noChangeArrowheads="1"/>
              </p:cNvSpPr>
              <p:nvPr/>
            </p:nvSpPr>
            <p:spPr bwMode="auto">
              <a:xfrm>
                <a:off x="5510" y="2801"/>
                <a:ext cx="18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z</a:t>
                </a:r>
              </a:p>
            </p:txBody>
          </p:sp>
          <p:sp>
            <p:nvSpPr>
              <p:cNvPr id="20507" name="Text Box 34"/>
              <p:cNvSpPr txBox="1">
                <a:spLocks noChangeArrowheads="1"/>
              </p:cNvSpPr>
              <p:nvPr/>
            </p:nvSpPr>
            <p:spPr bwMode="auto">
              <a:xfrm>
                <a:off x="4434" y="1752"/>
                <a:ext cx="18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x</a:t>
                </a:r>
              </a:p>
            </p:txBody>
          </p:sp>
          <p:grpSp>
            <p:nvGrpSpPr>
              <p:cNvPr id="20508" name="Group 35"/>
              <p:cNvGrpSpPr>
                <a:grpSpLocks/>
              </p:cNvGrpSpPr>
              <p:nvPr/>
            </p:nvGrpSpPr>
            <p:grpSpPr bwMode="auto">
              <a:xfrm>
                <a:off x="4449" y="2860"/>
                <a:ext cx="91" cy="97"/>
                <a:chOff x="5136" y="2880"/>
                <a:chExt cx="144" cy="144"/>
              </a:xfrm>
            </p:grpSpPr>
            <p:sp>
              <p:nvSpPr>
                <p:cNvPr id="20532" name="Oval 36"/>
                <p:cNvSpPr>
                  <a:spLocks noChangeArrowheads="1"/>
                </p:cNvSpPr>
                <p:nvPr/>
              </p:nvSpPr>
              <p:spPr bwMode="auto">
                <a:xfrm>
                  <a:off x="5136" y="2880"/>
                  <a:ext cx="144" cy="144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33" name="Oval 37"/>
                <p:cNvSpPr>
                  <a:spLocks noChangeArrowheads="1"/>
                </p:cNvSpPr>
                <p:nvPr/>
              </p:nvSpPr>
              <p:spPr bwMode="auto">
                <a:xfrm>
                  <a:off x="5178" y="2922"/>
                  <a:ext cx="54" cy="54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509" name="Text Box 38"/>
              <p:cNvSpPr txBox="1">
                <a:spLocks noChangeArrowheads="1"/>
              </p:cNvSpPr>
              <p:nvPr/>
            </p:nvSpPr>
            <p:spPr bwMode="auto">
              <a:xfrm>
                <a:off x="4525" y="2876"/>
                <a:ext cx="181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b="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y</a:t>
                </a:r>
              </a:p>
            </p:txBody>
          </p:sp>
          <p:grpSp>
            <p:nvGrpSpPr>
              <p:cNvPr id="20510" name="Group 39"/>
              <p:cNvGrpSpPr>
                <a:grpSpLocks/>
              </p:cNvGrpSpPr>
              <p:nvPr/>
            </p:nvGrpSpPr>
            <p:grpSpPr bwMode="auto">
              <a:xfrm>
                <a:off x="4009" y="2860"/>
                <a:ext cx="91" cy="97"/>
                <a:chOff x="288" y="2688"/>
                <a:chExt cx="144" cy="144"/>
              </a:xfrm>
            </p:grpSpPr>
            <p:sp>
              <p:nvSpPr>
                <p:cNvPr id="20530" name="Oval 40"/>
                <p:cNvSpPr>
                  <a:spLocks noChangeArrowheads="1"/>
                </p:cNvSpPr>
                <p:nvPr/>
              </p:nvSpPr>
              <p:spPr bwMode="auto">
                <a:xfrm>
                  <a:off x="288" y="2688"/>
                  <a:ext cx="144" cy="144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31" name="Oval 41"/>
                <p:cNvSpPr>
                  <a:spLocks noChangeArrowheads="1"/>
                </p:cNvSpPr>
                <p:nvPr/>
              </p:nvSpPr>
              <p:spPr bwMode="auto">
                <a:xfrm>
                  <a:off x="330" y="2730"/>
                  <a:ext cx="54" cy="54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511" name="Oval 43"/>
              <p:cNvSpPr>
                <a:spLocks noChangeArrowheads="1"/>
              </p:cNvSpPr>
              <p:nvPr/>
            </p:nvSpPr>
            <p:spPr bwMode="auto">
              <a:xfrm>
                <a:off x="3797" y="2860"/>
                <a:ext cx="91" cy="97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" name="Line 45"/>
              <p:cNvSpPr>
                <a:spLocks noChangeShapeType="1"/>
              </p:cNvSpPr>
              <p:nvPr/>
            </p:nvSpPr>
            <p:spPr bwMode="auto">
              <a:xfrm flipV="1">
                <a:off x="4054" y="2429"/>
                <a:ext cx="0" cy="430"/>
              </a:xfrm>
              <a:prstGeom prst="line">
                <a:avLst/>
              </a:prstGeom>
              <a:noFill/>
              <a:ln w="57150">
                <a:solidFill>
                  <a:srgbClr val="D6009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3" name="Line 46"/>
              <p:cNvSpPr>
                <a:spLocks noChangeShapeType="1"/>
              </p:cNvSpPr>
              <p:nvPr/>
            </p:nvSpPr>
            <p:spPr bwMode="auto">
              <a:xfrm>
                <a:off x="4102" y="2909"/>
                <a:ext cx="316" cy="0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4" name="Line 47"/>
              <p:cNvSpPr>
                <a:spLocks noChangeShapeType="1"/>
              </p:cNvSpPr>
              <p:nvPr/>
            </p:nvSpPr>
            <p:spPr bwMode="auto">
              <a:xfrm flipV="1">
                <a:off x="3842" y="2508"/>
                <a:ext cx="0" cy="355"/>
              </a:xfrm>
              <a:prstGeom prst="line">
                <a:avLst/>
              </a:prstGeom>
              <a:noFill/>
              <a:ln w="57150">
                <a:solidFill>
                  <a:srgbClr val="D6009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5" name="Line 48"/>
              <p:cNvSpPr>
                <a:spLocks noChangeShapeType="1"/>
              </p:cNvSpPr>
              <p:nvPr/>
            </p:nvSpPr>
            <p:spPr bwMode="auto">
              <a:xfrm flipH="1">
                <a:off x="3529" y="2909"/>
                <a:ext cx="273" cy="0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516" name="Group 49"/>
              <p:cNvGrpSpPr>
                <a:grpSpLocks/>
              </p:cNvGrpSpPr>
              <p:nvPr/>
            </p:nvGrpSpPr>
            <p:grpSpPr bwMode="auto">
              <a:xfrm>
                <a:off x="4837" y="2860"/>
                <a:ext cx="92" cy="97"/>
                <a:chOff x="288" y="2688"/>
                <a:chExt cx="144" cy="144"/>
              </a:xfrm>
            </p:grpSpPr>
            <p:sp>
              <p:nvSpPr>
                <p:cNvPr id="20528" name="Oval 50"/>
                <p:cNvSpPr>
                  <a:spLocks noChangeArrowheads="1"/>
                </p:cNvSpPr>
                <p:nvPr/>
              </p:nvSpPr>
              <p:spPr bwMode="auto">
                <a:xfrm>
                  <a:off x="288" y="2688"/>
                  <a:ext cx="144" cy="144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29" name="Oval 51"/>
                <p:cNvSpPr>
                  <a:spLocks noChangeArrowheads="1"/>
                </p:cNvSpPr>
                <p:nvPr/>
              </p:nvSpPr>
              <p:spPr bwMode="auto">
                <a:xfrm>
                  <a:off x="330" y="2730"/>
                  <a:ext cx="54" cy="54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517" name="Line 52"/>
              <p:cNvSpPr>
                <a:spLocks noChangeShapeType="1"/>
              </p:cNvSpPr>
              <p:nvPr/>
            </p:nvSpPr>
            <p:spPr bwMode="auto">
              <a:xfrm flipV="1">
                <a:off x="4882" y="2509"/>
                <a:ext cx="0" cy="354"/>
              </a:xfrm>
              <a:prstGeom prst="line">
                <a:avLst/>
              </a:prstGeom>
              <a:noFill/>
              <a:ln w="57150">
                <a:solidFill>
                  <a:srgbClr val="D6009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8" name="Line 53"/>
              <p:cNvSpPr>
                <a:spLocks noChangeShapeType="1"/>
              </p:cNvSpPr>
              <p:nvPr/>
            </p:nvSpPr>
            <p:spPr bwMode="auto">
              <a:xfrm>
                <a:off x="4927" y="2909"/>
                <a:ext cx="273" cy="0"/>
              </a:xfrm>
              <a:prstGeom prst="line">
                <a:avLst/>
              </a:prstGeom>
              <a:noFill/>
              <a:ln w="571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19" name="Object 54"/>
              <p:cNvGraphicFramePr>
                <a:graphicFrameLocks noChangeAspect="1"/>
              </p:cNvGraphicFramePr>
              <p:nvPr/>
            </p:nvGraphicFramePr>
            <p:xfrm>
              <a:off x="4094" y="2381"/>
              <a:ext cx="173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9" name="Equation" r:id="rId13" imgW="190417" imgH="253890" progId="Equation.DSMT4">
                      <p:embed/>
                    </p:oleObj>
                  </mc:Choice>
                  <mc:Fallback>
                    <p:oleObj name="Equation" r:id="rId13" imgW="190417" imgH="253890" progId="Equation.DSMT4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4" y="2381"/>
                            <a:ext cx="173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0" name="Object 55"/>
              <p:cNvGraphicFramePr>
                <a:graphicFrameLocks noChangeAspect="1"/>
              </p:cNvGraphicFramePr>
              <p:nvPr/>
            </p:nvGraphicFramePr>
            <p:xfrm>
              <a:off x="3996" y="2946"/>
              <a:ext cx="194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0" name="Equation" r:id="rId15" imgW="215713" imgH="253780" progId="Equation.DSMT4">
                      <p:embed/>
                    </p:oleObj>
                  </mc:Choice>
                  <mc:Fallback>
                    <p:oleObj name="Equation" r:id="rId15" imgW="215713" imgH="253780" progId="Equation.DSMT4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6" y="2946"/>
                            <a:ext cx="194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1" name="Object 56"/>
              <p:cNvGraphicFramePr>
                <a:graphicFrameLocks noChangeAspect="1"/>
              </p:cNvGraphicFramePr>
              <p:nvPr/>
            </p:nvGraphicFramePr>
            <p:xfrm>
              <a:off x="4274" y="2947"/>
              <a:ext cx="144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1" name="Equation" r:id="rId17" imgW="152268" imgH="253780" progId="Equation.DSMT4">
                      <p:embed/>
                    </p:oleObj>
                  </mc:Choice>
                  <mc:Fallback>
                    <p:oleObj name="Equation" r:id="rId17" imgW="152268" imgH="253780" progId="Equation.DSMT4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4" y="2947"/>
                            <a:ext cx="144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2" name="Object 57"/>
              <p:cNvGraphicFramePr>
                <a:graphicFrameLocks noChangeAspect="1"/>
              </p:cNvGraphicFramePr>
              <p:nvPr/>
            </p:nvGraphicFramePr>
            <p:xfrm>
              <a:off x="3612" y="2387"/>
              <a:ext cx="175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2" name="Equation" r:id="rId19" imgW="190417" imgH="253890" progId="Equation.DSMT4">
                      <p:embed/>
                    </p:oleObj>
                  </mc:Choice>
                  <mc:Fallback>
                    <p:oleObj name="Equation" r:id="rId19" imgW="190417" imgH="253890" progId="Equation.DSMT4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2" y="2387"/>
                            <a:ext cx="175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3" name="Object 58"/>
              <p:cNvGraphicFramePr>
                <a:graphicFrameLocks noChangeAspect="1"/>
              </p:cNvGraphicFramePr>
              <p:nvPr/>
            </p:nvGraphicFramePr>
            <p:xfrm>
              <a:off x="3794" y="2945"/>
              <a:ext cx="197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3" name="Equation" r:id="rId21" imgW="215713" imgH="253780" progId="Equation.DSMT4">
                      <p:embed/>
                    </p:oleObj>
                  </mc:Choice>
                  <mc:Fallback>
                    <p:oleObj name="Equation" r:id="rId21" imgW="215713" imgH="25378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4" y="2945"/>
                            <a:ext cx="197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4" name="Object 59"/>
              <p:cNvGraphicFramePr>
                <a:graphicFrameLocks noChangeAspect="1"/>
              </p:cNvGraphicFramePr>
              <p:nvPr/>
            </p:nvGraphicFramePr>
            <p:xfrm>
              <a:off x="3557" y="2955"/>
              <a:ext cx="153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4" name="Equation" r:id="rId23" imgW="164957" imgH="253780" progId="Equation.DSMT4">
                      <p:embed/>
                    </p:oleObj>
                  </mc:Choice>
                  <mc:Fallback>
                    <p:oleObj name="Equation" r:id="rId23" imgW="164957" imgH="25378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7" y="2955"/>
                            <a:ext cx="153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5" name="Object 60"/>
              <p:cNvGraphicFramePr>
                <a:graphicFrameLocks noChangeAspect="1"/>
              </p:cNvGraphicFramePr>
              <p:nvPr/>
            </p:nvGraphicFramePr>
            <p:xfrm>
              <a:off x="4936" y="2426"/>
              <a:ext cx="170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5" name="Equation" r:id="rId25" imgW="190417" imgH="253890" progId="Equation.DSMT4">
                      <p:embed/>
                    </p:oleObj>
                  </mc:Choice>
                  <mc:Fallback>
                    <p:oleObj name="Equation" r:id="rId25" imgW="190417" imgH="253890" progId="Equation.DSMT4">
                      <p:embed/>
                      <p:pic>
                        <p:nvPicPr>
                          <p:cNvPr id="0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6" y="2426"/>
                            <a:ext cx="170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6" name="Object 61"/>
              <p:cNvGraphicFramePr>
                <a:graphicFrameLocks noChangeAspect="1"/>
              </p:cNvGraphicFramePr>
              <p:nvPr/>
            </p:nvGraphicFramePr>
            <p:xfrm>
              <a:off x="4818" y="2946"/>
              <a:ext cx="195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6" name="Equation" r:id="rId27" imgW="215713" imgH="253780" progId="Equation.DSMT4">
                      <p:embed/>
                    </p:oleObj>
                  </mc:Choice>
                  <mc:Fallback>
                    <p:oleObj name="Equation" r:id="rId27" imgW="215713" imgH="253780" progId="Equation.DSMT4">
                      <p:embed/>
                      <p:pic>
                        <p:nvPicPr>
                          <p:cNvPr id="0" name="Object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8" y="2946"/>
                            <a:ext cx="195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7" name="Object 62"/>
              <p:cNvGraphicFramePr>
                <a:graphicFrameLocks noChangeAspect="1"/>
              </p:cNvGraphicFramePr>
              <p:nvPr/>
            </p:nvGraphicFramePr>
            <p:xfrm>
              <a:off x="5127" y="2946"/>
              <a:ext cx="149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7" name="Equation" r:id="rId29" imgW="164957" imgH="253780" progId="Equation.DSMT4">
                      <p:embed/>
                    </p:oleObj>
                  </mc:Choice>
                  <mc:Fallback>
                    <p:oleObj name="Equation" r:id="rId29" imgW="164957" imgH="253780" progId="Equation.DSMT4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27" y="2946"/>
                            <a:ext cx="149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489" name="AutoShape 65">
            <a:hlinkClick r:id="rId3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490" name="AutoShape 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491" name="AutoShape 6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492" name="AutoShape 6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0493" name="组合 54"/>
          <p:cNvGrpSpPr>
            <a:grpSpLocks/>
          </p:cNvGrpSpPr>
          <p:nvPr/>
        </p:nvGrpSpPr>
        <p:grpSpPr bwMode="auto">
          <a:xfrm>
            <a:off x="5919788" y="4545013"/>
            <a:ext cx="107950" cy="107950"/>
            <a:chOff x="5143504" y="4929198"/>
            <a:chExt cx="152400" cy="152401"/>
          </a:xfrm>
        </p:grpSpPr>
        <p:cxnSp>
          <p:nvCxnSpPr>
            <p:cNvPr id="20494" name="直接连接符 55"/>
            <p:cNvCxnSpPr>
              <a:cxnSpLocks noChangeShapeType="1"/>
            </p:cNvCxnSpPr>
            <p:nvPr/>
          </p:nvCxnSpPr>
          <p:spPr bwMode="auto">
            <a:xfrm rot="5400000" flipH="1" flipV="1">
              <a:off x="5143504" y="4929198"/>
              <a:ext cx="142876" cy="1428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5" name="直接连接符 56"/>
            <p:cNvCxnSpPr>
              <a:cxnSpLocks noChangeShapeType="1"/>
            </p:cNvCxnSpPr>
            <p:nvPr/>
          </p:nvCxnSpPr>
          <p:spPr bwMode="auto">
            <a:xfrm rot="16200000" flipV="1">
              <a:off x="5143504" y="4929199"/>
              <a:ext cx="1524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8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8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8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8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31" grpId="0"/>
      <p:bldP spid="7813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B023F8-C609-44AD-BE18-06F97D977DD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82385" name="Rectangle 49"/>
          <p:cNvSpPr>
            <a:spLocks noChangeArrowheads="1"/>
          </p:cNvSpPr>
          <p:nvPr/>
        </p:nvSpPr>
        <p:spPr bwMode="auto">
          <a:xfrm>
            <a:off x="179388" y="62071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相位常数</a:t>
            </a:r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782386" name="Rectangle 50"/>
          <p:cNvSpPr>
            <a:spLocks noChangeArrowheads="1"/>
          </p:cNvSpPr>
          <p:nvPr/>
        </p:nvSpPr>
        <p:spPr bwMode="auto">
          <a:xfrm>
            <a:off x="250825" y="22050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</a:rPr>
              <a:t>故</a:t>
            </a:r>
            <a:r>
              <a:rPr lang="zh-CN" altLang="en-US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 </a:t>
            </a:r>
          </a:p>
        </p:txBody>
      </p:sp>
      <p:graphicFrame>
        <p:nvGraphicFramePr>
          <p:cNvPr id="782387" name="Object 51"/>
          <p:cNvGraphicFramePr>
            <a:graphicFrameLocks noChangeAspect="1"/>
          </p:cNvGraphicFramePr>
          <p:nvPr/>
        </p:nvGraphicFramePr>
        <p:xfrm>
          <a:off x="1098550" y="1125538"/>
          <a:ext cx="7505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Equation" r:id="rId3" imgW="3372002" imgH="323901" progId="Equation.DSMT4">
                  <p:embed/>
                </p:oleObj>
              </mc:Choice>
              <mc:Fallback>
                <p:oleObj name="Equation" r:id="rId3" imgW="3372002" imgH="323901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1125538"/>
                        <a:ext cx="7505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88" name="Object 52"/>
          <p:cNvGraphicFramePr>
            <a:graphicFrameLocks noChangeAspect="1"/>
          </p:cNvGraphicFramePr>
          <p:nvPr/>
        </p:nvGraphicFramePr>
        <p:xfrm>
          <a:off x="1476375" y="2205038"/>
          <a:ext cx="6638925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Equation" r:id="rId5" imgW="2809828" imgH="657186" progId="Equation.DSMT4">
                  <p:embed/>
                </p:oleObj>
              </mc:Choice>
              <mc:Fallback>
                <p:oleObj name="Equation" r:id="rId5" imgW="2809828" imgH="657186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205038"/>
                        <a:ext cx="6638925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89" name="Object 53"/>
          <p:cNvGraphicFramePr>
            <a:graphicFrameLocks noChangeAspect="1"/>
          </p:cNvGraphicFramePr>
          <p:nvPr/>
        </p:nvGraphicFramePr>
        <p:xfrm>
          <a:off x="1417638" y="3952875"/>
          <a:ext cx="5675312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Equation" r:id="rId7" imgW="2466971" imgH="1009586" progId="Equation.DSMT4">
                  <p:embed/>
                </p:oleObj>
              </mc:Choice>
              <mc:Fallback>
                <p:oleObj name="Equation" r:id="rId7" imgW="2466971" imgH="1009586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3952875"/>
                        <a:ext cx="5675312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AutoShape 54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513" name="AutoShape 5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514" name="AutoShape 5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515" name="AutoShape 5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8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8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0"/>
                                        <p:tgtEl>
                                          <p:spTgt spid="78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0"/>
                                        <p:tgtEl>
                                          <p:spTgt spid="78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85" grpId="0"/>
      <p:bldP spid="78238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4B43A5-48B9-4104-961C-F64C63FD2F80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831491" name="Rectangle 3"/>
          <p:cNvSpPr>
            <a:spLocks noChangeArrowheads="1"/>
          </p:cNvSpPr>
          <p:nvPr/>
        </p:nvSpPr>
        <p:spPr bwMode="blackGray">
          <a:xfrm>
            <a:off x="107950" y="836613"/>
            <a:ext cx="50831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6.1.3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对导电媒质分界面的垂直入射</a:t>
            </a:r>
          </a:p>
        </p:txBody>
      </p:sp>
      <p:graphicFrame>
        <p:nvGraphicFramePr>
          <p:cNvPr id="831492" name="Object 4"/>
          <p:cNvGraphicFramePr>
            <a:graphicFrameLocks noChangeAspect="1"/>
          </p:cNvGraphicFramePr>
          <p:nvPr/>
        </p:nvGraphicFramePr>
        <p:xfrm>
          <a:off x="2071688" y="2324100"/>
          <a:ext cx="12049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5" name="Equation" r:id="rId3" imgW="599999" imgH="133453" progId="Equation.DSMT4">
                  <p:embed/>
                </p:oleObj>
              </mc:Choice>
              <mc:Fallback>
                <p:oleObj name="Equation" r:id="rId3" imgW="599999" imgH="13345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2071688" y="2324100"/>
                        <a:ext cx="12049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3" name="Object 5"/>
          <p:cNvGraphicFramePr>
            <a:graphicFrameLocks noChangeAspect="1"/>
          </p:cNvGraphicFramePr>
          <p:nvPr/>
        </p:nvGraphicFramePr>
        <p:xfrm>
          <a:off x="2051050" y="3619500"/>
          <a:ext cx="1292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6" name="Equation" r:id="rId5" imgW="657258" imgH="133453" progId="Equation.DSMT4">
                  <p:embed/>
                </p:oleObj>
              </mc:Choice>
              <mc:Fallback>
                <p:oleObj name="Equation" r:id="rId5" imgW="657258" imgH="1334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2051050" y="3619500"/>
                        <a:ext cx="12922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1536" name="Text Box 48"/>
          <p:cNvSpPr txBox="1">
            <a:spLocks noChangeArrowheads="1"/>
          </p:cNvSpPr>
          <p:nvPr/>
        </p:nvSpPr>
        <p:spPr bwMode="blackGray">
          <a:xfrm>
            <a:off x="107950" y="4292600"/>
            <a:ext cx="4678363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7"/>
              </a:buBlip>
            </a:pPr>
            <a:r>
              <a:rPr lang="en-US" altLang="zh-CN">
                <a:solidFill>
                  <a:srgbClr val="FFFFFF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沿</a:t>
            </a:r>
            <a:r>
              <a:rPr lang="en-US" altLang="zh-CN" i="1">
                <a:solidFill>
                  <a:srgbClr val="FFFFFF"/>
                </a:solidFill>
                <a:latin typeface="Times New Roman" pitchFamily="18" charset="0"/>
              </a:rPr>
              <a:t>x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方向极化的均匀平面波从       媒质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垂直入射到与导电媒质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的分界平面上。</a:t>
            </a:r>
            <a:endParaRPr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31537" name="Text Box 49"/>
          <p:cNvSpPr txBox="1">
            <a:spLocks noChangeArrowheads="1"/>
          </p:cNvSpPr>
          <p:nvPr/>
        </p:nvSpPr>
        <p:spPr bwMode="blackGray">
          <a:xfrm>
            <a:off x="107950" y="1709738"/>
            <a:ext cx="54006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7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&lt; 0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中，导电媒质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的参数为</a:t>
            </a:r>
            <a:endParaRPr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31538" name="Text Box 50"/>
          <p:cNvSpPr txBox="1">
            <a:spLocks noChangeArrowheads="1"/>
          </p:cNvSpPr>
          <p:nvPr/>
        </p:nvSpPr>
        <p:spPr bwMode="blackGray">
          <a:xfrm>
            <a:off x="107950" y="3078163"/>
            <a:ext cx="54006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7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</a:t>
            </a:r>
            <a:r>
              <a:rPr lang="en-US" altLang="zh-CN" b="0" i="1">
                <a:solidFill>
                  <a:srgbClr val="FFFFFF"/>
                </a:solidFill>
                <a:latin typeface="Times New Roman" pitchFamily="18" charset="0"/>
              </a:rPr>
              <a:t>z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 &gt; 0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中，导电媒质 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2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的参数为</a:t>
            </a:r>
            <a:endParaRPr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2538" name="AutoShape 52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9" name="AutoShape 5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0" name="AutoShape 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1" name="AutoShape 5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26000" y="1844675"/>
            <a:ext cx="4138613" cy="4105275"/>
            <a:chOff x="4826000" y="1844675"/>
            <a:chExt cx="4138613" cy="4105275"/>
          </a:xfrm>
        </p:grpSpPr>
        <p:grpSp>
          <p:nvGrpSpPr>
            <p:cNvPr id="2" name="Group 6"/>
            <p:cNvGrpSpPr>
              <a:grpSpLocks/>
            </p:cNvGrpSpPr>
            <p:nvPr/>
          </p:nvGrpSpPr>
          <p:grpSpPr bwMode="auto">
            <a:xfrm>
              <a:off x="4826000" y="1844675"/>
              <a:ext cx="4138613" cy="4105275"/>
              <a:chOff x="3040" y="1162"/>
              <a:chExt cx="2607" cy="2586"/>
            </a:xfrm>
          </p:grpSpPr>
          <p:sp>
            <p:nvSpPr>
              <p:cNvPr id="22545" name="Rectangle 7"/>
              <p:cNvSpPr>
                <a:spLocks noChangeArrowheads="1"/>
              </p:cNvSpPr>
              <p:nvPr/>
            </p:nvSpPr>
            <p:spPr bwMode="blackGray">
              <a:xfrm>
                <a:off x="3040" y="1208"/>
                <a:ext cx="2607" cy="2540"/>
              </a:xfrm>
              <a:prstGeom prst="rect">
                <a:avLst/>
              </a:prstGeom>
              <a:solidFill>
                <a:srgbClr val="CCFFFF"/>
              </a:solidFill>
              <a:ln w="222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2546" name="Group 8"/>
              <p:cNvGrpSpPr>
                <a:grpSpLocks/>
              </p:cNvGrpSpPr>
              <p:nvPr/>
            </p:nvGrpSpPr>
            <p:grpSpPr bwMode="auto">
              <a:xfrm>
                <a:off x="3251" y="1162"/>
                <a:ext cx="2331" cy="2450"/>
                <a:chOff x="596" y="1480"/>
                <a:chExt cx="2331" cy="2450"/>
              </a:xfrm>
            </p:grpSpPr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blackGray">
                <a:xfrm>
                  <a:off x="2744" y="2886"/>
                  <a:ext cx="18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b="0" i="1">
                      <a:latin typeface="Times New Roman" pitchFamily="18" charset="0"/>
                      <a:ea typeface="宋体" pitchFamily="2" charset="-122"/>
                    </a:rPr>
                    <a:t>z</a:t>
                  </a:r>
                </a:p>
              </p:txBody>
            </p:sp>
            <p:grpSp>
              <p:nvGrpSpPr>
                <p:cNvPr id="22548" name="Group 10"/>
                <p:cNvGrpSpPr>
                  <a:grpSpLocks/>
                </p:cNvGrpSpPr>
                <p:nvPr/>
              </p:nvGrpSpPr>
              <p:grpSpPr bwMode="auto">
                <a:xfrm>
                  <a:off x="596" y="1480"/>
                  <a:ext cx="2242" cy="2450"/>
                  <a:chOff x="823" y="1660"/>
                  <a:chExt cx="2242" cy="2450"/>
                </a:xfrm>
              </p:grpSpPr>
              <p:sp>
                <p:nvSpPr>
                  <p:cNvPr id="22549" name="Text Box 11"/>
                  <p:cNvSpPr txBox="1">
                    <a:spLocks noChangeArrowheads="1"/>
                  </p:cNvSpPr>
                  <p:nvPr/>
                </p:nvSpPr>
                <p:spPr bwMode="blackGray">
                  <a:xfrm>
                    <a:off x="1840" y="1660"/>
                    <a:ext cx="325" cy="24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lnSpc>
                        <a:spcPct val="80000"/>
                      </a:lnSpc>
                      <a:spcBef>
                        <a:spcPct val="0"/>
                      </a:spcBef>
                    </a:pPr>
                    <a:r>
                      <a:rPr kumimoji="1" lang="en-US" altLang="zh-CN" i="1">
                        <a:latin typeface="Times New Roman" pitchFamily="18" charset="0"/>
                        <a:ea typeface="宋体" pitchFamily="2" charset="-122"/>
                      </a:rPr>
                      <a:t>x</a:t>
                    </a:r>
                  </a:p>
                </p:txBody>
              </p:sp>
              <p:sp>
                <p:nvSpPr>
                  <p:cNvPr id="22550" name="Rectangle 12"/>
                  <p:cNvSpPr>
                    <a:spLocks noChangeArrowheads="1"/>
                  </p:cNvSpPr>
                  <p:nvPr/>
                </p:nvSpPr>
                <p:spPr bwMode="blackGray">
                  <a:xfrm>
                    <a:off x="842" y="1864"/>
                    <a:ext cx="1079" cy="2238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2551" name="Rectangle 13"/>
                  <p:cNvSpPr>
                    <a:spLocks noChangeArrowheads="1"/>
                  </p:cNvSpPr>
                  <p:nvPr/>
                </p:nvSpPr>
                <p:spPr bwMode="blackGray">
                  <a:xfrm>
                    <a:off x="1931" y="1872"/>
                    <a:ext cx="1098" cy="2238"/>
                  </a:xfrm>
                  <a:prstGeom prst="rect">
                    <a:avLst/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prstDash val="sysDot"/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2552" name="Line 14"/>
                  <p:cNvSpPr>
                    <a:spLocks noChangeShapeType="1"/>
                  </p:cNvSpPr>
                  <p:nvPr/>
                </p:nvSpPr>
                <p:spPr bwMode="blackGray">
                  <a:xfrm flipV="1">
                    <a:off x="1921" y="1864"/>
                    <a:ext cx="2" cy="2238"/>
                  </a:xfrm>
                  <a:prstGeom prst="line">
                    <a:avLst/>
                  </a:prstGeom>
                  <a:noFill/>
                  <a:ln w="349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53" name="Line 15"/>
                  <p:cNvSpPr>
                    <a:spLocks noChangeShapeType="1"/>
                  </p:cNvSpPr>
                  <p:nvPr/>
                </p:nvSpPr>
                <p:spPr bwMode="blackGray">
                  <a:xfrm>
                    <a:off x="839" y="3126"/>
                    <a:ext cx="2226" cy="0"/>
                  </a:xfrm>
                  <a:prstGeom prst="line">
                    <a:avLst/>
                  </a:prstGeom>
                  <a:noFill/>
                  <a:ln w="31750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54" name="Text Box 16"/>
                  <p:cNvSpPr txBox="1">
                    <a:spLocks noChangeArrowheads="1"/>
                  </p:cNvSpPr>
                  <p:nvPr/>
                </p:nvSpPr>
                <p:spPr bwMode="blackGray">
                  <a:xfrm>
                    <a:off x="1118" y="1947"/>
                    <a:ext cx="649" cy="2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lnSpc>
                        <a:spcPct val="80000"/>
                      </a:lnSpc>
                      <a:spcBef>
                        <a:spcPct val="0"/>
                      </a:spcBef>
                    </a:pPr>
                    <a:r>
                      <a:rPr kumimoji="1" lang="zh-CN" altLang="en-US" sz="2000">
                        <a:latin typeface="Times New Roman" pitchFamily="18" charset="0"/>
                        <a:ea typeface="宋体" pitchFamily="2" charset="-122"/>
                      </a:rPr>
                      <a:t>媒质</a:t>
                    </a:r>
                    <a:r>
                      <a:rPr kumimoji="1" lang="en-US" altLang="zh-CN" sz="2000">
                        <a:latin typeface="楷体_GB2312" pitchFamily="49" charset="-122"/>
                      </a:rPr>
                      <a:t>1</a:t>
                    </a:r>
                    <a:endParaRPr kumimoji="1" lang="zh-CN" altLang="en-US" sz="2000"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2555" name="Text Box 17"/>
                  <p:cNvSpPr txBox="1">
                    <a:spLocks noChangeArrowheads="1"/>
                  </p:cNvSpPr>
                  <p:nvPr/>
                </p:nvSpPr>
                <p:spPr bwMode="blackGray">
                  <a:xfrm>
                    <a:off x="2258" y="1902"/>
                    <a:ext cx="68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zh-CN" altLang="en-US" sz="2000">
                        <a:latin typeface="楷体_GB2312" pitchFamily="49" charset="-122"/>
                      </a:rPr>
                      <a:t>媒质</a:t>
                    </a:r>
                    <a:r>
                      <a:rPr kumimoji="1" lang="en-US" altLang="zh-CN" sz="2000">
                        <a:latin typeface="楷体_GB2312" pitchFamily="49" charset="-122"/>
                      </a:rPr>
                      <a:t>2</a:t>
                    </a:r>
                    <a:endParaRPr kumimoji="1" lang="zh-CN" altLang="en-US" sz="2000">
                      <a:latin typeface="楷体_GB2312" pitchFamily="49" charset="-122"/>
                    </a:endParaRPr>
                  </a:p>
                </p:txBody>
              </p:sp>
              <p:graphicFrame>
                <p:nvGraphicFramePr>
                  <p:cNvPr id="22556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1090" y="2114"/>
                  <a:ext cx="614" cy="22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77" name="公式" r:id="rId9" imgW="545626" imgH="215713" progId="Equation.3">
                          <p:embed/>
                        </p:oleObj>
                      </mc:Choice>
                      <mc:Fallback>
                        <p:oleObj name="公式" r:id="rId9" imgW="545626" imgH="215713" progId="Equation.3">
                          <p:embed/>
                          <p:pic>
                            <p:nvPicPr>
                              <p:cNvPr id="0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090" y="2114"/>
                                <a:ext cx="614" cy="22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2557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2203" y="2114"/>
                  <a:ext cx="643" cy="24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78" name="公式" r:id="rId11" imgW="596641" imgH="215806" progId="Equation.3">
                          <p:embed/>
                        </p:oleObj>
                      </mc:Choice>
                      <mc:Fallback>
                        <p:oleObj name="公式" r:id="rId11" imgW="596641" imgH="215806" progId="Equation.3">
                          <p:embed/>
                          <p:pic>
                            <p:nvPicPr>
                              <p:cNvPr id="0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2203" y="2114"/>
                                <a:ext cx="643" cy="24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22558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1848" y="3061"/>
                    <a:ext cx="141" cy="140"/>
                    <a:chOff x="5136" y="2880"/>
                    <a:chExt cx="144" cy="144"/>
                  </a:xfrm>
                </p:grpSpPr>
                <p:sp>
                  <p:nvSpPr>
                    <p:cNvPr id="22582" name="Oval 21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5136" y="2880"/>
                      <a:ext cx="144" cy="14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2583" name="Oval 22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5178" y="2922"/>
                      <a:ext cx="54" cy="54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22559" name="Text Box 23"/>
                  <p:cNvSpPr txBox="1">
                    <a:spLocks noChangeArrowheads="1"/>
                  </p:cNvSpPr>
                  <p:nvPr/>
                </p:nvSpPr>
                <p:spPr bwMode="blackGray">
                  <a:xfrm>
                    <a:off x="1931" y="3081"/>
                    <a:ext cx="324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kumimoji="1" lang="en-US" altLang="zh-CN" b="0" i="1">
                        <a:latin typeface="Times New Roman" pitchFamily="18" charset="0"/>
                        <a:ea typeface="宋体" pitchFamily="2" charset="-122"/>
                      </a:rPr>
                      <a:t>y</a:t>
                    </a:r>
                  </a:p>
                </p:txBody>
              </p:sp>
              <p:graphicFrame>
                <p:nvGraphicFramePr>
                  <p:cNvPr id="22560" name="Object 24"/>
                  <p:cNvGraphicFramePr>
                    <a:graphicFrameLocks noChangeAspect="1"/>
                  </p:cNvGraphicFramePr>
                  <p:nvPr/>
                </p:nvGraphicFramePr>
                <p:xfrm>
                  <a:off x="1236" y="2387"/>
                  <a:ext cx="249" cy="28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79" name="Equation" r:id="rId13" imgW="190417" imgH="253890" progId="Equation.DSMT4">
                          <p:embed/>
                        </p:oleObj>
                      </mc:Choice>
                      <mc:Fallback>
                        <p:oleObj name="Equation" r:id="rId13" imgW="190417" imgH="253890" progId="Equation.DSMT4">
                          <p:embed/>
                          <p:pic>
                            <p:nvPicPr>
                              <p:cNvPr id="0" name="Object 2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236" y="2387"/>
                                <a:ext cx="249" cy="28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22561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1186" y="2885"/>
                    <a:ext cx="138" cy="140"/>
                    <a:chOff x="288" y="2688"/>
                    <a:chExt cx="144" cy="144"/>
                  </a:xfrm>
                </p:grpSpPr>
                <p:sp>
                  <p:nvSpPr>
                    <p:cNvPr id="22580" name="Oval 26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288" y="2688"/>
                      <a:ext cx="144" cy="14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2581" name="Oval 27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330" y="2730"/>
                      <a:ext cx="54" cy="54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22562" name="Line 28"/>
                  <p:cNvSpPr>
                    <a:spLocks noChangeShapeType="1"/>
                  </p:cNvSpPr>
                  <p:nvPr/>
                </p:nvSpPr>
                <p:spPr bwMode="blackGray">
                  <a:xfrm flipV="1">
                    <a:off x="1251" y="2443"/>
                    <a:ext cx="0" cy="442"/>
                  </a:xfrm>
                  <a:prstGeom prst="line">
                    <a:avLst/>
                  </a:prstGeom>
                  <a:noFill/>
                  <a:ln w="38100">
                    <a:solidFill>
                      <a:srgbClr val="D60093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63" name="Line 29"/>
                  <p:cNvSpPr>
                    <a:spLocks noChangeShapeType="1"/>
                  </p:cNvSpPr>
                  <p:nvPr/>
                </p:nvSpPr>
                <p:spPr bwMode="blackGray">
                  <a:xfrm>
                    <a:off x="1321" y="2955"/>
                    <a:ext cx="451" cy="0"/>
                  </a:xfrm>
                  <a:prstGeom prst="line">
                    <a:avLst/>
                  </a:prstGeom>
                  <a:noFill/>
                  <a:ln w="476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2564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957" y="2829"/>
                  <a:ext cx="281" cy="28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0" name="Equation" r:id="rId15" imgW="215713" imgH="253780" progId="Equation.DSMT4">
                          <p:embed/>
                        </p:oleObj>
                      </mc:Choice>
                      <mc:Fallback>
                        <p:oleObj name="Equation" r:id="rId15" imgW="215713" imgH="253780" progId="Equation.DSMT4">
                          <p:embed/>
                          <p:pic>
                            <p:nvPicPr>
                              <p:cNvPr id="0" name="Object 3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957" y="2829"/>
                                <a:ext cx="281" cy="28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2565" name="Object 31"/>
                  <p:cNvGraphicFramePr>
                    <a:graphicFrameLocks noChangeAspect="1"/>
                  </p:cNvGraphicFramePr>
                  <p:nvPr/>
                </p:nvGraphicFramePr>
                <p:xfrm>
                  <a:off x="1643" y="2660"/>
                  <a:ext cx="197" cy="28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1" name="Equation" r:id="rId17" imgW="152268" imgH="253780" progId="Equation.DSMT4">
                          <p:embed/>
                        </p:oleObj>
                      </mc:Choice>
                      <mc:Fallback>
                        <p:oleObj name="Equation" r:id="rId17" imgW="152268" imgH="253780" progId="Equation.DSMT4">
                          <p:embed/>
                          <p:pic>
                            <p:nvPicPr>
                              <p:cNvPr id="0" name="Object 3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643" y="2660"/>
                                <a:ext cx="197" cy="28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2566" name="Oval 33"/>
                  <p:cNvSpPr>
                    <a:spLocks noChangeArrowheads="1"/>
                  </p:cNvSpPr>
                  <p:nvPr/>
                </p:nvSpPr>
                <p:spPr bwMode="blackGray">
                  <a:xfrm>
                    <a:off x="1430" y="3688"/>
                    <a:ext cx="138" cy="14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2567" name="Line 35"/>
                  <p:cNvSpPr>
                    <a:spLocks noChangeShapeType="1"/>
                  </p:cNvSpPr>
                  <p:nvPr/>
                </p:nvSpPr>
                <p:spPr bwMode="blackGray">
                  <a:xfrm flipH="1">
                    <a:off x="979" y="3764"/>
                    <a:ext cx="453" cy="0"/>
                  </a:xfrm>
                  <a:prstGeom prst="line">
                    <a:avLst/>
                  </a:prstGeom>
                  <a:noFill/>
                  <a:ln w="476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2568" name="Object 36"/>
                  <p:cNvGraphicFramePr>
                    <a:graphicFrameLocks noChangeAspect="1"/>
                  </p:cNvGraphicFramePr>
                  <p:nvPr/>
                </p:nvGraphicFramePr>
                <p:xfrm>
                  <a:off x="1510" y="3163"/>
                  <a:ext cx="247" cy="2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2" name="Equation" r:id="rId19" imgW="190417" imgH="253890" progId="Equation.DSMT4">
                          <p:embed/>
                        </p:oleObj>
                      </mc:Choice>
                      <mc:Fallback>
                        <p:oleObj name="Equation" r:id="rId19" imgW="190417" imgH="253890" progId="Equation.DSMT4">
                          <p:embed/>
                          <p:pic>
                            <p:nvPicPr>
                              <p:cNvPr id="0" name="Object 3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510" y="3163"/>
                                <a:ext cx="247" cy="28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2569" name="Object 37"/>
                  <p:cNvGraphicFramePr>
                    <a:graphicFrameLocks noChangeAspect="1"/>
                  </p:cNvGraphicFramePr>
                  <p:nvPr/>
                </p:nvGraphicFramePr>
                <p:xfrm>
                  <a:off x="1577" y="3648"/>
                  <a:ext cx="281" cy="28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3" name="Equation" r:id="rId21" imgW="215713" imgH="253780" progId="Equation.DSMT4">
                          <p:embed/>
                        </p:oleObj>
                      </mc:Choice>
                      <mc:Fallback>
                        <p:oleObj name="Equation" r:id="rId21" imgW="215713" imgH="253780" progId="Equation.DSMT4">
                          <p:embed/>
                          <p:pic>
                            <p:nvPicPr>
                              <p:cNvPr id="0" name="Object 3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577" y="3648"/>
                                <a:ext cx="281" cy="28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2570" name="Object 38"/>
                  <p:cNvGraphicFramePr>
                    <a:graphicFrameLocks noChangeAspect="1"/>
                  </p:cNvGraphicFramePr>
                  <p:nvPr/>
                </p:nvGraphicFramePr>
                <p:xfrm>
                  <a:off x="823" y="3468"/>
                  <a:ext cx="214" cy="28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4" name="Equation" r:id="rId23" imgW="164957" imgH="253780" progId="Equation.DSMT4">
                          <p:embed/>
                        </p:oleObj>
                      </mc:Choice>
                      <mc:Fallback>
                        <p:oleObj name="Equation" r:id="rId23" imgW="164957" imgH="253780" progId="Equation.DSMT4">
                          <p:embed/>
                          <p:pic>
                            <p:nvPicPr>
                              <p:cNvPr id="0" name="Object 3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823" y="3468"/>
                                <a:ext cx="214" cy="28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2571" name="Line 39"/>
                  <p:cNvSpPr>
                    <a:spLocks noChangeShapeType="1"/>
                  </p:cNvSpPr>
                  <p:nvPr/>
                </p:nvSpPr>
                <p:spPr bwMode="blackGray">
                  <a:xfrm rot="10800000">
                    <a:off x="1501" y="3243"/>
                    <a:ext cx="0" cy="442"/>
                  </a:xfrm>
                  <a:prstGeom prst="line">
                    <a:avLst/>
                  </a:prstGeom>
                  <a:noFill/>
                  <a:ln w="38100">
                    <a:solidFill>
                      <a:srgbClr val="D60093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2572" name="Object 40"/>
                  <p:cNvGraphicFramePr>
                    <a:graphicFrameLocks noChangeAspect="1"/>
                  </p:cNvGraphicFramePr>
                  <p:nvPr/>
                </p:nvGraphicFramePr>
                <p:xfrm>
                  <a:off x="2234" y="2385"/>
                  <a:ext cx="250" cy="28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5" name="Equation" r:id="rId25" imgW="190417" imgH="253890" progId="Equation.DSMT4">
                          <p:embed/>
                        </p:oleObj>
                      </mc:Choice>
                      <mc:Fallback>
                        <p:oleObj name="Equation" r:id="rId25" imgW="190417" imgH="253890" progId="Equation.DSMT4">
                          <p:embed/>
                          <p:pic>
                            <p:nvPicPr>
                              <p:cNvPr id="0" name="Object 4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2234" y="2385"/>
                                <a:ext cx="250" cy="28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pSp>
                <p:nvGrpSpPr>
                  <p:cNvPr id="22573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184" y="2883"/>
                    <a:ext cx="138" cy="140"/>
                    <a:chOff x="288" y="2688"/>
                    <a:chExt cx="144" cy="144"/>
                  </a:xfrm>
                </p:grpSpPr>
                <p:sp>
                  <p:nvSpPr>
                    <p:cNvPr id="22578" name="Oval 42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288" y="2688"/>
                      <a:ext cx="144" cy="144"/>
                    </a:xfrm>
                    <a:prstGeom prst="ellipse">
                      <a:avLst/>
                    </a:prstGeom>
                    <a:solidFill>
                      <a:schemeClr val="hlink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  <p:sp>
                  <p:nvSpPr>
                    <p:cNvPr id="22579" name="Oval 43"/>
                    <p:cNvSpPr>
                      <a:spLocks noChangeArrowheads="1"/>
                    </p:cNvSpPr>
                    <p:nvPr/>
                  </p:nvSpPr>
                  <p:spPr bwMode="blackGray">
                    <a:xfrm>
                      <a:off x="330" y="2730"/>
                      <a:ext cx="54" cy="54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endParaRPr lang="zh-CN" altLang="en-US"/>
                    </a:p>
                  </p:txBody>
                </p:sp>
              </p:grpSp>
              <p:sp>
                <p:nvSpPr>
                  <p:cNvPr id="22574" name="Line 44"/>
                  <p:cNvSpPr>
                    <a:spLocks noChangeShapeType="1"/>
                  </p:cNvSpPr>
                  <p:nvPr/>
                </p:nvSpPr>
                <p:spPr bwMode="blackGray">
                  <a:xfrm flipV="1">
                    <a:off x="2249" y="2441"/>
                    <a:ext cx="0" cy="442"/>
                  </a:xfrm>
                  <a:prstGeom prst="line">
                    <a:avLst/>
                  </a:prstGeom>
                  <a:noFill/>
                  <a:ln w="38100">
                    <a:solidFill>
                      <a:srgbClr val="D60093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75" name="Line 45"/>
                  <p:cNvSpPr>
                    <a:spLocks noChangeShapeType="1"/>
                  </p:cNvSpPr>
                  <p:nvPr/>
                </p:nvSpPr>
                <p:spPr bwMode="blackGray">
                  <a:xfrm>
                    <a:off x="2319" y="2953"/>
                    <a:ext cx="451" cy="0"/>
                  </a:xfrm>
                  <a:prstGeom prst="line">
                    <a:avLst/>
                  </a:prstGeom>
                  <a:noFill/>
                  <a:ln w="47625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22576" name="Object 46"/>
                  <p:cNvGraphicFramePr>
                    <a:graphicFrameLocks noChangeAspect="1"/>
                  </p:cNvGraphicFramePr>
                  <p:nvPr/>
                </p:nvGraphicFramePr>
                <p:xfrm>
                  <a:off x="1955" y="2827"/>
                  <a:ext cx="280" cy="28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6" name="Equation" r:id="rId27" imgW="215713" imgH="253780" progId="Equation.DSMT4">
                          <p:embed/>
                        </p:oleObj>
                      </mc:Choice>
                      <mc:Fallback>
                        <p:oleObj name="Equation" r:id="rId27" imgW="215713" imgH="253780" progId="Equation.DSMT4">
                          <p:embed/>
                          <p:pic>
                            <p:nvPicPr>
                              <p:cNvPr id="0" name="Object 4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1955" y="2827"/>
                                <a:ext cx="280" cy="28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2577" name="Object 47"/>
                  <p:cNvGraphicFramePr>
                    <a:graphicFrameLocks noChangeAspect="1"/>
                  </p:cNvGraphicFramePr>
                  <p:nvPr/>
                </p:nvGraphicFramePr>
                <p:xfrm>
                  <a:off x="2633" y="2658"/>
                  <a:ext cx="214" cy="28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687" name="Equation" r:id="rId29" imgW="164957" imgH="253780" progId="Equation.DSMT4">
                          <p:embed/>
                        </p:oleObj>
                      </mc:Choice>
                      <mc:Fallback>
                        <p:oleObj name="Equation" r:id="rId29" imgW="164957" imgH="253780" progId="Equation.DSMT4">
                          <p:embed/>
                          <p:pic>
                            <p:nvPicPr>
                              <p:cNvPr id="0" name="Object 4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blackGray">
                              <a:xfrm>
                                <a:off x="2633" y="2658"/>
                                <a:ext cx="214" cy="28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pSp>
          <p:nvGrpSpPr>
            <p:cNvPr id="22542" name="组合 54"/>
            <p:cNvGrpSpPr>
              <a:grpSpLocks/>
            </p:cNvGrpSpPr>
            <p:nvPr/>
          </p:nvGrpSpPr>
          <p:grpSpPr bwMode="auto">
            <a:xfrm>
              <a:off x="6184900" y="5118100"/>
              <a:ext cx="107950" cy="107950"/>
              <a:chOff x="5143504" y="4929198"/>
              <a:chExt cx="152400" cy="152401"/>
            </a:xfrm>
          </p:grpSpPr>
          <p:cxnSp>
            <p:nvCxnSpPr>
              <p:cNvPr id="22543" name="直接连接符 5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143504" y="4929198"/>
                <a:ext cx="142876" cy="14287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44" name="直接连接符 56"/>
              <p:cNvCxnSpPr>
                <a:cxnSpLocks noChangeShapeType="1"/>
              </p:cNvCxnSpPr>
              <p:nvPr/>
            </p:nvCxnSpPr>
            <p:spPr bwMode="auto">
              <a:xfrm rot="16200000" flipV="1">
                <a:off x="5143504" y="4929199"/>
                <a:ext cx="152400" cy="1524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3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31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3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3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3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31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491" grpId="0"/>
      <p:bldP spid="831536" grpId="0" build="p" autoUpdateAnimBg="0"/>
      <p:bldP spid="831537" grpId="0" build="p" autoUpdateAnimBg="0"/>
      <p:bldP spid="83153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CB9F62-A450-4D33-8CB7-162F9FA259DA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aphicFrame>
        <p:nvGraphicFramePr>
          <p:cNvPr id="751624" name="Object 8"/>
          <p:cNvGraphicFramePr>
            <a:graphicFrameLocks noChangeAspect="1"/>
          </p:cNvGraphicFramePr>
          <p:nvPr/>
        </p:nvGraphicFramePr>
        <p:xfrm>
          <a:off x="4787900" y="1096963"/>
          <a:ext cx="3602038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name="Equation" r:id="rId3" imgW="1533485" imgH="695415" progId="Equation.DSMT4">
                  <p:embed/>
                </p:oleObj>
              </mc:Choice>
              <mc:Fallback>
                <p:oleObj name="Equation" r:id="rId3" imgW="1533485" imgH="69541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87900" y="1096963"/>
                        <a:ext cx="3602038" cy="153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5" name="Line 9"/>
          <p:cNvSpPr>
            <a:spLocks noChangeShapeType="1"/>
          </p:cNvSpPr>
          <p:nvPr/>
        </p:nvSpPr>
        <p:spPr bwMode="black">
          <a:xfrm>
            <a:off x="4356100" y="692150"/>
            <a:ext cx="0" cy="3863975"/>
          </a:xfrm>
          <a:prstGeom prst="line">
            <a:avLst/>
          </a:prstGeom>
          <a:noFill/>
          <a:ln w="25400">
            <a:solidFill>
              <a:srgbClr val="FFCC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1626" name="Object 10"/>
          <p:cNvGraphicFramePr>
            <a:graphicFrameLocks noChangeAspect="1"/>
          </p:cNvGraphicFramePr>
          <p:nvPr/>
        </p:nvGraphicFramePr>
        <p:xfrm>
          <a:off x="4781550" y="3141663"/>
          <a:ext cx="39814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4" name="Equation" r:id="rId5" imgW="1866972" imgH="438240" progId="Equation.DSMT4">
                  <p:embed/>
                </p:oleObj>
              </mc:Choice>
              <mc:Fallback>
                <p:oleObj name="Equation" r:id="rId5" imgW="1866972" imgH="4382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81550" y="3141663"/>
                        <a:ext cx="39814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7" name="Text Box 11"/>
          <p:cNvSpPr txBox="1">
            <a:spLocks noChangeArrowheads="1"/>
          </p:cNvSpPr>
          <p:nvPr/>
        </p:nvSpPr>
        <p:spPr bwMode="black">
          <a:xfrm>
            <a:off x="107950" y="549275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媒质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中的入射波：</a:t>
            </a:r>
          </a:p>
        </p:txBody>
      </p:sp>
      <p:graphicFrame>
        <p:nvGraphicFramePr>
          <p:cNvPr id="751628" name="Object 12"/>
          <p:cNvGraphicFramePr>
            <a:graphicFrameLocks noChangeAspect="1"/>
          </p:cNvGraphicFramePr>
          <p:nvPr/>
        </p:nvGraphicFramePr>
        <p:xfrm>
          <a:off x="771525" y="1052513"/>
          <a:ext cx="3062288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" name="Equation" r:id="rId7" imgW="1085828" imgH="590460" progId="Equation.DSMT4">
                  <p:embed/>
                </p:oleObj>
              </mc:Choice>
              <mc:Fallback>
                <p:oleObj name="Equation" r:id="rId7" imgW="1085828" imgH="5904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1525" y="1052513"/>
                        <a:ext cx="3062288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9" name="Text Box 13"/>
          <p:cNvSpPr txBox="1">
            <a:spLocks noChangeArrowheads="1"/>
          </p:cNvSpPr>
          <p:nvPr/>
        </p:nvSpPr>
        <p:spPr bwMode="black">
          <a:xfrm>
            <a:off x="179388" y="2540000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媒质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中的反射波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：</a:t>
            </a:r>
          </a:p>
        </p:txBody>
      </p:sp>
      <p:graphicFrame>
        <p:nvGraphicFramePr>
          <p:cNvPr id="751630" name="Object 14"/>
          <p:cNvGraphicFramePr>
            <a:graphicFrameLocks noChangeAspect="1"/>
          </p:cNvGraphicFramePr>
          <p:nvPr/>
        </p:nvGraphicFramePr>
        <p:xfrm>
          <a:off x="677863" y="3141663"/>
          <a:ext cx="3190875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6" name="Equation" r:id="rId9" imgW="1199998" imgH="590460" progId="Equation.DSMT4">
                  <p:embed/>
                </p:oleObj>
              </mc:Choice>
              <mc:Fallback>
                <p:oleObj name="Equation" r:id="rId9" imgW="1199998" imgH="5904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7863" y="3141663"/>
                        <a:ext cx="3190875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31" name="Text Box 15"/>
          <p:cNvSpPr txBox="1">
            <a:spLocks noChangeArrowheads="1"/>
          </p:cNvSpPr>
          <p:nvPr/>
        </p:nvSpPr>
        <p:spPr bwMode="black">
          <a:xfrm>
            <a:off x="179388" y="4556125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媒质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中的合成波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：</a:t>
            </a:r>
          </a:p>
        </p:txBody>
      </p:sp>
      <p:graphicFrame>
        <p:nvGraphicFramePr>
          <p:cNvPr id="751632" name="Object 16"/>
          <p:cNvGraphicFramePr>
            <a:graphicFrameLocks noChangeAspect="1"/>
          </p:cNvGraphicFramePr>
          <p:nvPr/>
        </p:nvGraphicFramePr>
        <p:xfrm>
          <a:off x="827088" y="5130800"/>
          <a:ext cx="7072312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7" name="Equation" r:id="rId11" imgW="2981256" imgH="647803" progId="Equation.DSMT4">
                  <p:embed/>
                </p:oleObj>
              </mc:Choice>
              <mc:Fallback>
                <p:oleObj name="Equation" r:id="rId11" imgW="2981256" imgH="64780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5130800"/>
                        <a:ext cx="7072312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AutoShape 17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5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6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7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5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5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5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5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5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5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25" grpId="0" animBg="1"/>
      <p:bldP spid="751627" grpId="0"/>
      <p:bldP spid="751629" grpId="0"/>
      <p:bldP spid="7516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89726B-3CE5-4AD0-912B-13D3FB78B2C2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640010" name="Text Box 10"/>
          <p:cNvSpPr txBox="1">
            <a:spLocks noChangeArrowheads="1"/>
          </p:cNvSpPr>
          <p:nvPr/>
        </p:nvSpPr>
        <p:spPr bwMode="black">
          <a:xfrm>
            <a:off x="107950" y="476250"/>
            <a:ext cx="4103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媒质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中的透射波</a:t>
            </a:r>
            <a:r>
              <a:rPr kumimoji="1" lang="zh-CN" altLang="en-US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：</a:t>
            </a:r>
          </a:p>
        </p:txBody>
      </p:sp>
      <p:graphicFrame>
        <p:nvGraphicFramePr>
          <p:cNvPr id="640012" name="Object 12"/>
          <p:cNvGraphicFramePr>
            <a:graphicFrameLocks noChangeAspect="1"/>
          </p:cNvGraphicFramePr>
          <p:nvPr/>
        </p:nvGraphicFramePr>
        <p:xfrm>
          <a:off x="2160588" y="1844675"/>
          <a:ext cx="5688012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3" name="Equation" r:id="rId3" imgW="2733830" imgH="409742" progId="Equation.DSMT4">
                  <p:embed/>
                </p:oleObj>
              </mc:Choice>
              <mc:Fallback>
                <p:oleObj name="Equation" r:id="rId3" imgW="2733830" imgH="40974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60588" y="1844675"/>
                        <a:ext cx="5688012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0013" name="Object 13"/>
          <p:cNvGraphicFramePr>
            <a:graphicFrameLocks noChangeAspect="1"/>
          </p:cNvGraphicFramePr>
          <p:nvPr/>
        </p:nvGraphicFramePr>
        <p:xfrm>
          <a:off x="2128838" y="2949575"/>
          <a:ext cx="39798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4" name="Equation" r:id="rId5" imgW="1914514" imgH="438240" progId="Equation.DSMT4">
                  <p:embed/>
                </p:oleObj>
              </mc:Choice>
              <mc:Fallback>
                <p:oleObj name="Equation" r:id="rId5" imgW="1914514" imgH="4382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28838" y="2949575"/>
                        <a:ext cx="397986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0016" name="Object 16"/>
          <p:cNvGraphicFramePr>
            <a:graphicFrameLocks noChangeAspect="1"/>
          </p:cNvGraphicFramePr>
          <p:nvPr/>
        </p:nvGraphicFramePr>
        <p:xfrm>
          <a:off x="998538" y="917575"/>
          <a:ext cx="56975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5" name="Equation" r:id="rId7" imgW="2314629" imgH="333285" progId="Equation.DSMT4">
                  <p:embed/>
                </p:oleObj>
              </mc:Choice>
              <mc:Fallback>
                <p:oleObj name="Equation" r:id="rId7" imgW="2314629" imgH="33328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98538" y="917575"/>
                        <a:ext cx="56975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0018" name="Text Box 18"/>
          <p:cNvSpPr txBox="1">
            <a:spLocks noChangeArrowheads="1"/>
          </p:cNvSpPr>
          <p:nvPr/>
        </p:nvSpPr>
        <p:spPr bwMode="black">
          <a:xfrm>
            <a:off x="179388" y="4175125"/>
            <a:ext cx="864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在分界面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z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= 0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上，电场强度和磁场强度的切向分量连续。</a:t>
            </a:r>
          </a:p>
        </p:txBody>
      </p:sp>
      <p:sp>
        <p:nvSpPr>
          <p:cNvPr id="640023" name="AutoShape 23"/>
          <p:cNvSpPr>
            <a:spLocks noChangeArrowheads="1"/>
          </p:cNvSpPr>
          <p:nvPr/>
        </p:nvSpPr>
        <p:spPr bwMode="blackGray">
          <a:xfrm>
            <a:off x="2411413" y="5300663"/>
            <a:ext cx="576262" cy="288925"/>
          </a:xfrm>
          <a:prstGeom prst="rightArrow">
            <a:avLst>
              <a:gd name="adj1" fmla="val 50000"/>
              <a:gd name="adj2" fmla="val 24996"/>
            </a:avLst>
          </a:prstGeom>
          <a:solidFill>
            <a:srgbClr val="FFCC99"/>
          </a:solidFill>
          <a:ln w="2857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0825" y="5013325"/>
            <a:ext cx="2087563" cy="917575"/>
            <a:chOff x="702" y="2943"/>
            <a:chExt cx="1315" cy="578"/>
          </a:xfrm>
        </p:grpSpPr>
        <p:graphicFrame>
          <p:nvGraphicFramePr>
            <p:cNvPr id="24595" name="Object 21"/>
            <p:cNvGraphicFramePr>
              <a:graphicFrameLocks noChangeAspect="1"/>
            </p:cNvGraphicFramePr>
            <p:nvPr/>
          </p:nvGraphicFramePr>
          <p:xfrm>
            <a:off x="838" y="2943"/>
            <a:ext cx="1179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56" name="公式" r:id="rId9" imgW="828686" imgH="361783" progId="Equation.3">
                    <p:embed/>
                  </p:oleObj>
                </mc:Choice>
                <mc:Fallback>
                  <p:oleObj name="公式" r:id="rId9" imgW="828686" imgH="361783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838" y="2943"/>
                          <a:ext cx="1179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24"/>
            <p:cNvGraphicFramePr>
              <a:graphicFrameLocks noChangeAspect="1"/>
            </p:cNvGraphicFramePr>
            <p:nvPr/>
          </p:nvGraphicFramePr>
          <p:xfrm>
            <a:off x="702" y="2943"/>
            <a:ext cx="242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57" name="Equation" r:id="rId11" imgW="95084" imgH="361783" progId="Equation.DSMT4">
                    <p:embed/>
                  </p:oleObj>
                </mc:Choice>
                <mc:Fallback>
                  <p:oleObj name="Equation" r:id="rId11" imgW="95084" imgH="361783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702" y="2943"/>
                          <a:ext cx="242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108325" y="4775200"/>
            <a:ext cx="2297113" cy="1363663"/>
            <a:chOff x="2941" y="2826"/>
            <a:chExt cx="1447" cy="859"/>
          </a:xfrm>
        </p:grpSpPr>
        <p:graphicFrame>
          <p:nvGraphicFramePr>
            <p:cNvPr id="24593" name="Object 22"/>
            <p:cNvGraphicFramePr>
              <a:graphicFrameLocks noChangeAspect="1"/>
            </p:cNvGraphicFramePr>
            <p:nvPr/>
          </p:nvGraphicFramePr>
          <p:xfrm>
            <a:off x="3092" y="2826"/>
            <a:ext cx="1296" cy="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58" name="Equation" r:id="rId13" imgW="952572" imgH="590460" progId="Equation.DSMT4">
                    <p:embed/>
                  </p:oleObj>
                </mc:Choice>
                <mc:Fallback>
                  <p:oleObj name="Equation" r:id="rId13" imgW="952572" imgH="59046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092" y="2826"/>
                          <a:ext cx="1296" cy="8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25"/>
            <p:cNvGraphicFramePr>
              <a:graphicFrameLocks noChangeAspect="1"/>
            </p:cNvGraphicFramePr>
            <p:nvPr/>
          </p:nvGraphicFramePr>
          <p:xfrm>
            <a:off x="2941" y="2897"/>
            <a:ext cx="242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59" name="Equation" r:id="rId15" imgW="95084" imgH="361783" progId="Equation.DSMT4">
                    <p:embed/>
                  </p:oleObj>
                </mc:Choice>
                <mc:Fallback>
                  <p:oleObj name="Equation" r:id="rId15" imgW="95084" imgH="361783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2941" y="2897"/>
                          <a:ext cx="242" cy="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7" name="AutoShape 28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8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9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0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0032" name="AutoShape 32"/>
          <p:cNvSpPr>
            <a:spLocks noChangeArrowheads="1"/>
          </p:cNvSpPr>
          <p:nvPr/>
        </p:nvSpPr>
        <p:spPr bwMode="blackGray">
          <a:xfrm>
            <a:off x="5580063" y="5373688"/>
            <a:ext cx="647700" cy="288925"/>
          </a:xfrm>
          <a:prstGeom prst="rightArrow">
            <a:avLst>
              <a:gd name="adj1" fmla="val 50000"/>
              <a:gd name="adj2" fmla="val 25002"/>
            </a:avLst>
          </a:prstGeom>
          <a:solidFill>
            <a:srgbClr val="FFCC99"/>
          </a:solidFill>
          <a:ln w="2857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40034" name="Object 34"/>
          <p:cNvGraphicFramePr>
            <a:graphicFrameLocks noChangeAspect="1"/>
          </p:cNvGraphicFramePr>
          <p:nvPr/>
        </p:nvGraphicFramePr>
        <p:xfrm>
          <a:off x="6300788" y="4581525"/>
          <a:ext cx="2463800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0" name="Equation" r:id="rId18" imgW="1133370" imgH="819137" progId="Equation.DSMT4">
                  <p:embed/>
                </p:oleObj>
              </mc:Choice>
              <mc:Fallback>
                <p:oleObj name="Equation" r:id="rId18" imgW="1133370" imgH="819137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00788" y="4581525"/>
                        <a:ext cx="2463800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4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4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4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64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4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10" grpId="0"/>
      <p:bldP spid="640018" grpId="0"/>
      <p:bldP spid="640023" grpId="0" animBg="1"/>
      <p:bldP spid="6400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9405D0-E85C-49A8-AB72-10458397CF67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52642" name="Text Box 2"/>
          <p:cNvSpPr txBox="1">
            <a:spLocks noChangeArrowheads="1"/>
          </p:cNvSpPr>
          <p:nvPr/>
        </p:nvSpPr>
        <p:spPr bwMode="black">
          <a:xfrm>
            <a:off x="34925" y="509588"/>
            <a:ext cx="903605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  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定义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分界面上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的</a:t>
            </a:r>
            <a:r>
              <a:rPr kumimoji="1" lang="zh-CN" altLang="en-US">
                <a:solidFill>
                  <a:srgbClr val="FF7C80"/>
                </a:solidFill>
                <a:latin typeface="Times New Roman" pitchFamily="18" charset="0"/>
                <a:ea typeface="宋体" pitchFamily="2" charset="-122"/>
              </a:rPr>
              <a:t>反射系数</a:t>
            </a:r>
            <a:r>
              <a:rPr kumimoji="1" lang="el-GR" altLang="zh-CN" i="1">
                <a:solidFill>
                  <a:schemeClr val="bg1"/>
                </a:solidFill>
                <a:latin typeface="幼圆" pitchFamily="49" charset="-122"/>
              </a:rPr>
              <a:t>Γ</a:t>
            </a:r>
            <a:r>
              <a:rPr kumimoji="1" lang="zh-CN" altLang="en-US">
                <a:solidFill>
                  <a:schemeClr val="bg1"/>
                </a:solidFill>
                <a:latin typeface="幼圆" pitchFamily="49" charset="-122"/>
              </a:rPr>
              <a:t>为反射波电场的振幅与入射波电场振幅之比，</a:t>
            </a:r>
            <a:r>
              <a:rPr kumimoji="1" lang="zh-CN" altLang="en-US">
                <a:solidFill>
                  <a:srgbClr val="FF7C80"/>
                </a:solidFill>
                <a:latin typeface="幼圆" pitchFamily="49" charset="-122"/>
                <a:ea typeface="宋体" pitchFamily="2" charset="-122"/>
              </a:rPr>
              <a:t>透射系数</a:t>
            </a:r>
            <a:r>
              <a:rPr kumimoji="1" lang="el-GR" altLang="zh-CN" i="1">
                <a:solidFill>
                  <a:schemeClr val="bg1"/>
                </a:solidFill>
                <a:latin typeface="幼圆" pitchFamily="49" charset="-122"/>
              </a:rPr>
              <a:t>τ</a:t>
            </a:r>
            <a:r>
              <a:rPr kumimoji="1" lang="zh-CN" altLang="en-US">
                <a:solidFill>
                  <a:schemeClr val="bg1"/>
                </a:solidFill>
                <a:latin typeface="幼圆" pitchFamily="49" charset="-122"/>
              </a:rPr>
              <a:t>为</a:t>
            </a:r>
            <a:r>
              <a:rPr kumimoji="1" lang="zh-CN" altLang="en-US">
                <a:solidFill>
                  <a:schemeClr val="bg1"/>
                </a:solidFill>
              </a:rPr>
              <a:t>透射波电场的振幅与入射波电场振幅之比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627313" y="1700213"/>
            <a:ext cx="2687637" cy="1800225"/>
            <a:chOff x="3652" y="1026"/>
            <a:chExt cx="1693" cy="1134"/>
          </a:xfrm>
        </p:grpSpPr>
        <p:graphicFrame>
          <p:nvGraphicFramePr>
            <p:cNvPr id="25614" name="Object 8"/>
            <p:cNvGraphicFramePr>
              <a:graphicFrameLocks noChangeAspect="1"/>
            </p:cNvGraphicFramePr>
            <p:nvPr/>
          </p:nvGraphicFramePr>
          <p:xfrm>
            <a:off x="3833" y="1616"/>
            <a:ext cx="147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5" name="Equation" r:id="rId3" imgW="1076459" imgH="333285" progId="Equation.DSMT4">
                    <p:embed/>
                  </p:oleObj>
                </mc:Choice>
                <mc:Fallback>
                  <p:oleObj name="Equation" r:id="rId3" imgW="1076459" imgH="33328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833" y="1616"/>
                          <a:ext cx="1472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5" name="Object 22"/>
            <p:cNvGraphicFramePr>
              <a:graphicFrameLocks noChangeAspect="1"/>
            </p:cNvGraphicFramePr>
            <p:nvPr/>
          </p:nvGraphicFramePr>
          <p:xfrm>
            <a:off x="3809" y="1026"/>
            <a:ext cx="1536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6" name="Equation" r:id="rId5" imgW="1124001" imgH="333285" progId="Equation.DSMT4">
                    <p:embed/>
                  </p:oleObj>
                </mc:Choice>
                <mc:Fallback>
                  <p:oleObj name="Equation" r:id="rId5" imgW="1124001" imgH="333285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809" y="1026"/>
                          <a:ext cx="1536" cy="5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6" name="Object 23"/>
            <p:cNvGraphicFramePr>
              <a:graphicFrameLocks noChangeAspect="1"/>
            </p:cNvGraphicFramePr>
            <p:nvPr/>
          </p:nvGraphicFramePr>
          <p:xfrm>
            <a:off x="3652" y="1162"/>
            <a:ext cx="181" cy="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7" name="Equation" r:id="rId7" imgW="95084" imgH="361783" progId="Equation.DSMT4">
                    <p:embed/>
                  </p:oleObj>
                </mc:Choice>
                <mc:Fallback>
                  <p:oleObj name="Equation" r:id="rId7" imgW="95084" imgH="361783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652" y="1162"/>
                          <a:ext cx="181" cy="8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2666" name="Text Box 26"/>
          <p:cNvSpPr txBox="1">
            <a:spLocks noChangeArrowheads="1"/>
          </p:cNvSpPr>
          <p:nvPr/>
        </p:nvSpPr>
        <p:spPr bwMode="black">
          <a:xfrm>
            <a:off x="0" y="3644900"/>
            <a:ext cx="1728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9"/>
              </a:buBlip>
            </a:pP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  评论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23850" y="4446588"/>
            <a:ext cx="2808288" cy="566737"/>
            <a:chOff x="204" y="2069"/>
            <a:chExt cx="1769" cy="357"/>
          </a:xfrm>
        </p:grpSpPr>
        <p:graphicFrame>
          <p:nvGraphicFramePr>
            <p:cNvPr id="25612" name="Object 4"/>
            <p:cNvGraphicFramePr>
              <a:graphicFrameLocks noChangeAspect="1"/>
            </p:cNvGraphicFramePr>
            <p:nvPr/>
          </p:nvGraphicFramePr>
          <p:xfrm>
            <a:off x="612" y="2115"/>
            <a:ext cx="735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8" name="公式" r:id="rId10" imgW="485829" imgH="85841" progId="Equation.3">
                    <p:embed/>
                  </p:oleObj>
                </mc:Choice>
                <mc:Fallback>
                  <p:oleObj name="公式" r:id="rId10" imgW="485829" imgH="85841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612" y="2115"/>
                          <a:ext cx="735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Text Box 27"/>
            <p:cNvSpPr txBox="1">
              <a:spLocks noChangeArrowheads="1"/>
            </p:cNvSpPr>
            <p:nvPr/>
          </p:nvSpPr>
          <p:spPr bwMode="black">
            <a:xfrm>
              <a:off x="204" y="2069"/>
              <a:ext cx="17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12"/>
                </a:buBlip>
              </a:pPr>
              <a:r>
                <a:rPr lang="en-US" altLang="zh-CN">
                  <a:solidFill>
                    <a:schemeClr val="bg1"/>
                  </a:solidFill>
                  <a:ea typeface="宋体" pitchFamily="2" charset="-122"/>
                </a:rPr>
                <a:t>   </a:t>
              </a:r>
              <a:endParaRPr lang="en-US" altLang="zh-CN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752668" name="Text Box 28"/>
          <p:cNvSpPr txBox="1">
            <a:spLocks noChangeArrowheads="1"/>
          </p:cNvSpPr>
          <p:nvPr/>
        </p:nvSpPr>
        <p:spPr bwMode="black">
          <a:xfrm>
            <a:off x="346075" y="5272088"/>
            <a:ext cx="8640763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12"/>
              </a:buBlip>
            </a:pP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 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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和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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一般为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复数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，表明反射波和透射波的振幅和相位与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       入射波都不同。</a:t>
            </a:r>
          </a:p>
        </p:txBody>
      </p:sp>
      <p:sp>
        <p:nvSpPr>
          <p:cNvPr id="25608" name="AutoShape 35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9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0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1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5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5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42" grpId="0"/>
      <p:bldP spid="752666" grpId="0" autoUpdateAnimBg="0"/>
      <p:bldP spid="75266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CA4F3E-F82A-45E3-9622-E7788442B29B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6627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052513"/>
            <a:ext cx="8604250" cy="576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6.2    </a:t>
            </a:r>
            <a:r>
              <a:rPr lang="zh-CN" altLang="en-US" sz="2800" b="1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均匀平面波对多层介质分界平面的垂直入射</a:t>
            </a:r>
            <a:r>
              <a:rPr lang="zh-CN" altLang="en-US" smtClean="0"/>
              <a:t> </a:t>
            </a:r>
          </a:p>
        </p:txBody>
      </p:sp>
      <p:sp>
        <p:nvSpPr>
          <p:cNvPr id="26628" name="Rectangle 77"/>
          <p:cNvSpPr>
            <a:spLocks noChangeArrowheads="1"/>
          </p:cNvSpPr>
          <p:nvPr/>
        </p:nvSpPr>
        <p:spPr bwMode="auto">
          <a:xfrm>
            <a:off x="323850" y="2852738"/>
            <a:ext cx="86042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1" lang="zh-CN" altLang="zh-CN">
              <a:solidFill>
                <a:schemeClr val="bg1"/>
              </a:solidFill>
              <a:latin typeface="Times New Roman" pitchFamily="18" charset="0"/>
              <a:ea typeface="幼圆" pitchFamily="49" charset="-122"/>
              <a:cs typeface="Arial" charset="0"/>
            </a:endParaRPr>
          </a:p>
        </p:txBody>
      </p:sp>
      <p:sp>
        <p:nvSpPr>
          <p:cNvPr id="26629" name="Rectangle 78"/>
          <p:cNvSpPr>
            <a:spLocks noChangeArrowheads="1"/>
          </p:cNvSpPr>
          <p:nvPr/>
        </p:nvSpPr>
        <p:spPr bwMode="auto">
          <a:xfrm>
            <a:off x="1258888" y="2349500"/>
            <a:ext cx="6626225" cy="2760663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本节内容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6.2.1  </a:t>
            </a:r>
            <a:r>
              <a:rPr kumimoji="1" lang="zh-CN" altLang="en-US">
                <a:latin typeface="Times New Roman" pitchFamily="18" charset="0"/>
                <a:ea typeface="宋体" pitchFamily="2" charset="-122"/>
                <a:hlinkClick r:id="rId2" action="ppaction://hlinksldjump"/>
              </a:rPr>
              <a:t>多层媒质的场量关系与等效波阻抗</a:t>
            </a:r>
            <a:endParaRPr kumimoji="1" lang="zh-CN" altLang="en-US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6.2.</a:t>
            </a:r>
            <a:r>
              <a:rPr kumimoji="1" lang="en-US" altLang="zh-CN">
                <a:latin typeface="Times New Roman" pitchFamily="18" charset="0"/>
                <a:ea typeface="宋体" pitchFamily="2" charset="-122"/>
              </a:rPr>
              <a:t>2  </a:t>
            </a:r>
            <a:r>
              <a:rPr kumimoji="1" lang="zh-CN" altLang="en-US">
                <a:latin typeface="Times New Roman" pitchFamily="18" charset="0"/>
                <a:ea typeface="宋体" pitchFamily="2" charset="-122"/>
                <a:hlinkClick r:id="rId3" action="ppaction://hlinksldjump"/>
              </a:rPr>
              <a:t>四分之一波长匹配层</a:t>
            </a:r>
            <a:endParaRPr kumimoji="1" lang="zh-CN" altLang="en-US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6.2.</a:t>
            </a:r>
            <a:r>
              <a:rPr kumimoji="1" lang="en-US" altLang="zh-CN">
                <a:latin typeface="Times New Roman" pitchFamily="18" charset="0"/>
                <a:ea typeface="宋体" pitchFamily="2" charset="-122"/>
              </a:rPr>
              <a:t>3  </a:t>
            </a:r>
            <a:r>
              <a:rPr kumimoji="1" lang="zh-CN" altLang="en-US">
                <a:latin typeface="Times New Roman" pitchFamily="18" charset="0"/>
                <a:ea typeface="宋体" pitchFamily="2" charset="-122"/>
                <a:hlinkClick r:id="rId4" action="ppaction://hlinksldjump"/>
              </a:rPr>
              <a:t>半波长介质窗</a:t>
            </a:r>
          </a:p>
          <a:p>
            <a:pPr eaLnBrk="1" hangingPunct="1">
              <a:spcBef>
                <a:spcPct val="0"/>
              </a:spcBef>
            </a:pPr>
            <a:r>
              <a:rPr kumimoji="1" lang="zh-CN" altLang="en-US">
                <a:latin typeface="Times New Roman" pitchFamily="18" charset="0"/>
                <a:ea typeface="宋体" pitchFamily="2" charset="-122"/>
                <a:hlinkClick r:id="rId4" action="ppaction://hlinksldjump"/>
              </a:rPr>
              <a:t> </a:t>
            </a:r>
            <a:endParaRPr kumimoji="1" lang="zh-CN" altLang="en-US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630" name="AutoShape 7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1" name="AutoShape 8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2" name="AutoShape 8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3" name="AutoShape 8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342575-7ABE-4B34-B21F-5FEA2691F79D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834562" name="Text Box 2"/>
          <p:cNvSpPr txBox="1">
            <a:spLocks noChangeArrowheads="1"/>
          </p:cNvSpPr>
          <p:nvPr/>
        </p:nvSpPr>
        <p:spPr bwMode="auto">
          <a:xfrm>
            <a:off x="107950" y="976313"/>
            <a:ext cx="8964613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  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电磁波在多层介质中的传播具有普遍的实际意义。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    以三种理想介质形成的多层媒质为例，说明平面波在多层媒质中的传播过程及其求解方法。</a:t>
            </a:r>
            <a:r>
              <a:rPr kumimoji="1" lang="zh-CN" altLang="en-US" sz="2000">
                <a:solidFill>
                  <a:schemeClr val="bg1"/>
                </a:solidFill>
                <a:latin typeface="楷体_GB2312" pitchFamily="49" charset="-122"/>
              </a:rPr>
              <a:t> </a:t>
            </a:r>
          </a:p>
        </p:txBody>
      </p:sp>
      <p:sp>
        <p:nvSpPr>
          <p:cNvPr id="834563" name="Text Box 3"/>
          <p:cNvSpPr txBox="1">
            <a:spLocks noChangeArrowheads="1"/>
          </p:cNvSpPr>
          <p:nvPr/>
        </p:nvSpPr>
        <p:spPr bwMode="auto">
          <a:xfrm>
            <a:off x="252413" y="2462213"/>
            <a:ext cx="5040312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如图所示，当平面波自媒质①向分界面垂直入射时，在媒质①和②之间的分界面上发生反射和透射。当透射波到达媒质②和③的分界面时，又发生反射与透射，而且此分界面上的反射波回到</a:t>
            </a:r>
            <a:r>
              <a:rPr kumimoji="1" lang="zh-CN" altLang="en-US">
                <a:solidFill>
                  <a:schemeClr val="bg1"/>
                </a:solidFill>
              </a:rPr>
              <a:t>媒质①和②的分界面上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时再次发生反射与透射。</a:t>
            </a:r>
          </a:p>
        </p:txBody>
      </p:sp>
      <p:sp>
        <p:nvSpPr>
          <p:cNvPr id="834564" name="Text Box 4"/>
          <p:cNvSpPr txBox="1">
            <a:spLocks noChangeArrowheads="1"/>
          </p:cNvSpPr>
          <p:nvPr/>
        </p:nvSpPr>
        <p:spPr bwMode="auto">
          <a:xfrm>
            <a:off x="684213" y="5876925"/>
            <a:ext cx="7924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由此可见，在两个分界面上发生多次反射与透射现象。</a:t>
            </a:r>
          </a:p>
        </p:txBody>
      </p:sp>
      <p:sp>
        <p:nvSpPr>
          <p:cNvPr id="83456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47688"/>
            <a:ext cx="6073775" cy="50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6.2.1  </a:t>
            </a:r>
            <a:r>
              <a:rPr kumimoji="1" lang="zh-CN" altLang="en-US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多层媒质的场量关系与等效波阻抗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183188" y="2060575"/>
            <a:ext cx="3960812" cy="3889375"/>
            <a:chOff x="3107" y="1207"/>
            <a:chExt cx="2612" cy="2404"/>
          </a:xfrm>
        </p:grpSpPr>
        <p:sp>
          <p:nvSpPr>
            <p:cNvPr id="27660" name="Rectangle 7"/>
            <p:cNvSpPr>
              <a:spLocks noChangeArrowheads="1"/>
            </p:cNvSpPr>
            <p:nvPr/>
          </p:nvSpPr>
          <p:spPr bwMode="auto">
            <a:xfrm>
              <a:off x="3969" y="1253"/>
              <a:ext cx="863" cy="235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1" name="Rectangle 8"/>
            <p:cNvSpPr>
              <a:spLocks noChangeArrowheads="1"/>
            </p:cNvSpPr>
            <p:nvPr/>
          </p:nvSpPr>
          <p:spPr bwMode="auto">
            <a:xfrm>
              <a:off x="3107" y="1253"/>
              <a:ext cx="884" cy="2358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2" name="Rectangle 9"/>
            <p:cNvSpPr>
              <a:spLocks noChangeArrowheads="1"/>
            </p:cNvSpPr>
            <p:nvPr/>
          </p:nvSpPr>
          <p:spPr bwMode="auto">
            <a:xfrm>
              <a:off x="4792" y="1253"/>
              <a:ext cx="907" cy="2358"/>
            </a:xfrm>
            <a:prstGeom prst="rect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3" name="Text Box 10"/>
            <p:cNvSpPr txBox="1">
              <a:spLocks noChangeArrowheads="1"/>
            </p:cNvSpPr>
            <p:nvPr/>
          </p:nvSpPr>
          <p:spPr bwMode="auto">
            <a:xfrm>
              <a:off x="3189" y="2955"/>
              <a:ext cx="708" cy="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64" name="Text Box 11"/>
            <p:cNvSpPr txBox="1">
              <a:spLocks noChangeArrowheads="1"/>
            </p:cNvSpPr>
            <p:nvPr/>
          </p:nvSpPr>
          <p:spPr bwMode="auto">
            <a:xfrm>
              <a:off x="4011" y="1861"/>
              <a:ext cx="729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65" name="Text Box 12"/>
            <p:cNvSpPr txBox="1">
              <a:spLocks noChangeArrowheads="1"/>
            </p:cNvSpPr>
            <p:nvPr/>
          </p:nvSpPr>
          <p:spPr bwMode="auto">
            <a:xfrm>
              <a:off x="4854" y="2978"/>
              <a:ext cx="728" cy="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66" name="Text Box 13"/>
            <p:cNvSpPr txBox="1">
              <a:spLocks noChangeArrowheads="1"/>
            </p:cNvSpPr>
            <p:nvPr/>
          </p:nvSpPr>
          <p:spPr bwMode="auto">
            <a:xfrm>
              <a:off x="4073" y="2958"/>
              <a:ext cx="728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67" name="Line 14"/>
            <p:cNvSpPr>
              <a:spLocks noChangeShapeType="1"/>
            </p:cNvSpPr>
            <p:nvPr/>
          </p:nvSpPr>
          <p:spPr bwMode="auto">
            <a:xfrm>
              <a:off x="3977" y="1253"/>
              <a:ext cx="0" cy="23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Line 15"/>
            <p:cNvSpPr>
              <a:spLocks noChangeShapeType="1"/>
            </p:cNvSpPr>
            <p:nvPr/>
          </p:nvSpPr>
          <p:spPr bwMode="auto">
            <a:xfrm>
              <a:off x="4792" y="1253"/>
              <a:ext cx="0" cy="235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Text Box 16"/>
            <p:cNvSpPr txBox="1">
              <a:spLocks noChangeArrowheads="1"/>
            </p:cNvSpPr>
            <p:nvPr/>
          </p:nvSpPr>
          <p:spPr bwMode="auto">
            <a:xfrm>
              <a:off x="3819" y="2620"/>
              <a:ext cx="24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 i="1">
                  <a:latin typeface="Times New Roman" pitchFamily="18" charset="0"/>
                  <a:ea typeface="宋体" pitchFamily="2" charset="-122"/>
                </a:rPr>
                <a:t>O</a:t>
              </a:r>
              <a:endParaRPr lang="en-US" altLang="zh-CN" sz="180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0" name="Text Box 17"/>
            <p:cNvSpPr txBox="1">
              <a:spLocks noChangeArrowheads="1"/>
            </p:cNvSpPr>
            <p:nvPr/>
          </p:nvSpPr>
          <p:spPr bwMode="auto">
            <a:xfrm>
              <a:off x="4596" y="2620"/>
              <a:ext cx="28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d</a:t>
              </a:r>
              <a:endParaRPr lang="en-US" altLang="zh-CN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1" name="Text Box 18"/>
            <p:cNvSpPr txBox="1">
              <a:spLocks noChangeArrowheads="1"/>
            </p:cNvSpPr>
            <p:nvPr/>
          </p:nvSpPr>
          <p:spPr bwMode="auto">
            <a:xfrm>
              <a:off x="5527" y="2614"/>
              <a:ext cx="192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z</a:t>
              </a:r>
              <a:endParaRPr lang="en-US" altLang="zh-CN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2" name="Line 19"/>
            <p:cNvSpPr>
              <a:spLocks noChangeShapeType="1"/>
            </p:cNvSpPr>
            <p:nvPr/>
          </p:nvSpPr>
          <p:spPr bwMode="auto">
            <a:xfrm>
              <a:off x="3107" y="2637"/>
              <a:ext cx="2575" cy="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Text Box 20"/>
            <p:cNvSpPr txBox="1">
              <a:spLocks noChangeArrowheads="1"/>
            </p:cNvSpPr>
            <p:nvPr/>
          </p:nvSpPr>
          <p:spPr bwMode="auto">
            <a:xfrm>
              <a:off x="3197" y="1525"/>
              <a:ext cx="363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①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4" name="Text Box 21"/>
            <p:cNvSpPr txBox="1">
              <a:spLocks noChangeArrowheads="1"/>
            </p:cNvSpPr>
            <p:nvPr/>
          </p:nvSpPr>
          <p:spPr bwMode="auto">
            <a:xfrm>
              <a:off x="4046" y="1565"/>
              <a:ext cx="272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②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5" name="Text Box 22"/>
            <p:cNvSpPr txBox="1">
              <a:spLocks noChangeArrowheads="1"/>
            </p:cNvSpPr>
            <p:nvPr/>
          </p:nvSpPr>
          <p:spPr bwMode="auto">
            <a:xfrm>
              <a:off x="4841" y="1560"/>
              <a:ext cx="326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③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76" name="Text Box 23"/>
            <p:cNvSpPr txBox="1">
              <a:spLocks noChangeArrowheads="1"/>
            </p:cNvSpPr>
            <p:nvPr/>
          </p:nvSpPr>
          <p:spPr bwMode="auto">
            <a:xfrm>
              <a:off x="3379" y="1479"/>
              <a:ext cx="62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7677" name="Group 24"/>
            <p:cNvGrpSpPr>
              <a:grpSpLocks/>
            </p:cNvGrpSpPr>
            <p:nvPr/>
          </p:nvGrpSpPr>
          <p:grpSpPr bwMode="auto">
            <a:xfrm>
              <a:off x="3319" y="3143"/>
              <a:ext cx="107" cy="107"/>
              <a:chOff x="638" y="3048"/>
              <a:chExt cx="169" cy="169"/>
            </a:xfrm>
          </p:grpSpPr>
          <p:sp>
            <p:nvSpPr>
              <p:cNvPr id="27727" name="Oval 25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28" name="Oval 26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7678" name="Line 27"/>
            <p:cNvSpPr>
              <a:spLocks noChangeShapeType="1"/>
            </p:cNvSpPr>
            <p:nvPr/>
          </p:nvSpPr>
          <p:spPr bwMode="auto">
            <a:xfrm>
              <a:off x="3425" y="3205"/>
              <a:ext cx="34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28"/>
            <p:cNvSpPr>
              <a:spLocks noChangeShapeType="1"/>
            </p:cNvSpPr>
            <p:nvPr/>
          </p:nvSpPr>
          <p:spPr bwMode="auto">
            <a:xfrm rot="-5400000">
              <a:off x="3204" y="2975"/>
              <a:ext cx="340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Text Box 29"/>
            <p:cNvSpPr txBox="1">
              <a:spLocks noChangeArrowheads="1"/>
            </p:cNvSpPr>
            <p:nvPr/>
          </p:nvSpPr>
          <p:spPr bwMode="auto">
            <a:xfrm>
              <a:off x="3651" y="3158"/>
              <a:ext cx="34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81" name="Text Box 30"/>
            <p:cNvSpPr txBox="1">
              <a:spLocks noChangeArrowheads="1"/>
            </p:cNvSpPr>
            <p:nvPr/>
          </p:nvSpPr>
          <p:spPr bwMode="auto">
            <a:xfrm>
              <a:off x="3198" y="3218"/>
              <a:ext cx="36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82" name="Text Box 31"/>
            <p:cNvSpPr txBox="1">
              <a:spLocks noChangeArrowheads="1"/>
            </p:cNvSpPr>
            <p:nvPr/>
          </p:nvSpPr>
          <p:spPr bwMode="auto">
            <a:xfrm>
              <a:off x="3380" y="2726"/>
              <a:ext cx="34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83" name="Text Box 32"/>
            <p:cNvSpPr txBox="1">
              <a:spLocks noChangeArrowheads="1"/>
            </p:cNvSpPr>
            <p:nvPr/>
          </p:nvSpPr>
          <p:spPr bwMode="auto">
            <a:xfrm>
              <a:off x="3152" y="2273"/>
              <a:ext cx="33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7684" name="Group 33"/>
            <p:cNvGrpSpPr>
              <a:grpSpLocks/>
            </p:cNvGrpSpPr>
            <p:nvPr/>
          </p:nvGrpSpPr>
          <p:grpSpPr bwMode="auto">
            <a:xfrm>
              <a:off x="3288" y="1937"/>
              <a:ext cx="447" cy="450"/>
              <a:chOff x="508" y="1937"/>
              <a:chExt cx="447" cy="450"/>
            </a:xfrm>
          </p:grpSpPr>
          <p:sp>
            <p:nvSpPr>
              <p:cNvPr id="27720" name="Line 34"/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1" name="Line 35"/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722" name="Group 36"/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27723" name="Oval 37"/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27724" name="Group 38"/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27725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26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7685" name="Text Box 41"/>
            <p:cNvSpPr txBox="1">
              <a:spLocks noChangeArrowheads="1"/>
            </p:cNvSpPr>
            <p:nvPr/>
          </p:nvSpPr>
          <p:spPr bwMode="auto">
            <a:xfrm>
              <a:off x="4077" y="2979"/>
              <a:ext cx="708" cy="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7686" name="Group 42"/>
            <p:cNvGrpSpPr>
              <a:grpSpLocks/>
            </p:cNvGrpSpPr>
            <p:nvPr/>
          </p:nvGrpSpPr>
          <p:grpSpPr bwMode="auto">
            <a:xfrm>
              <a:off x="4207" y="3167"/>
              <a:ext cx="107" cy="107"/>
              <a:chOff x="638" y="3048"/>
              <a:chExt cx="169" cy="169"/>
            </a:xfrm>
          </p:grpSpPr>
          <p:sp>
            <p:nvSpPr>
              <p:cNvPr id="27718" name="Oval 43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9" name="Oval 44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7687" name="Line 45"/>
            <p:cNvSpPr>
              <a:spLocks noChangeShapeType="1"/>
            </p:cNvSpPr>
            <p:nvPr/>
          </p:nvSpPr>
          <p:spPr bwMode="auto">
            <a:xfrm>
              <a:off x="4313" y="3229"/>
              <a:ext cx="34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Line 46"/>
            <p:cNvSpPr>
              <a:spLocks noChangeShapeType="1"/>
            </p:cNvSpPr>
            <p:nvPr/>
          </p:nvSpPr>
          <p:spPr bwMode="auto">
            <a:xfrm rot="-5400000">
              <a:off x="4092" y="2999"/>
              <a:ext cx="340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Text Box 47"/>
            <p:cNvSpPr txBox="1">
              <a:spLocks noChangeArrowheads="1"/>
            </p:cNvSpPr>
            <p:nvPr/>
          </p:nvSpPr>
          <p:spPr bwMode="auto">
            <a:xfrm>
              <a:off x="4086" y="3242"/>
              <a:ext cx="36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0" name="Text Box 48"/>
            <p:cNvSpPr txBox="1">
              <a:spLocks noChangeArrowheads="1"/>
            </p:cNvSpPr>
            <p:nvPr/>
          </p:nvSpPr>
          <p:spPr bwMode="auto">
            <a:xfrm>
              <a:off x="4268" y="2750"/>
              <a:ext cx="34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sz="2000" i="1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sz="2000" i="1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1" name="Text Box 49"/>
            <p:cNvSpPr txBox="1">
              <a:spLocks noChangeArrowheads="1"/>
            </p:cNvSpPr>
            <p:nvPr/>
          </p:nvSpPr>
          <p:spPr bwMode="auto">
            <a:xfrm>
              <a:off x="4482" y="3203"/>
              <a:ext cx="34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2" name="Text Box 50"/>
            <p:cNvSpPr txBox="1">
              <a:spLocks noChangeArrowheads="1"/>
            </p:cNvSpPr>
            <p:nvPr/>
          </p:nvSpPr>
          <p:spPr bwMode="auto">
            <a:xfrm>
              <a:off x="3378" y="1797"/>
              <a:ext cx="34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3" name="Text Box 51"/>
            <p:cNvSpPr txBox="1">
              <a:spLocks noChangeArrowheads="1"/>
            </p:cNvSpPr>
            <p:nvPr/>
          </p:nvSpPr>
          <p:spPr bwMode="auto">
            <a:xfrm>
              <a:off x="3650" y="2296"/>
              <a:ext cx="36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4" name="Text Box 52"/>
            <p:cNvSpPr txBox="1">
              <a:spLocks noChangeArrowheads="1"/>
            </p:cNvSpPr>
            <p:nvPr/>
          </p:nvSpPr>
          <p:spPr bwMode="auto">
            <a:xfrm>
              <a:off x="3969" y="2273"/>
              <a:ext cx="33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7695" name="Group 53"/>
            <p:cNvGrpSpPr>
              <a:grpSpLocks/>
            </p:cNvGrpSpPr>
            <p:nvPr/>
          </p:nvGrpSpPr>
          <p:grpSpPr bwMode="auto">
            <a:xfrm>
              <a:off x="4105" y="1937"/>
              <a:ext cx="447" cy="450"/>
              <a:chOff x="508" y="1937"/>
              <a:chExt cx="447" cy="450"/>
            </a:xfrm>
          </p:grpSpPr>
          <p:sp>
            <p:nvSpPr>
              <p:cNvPr id="27711" name="Line 54"/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2" name="Line 55"/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713" name="Group 56"/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27714" name="Oval 57"/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27715" name="Group 58"/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27716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717" name="Line 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7696" name="Text Box 61"/>
            <p:cNvSpPr txBox="1">
              <a:spLocks noChangeArrowheads="1"/>
            </p:cNvSpPr>
            <p:nvPr/>
          </p:nvSpPr>
          <p:spPr bwMode="auto">
            <a:xfrm>
              <a:off x="4195" y="1797"/>
              <a:ext cx="34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697" name="Text Box 62"/>
            <p:cNvSpPr txBox="1">
              <a:spLocks noChangeArrowheads="1"/>
            </p:cNvSpPr>
            <p:nvPr/>
          </p:nvSpPr>
          <p:spPr bwMode="auto">
            <a:xfrm>
              <a:off x="4467" y="2296"/>
              <a:ext cx="36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7698" name="Group 63"/>
            <p:cNvGrpSpPr>
              <a:grpSpLocks/>
            </p:cNvGrpSpPr>
            <p:nvPr/>
          </p:nvGrpSpPr>
          <p:grpSpPr bwMode="auto">
            <a:xfrm>
              <a:off x="4922" y="3150"/>
              <a:ext cx="107" cy="107"/>
              <a:chOff x="638" y="3048"/>
              <a:chExt cx="169" cy="169"/>
            </a:xfrm>
          </p:grpSpPr>
          <p:sp>
            <p:nvSpPr>
              <p:cNvPr id="27709" name="Oval 64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0" name="Oval 65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7699" name="Line 66"/>
            <p:cNvSpPr>
              <a:spLocks noChangeShapeType="1"/>
            </p:cNvSpPr>
            <p:nvPr/>
          </p:nvSpPr>
          <p:spPr bwMode="auto">
            <a:xfrm>
              <a:off x="5028" y="3212"/>
              <a:ext cx="34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0" name="Line 67"/>
            <p:cNvSpPr>
              <a:spLocks noChangeShapeType="1"/>
            </p:cNvSpPr>
            <p:nvPr/>
          </p:nvSpPr>
          <p:spPr bwMode="auto">
            <a:xfrm rot="-5400000">
              <a:off x="4807" y="2982"/>
              <a:ext cx="340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1" name="Text Box 68"/>
            <p:cNvSpPr txBox="1">
              <a:spLocks noChangeArrowheads="1"/>
            </p:cNvSpPr>
            <p:nvPr/>
          </p:nvSpPr>
          <p:spPr bwMode="auto">
            <a:xfrm>
              <a:off x="5254" y="3165"/>
              <a:ext cx="34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2" name="Text Box 69"/>
            <p:cNvSpPr txBox="1">
              <a:spLocks noChangeArrowheads="1"/>
            </p:cNvSpPr>
            <p:nvPr/>
          </p:nvSpPr>
          <p:spPr bwMode="auto">
            <a:xfrm>
              <a:off x="4801" y="3225"/>
              <a:ext cx="363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3" name="Text Box 70"/>
            <p:cNvSpPr txBox="1">
              <a:spLocks noChangeArrowheads="1"/>
            </p:cNvSpPr>
            <p:nvPr/>
          </p:nvSpPr>
          <p:spPr bwMode="auto">
            <a:xfrm>
              <a:off x="4983" y="2704"/>
              <a:ext cx="3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4" name="Text Box 71"/>
            <p:cNvSpPr txBox="1">
              <a:spLocks noChangeArrowheads="1"/>
            </p:cNvSpPr>
            <p:nvPr/>
          </p:nvSpPr>
          <p:spPr bwMode="auto">
            <a:xfrm>
              <a:off x="4161" y="1503"/>
              <a:ext cx="62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5" name="Text Box 72"/>
            <p:cNvSpPr txBox="1">
              <a:spLocks noChangeArrowheads="1"/>
            </p:cNvSpPr>
            <p:nvPr/>
          </p:nvSpPr>
          <p:spPr bwMode="auto">
            <a:xfrm>
              <a:off x="4977" y="1480"/>
              <a:ext cx="624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6" name="Text Box 73"/>
            <p:cNvSpPr txBox="1">
              <a:spLocks noChangeArrowheads="1"/>
            </p:cNvSpPr>
            <p:nvPr/>
          </p:nvSpPr>
          <p:spPr bwMode="auto">
            <a:xfrm>
              <a:off x="3969" y="1207"/>
              <a:ext cx="27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60000"/>
                </a:lnSpc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27707" name="Text Box 74"/>
            <p:cNvSpPr txBox="1">
              <a:spLocks noChangeArrowheads="1"/>
            </p:cNvSpPr>
            <p:nvPr/>
          </p:nvSpPr>
          <p:spPr bwMode="auto">
            <a:xfrm>
              <a:off x="3726" y="1334"/>
              <a:ext cx="49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sz="1600">
                  <a:latin typeface="宋体" pitchFamily="2" charset="-122"/>
                  <a:ea typeface="宋体" pitchFamily="2" charset="-122"/>
                </a:rPr>
                <a:t>界面</a:t>
              </a: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1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708" name="Text Box 75"/>
            <p:cNvSpPr txBox="1">
              <a:spLocks noChangeArrowheads="1"/>
            </p:cNvSpPr>
            <p:nvPr/>
          </p:nvSpPr>
          <p:spPr bwMode="auto">
            <a:xfrm>
              <a:off x="4533" y="1334"/>
              <a:ext cx="49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sz="1600">
                  <a:latin typeface="宋体" pitchFamily="2" charset="-122"/>
                  <a:ea typeface="宋体" pitchFamily="2" charset="-122"/>
                </a:rPr>
                <a:t>界面</a:t>
              </a: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2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7656" name="AutoShape 7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7" name="AutoShape 7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8" name="AutoShape 7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AutoShape 7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83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83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83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562" grpId="0" autoUpdateAnimBg="0"/>
      <p:bldP spid="834563" grpId="0" autoUpdateAnimBg="0"/>
      <p:bldP spid="834564" grpId="0" autoUpdateAnimBg="0"/>
      <p:bldP spid="8345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42F5-6F20-447B-A29A-01D2280B1B96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817154" name="Text Box 2"/>
          <p:cNvSpPr txBox="1">
            <a:spLocks noChangeArrowheads="1"/>
          </p:cNvSpPr>
          <p:nvPr/>
        </p:nvSpPr>
        <p:spPr bwMode="auto">
          <a:xfrm>
            <a:off x="179388" y="476250"/>
            <a:ext cx="8856662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媒质①和②中存在两种平面波，其一是向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z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方向传播的波，另一是向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-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z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方向传播的波，在媒质③中仅存在向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z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方向传播的波。因此，各个媒质中的电场和磁场强度可以分别表示为</a:t>
            </a:r>
          </a:p>
        </p:txBody>
      </p:sp>
      <p:graphicFrame>
        <p:nvGraphicFramePr>
          <p:cNvPr id="817156" name="Object 4"/>
          <p:cNvGraphicFramePr>
            <a:graphicFrameLocks noGrp="1" noChangeAspect="1"/>
          </p:cNvGraphicFramePr>
          <p:nvPr>
            <p:ph/>
          </p:nvPr>
        </p:nvGraphicFramePr>
        <p:xfrm>
          <a:off x="395288" y="2147888"/>
          <a:ext cx="65532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4" name="Equation" r:id="rId3" imgW="3305027" imgH="590460" progId="Equation.DSMT4">
                  <p:embed/>
                </p:oleObj>
              </mc:Choice>
              <mc:Fallback>
                <p:oleObj name="Equation" r:id="rId3" imgW="3305027" imgH="59046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147888"/>
                        <a:ext cx="65532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7" name="Object 5"/>
          <p:cNvGraphicFramePr>
            <a:graphicFrameLocks noChangeAspect="1"/>
          </p:cNvGraphicFramePr>
          <p:nvPr/>
        </p:nvGraphicFramePr>
        <p:xfrm>
          <a:off x="328613" y="3378200"/>
          <a:ext cx="884713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Equation" r:id="rId5" imgW="4429027" imgH="638072" progId="Equation.DSMT4">
                  <p:embed/>
                </p:oleObj>
              </mc:Choice>
              <mc:Fallback>
                <p:oleObj name="Equation" r:id="rId5" imgW="4429027" imgH="63807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3378200"/>
                        <a:ext cx="8847137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8" name="Object 6"/>
          <p:cNvGraphicFramePr>
            <a:graphicFrameLocks noChangeAspect="1"/>
          </p:cNvGraphicFramePr>
          <p:nvPr/>
        </p:nvGraphicFramePr>
        <p:xfrm>
          <a:off x="323850" y="4941888"/>
          <a:ext cx="553402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Equation" r:id="rId7" imgW="2495427" imgH="590460" progId="Equation.DSMT4">
                  <p:embed/>
                </p:oleObj>
              </mc:Choice>
              <mc:Fallback>
                <p:oleObj name="Equation" r:id="rId7" imgW="2495427" imgH="5904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941888"/>
                        <a:ext cx="5534025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300788" y="2565400"/>
            <a:ext cx="2098675" cy="788988"/>
            <a:chOff x="3833" y="1738"/>
            <a:chExt cx="1322" cy="497"/>
          </a:xfrm>
        </p:grpSpPr>
        <p:graphicFrame>
          <p:nvGraphicFramePr>
            <p:cNvPr id="28693" name="Object 9"/>
            <p:cNvGraphicFramePr>
              <a:graphicFrameLocks noChangeAspect="1"/>
            </p:cNvGraphicFramePr>
            <p:nvPr/>
          </p:nvGraphicFramePr>
          <p:xfrm>
            <a:off x="4464" y="1738"/>
            <a:ext cx="691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7" name="Equation" r:id="rId9" imgW="543088" imgH="361783" progId="Equation.DSMT4">
                    <p:embed/>
                  </p:oleObj>
                </mc:Choice>
                <mc:Fallback>
                  <p:oleObj name="Equation" r:id="rId9" imgW="543088" imgH="361783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738"/>
                          <a:ext cx="691" cy="49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Line 11"/>
            <p:cNvSpPr>
              <a:spLocks noChangeShapeType="1"/>
            </p:cNvSpPr>
            <p:nvPr/>
          </p:nvSpPr>
          <p:spPr bwMode="auto">
            <a:xfrm flipH="1" flipV="1">
              <a:off x="3833" y="1752"/>
              <a:ext cx="635" cy="2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694363" y="3854450"/>
            <a:ext cx="1446212" cy="1158875"/>
            <a:chOff x="3716" y="2499"/>
            <a:chExt cx="911" cy="730"/>
          </a:xfrm>
        </p:grpSpPr>
        <p:graphicFrame>
          <p:nvGraphicFramePr>
            <p:cNvPr id="28691" name="Object 7"/>
            <p:cNvGraphicFramePr>
              <a:graphicFrameLocks noChangeAspect="1"/>
            </p:cNvGraphicFramePr>
            <p:nvPr/>
          </p:nvGraphicFramePr>
          <p:xfrm>
            <a:off x="3916" y="2704"/>
            <a:ext cx="711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8" name="Equation" r:id="rId11" imgW="485829" imgH="333285" progId="Equation.DSMT4">
                    <p:embed/>
                  </p:oleObj>
                </mc:Choice>
                <mc:Fallback>
                  <p:oleObj name="Equation" r:id="rId11" imgW="485829" imgH="33328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2704"/>
                          <a:ext cx="711" cy="525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2" name="Line 12"/>
            <p:cNvSpPr>
              <a:spLocks noChangeShapeType="1"/>
            </p:cNvSpPr>
            <p:nvPr/>
          </p:nvSpPr>
          <p:spPr bwMode="auto">
            <a:xfrm flipH="1" flipV="1">
              <a:off x="3716" y="2499"/>
              <a:ext cx="200" cy="2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7667625" y="3854450"/>
            <a:ext cx="1309688" cy="1158875"/>
            <a:chOff x="3863" y="2680"/>
            <a:chExt cx="794" cy="776"/>
          </a:xfrm>
        </p:grpSpPr>
        <p:graphicFrame>
          <p:nvGraphicFramePr>
            <p:cNvPr id="28689" name="Object 10"/>
            <p:cNvGraphicFramePr>
              <a:graphicFrameLocks noChangeAspect="1"/>
            </p:cNvGraphicFramePr>
            <p:nvPr/>
          </p:nvGraphicFramePr>
          <p:xfrm>
            <a:off x="3863" y="2877"/>
            <a:ext cx="794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9" name="Equation" r:id="rId13" imgW="580913" imgH="361783" progId="Equation.DSMT4">
                    <p:embed/>
                  </p:oleObj>
                </mc:Choice>
                <mc:Fallback>
                  <p:oleObj name="Equation" r:id="rId13" imgW="580913" imgH="361783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3" y="2877"/>
                          <a:ext cx="794" cy="579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0" name="Line 13"/>
            <p:cNvSpPr>
              <a:spLocks noChangeShapeType="1"/>
            </p:cNvSpPr>
            <p:nvPr/>
          </p:nvSpPr>
          <p:spPr bwMode="auto">
            <a:xfrm flipH="1" flipV="1">
              <a:off x="4002" y="2680"/>
              <a:ext cx="36" cy="19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284663" y="5445125"/>
            <a:ext cx="2293937" cy="881063"/>
            <a:chOff x="2789" y="3521"/>
            <a:chExt cx="1445" cy="555"/>
          </a:xfrm>
        </p:grpSpPr>
        <p:graphicFrame>
          <p:nvGraphicFramePr>
            <p:cNvPr id="28687" name="Object 8"/>
            <p:cNvGraphicFramePr>
              <a:graphicFrameLocks noChangeAspect="1"/>
            </p:cNvGraphicFramePr>
            <p:nvPr/>
          </p:nvGraphicFramePr>
          <p:xfrm>
            <a:off x="3515" y="3566"/>
            <a:ext cx="719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50" name="Equation" r:id="rId15" imgW="514285" imgH="333285" progId="Equation.DSMT4">
                    <p:embed/>
                  </p:oleObj>
                </mc:Choice>
                <mc:Fallback>
                  <p:oleObj name="Equation" r:id="rId15" imgW="514285" imgH="33328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566"/>
                          <a:ext cx="719" cy="510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254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8" name="Line 14"/>
            <p:cNvSpPr>
              <a:spLocks noChangeShapeType="1"/>
            </p:cNvSpPr>
            <p:nvPr/>
          </p:nvSpPr>
          <p:spPr bwMode="auto">
            <a:xfrm flipH="1" flipV="1">
              <a:off x="2789" y="3521"/>
              <a:ext cx="726" cy="2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83" name="AutoShape 22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4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5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6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8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8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0"/>
                                        <p:tgtEl>
                                          <p:spTgt spid="8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8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947F2-D4CD-4BE5-B2DE-6D45050C9955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graphicFrame>
        <p:nvGraphicFramePr>
          <p:cNvPr id="818181" name="Object 5"/>
          <p:cNvGraphicFramePr>
            <a:graphicFrameLocks noChangeAspect="1"/>
          </p:cNvGraphicFramePr>
          <p:nvPr/>
        </p:nvGraphicFramePr>
        <p:xfrm>
          <a:off x="1419225" y="2882900"/>
          <a:ext cx="365760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6" name="Equation" r:id="rId3" imgW="2047770" imgH="666917" progId="Equation.DSMT4">
                  <p:embed/>
                </p:oleObj>
              </mc:Choice>
              <mc:Fallback>
                <p:oleObj name="Equation" r:id="rId3" imgW="2047770" imgH="6669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2882900"/>
                        <a:ext cx="3657600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82" name="Object 6"/>
          <p:cNvGraphicFramePr>
            <a:graphicFrameLocks noChangeAspect="1"/>
          </p:cNvGraphicFramePr>
          <p:nvPr/>
        </p:nvGraphicFramePr>
        <p:xfrm>
          <a:off x="1416050" y="852488"/>
          <a:ext cx="2160588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7" name="Equation" r:id="rId5" imgW="1019200" imgH="638072" progId="Equation.DSMT4">
                  <p:embed/>
                </p:oleObj>
              </mc:Choice>
              <mc:Fallback>
                <p:oleObj name="Equation" r:id="rId5" imgW="1019200" imgH="63807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852488"/>
                        <a:ext cx="2160588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7950" y="333375"/>
            <a:ext cx="8785225" cy="639763"/>
            <a:chOff x="68" y="210"/>
            <a:chExt cx="5534" cy="403"/>
          </a:xfrm>
        </p:grpSpPr>
        <p:sp>
          <p:nvSpPr>
            <p:cNvPr id="29721" name="Text Box 8"/>
            <p:cNvSpPr txBox="1">
              <a:spLocks noChangeArrowheads="1"/>
            </p:cNvSpPr>
            <p:nvPr/>
          </p:nvSpPr>
          <p:spPr bwMode="auto">
            <a:xfrm>
              <a:off x="68" y="210"/>
              <a:ext cx="5534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根据</a:t>
              </a:r>
              <a:r>
                <a:rPr kumimoji="1" lang="zh-CN" altLang="en-US">
                  <a:solidFill>
                    <a:schemeClr val="bg1"/>
                  </a:solidFill>
                </a:rPr>
                <a:t>边界条件，在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分界面</a:t>
              </a:r>
              <a:r>
                <a:rPr kumimoji="1"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z</a:t>
              </a:r>
              <a:r>
                <a:rPr kumimoji="1" lang="en-US" altLang="zh-CN" b="0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b="0">
                  <a:solidFill>
                    <a:schemeClr val="bg1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= </a:t>
              </a:r>
              <a:r>
                <a:rPr kumimoji="1"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d</a:t>
              </a:r>
              <a:r>
                <a:rPr kumimoji="1" lang="zh-CN" altLang="en-US" b="0">
                  <a:solidFill>
                    <a:schemeClr val="bg1"/>
                  </a:solidFill>
                  <a:latin typeface="Times New Roman" pitchFamily="18" charset="0"/>
                </a:rPr>
                <a:t>上</a:t>
              </a:r>
              <a:r>
                <a:rPr kumimoji="1" lang="zh-CN" altLang="en-US" b="0" i="1">
                  <a:solidFill>
                    <a:schemeClr val="bg1"/>
                  </a:solidFill>
                  <a:latin typeface="Times New Roman" pitchFamily="18" charset="0"/>
                </a:rPr>
                <a:t> ，                                          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得</a:t>
              </a:r>
            </a:p>
          </p:txBody>
        </p:sp>
        <p:graphicFrame>
          <p:nvGraphicFramePr>
            <p:cNvPr id="29722" name="Object 9"/>
            <p:cNvGraphicFramePr>
              <a:graphicFrameLocks noChangeAspect="1"/>
            </p:cNvGraphicFramePr>
            <p:nvPr/>
          </p:nvGraphicFramePr>
          <p:xfrm>
            <a:off x="3016" y="300"/>
            <a:ext cx="220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88" name="公式" r:id="rId7" imgW="1886058" imgH="133453" progId="Equation.3">
                    <p:embed/>
                  </p:oleObj>
                </mc:Choice>
                <mc:Fallback>
                  <p:oleObj name="公式" r:id="rId7" imgW="1886058" imgH="133453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300"/>
                          <a:ext cx="220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66688" y="2212975"/>
            <a:ext cx="8077200" cy="639763"/>
            <a:chOff x="105" y="1394"/>
            <a:chExt cx="5088" cy="403"/>
          </a:xfrm>
        </p:grpSpPr>
        <p:sp>
          <p:nvSpPr>
            <p:cNvPr id="29719" name="Text Box 10"/>
            <p:cNvSpPr txBox="1">
              <a:spLocks noChangeArrowheads="1"/>
            </p:cNvSpPr>
            <p:nvPr/>
          </p:nvSpPr>
          <p:spPr bwMode="auto">
            <a:xfrm>
              <a:off x="105" y="1394"/>
              <a:ext cx="5088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在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分界面</a:t>
              </a:r>
              <a:r>
                <a:rPr kumimoji="1"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z</a:t>
              </a:r>
              <a:r>
                <a:rPr kumimoji="1" lang="en-US" altLang="zh-CN" b="0">
                  <a:solidFill>
                    <a:schemeClr val="bg1"/>
                  </a:solidFill>
                  <a:latin typeface="Times New Roman" pitchFamily="18" charset="0"/>
                </a:rPr>
                <a:t> = 0</a:t>
              </a:r>
              <a:r>
                <a:rPr kumimoji="1"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上，                                           ，得</a:t>
              </a:r>
            </a:p>
          </p:txBody>
        </p:sp>
        <p:graphicFrame>
          <p:nvGraphicFramePr>
            <p:cNvPr id="29720" name="Object 11"/>
            <p:cNvGraphicFramePr>
              <a:graphicFrameLocks noChangeAspect="1"/>
            </p:cNvGraphicFramePr>
            <p:nvPr/>
          </p:nvGraphicFramePr>
          <p:xfrm>
            <a:off x="1701" y="1480"/>
            <a:ext cx="20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89" name="公式" r:id="rId9" imgW="1781258" imgH="123722" progId="Equation.3">
                    <p:embed/>
                  </p:oleObj>
                </mc:Choice>
                <mc:Fallback>
                  <p:oleObj name="公式" r:id="rId9" imgW="1781258" imgH="12372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1480"/>
                          <a:ext cx="20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8188" name="AutoShape 12"/>
          <p:cNvSpPr>
            <a:spLocks noChangeArrowheads="1"/>
          </p:cNvSpPr>
          <p:nvPr/>
        </p:nvSpPr>
        <p:spPr bwMode="auto">
          <a:xfrm>
            <a:off x="3924300" y="1484313"/>
            <a:ext cx="936625" cy="288925"/>
          </a:xfrm>
          <a:prstGeom prst="rightArrow">
            <a:avLst>
              <a:gd name="adj1" fmla="val 50000"/>
              <a:gd name="adj2" fmla="val 81044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8189" name="Object 13"/>
          <p:cNvGraphicFramePr>
            <a:graphicFrameLocks noChangeAspect="1"/>
          </p:cNvGraphicFramePr>
          <p:nvPr/>
        </p:nvGraphicFramePr>
        <p:xfrm>
          <a:off x="5143500" y="1196975"/>
          <a:ext cx="16938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0" name="公式" r:id="rId11" imgW="742972" imgH="333285" progId="Equation.3">
                  <p:embed/>
                </p:oleObj>
              </mc:Choice>
              <mc:Fallback>
                <p:oleObj name="公式" r:id="rId11" imgW="742972" imgH="3332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1196975"/>
                        <a:ext cx="1693863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0" name="Object 14"/>
          <p:cNvGraphicFramePr>
            <a:graphicFrameLocks noChangeAspect="1"/>
          </p:cNvGraphicFramePr>
          <p:nvPr/>
        </p:nvGraphicFramePr>
        <p:xfrm>
          <a:off x="7053263" y="1190625"/>
          <a:ext cx="16637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1" name="公式" r:id="rId13" imgW="666627" imgH="333285" progId="Equation.3">
                  <p:embed/>
                </p:oleObj>
              </mc:Choice>
              <mc:Fallback>
                <p:oleObj name="公式" r:id="rId13" imgW="666627" imgH="33328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263" y="1190625"/>
                        <a:ext cx="16637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1" name="Object 15"/>
          <p:cNvGraphicFramePr>
            <a:graphicFrameLocks noChangeAspect="1"/>
          </p:cNvGraphicFramePr>
          <p:nvPr/>
        </p:nvGraphicFramePr>
        <p:xfrm>
          <a:off x="1628775" y="4403725"/>
          <a:ext cx="18224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2" name="Equation" r:id="rId15" imgW="809600" imgH="333285" progId="Equation.DSMT4">
                  <p:embed/>
                </p:oleObj>
              </mc:Choice>
              <mc:Fallback>
                <p:oleObj name="Equation" r:id="rId15" imgW="809600" imgH="3332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4403725"/>
                        <a:ext cx="18224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8192" name="Object 16"/>
          <p:cNvGraphicFramePr>
            <a:graphicFrameLocks noChangeAspect="1"/>
          </p:cNvGraphicFramePr>
          <p:nvPr/>
        </p:nvGraphicFramePr>
        <p:xfrm>
          <a:off x="3779838" y="4365625"/>
          <a:ext cx="2743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3" name="Equation" r:id="rId17" imgW="1162173" imgH="333285" progId="Equation.DSMT4">
                  <p:embed/>
                </p:oleObj>
              </mc:Choice>
              <mc:Fallback>
                <p:oleObj name="Equation" r:id="rId17" imgW="1162173" imgH="33328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365625"/>
                        <a:ext cx="2743200" cy="94456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74638" y="5445125"/>
            <a:ext cx="6745287" cy="1019175"/>
            <a:chOff x="657" y="3409"/>
            <a:chExt cx="4249" cy="642"/>
          </a:xfrm>
        </p:grpSpPr>
        <p:sp>
          <p:nvSpPr>
            <p:cNvPr id="29717" name="Text Box 2"/>
            <p:cNvSpPr txBox="1">
              <a:spLocks noChangeArrowheads="1"/>
            </p:cNvSpPr>
            <p:nvPr/>
          </p:nvSpPr>
          <p:spPr bwMode="auto">
            <a:xfrm>
              <a:off x="657" y="3521"/>
              <a:ext cx="72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其中</a:t>
              </a:r>
              <a:endParaRPr kumimoji="1" lang="zh-CN" altLang="en-US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9718" name="Object 17"/>
            <p:cNvGraphicFramePr>
              <a:graphicFrameLocks noChangeAspect="1"/>
            </p:cNvGraphicFramePr>
            <p:nvPr/>
          </p:nvGraphicFramePr>
          <p:xfrm>
            <a:off x="1189" y="3409"/>
            <a:ext cx="37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4" name="Equation" r:id="rId19" imgW="2800458" imgH="409742" progId="Equation.DSMT4">
                    <p:embed/>
                  </p:oleObj>
                </mc:Choice>
                <mc:Fallback>
                  <p:oleObj name="Equation" r:id="rId19" imgW="2800458" imgH="409742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3409"/>
                          <a:ext cx="37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8194" name="AutoShape 18"/>
          <p:cNvSpPr>
            <a:spLocks noChangeArrowheads="1"/>
          </p:cNvSpPr>
          <p:nvPr/>
        </p:nvSpPr>
        <p:spPr bwMode="auto">
          <a:xfrm>
            <a:off x="611188" y="4652963"/>
            <a:ext cx="792162" cy="288925"/>
          </a:xfrm>
          <a:prstGeom prst="rightArrow">
            <a:avLst>
              <a:gd name="adj1" fmla="val 50000"/>
              <a:gd name="adj2" fmla="val 68544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7142163" y="5784850"/>
            <a:ext cx="1893887" cy="452438"/>
            <a:chOff x="4327" y="3258"/>
            <a:chExt cx="1442" cy="339"/>
          </a:xfrm>
        </p:grpSpPr>
        <p:sp>
          <p:nvSpPr>
            <p:cNvPr id="29715" name="Text Box 19"/>
            <p:cNvSpPr txBox="1">
              <a:spLocks noChangeArrowheads="1"/>
            </p:cNvSpPr>
            <p:nvPr/>
          </p:nvSpPr>
          <p:spPr bwMode="auto">
            <a:xfrm>
              <a:off x="4612" y="3258"/>
              <a:ext cx="1157" cy="339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</a:pPr>
              <a:r>
                <a:rPr kumimoji="1" lang="zh-CN" altLang="en-US" sz="2000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等效波阻抗</a:t>
              </a:r>
            </a:p>
          </p:txBody>
        </p:sp>
        <p:sp>
          <p:nvSpPr>
            <p:cNvPr id="29716" name="Line 24"/>
            <p:cNvSpPr>
              <a:spLocks noChangeShapeType="1"/>
            </p:cNvSpPr>
            <p:nvPr/>
          </p:nvSpPr>
          <p:spPr bwMode="auto">
            <a:xfrm flipH="1">
              <a:off x="4327" y="3427"/>
              <a:ext cx="29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11" name="AutoShape 27">
            <a:hlinkClick r:id="rId2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2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3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4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1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81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1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8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81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81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81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818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88" grpId="0" animBg="1"/>
      <p:bldP spid="81819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C80E65-217E-4816-8863-485B9BD8D09F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819202" name="Text Box 2"/>
          <p:cNvSpPr txBox="1">
            <a:spLocks noChangeArrowheads="1"/>
          </p:cNvSpPr>
          <p:nvPr/>
        </p:nvSpPr>
        <p:spPr bwMode="auto">
          <a:xfrm>
            <a:off x="179388" y="404813"/>
            <a:ext cx="8748712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在计算多层媒质的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第一个分界面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上的总反射系数时，引入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等效波阻抗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概念可以简化求解过程。</a:t>
            </a:r>
          </a:p>
        </p:txBody>
      </p:sp>
      <p:sp>
        <p:nvSpPr>
          <p:cNvPr id="819203" name="Text Box 3"/>
          <p:cNvSpPr txBox="1">
            <a:spLocks noChangeArrowheads="1"/>
          </p:cNvSpPr>
          <p:nvPr/>
        </p:nvSpPr>
        <p:spPr bwMode="auto">
          <a:xfrm>
            <a:off x="179388" y="3149600"/>
            <a:ext cx="53276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则媒质②中任一点的波阻抗为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819205" name="Object 5"/>
          <p:cNvGraphicFramePr>
            <a:graphicFrameLocks noChangeAspect="1"/>
          </p:cNvGraphicFramePr>
          <p:nvPr/>
        </p:nvGraphicFramePr>
        <p:xfrm>
          <a:off x="2916238" y="2276475"/>
          <a:ext cx="16430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5" name="Equation" r:id="rId3" imgW="714516" imgH="323901" progId="Equation.DSMT4">
                  <p:embed/>
                </p:oleObj>
              </mc:Choice>
              <mc:Fallback>
                <p:oleObj name="Equation" r:id="rId3" imgW="714516" imgH="32390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276475"/>
                        <a:ext cx="16430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6" name="Object 6"/>
          <p:cNvGraphicFramePr>
            <a:graphicFrameLocks noChangeAspect="1"/>
          </p:cNvGraphicFramePr>
          <p:nvPr/>
        </p:nvGraphicFramePr>
        <p:xfrm>
          <a:off x="1793875" y="3789363"/>
          <a:ext cx="551338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Equation" r:id="rId5" imgW="2428799" imgH="361783" progId="Equation.DSMT4">
                  <p:embed/>
                </p:oleObj>
              </mc:Choice>
              <mc:Fallback>
                <p:oleObj name="Equation" r:id="rId5" imgW="2428799" imgH="36178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3789363"/>
                        <a:ext cx="551338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07950" y="1524000"/>
            <a:ext cx="8856663" cy="1041400"/>
            <a:chOff x="68" y="960"/>
            <a:chExt cx="5579" cy="656"/>
          </a:xfrm>
        </p:grpSpPr>
        <p:sp>
          <p:nvSpPr>
            <p:cNvPr id="30738" name="Text Box 4"/>
            <p:cNvSpPr txBox="1">
              <a:spLocks noChangeArrowheads="1"/>
            </p:cNvSpPr>
            <p:nvPr/>
          </p:nvSpPr>
          <p:spPr bwMode="auto">
            <a:xfrm>
              <a:off x="68" y="960"/>
              <a:ext cx="5579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</a:rPr>
                <a:t>     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定义媒质中任一点的合成波电场与合成波磁场之比为该点的波阻抗         ，即</a:t>
              </a:r>
            </a:p>
          </p:txBody>
        </p:sp>
        <p:graphicFrame>
          <p:nvGraphicFramePr>
            <p:cNvPr id="30739" name="Object 8"/>
            <p:cNvGraphicFramePr>
              <a:graphicFrameLocks noChangeAspect="1"/>
            </p:cNvGraphicFramePr>
            <p:nvPr/>
          </p:nvGraphicFramePr>
          <p:xfrm>
            <a:off x="721" y="1304"/>
            <a:ext cx="404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7" name="Equation" r:id="rId7" imgW="218970" imgH="104608" progId="Equation.DSMT4">
                    <p:embed/>
                  </p:oleObj>
                </mc:Choice>
                <mc:Fallback>
                  <p:oleObj name="Equation" r:id="rId7" imgW="218970" imgH="104608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" y="1304"/>
                          <a:ext cx="404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55650" y="4868863"/>
            <a:ext cx="6502400" cy="1000125"/>
            <a:chOff x="113" y="2840"/>
            <a:chExt cx="4096" cy="630"/>
          </a:xfrm>
        </p:grpSpPr>
        <p:sp>
          <p:nvSpPr>
            <p:cNvPr id="30736" name="Text Box 7"/>
            <p:cNvSpPr txBox="1">
              <a:spLocks noChangeArrowheads="1"/>
            </p:cNvSpPr>
            <p:nvPr/>
          </p:nvSpPr>
          <p:spPr bwMode="auto">
            <a:xfrm>
              <a:off x="113" y="2976"/>
              <a:ext cx="1951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在</a:t>
              </a:r>
              <a:r>
                <a:rPr kumimoji="1" lang="en-US" altLang="zh-CN" b="0" i="1">
                  <a:solidFill>
                    <a:schemeClr val="bg1"/>
                  </a:solidFill>
                  <a:latin typeface="楷体_GB2312" pitchFamily="49" charset="-122"/>
                </a:rPr>
                <a:t>z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＝</a:t>
              </a:r>
              <a:r>
                <a:rPr kumimoji="1" lang="en-US" altLang="zh-CN">
                  <a:solidFill>
                    <a:schemeClr val="bg1"/>
                  </a:solidFill>
                  <a:latin typeface="楷体_GB2312" pitchFamily="49" charset="-122"/>
                </a:rPr>
                <a:t>0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处，有</a:t>
              </a:r>
            </a:p>
          </p:txBody>
        </p:sp>
        <p:graphicFrame>
          <p:nvGraphicFramePr>
            <p:cNvPr id="30737" name="Object 9"/>
            <p:cNvGraphicFramePr>
              <a:graphicFrameLocks noChangeAspect="1"/>
            </p:cNvGraphicFramePr>
            <p:nvPr/>
          </p:nvGraphicFramePr>
          <p:xfrm>
            <a:off x="1553" y="2840"/>
            <a:ext cx="2656" cy="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8" name="Equation" r:id="rId9" imgW="1838170" imgH="361783" progId="Equation.DSMT4">
                    <p:embed/>
                  </p:oleObj>
                </mc:Choice>
                <mc:Fallback>
                  <p:oleObj name="Equation" r:id="rId9" imgW="1838170" imgH="361783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2840"/>
                          <a:ext cx="2656" cy="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07950" y="5876925"/>
            <a:ext cx="8077200" cy="566738"/>
            <a:chOff x="22" y="3430"/>
            <a:chExt cx="5088" cy="357"/>
          </a:xfrm>
        </p:grpSpPr>
        <p:sp>
          <p:nvSpPr>
            <p:cNvPr id="30734" name="Text Box 10"/>
            <p:cNvSpPr txBox="1">
              <a:spLocks noChangeArrowheads="1"/>
            </p:cNvSpPr>
            <p:nvPr/>
          </p:nvSpPr>
          <p:spPr bwMode="auto">
            <a:xfrm>
              <a:off x="22" y="3430"/>
              <a:ext cx="508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</a:rPr>
                <a:t>    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由此可见，    即为媒质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②中</a:t>
              </a:r>
              <a:r>
                <a:rPr kumimoji="1"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z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＝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>
                  <a:solidFill>
                    <a:schemeClr val="bg1"/>
                  </a:solidFill>
                  <a:latin typeface="楷体_GB2312" pitchFamily="49" charset="-122"/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处的波阻抗。</a:t>
              </a:r>
              <a:r>
                <a:rPr kumimoji="1" lang="zh-CN" altLang="en-US" b="0">
                  <a:latin typeface="楷体_GB2312" pitchFamily="49" charset="-122"/>
                </a:rPr>
                <a:t> </a:t>
              </a:r>
            </a:p>
          </p:txBody>
        </p:sp>
        <p:graphicFrame>
          <p:nvGraphicFramePr>
            <p:cNvPr id="30735" name="Object 11"/>
            <p:cNvGraphicFramePr>
              <a:graphicFrameLocks noChangeAspect="1"/>
            </p:cNvGraphicFramePr>
            <p:nvPr/>
          </p:nvGraphicFramePr>
          <p:xfrm>
            <a:off x="1391" y="3483"/>
            <a:ext cx="26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9" name="Equation" r:id="rId11" imgW="104800" imgH="133453" progId="Equation.DSMT4">
                    <p:embed/>
                  </p:oleObj>
                </mc:Choice>
                <mc:Fallback>
                  <p:oleObj name="Equation" r:id="rId11" imgW="104800" imgH="13345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" y="3483"/>
                          <a:ext cx="26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0" name="AutoShape 16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1" name="AutoShape 1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2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3" name="AutoShape 1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1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1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81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2" grpId="0" autoUpdateAnimBg="0"/>
      <p:bldP spid="81920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2D3B60-9D87-4AAD-98DC-C3B4FDEA0ACC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grpSp>
        <p:nvGrpSpPr>
          <p:cNvPr id="2" name="Group 121"/>
          <p:cNvGrpSpPr>
            <a:grpSpLocks/>
          </p:cNvGrpSpPr>
          <p:nvPr/>
        </p:nvGrpSpPr>
        <p:grpSpPr bwMode="auto">
          <a:xfrm>
            <a:off x="34925" y="476250"/>
            <a:ext cx="8820150" cy="1735138"/>
            <a:chOff x="22" y="300"/>
            <a:chExt cx="5556" cy="1093"/>
          </a:xfrm>
        </p:grpSpPr>
        <p:sp>
          <p:nvSpPr>
            <p:cNvPr id="31867" name="Text Box 3"/>
            <p:cNvSpPr txBox="1">
              <a:spLocks noChangeArrowheads="1"/>
            </p:cNvSpPr>
            <p:nvPr/>
          </p:nvSpPr>
          <p:spPr bwMode="auto">
            <a:xfrm>
              <a:off x="22" y="300"/>
              <a:ext cx="5556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schemeClr val="bg1"/>
                  </a:solidFill>
                  <a:latin typeface="Times New Roman" pitchFamily="18" charset="0"/>
                </a:rPr>
                <a:t>    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引入等效波阻抗以后，在计算第一层媒质分界面上的反射系数    时 ，</a:t>
              </a:r>
              <a:r>
                <a:rPr kumimoji="1" lang="zh-CN" altLang="en-US">
                  <a:solidFill>
                    <a:srgbClr val="FF0000"/>
                  </a:solidFill>
                  <a:latin typeface="Times New Roman" pitchFamily="18" charset="0"/>
                </a:rPr>
                <a:t>第二层媒质和第三层媒质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可以看作等效波阻抗为 </a:t>
              </a:r>
              <a:r>
                <a:rPr kumimoji="1" lang="zh-CN" altLang="en-US" b="0" i="1">
                  <a:solidFill>
                    <a:schemeClr val="bg1"/>
                  </a:solidFill>
                  <a:latin typeface="Times New Roman" pitchFamily="18" charset="0"/>
                </a:rPr>
                <a:t>     </a:t>
              </a:r>
              <a:r>
                <a:rPr kumimoji="1" lang="zh-CN" altLang="en-US" b="0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的</a:t>
              </a:r>
              <a:r>
                <a:rPr kumimoji="1" lang="zh-CN" altLang="en-US">
                  <a:solidFill>
                    <a:srgbClr val="FF0000"/>
                  </a:solidFill>
                  <a:latin typeface="Times New Roman" pitchFamily="18" charset="0"/>
                </a:rPr>
                <a:t>一种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媒质。</a:t>
              </a:r>
            </a:p>
          </p:txBody>
        </p:sp>
        <p:graphicFrame>
          <p:nvGraphicFramePr>
            <p:cNvPr id="31868" name="Object 4"/>
            <p:cNvGraphicFramePr>
              <a:graphicFrameLocks noChangeAspect="1"/>
            </p:cNvGraphicFramePr>
            <p:nvPr/>
          </p:nvGraphicFramePr>
          <p:xfrm>
            <a:off x="5020" y="717"/>
            <a:ext cx="26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4" name="Equation" r:id="rId3" imgW="104800" imgH="133453" progId="Equation.DSMT4">
                    <p:embed/>
                  </p:oleObj>
                </mc:Choice>
                <mc:Fallback>
                  <p:oleObj name="Equation" r:id="rId3" imgW="104800" imgH="133453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0" y="717"/>
                          <a:ext cx="26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69" name="Object 5"/>
            <p:cNvGraphicFramePr>
              <a:graphicFrameLocks noChangeAspect="1"/>
            </p:cNvGraphicFramePr>
            <p:nvPr/>
          </p:nvGraphicFramePr>
          <p:xfrm>
            <a:off x="259" y="754"/>
            <a:ext cx="23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5" name="公式" r:id="rId5" imgW="85714" imgH="123722" progId="Equation.3">
                    <p:embed/>
                  </p:oleObj>
                </mc:Choice>
                <mc:Fallback>
                  <p:oleObj name="公式" r:id="rId5" imgW="85714" imgH="12372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" y="754"/>
                          <a:ext cx="23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2"/>
          <p:cNvGrpSpPr>
            <a:grpSpLocks/>
          </p:cNvGrpSpPr>
          <p:nvPr/>
        </p:nvGrpSpPr>
        <p:grpSpPr bwMode="auto">
          <a:xfrm>
            <a:off x="395288" y="2379663"/>
            <a:ext cx="3889375" cy="3500437"/>
            <a:chOff x="249" y="1499"/>
            <a:chExt cx="2450" cy="2205"/>
          </a:xfrm>
        </p:grpSpPr>
        <p:sp>
          <p:nvSpPr>
            <p:cNvPr id="31798" name="Rectangle 7"/>
            <p:cNvSpPr>
              <a:spLocks noChangeArrowheads="1"/>
            </p:cNvSpPr>
            <p:nvPr/>
          </p:nvSpPr>
          <p:spPr bwMode="auto">
            <a:xfrm>
              <a:off x="1058" y="1523"/>
              <a:ext cx="809" cy="218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99" name="Rectangle 8"/>
            <p:cNvSpPr>
              <a:spLocks noChangeArrowheads="1"/>
            </p:cNvSpPr>
            <p:nvPr/>
          </p:nvSpPr>
          <p:spPr bwMode="auto">
            <a:xfrm>
              <a:off x="249" y="1523"/>
              <a:ext cx="829" cy="218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800" name="Rectangle 9"/>
            <p:cNvSpPr>
              <a:spLocks noChangeArrowheads="1"/>
            </p:cNvSpPr>
            <p:nvPr/>
          </p:nvSpPr>
          <p:spPr bwMode="auto">
            <a:xfrm>
              <a:off x="1829" y="1523"/>
              <a:ext cx="851" cy="2181"/>
            </a:xfrm>
            <a:prstGeom prst="rect">
              <a:avLst/>
            </a:prstGeom>
            <a:solidFill>
              <a:srgbClr val="3399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801" name="Text Box 10"/>
            <p:cNvSpPr txBox="1">
              <a:spLocks noChangeArrowheads="1"/>
            </p:cNvSpPr>
            <p:nvPr/>
          </p:nvSpPr>
          <p:spPr bwMode="auto">
            <a:xfrm>
              <a:off x="326" y="3097"/>
              <a:ext cx="664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2" name="Text Box 11"/>
            <p:cNvSpPr txBox="1">
              <a:spLocks noChangeArrowheads="1"/>
            </p:cNvSpPr>
            <p:nvPr/>
          </p:nvSpPr>
          <p:spPr bwMode="auto">
            <a:xfrm>
              <a:off x="1097" y="2085"/>
              <a:ext cx="684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3" name="Text Box 12"/>
            <p:cNvSpPr txBox="1">
              <a:spLocks noChangeArrowheads="1"/>
            </p:cNvSpPr>
            <p:nvPr/>
          </p:nvSpPr>
          <p:spPr bwMode="auto">
            <a:xfrm>
              <a:off x="1888" y="3118"/>
              <a:ext cx="682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4" name="Text Box 13"/>
            <p:cNvSpPr txBox="1">
              <a:spLocks noChangeArrowheads="1"/>
            </p:cNvSpPr>
            <p:nvPr/>
          </p:nvSpPr>
          <p:spPr bwMode="auto">
            <a:xfrm>
              <a:off x="1155" y="3100"/>
              <a:ext cx="683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5" name="Line 14"/>
            <p:cNvSpPr>
              <a:spLocks noChangeShapeType="1"/>
            </p:cNvSpPr>
            <p:nvPr/>
          </p:nvSpPr>
          <p:spPr bwMode="auto">
            <a:xfrm>
              <a:off x="1065" y="1523"/>
              <a:ext cx="0" cy="21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6" name="Line 15"/>
            <p:cNvSpPr>
              <a:spLocks noChangeShapeType="1"/>
            </p:cNvSpPr>
            <p:nvPr/>
          </p:nvSpPr>
          <p:spPr bwMode="auto">
            <a:xfrm>
              <a:off x="1829" y="1523"/>
              <a:ext cx="0" cy="218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7" name="Text Box 16"/>
            <p:cNvSpPr txBox="1">
              <a:spLocks noChangeArrowheads="1"/>
            </p:cNvSpPr>
            <p:nvPr/>
          </p:nvSpPr>
          <p:spPr bwMode="auto">
            <a:xfrm>
              <a:off x="881" y="2787"/>
              <a:ext cx="2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 b="0" i="1">
                  <a:latin typeface="Times New Roman" pitchFamily="18" charset="0"/>
                  <a:ea typeface="宋体" pitchFamily="2" charset="-122"/>
                </a:rPr>
                <a:t>O</a:t>
              </a:r>
              <a:endParaRPr lang="en-US" altLang="zh-CN" sz="1800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8" name="Text Box 17"/>
            <p:cNvSpPr txBox="1">
              <a:spLocks noChangeArrowheads="1"/>
            </p:cNvSpPr>
            <p:nvPr/>
          </p:nvSpPr>
          <p:spPr bwMode="auto">
            <a:xfrm>
              <a:off x="1646" y="2787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d</a:t>
              </a:r>
              <a:endParaRPr lang="en-US" altLang="zh-CN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09" name="Text Box 18"/>
            <p:cNvSpPr txBox="1">
              <a:spLocks noChangeArrowheads="1"/>
            </p:cNvSpPr>
            <p:nvPr/>
          </p:nvSpPr>
          <p:spPr bwMode="auto">
            <a:xfrm>
              <a:off x="2519" y="2782"/>
              <a:ext cx="180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z</a:t>
              </a:r>
              <a:endParaRPr lang="en-US" altLang="zh-CN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10" name="Line 19"/>
            <p:cNvSpPr>
              <a:spLocks noChangeShapeType="1"/>
            </p:cNvSpPr>
            <p:nvPr/>
          </p:nvSpPr>
          <p:spPr bwMode="auto">
            <a:xfrm>
              <a:off x="249" y="2803"/>
              <a:ext cx="2415" cy="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1" name="Text Box 20"/>
            <p:cNvSpPr txBox="1">
              <a:spLocks noChangeArrowheads="1"/>
            </p:cNvSpPr>
            <p:nvPr/>
          </p:nvSpPr>
          <p:spPr bwMode="auto">
            <a:xfrm>
              <a:off x="295" y="1774"/>
              <a:ext cx="34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①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12" name="Text Box 21"/>
            <p:cNvSpPr txBox="1">
              <a:spLocks noChangeArrowheads="1"/>
            </p:cNvSpPr>
            <p:nvPr/>
          </p:nvSpPr>
          <p:spPr bwMode="auto">
            <a:xfrm>
              <a:off x="1100" y="1773"/>
              <a:ext cx="255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②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13" name="Text Box 22"/>
            <p:cNvSpPr txBox="1">
              <a:spLocks noChangeArrowheads="1"/>
            </p:cNvSpPr>
            <p:nvPr/>
          </p:nvSpPr>
          <p:spPr bwMode="auto">
            <a:xfrm>
              <a:off x="1823" y="1774"/>
              <a:ext cx="30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③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14" name="Text Box 23"/>
            <p:cNvSpPr txBox="1">
              <a:spLocks noChangeArrowheads="1"/>
            </p:cNvSpPr>
            <p:nvPr/>
          </p:nvSpPr>
          <p:spPr bwMode="auto">
            <a:xfrm>
              <a:off x="476" y="1732"/>
              <a:ext cx="5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815" name="Group 24"/>
            <p:cNvGrpSpPr>
              <a:grpSpLocks/>
            </p:cNvGrpSpPr>
            <p:nvPr/>
          </p:nvGrpSpPr>
          <p:grpSpPr bwMode="auto">
            <a:xfrm>
              <a:off x="448" y="3271"/>
              <a:ext cx="100" cy="99"/>
              <a:chOff x="638" y="3048"/>
              <a:chExt cx="169" cy="169"/>
            </a:xfrm>
          </p:grpSpPr>
          <p:sp>
            <p:nvSpPr>
              <p:cNvPr id="31865" name="Oval 25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66" name="Oval 26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1816" name="Line 27"/>
            <p:cNvSpPr>
              <a:spLocks noChangeShapeType="1"/>
            </p:cNvSpPr>
            <p:nvPr/>
          </p:nvSpPr>
          <p:spPr bwMode="auto">
            <a:xfrm>
              <a:off x="547" y="3328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7" name="Line 28"/>
            <p:cNvSpPr>
              <a:spLocks noChangeShapeType="1"/>
            </p:cNvSpPr>
            <p:nvPr/>
          </p:nvSpPr>
          <p:spPr bwMode="auto">
            <a:xfrm rot="-5400000">
              <a:off x="341" y="3116"/>
              <a:ext cx="31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8" name="Text Box 29"/>
            <p:cNvSpPr txBox="1">
              <a:spLocks noChangeArrowheads="1"/>
            </p:cNvSpPr>
            <p:nvPr/>
          </p:nvSpPr>
          <p:spPr bwMode="auto">
            <a:xfrm>
              <a:off x="759" y="3285"/>
              <a:ext cx="3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19" name="Text Box 30"/>
            <p:cNvSpPr txBox="1">
              <a:spLocks noChangeArrowheads="1"/>
            </p:cNvSpPr>
            <p:nvPr/>
          </p:nvSpPr>
          <p:spPr bwMode="auto">
            <a:xfrm>
              <a:off x="334" y="3340"/>
              <a:ext cx="3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20" name="Text Box 31"/>
            <p:cNvSpPr txBox="1">
              <a:spLocks noChangeArrowheads="1"/>
            </p:cNvSpPr>
            <p:nvPr/>
          </p:nvSpPr>
          <p:spPr bwMode="auto">
            <a:xfrm>
              <a:off x="505" y="2885"/>
              <a:ext cx="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21" name="Text Box 32"/>
            <p:cNvSpPr txBox="1">
              <a:spLocks noChangeArrowheads="1"/>
            </p:cNvSpPr>
            <p:nvPr/>
          </p:nvSpPr>
          <p:spPr bwMode="auto">
            <a:xfrm>
              <a:off x="291" y="2466"/>
              <a:ext cx="45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822" name="Group 33"/>
            <p:cNvGrpSpPr>
              <a:grpSpLocks/>
            </p:cNvGrpSpPr>
            <p:nvPr/>
          </p:nvGrpSpPr>
          <p:grpSpPr bwMode="auto">
            <a:xfrm>
              <a:off x="419" y="2155"/>
              <a:ext cx="419" cy="417"/>
              <a:chOff x="508" y="1937"/>
              <a:chExt cx="447" cy="450"/>
            </a:xfrm>
          </p:grpSpPr>
          <p:sp>
            <p:nvSpPr>
              <p:cNvPr id="31858" name="Line 34"/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9" name="Line 35"/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860" name="Group 36"/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31861" name="Oval 37"/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1862" name="Group 38"/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31863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64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1823" name="Text Box 41"/>
            <p:cNvSpPr txBox="1">
              <a:spLocks noChangeArrowheads="1"/>
            </p:cNvSpPr>
            <p:nvPr/>
          </p:nvSpPr>
          <p:spPr bwMode="auto">
            <a:xfrm>
              <a:off x="1159" y="3119"/>
              <a:ext cx="664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824" name="Group 42"/>
            <p:cNvGrpSpPr>
              <a:grpSpLocks/>
            </p:cNvGrpSpPr>
            <p:nvPr/>
          </p:nvGrpSpPr>
          <p:grpSpPr bwMode="auto">
            <a:xfrm>
              <a:off x="1281" y="3293"/>
              <a:ext cx="100" cy="99"/>
              <a:chOff x="638" y="3048"/>
              <a:chExt cx="169" cy="169"/>
            </a:xfrm>
          </p:grpSpPr>
          <p:sp>
            <p:nvSpPr>
              <p:cNvPr id="31856" name="Oval 43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57" name="Oval 44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1825" name="Line 45"/>
            <p:cNvSpPr>
              <a:spLocks noChangeShapeType="1"/>
            </p:cNvSpPr>
            <p:nvPr/>
          </p:nvSpPr>
          <p:spPr bwMode="auto">
            <a:xfrm>
              <a:off x="1380" y="3351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6" name="Line 46"/>
            <p:cNvSpPr>
              <a:spLocks noChangeShapeType="1"/>
            </p:cNvSpPr>
            <p:nvPr/>
          </p:nvSpPr>
          <p:spPr bwMode="auto">
            <a:xfrm rot="-5400000">
              <a:off x="1175" y="3138"/>
              <a:ext cx="314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7" name="Text Box 47"/>
            <p:cNvSpPr txBox="1">
              <a:spLocks noChangeArrowheads="1"/>
            </p:cNvSpPr>
            <p:nvPr/>
          </p:nvSpPr>
          <p:spPr bwMode="auto">
            <a:xfrm>
              <a:off x="1167" y="3363"/>
              <a:ext cx="3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28" name="Text Box 48"/>
            <p:cNvSpPr txBox="1">
              <a:spLocks noChangeArrowheads="1"/>
            </p:cNvSpPr>
            <p:nvPr/>
          </p:nvSpPr>
          <p:spPr bwMode="auto">
            <a:xfrm>
              <a:off x="1338" y="2907"/>
              <a:ext cx="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29" name="Text Box 49"/>
            <p:cNvSpPr txBox="1">
              <a:spLocks noChangeArrowheads="1"/>
            </p:cNvSpPr>
            <p:nvPr/>
          </p:nvSpPr>
          <p:spPr bwMode="auto">
            <a:xfrm>
              <a:off x="1539" y="3327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30" name="Text Box 50"/>
            <p:cNvSpPr txBox="1">
              <a:spLocks noChangeArrowheads="1"/>
            </p:cNvSpPr>
            <p:nvPr/>
          </p:nvSpPr>
          <p:spPr bwMode="auto">
            <a:xfrm>
              <a:off x="476" y="2026"/>
              <a:ext cx="3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31" name="Text Box 51"/>
            <p:cNvSpPr txBox="1">
              <a:spLocks noChangeArrowheads="1"/>
            </p:cNvSpPr>
            <p:nvPr/>
          </p:nvSpPr>
          <p:spPr bwMode="auto">
            <a:xfrm>
              <a:off x="758" y="2487"/>
              <a:ext cx="4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32" name="Text Box 52"/>
            <p:cNvSpPr txBox="1">
              <a:spLocks noChangeArrowheads="1"/>
            </p:cNvSpPr>
            <p:nvPr/>
          </p:nvSpPr>
          <p:spPr bwMode="auto">
            <a:xfrm>
              <a:off x="1058" y="2466"/>
              <a:ext cx="4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833" name="Group 53"/>
            <p:cNvGrpSpPr>
              <a:grpSpLocks/>
            </p:cNvGrpSpPr>
            <p:nvPr/>
          </p:nvGrpSpPr>
          <p:grpSpPr bwMode="auto">
            <a:xfrm>
              <a:off x="1185" y="2155"/>
              <a:ext cx="419" cy="417"/>
              <a:chOff x="508" y="1937"/>
              <a:chExt cx="447" cy="450"/>
            </a:xfrm>
          </p:grpSpPr>
          <p:sp>
            <p:nvSpPr>
              <p:cNvPr id="31849" name="Line 54"/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50" name="Line 55"/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851" name="Group 56"/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31852" name="Oval 57"/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1853" name="Group 58"/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31854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55" name="Line 6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1834" name="Text Box 61"/>
            <p:cNvSpPr txBox="1">
              <a:spLocks noChangeArrowheads="1"/>
            </p:cNvSpPr>
            <p:nvPr/>
          </p:nvSpPr>
          <p:spPr bwMode="auto">
            <a:xfrm>
              <a:off x="1247" y="2026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35" name="Text Box 62"/>
            <p:cNvSpPr txBox="1">
              <a:spLocks noChangeArrowheads="1"/>
            </p:cNvSpPr>
            <p:nvPr/>
          </p:nvSpPr>
          <p:spPr bwMode="auto">
            <a:xfrm>
              <a:off x="1525" y="2487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836" name="Group 63"/>
            <p:cNvGrpSpPr>
              <a:grpSpLocks/>
            </p:cNvGrpSpPr>
            <p:nvPr/>
          </p:nvGrpSpPr>
          <p:grpSpPr bwMode="auto">
            <a:xfrm>
              <a:off x="1951" y="3278"/>
              <a:ext cx="101" cy="99"/>
              <a:chOff x="638" y="3048"/>
              <a:chExt cx="169" cy="169"/>
            </a:xfrm>
          </p:grpSpPr>
          <p:sp>
            <p:nvSpPr>
              <p:cNvPr id="31847" name="Oval 64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848" name="Oval 65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1837" name="Line 66"/>
            <p:cNvSpPr>
              <a:spLocks noChangeShapeType="1"/>
            </p:cNvSpPr>
            <p:nvPr/>
          </p:nvSpPr>
          <p:spPr bwMode="auto">
            <a:xfrm>
              <a:off x="2051" y="3335"/>
              <a:ext cx="31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8" name="Line 67"/>
            <p:cNvSpPr>
              <a:spLocks noChangeShapeType="1"/>
            </p:cNvSpPr>
            <p:nvPr/>
          </p:nvSpPr>
          <p:spPr bwMode="auto">
            <a:xfrm rot="-5400000">
              <a:off x="1846" y="3122"/>
              <a:ext cx="314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9" name="Text Box 68"/>
            <p:cNvSpPr txBox="1">
              <a:spLocks noChangeArrowheads="1"/>
            </p:cNvSpPr>
            <p:nvPr/>
          </p:nvSpPr>
          <p:spPr bwMode="auto">
            <a:xfrm>
              <a:off x="2263" y="3291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0" name="Text Box 69"/>
            <p:cNvSpPr txBox="1">
              <a:spLocks noChangeArrowheads="1"/>
            </p:cNvSpPr>
            <p:nvPr/>
          </p:nvSpPr>
          <p:spPr bwMode="auto">
            <a:xfrm>
              <a:off x="1838" y="3347"/>
              <a:ext cx="3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1" name="Text Box 70"/>
            <p:cNvSpPr txBox="1">
              <a:spLocks noChangeArrowheads="1"/>
            </p:cNvSpPr>
            <p:nvPr/>
          </p:nvSpPr>
          <p:spPr bwMode="auto">
            <a:xfrm>
              <a:off x="2009" y="2865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3t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2" name="Text Box 71"/>
            <p:cNvSpPr txBox="1">
              <a:spLocks noChangeArrowheads="1"/>
            </p:cNvSpPr>
            <p:nvPr/>
          </p:nvSpPr>
          <p:spPr bwMode="auto">
            <a:xfrm>
              <a:off x="1238" y="1719"/>
              <a:ext cx="5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3" name="Text Box 72"/>
            <p:cNvSpPr txBox="1">
              <a:spLocks noChangeArrowheads="1"/>
            </p:cNvSpPr>
            <p:nvPr/>
          </p:nvSpPr>
          <p:spPr bwMode="auto">
            <a:xfrm>
              <a:off x="1950" y="1733"/>
              <a:ext cx="5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4" name="Text Box 73"/>
            <p:cNvSpPr txBox="1">
              <a:spLocks noChangeArrowheads="1"/>
            </p:cNvSpPr>
            <p:nvPr/>
          </p:nvSpPr>
          <p:spPr bwMode="auto">
            <a:xfrm>
              <a:off x="1058" y="1499"/>
              <a:ext cx="255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60000"/>
                </a:lnSpc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31845" name="Text Box 74"/>
            <p:cNvSpPr txBox="1">
              <a:spLocks noChangeArrowheads="1"/>
            </p:cNvSpPr>
            <p:nvPr/>
          </p:nvSpPr>
          <p:spPr bwMode="auto">
            <a:xfrm>
              <a:off x="793" y="1594"/>
              <a:ext cx="578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sz="1800">
                  <a:latin typeface="宋体" pitchFamily="2" charset="-122"/>
                  <a:ea typeface="宋体" pitchFamily="2" charset="-122"/>
                </a:rPr>
                <a:t>界面</a:t>
              </a: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1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846" name="Text Box 75"/>
            <p:cNvSpPr txBox="1">
              <a:spLocks noChangeArrowheads="1"/>
            </p:cNvSpPr>
            <p:nvPr/>
          </p:nvSpPr>
          <p:spPr bwMode="auto">
            <a:xfrm>
              <a:off x="1534" y="1594"/>
              <a:ext cx="575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sz="1800">
                  <a:latin typeface="宋体" pitchFamily="2" charset="-122"/>
                  <a:ea typeface="宋体" pitchFamily="2" charset="-122"/>
                </a:rPr>
                <a:t>界面</a:t>
              </a: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2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3" name="Group 76"/>
          <p:cNvGrpSpPr>
            <a:grpSpLocks/>
          </p:cNvGrpSpPr>
          <p:nvPr/>
        </p:nvGrpSpPr>
        <p:grpSpPr bwMode="auto">
          <a:xfrm>
            <a:off x="5219700" y="2420938"/>
            <a:ext cx="3671888" cy="3498850"/>
            <a:chOff x="3289" y="1071"/>
            <a:chExt cx="2313" cy="2204"/>
          </a:xfrm>
        </p:grpSpPr>
        <p:sp>
          <p:nvSpPr>
            <p:cNvPr id="31755" name="Rectangle 77"/>
            <p:cNvSpPr>
              <a:spLocks noChangeArrowheads="1"/>
            </p:cNvSpPr>
            <p:nvPr/>
          </p:nvSpPr>
          <p:spPr bwMode="auto">
            <a:xfrm>
              <a:off x="4105" y="1113"/>
              <a:ext cx="1456" cy="2162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6" name="Rectangle 78"/>
            <p:cNvSpPr>
              <a:spLocks noChangeArrowheads="1"/>
            </p:cNvSpPr>
            <p:nvPr/>
          </p:nvSpPr>
          <p:spPr bwMode="auto">
            <a:xfrm>
              <a:off x="3306" y="1113"/>
              <a:ext cx="820" cy="216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7" name="Text Box 79"/>
            <p:cNvSpPr txBox="1">
              <a:spLocks noChangeArrowheads="1"/>
            </p:cNvSpPr>
            <p:nvPr/>
          </p:nvSpPr>
          <p:spPr bwMode="auto">
            <a:xfrm>
              <a:off x="3382" y="2674"/>
              <a:ext cx="657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58" name="Text Box 80"/>
            <p:cNvSpPr txBox="1">
              <a:spLocks noChangeArrowheads="1"/>
            </p:cNvSpPr>
            <p:nvPr/>
          </p:nvSpPr>
          <p:spPr bwMode="auto">
            <a:xfrm>
              <a:off x="4927" y="2695"/>
              <a:ext cx="675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59" name="Text Box 81"/>
            <p:cNvSpPr txBox="1">
              <a:spLocks noChangeArrowheads="1"/>
            </p:cNvSpPr>
            <p:nvPr/>
          </p:nvSpPr>
          <p:spPr bwMode="auto">
            <a:xfrm>
              <a:off x="4202" y="2676"/>
              <a:ext cx="67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60" name="Line 82"/>
            <p:cNvSpPr>
              <a:spLocks noChangeShapeType="1"/>
            </p:cNvSpPr>
            <p:nvPr/>
          </p:nvSpPr>
          <p:spPr bwMode="auto">
            <a:xfrm>
              <a:off x="4113" y="1113"/>
              <a:ext cx="0" cy="2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Text Box 83"/>
            <p:cNvSpPr txBox="1">
              <a:spLocks noChangeArrowheads="1"/>
            </p:cNvSpPr>
            <p:nvPr/>
          </p:nvSpPr>
          <p:spPr bwMode="auto">
            <a:xfrm>
              <a:off x="3966" y="2366"/>
              <a:ext cx="22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 b="0" i="1">
                  <a:latin typeface="Times New Roman" pitchFamily="18" charset="0"/>
                  <a:ea typeface="宋体" pitchFamily="2" charset="-122"/>
                </a:rPr>
                <a:t>O</a:t>
              </a:r>
              <a:endParaRPr lang="en-US" altLang="zh-CN" sz="1800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62" name="Text Box 84"/>
            <p:cNvSpPr txBox="1">
              <a:spLocks noChangeArrowheads="1"/>
            </p:cNvSpPr>
            <p:nvPr/>
          </p:nvSpPr>
          <p:spPr bwMode="auto">
            <a:xfrm>
              <a:off x="5383" y="2319"/>
              <a:ext cx="17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z</a:t>
              </a:r>
              <a:endParaRPr lang="en-US" altLang="zh-CN" b="0" i="1" baseline="-250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63" name="Line 85"/>
            <p:cNvSpPr>
              <a:spLocks noChangeShapeType="1"/>
            </p:cNvSpPr>
            <p:nvPr/>
          </p:nvSpPr>
          <p:spPr bwMode="auto">
            <a:xfrm>
              <a:off x="3289" y="2360"/>
              <a:ext cx="2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4" name="Text Box 86"/>
            <p:cNvSpPr txBox="1">
              <a:spLocks noChangeArrowheads="1"/>
            </p:cNvSpPr>
            <p:nvPr/>
          </p:nvSpPr>
          <p:spPr bwMode="auto">
            <a:xfrm>
              <a:off x="3334" y="1344"/>
              <a:ext cx="337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①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65" name="Text Box 87"/>
            <p:cNvSpPr txBox="1">
              <a:spLocks noChangeArrowheads="1"/>
            </p:cNvSpPr>
            <p:nvPr/>
          </p:nvSpPr>
          <p:spPr bwMode="auto">
            <a:xfrm>
              <a:off x="4383" y="1362"/>
              <a:ext cx="2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②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66" name="Text Box 88"/>
            <p:cNvSpPr txBox="1">
              <a:spLocks noChangeArrowheads="1"/>
            </p:cNvSpPr>
            <p:nvPr/>
          </p:nvSpPr>
          <p:spPr bwMode="auto">
            <a:xfrm>
              <a:off x="3515" y="1282"/>
              <a:ext cx="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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r>
                <a:rPr lang="en-US" altLang="zh-CN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, </a:t>
              </a: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</a:t>
              </a:r>
              <a:endParaRPr lang="en-US" altLang="zh-CN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767" name="Group 89"/>
            <p:cNvGrpSpPr>
              <a:grpSpLocks/>
            </p:cNvGrpSpPr>
            <p:nvPr/>
          </p:nvGrpSpPr>
          <p:grpSpPr bwMode="auto">
            <a:xfrm>
              <a:off x="3502" y="2846"/>
              <a:ext cx="100" cy="98"/>
              <a:chOff x="638" y="3048"/>
              <a:chExt cx="169" cy="169"/>
            </a:xfrm>
          </p:grpSpPr>
          <p:sp>
            <p:nvSpPr>
              <p:cNvPr id="31796" name="Oval 90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97" name="Oval 91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1768" name="Line 92"/>
            <p:cNvSpPr>
              <a:spLocks noChangeShapeType="1"/>
            </p:cNvSpPr>
            <p:nvPr/>
          </p:nvSpPr>
          <p:spPr bwMode="auto">
            <a:xfrm>
              <a:off x="3601" y="2903"/>
              <a:ext cx="3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Line 93"/>
            <p:cNvSpPr>
              <a:spLocks noChangeShapeType="1"/>
            </p:cNvSpPr>
            <p:nvPr/>
          </p:nvSpPr>
          <p:spPr bwMode="auto">
            <a:xfrm rot="-5400000">
              <a:off x="3397" y="2692"/>
              <a:ext cx="31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Text Box 94"/>
            <p:cNvSpPr txBox="1">
              <a:spLocks noChangeArrowheads="1"/>
            </p:cNvSpPr>
            <p:nvPr/>
          </p:nvSpPr>
          <p:spPr bwMode="auto">
            <a:xfrm>
              <a:off x="3810" y="2860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71" name="Text Box 95"/>
            <p:cNvSpPr txBox="1">
              <a:spLocks noChangeArrowheads="1"/>
            </p:cNvSpPr>
            <p:nvPr/>
          </p:nvSpPr>
          <p:spPr bwMode="auto">
            <a:xfrm>
              <a:off x="3390" y="2915"/>
              <a:ext cx="3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72" name="Text Box 96"/>
            <p:cNvSpPr txBox="1">
              <a:spLocks noChangeArrowheads="1"/>
            </p:cNvSpPr>
            <p:nvPr/>
          </p:nvSpPr>
          <p:spPr bwMode="auto">
            <a:xfrm>
              <a:off x="3559" y="2464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1i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73" name="Text Box 97"/>
            <p:cNvSpPr txBox="1">
              <a:spLocks noChangeArrowheads="1"/>
            </p:cNvSpPr>
            <p:nvPr/>
          </p:nvSpPr>
          <p:spPr bwMode="auto">
            <a:xfrm>
              <a:off x="3347" y="204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774" name="Group 98"/>
            <p:cNvGrpSpPr>
              <a:grpSpLocks/>
            </p:cNvGrpSpPr>
            <p:nvPr/>
          </p:nvGrpSpPr>
          <p:grpSpPr bwMode="auto">
            <a:xfrm>
              <a:off x="3474" y="1740"/>
              <a:ext cx="414" cy="413"/>
              <a:chOff x="508" y="1937"/>
              <a:chExt cx="447" cy="450"/>
            </a:xfrm>
          </p:grpSpPr>
          <p:sp>
            <p:nvSpPr>
              <p:cNvPr id="31789" name="Line 99"/>
              <p:cNvSpPr>
                <a:spLocks noChangeShapeType="1"/>
              </p:cNvSpPr>
              <p:nvPr/>
            </p:nvSpPr>
            <p:spPr bwMode="auto">
              <a:xfrm>
                <a:off x="508" y="232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0" name="Line 100"/>
              <p:cNvSpPr>
                <a:spLocks noChangeShapeType="1"/>
              </p:cNvSpPr>
              <p:nvPr/>
            </p:nvSpPr>
            <p:spPr bwMode="auto">
              <a:xfrm rot="-5400000">
                <a:off x="735" y="2105"/>
                <a:ext cx="336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1791" name="Group 101"/>
              <p:cNvGrpSpPr>
                <a:grpSpLocks/>
              </p:cNvGrpSpPr>
              <p:nvPr/>
            </p:nvGrpSpPr>
            <p:grpSpPr bwMode="auto">
              <a:xfrm>
                <a:off x="848" y="2280"/>
                <a:ext cx="107" cy="107"/>
                <a:chOff x="930" y="2339"/>
                <a:chExt cx="107" cy="107"/>
              </a:xfrm>
            </p:grpSpPr>
            <p:sp>
              <p:nvSpPr>
                <p:cNvPr id="31792" name="Oval 102"/>
                <p:cNvSpPr>
                  <a:spLocks noChangeArrowheads="1"/>
                </p:cNvSpPr>
                <p:nvPr/>
              </p:nvSpPr>
              <p:spPr bwMode="auto">
                <a:xfrm>
                  <a:off x="930" y="2339"/>
                  <a:ext cx="107" cy="107"/>
                </a:xfrm>
                <a:prstGeom prst="ellipse">
                  <a:avLst/>
                </a:prstGeom>
                <a:noFill/>
                <a:ln w="25400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1793" name="Group 103"/>
                <p:cNvGrpSpPr>
                  <a:grpSpLocks/>
                </p:cNvGrpSpPr>
                <p:nvPr/>
              </p:nvGrpSpPr>
              <p:grpSpPr bwMode="auto">
                <a:xfrm>
                  <a:off x="946" y="2358"/>
                  <a:ext cx="74" cy="82"/>
                  <a:chOff x="3054" y="1938"/>
                  <a:chExt cx="74" cy="82"/>
                </a:xfrm>
              </p:grpSpPr>
              <p:sp>
                <p:nvSpPr>
                  <p:cNvPr id="31794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066" y="1941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5" name="Line 1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54" y="1938"/>
                    <a:ext cx="62" cy="79"/>
                  </a:xfrm>
                  <a:prstGeom prst="line">
                    <a:avLst/>
                  </a:prstGeom>
                  <a:noFill/>
                  <a:ln w="25400">
                    <a:solidFill>
                      <a:srgbClr val="80008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1775" name="Text Box 106"/>
            <p:cNvSpPr txBox="1">
              <a:spLocks noChangeArrowheads="1"/>
            </p:cNvSpPr>
            <p:nvPr/>
          </p:nvSpPr>
          <p:spPr bwMode="auto">
            <a:xfrm>
              <a:off x="4206" y="2696"/>
              <a:ext cx="657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1776" name="Group 107"/>
            <p:cNvGrpSpPr>
              <a:grpSpLocks/>
            </p:cNvGrpSpPr>
            <p:nvPr/>
          </p:nvGrpSpPr>
          <p:grpSpPr bwMode="auto">
            <a:xfrm>
              <a:off x="4326" y="2868"/>
              <a:ext cx="100" cy="98"/>
              <a:chOff x="638" y="3048"/>
              <a:chExt cx="169" cy="169"/>
            </a:xfrm>
          </p:grpSpPr>
          <p:sp>
            <p:nvSpPr>
              <p:cNvPr id="31787" name="Oval 108"/>
              <p:cNvSpPr>
                <a:spLocks noChangeArrowheads="1"/>
              </p:cNvSpPr>
              <p:nvPr/>
            </p:nvSpPr>
            <p:spPr bwMode="auto">
              <a:xfrm>
                <a:off x="638" y="3048"/>
                <a:ext cx="169" cy="169"/>
              </a:xfrm>
              <a:prstGeom prst="ellips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88" name="Oval 109"/>
              <p:cNvSpPr>
                <a:spLocks noChangeArrowheads="1"/>
              </p:cNvSpPr>
              <p:nvPr/>
            </p:nvSpPr>
            <p:spPr bwMode="auto">
              <a:xfrm>
                <a:off x="689" y="3105"/>
                <a:ext cx="63" cy="64"/>
              </a:xfrm>
              <a:prstGeom prst="ellipse">
                <a:avLst/>
              </a:prstGeom>
              <a:solidFill>
                <a:srgbClr val="800080"/>
              </a:solidFill>
              <a:ln w="25400">
                <a:solidFill>
                  <a:srgbClr val="800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1777" name="Line 110"/>
            <p:cNvSpPr>
              <a:spLocks noChangeShapeType="1"/>
            </p:cNvSpPr>
            <p:nvPr/>
          </p:nvSpPr>
          <p:spPr bwMode="auto">
            <a:xfrm>
              <a:off x="4425" y="2925"/>
              <a:ext cx="3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8" name="Line 111"/>
            <p:cNvSpPr>
              <a:spLocks noChangeShapeType="1"/>
            </p:cNvSpPr>
            <p:nvPr/>
          </p:nvSpPr>
          <p:spPr bwMode="auto">
            <a:xfrm rot="-5400000">
              <a:off x="4221" y="2714"/>
              <a:ext cx="31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9" name="Text Box 112"/>
            <p:cNvSpPr txBox="1">
              <a:spLocks noChangeArrowheads="1"/>
            </p:cNvSpPr>
            <p:nvPr/>
          </p:nvSpPr>
          <p:spPr bwMode="auto">
            <a:xfrm>
              <a:off x="4214" y="2937"/>
              <a:ext cx="33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sz="2000" i="1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80" name="Text Box 113"/>
            <p:cNvSpPr txBox="1">
              <a:spLocks noChangeArrowheads="1"/>
            </p:cNvSpPr>
            <p:nvPr/>
          </p:nvSpPr>
          <p:spPr bwMode="auto">
            <a:xfrm>
              <a:off x="4383" y="2486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sz="2000" i="1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81" name="Text Box 114"/>
            <p:cNvSpPr txBox="1">
              <a:spLocks noChangeArrowheads="1"/>
            </p:cNvSpPr>
            <p:nvPr/>
          </p:nvSpPr>
          <p:spPr bwMode="auto">
            <a:xfrm>
              <a:off x="4581" y="2902"/>
              <a:ext cx="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sz="2000" i="1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82" name="Text Box 115"/>
            <p:cNvSpPr txBox="1">
              <a:spLocks noChangeArrowheads="1"/>
            </p:cNvSpPr>
            <p:nvPr/>
          </p:nvSpPr>
          <p:spPr bwMode="auto">
            <a:xfrm>
              <a:off x="3557" y="1612"/>
              <a:ext cx="3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E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83" name="Text Box 116"/>
            <p:cNvSpPr txBox="1">
              <a:spLocks noChangeArrowheads="1"/>
            </p:cNvSpPr>
            <p:nvPr/>
          </p:nvSpPr>
          <p:spPr bwMode="auto">
            <a:xfrm>
              <a:off x="3809" y="2069"/>
              <a:ext cx="4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CC"/>
                  </a:solidFill>
                  <a:latin typeface="Verdana" pitchFamily="34" charset="0"/>
                  <a:ea typeface="宋体" pitchFamily="2" charset="-122"/>
                </a:rPr>
                <a:t>H</a:t>
              </a:r>
              <a:r>
                <a:rPr lang="en-US" altLang="zh-CN" sz="2000" baseline="-25000">
                  <a:solidFill>
                    <a:srgbClr val="0000CC"/>
                  </a:solidFill>
                  <a:latin typeface="Times New Roman" pitchFamily="18" charset="0"/>
                  <a:ea typeface="宋体" pitchFamily="2" charset="-122"/>
                </a:rPr>
                <a:t>1r</a:t>
              </a:r>
              <a:endParaRPr lang="en-US" altLang="zh-CN" sz="2000">
                <a:solidFill>
                  <a:srgbClr val="0000CC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784" name="Text Box 117"/>
            <p:cNvSpPr txBox="1">
              <a:spLocks noChangeArrowheads="1"/>
            </p:cNvSpPr>
            <p:nvPr/>
          </p:nvSpPr>
          <p:spPr bwMode="auto">
            <a:xfrm>
              <a:off x="4605" y="1308"/>
              <a:ext cx="5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lang="en-US" altLang="zh-CN" baseline="-25000">
                  <a:solidFill>
                    <a:srgbClr val="000066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ef</a:t>
              </a:r>
              <a:endParaRPr lang="zh-CN" altLang="zh-CN" baseline="-25000">
                <a:solidFill>
                  <a:srgbClr val="000066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31785" name="Text Box 118"/>
            <p:cNvSpPr txBox="1">
              <a:spLocks noChangeArrowheads="1"/>
            </p:cNvSpPr>
            <p:nvPr/>
          </p:nvSpPr>
          <p:spPr bwMode="auto">
            <a:xfrm>
              <a:off x="4105" y="1071"/>
              <a:ext cx="25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lnSpc>
                  <a:spcPct val="60000"/>
                </a:lnSpc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</a:rPr>
                <a:t>x</a:t>
              </a:r>
            </a:p>
          </p:txBody>
        </p:sp>
        <p:sp>
          <p:nvSpPr>
            <p:cNvPr id="31786" name="Text Box 119"/>
            <p:cNvSpPr txBox="1">
              <a:spLocks noChangeArrowheads="1"/>
            </p:cNvSpPr>
            <p:nvPr/>
          </p:nvSpPr>
          <p:spPr bwMode="auto">
            <a:xfrm>
              <a:off x="3834" y="1187"/>
              <a:ext cx="55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sz="1800">
                  <a:latin typeface="宋体" pitchFamily="2" charset="-122"/>
                  <a:ea typeface="宋体" pitchFamily="2" charset="-122"/>
                </a:rPr>
                <a:t>界面</a:t>
              </a:r>
              <a:r>
                <a:rPr lang="en-US" altLang="zh-CN" sz="1800">
                  <a:latin typeface="宋体" pitchFamily="2" charset="-122"/>
                  <a:ea typeface="宋体" pitchFamily="2" charset="-122"/>
                </a:rPr>
                <a:t>1</a:t>
              </a:r>
              <a:endParaRPr lang="en-US" altLang="zh-CN" sz="1800"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820344" name="AutoShape 120"/>
          <p:cNvSpPr>
            <a:spLocks noChangeArrowheads="1"/>
          </p:cNvSpPr>
          <p:nvPr/>
        </p:nvSpPr>
        <p:spPr bwMode="auto">
          <a:xfrm>
            <a:off x="4356100" y="4324350"/>
            <a:ext cx="792163" cy="358775"/>
          </a:xfrm>
          <a:prstGeom prst="rightArrow">
            <a:avLst>
              <a:gd name="adj1" fmla="val 50000"/>
              <a:gd name="adj2" fmla="val 55199"/>
            </a:avLst>
          </a:prstGeom>
          <a:solidFill>
            <a:srgbClr val="FFCC99"/>
          </a:solidFill>
          <a:ln w="25400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1" name="AutoShape 123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2" name="AutoShape 1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3" name="AutoShape 1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4" name="AutoShape 1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4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4D1FE1-AADF-416F-992E-92E7EE0B209E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821250" name="Text Box 2"/>
          <p:cNvSpPr txBox="1">
            <a:spLocks noChangeArrowheads="1"/>
          </p:cNvSpPr>
          <p:nvPr/>
        </p:nvSpPr>
        <p:spPr bwMode="auto">
          <a:xfrm>
            <a:off x="179388" y="404813"/>
            <a:ext cx="874871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利用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等效波阻抗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计算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n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层媒质的第一条边界上的总反射系数时，首先求出第 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</a:rPr>
              <a:t>2)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条分界面处的等效波阻抗</a:t>
            </a:r>
            <a:r>
              <a:rPr kumimoji="1" lang="zh-CN" altLang="en-US" b="0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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n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-1)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</a:rPr>
              <a:t>ef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，然后用波阻抗为</a:t>
            </a:r>
            <a:r>
              <a:rPr kumimoji="1" lang="zh-CN" altLang="en-US" b="0" i="1">
                <a:solidFill>
                  <a:schemeClr val="bg1"/>
                </a:solidFill>
                <a:ea typeface="宋体" pitchFamily="2" charset="-122"/>
                <a:sym typeface="Symbol" pitchFamily="18" charset="2"/>
              </a:rPr>
              <a:t>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kumimoji="1" lang="en-US" altLang="zh-CN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n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-1)</a:t>
            </a:r>
            <a:r>
              <a:rPr kumimoji="1" lang="en-US" altLang="zh-CN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ef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的媒质代替第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kumimoji="1" lang="en-US" altLang="zh-CN" b="0">
                <a:solidFill>
                  <a:schemeClr val="bg1"/>
                </a:solidFill>
                <a:latin typeface="Times New Roman" pitchFamily="18" charset="0"/>
              </a:rPr>
              <a:t>1)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层及第 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层媒质。</a:t>
            </a:r>
          </a:p>
        </p:txBody>
      </p:sp>
      <p:sp>
        <p:nvSpPr>
          <p:cNvPr id="821251" name="Text Box 3"/>
          <p:cNvSpPr txBox="1">
            <a:spLocks noChangeArrowheads="1"/>
          </p:cNvSpPr>
          <p:nvPr/>
        </p:nvSpPr>
        <p:spPr bwMode="auto">
          <a:xfrm>
            <a:off x="34925" y="1846263"/>
            <a:ext cx="89646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依次类推，自右向左逐一计算各分界面处的等效波阻抗，直至求得第一条边界处的等效波阻抗后，即可计算总反射系数。</a:t>
            </a:r>
          </a:p>
        </p:txBody>
      </p:sp>
      <p:sp>
        <p:nvSpPr>
          <p:cNvPr id="821252" name="AutoShape 4"/>
          <p:cNvSpPr>
            <a:spLocks noChangeArrowheads="1"/>
          </p:cNvSpPr>
          <p:nvPr/>
        </p:nvSpPr>
        <p:spPr bwMode="auto">
          <a:xfrm>
            <a:off x="4356100" y="3573463"/>
            <a:ext cx="504825" cy="288925"/>
          </a:xfrm>
          <a:prstGeom prst="rightArrow">
            <a:avLst>
              <a:gd name="adj1" fmla="val 50000"/>
              <a:gd name="adj2" fmla="val 43681"/>
            </a:avLst>
          </a:prstGeom>
          <a:solidFill>
            <a:srgbClr val="F1B5ED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003800" y="5013325"/>
            <a:ext cx="3384550" cy="1427163"/>
            <a:chOff x="3334" y="3158"/>
            <a:chExt cx="2132" cy="899"/>
          </a:xfrm>
        </p:grpSpPr>
        <p:sp>
          <p:nvSpPr>
            <p:cNvPr id="32849" name="Rectangle 6"/>
            <p:cNvSpPr>
              <a:spLocks noChangeArrowheads="1"/>
            </p:cNvSpPr>
            <p:nvPr/>
          </p:nvSpPr>
          <p:spPr bwMode="auto">
            <a:xfrm>
              <a:off x="3711" y="3170"/>
              <a:ext cx="408" cy="87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50" name="Rectangle 7"/>
            <p:cNvSpPr>
              <a:spLocks noChangeArrowheads="1"/>
            </p:cNvSpPr>
            <p:nvPr/>
          </p:nvSpPr>
          <p:spPr bwMode="auto">
            <a:xfrm>
              <a:off x="3334" y="3170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51" name="Rectangle 8"/>
            <p:cNvSpPr>
              <a:spLocks noChangeArrowheads="1"/>
            </p:cNvSpPr>
            <p:nvPr/>
          </p:nvSpPr>
          <p:spPr bwMode="auto">
            <a:xfrm>
              <a:off x="4763" y="3170"/>
              <a:ext cx="703" cy="879"/>
            </a:xfrm>
            <a:prstGeom prst="rect">
              <a:avLst/>
            </a:prstGeom>
            <a:solidFill>
              <a:srgbClr val="009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52" name="Rectangle 9"/>
            <p:cNvSpPr>
              <a:spLocks noChangeArrowheads="1"/>
            </p:cNvSpPr>
            <p:nvPr/>
          </p:nvSpPr>
          <p:spPr bwMode="auto">
            <a:xfrm>
              <a:off x="4124" y="3170"/>
              <a:ext cx="316" cy="87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53" name="Text Box 10"/>
            <p:cNvSpPr txBox="1">
              <a:spLocks noChangeArrowheads="1"/>
            </p:cNvSpPr>
            <p:nvPr/>
          </p:nvSpPr>
          <p:spPr bwMode="auto">
            <a:xfrm>
              <a:off x="3640" y="3693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54" name="Line 11"/>
            <p:cNvSpPr>
              <a:spLocks noChangeShapeType="1"/>
            </p:cNvSpPr>
            <p:nvPr/>
          </p:nvSpPr>
          <p:spPr bwMode="auto">
            <a:xfrm>
              <a:off x="3721" y="3170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5" name="Line 12"/>
            <p:cNvSpPr>
              <a:spLocks noChangeShapeType="1"/>
            </p:cNvSpPr>
            <p:nvPr/>
          </p:nvSpPr>
          <p:spPr bwMode="auto">
            <a:xfrm>
              <a:off x="4119" y="3184"/>
              <a:ext cx="1" cy="8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6" name="Line 13"/>
            <p:cNvSpPr>
              <a:spLocks noChangeShapeType="1"/>
            </p:cNvSpPr>
            <p:nvPr/>
          </p:nvSpPr>
          <p:spPr bwMode="auto">
            <a:xfrm>
              <a:off x="3385" y="3920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7" name="Line 14"/>
            <p:cNvSpPr>
              <a:spLocks noChangeShapeType="1"/>
            </p:cNvSpPr>
            <p:nvPr/>
          </p:nvSpPr>
          <p:spPr bwMode="auto">
            <a:xfrm flipH="1">
              <a:off x="3385" y="3525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8" name="Text Box 15"/>
            <p:cNvSpPr txBox="1">
              <a:spLocks noChangeArrowheads="1"/>
            </p:cNvSpPr>
            <p:nvPr/>
          </p:nvSpPr>
          <p:spPr bwMode="auto">
            <a:xfrm>
              <a:off x="3396" y="317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1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59" name="Text Box 16"/>
            <p:cNvSpPr txBox="1">
              <a:spLocks noChangeArrowheads="1"/>
            </p:cNvSpPr>
            <p:nvPr/>
          </p:nvSpPr>
          <p:spPr bwMode="auto">
            <a:xfrm>
              <a:off x="3782" y="3170"/>
              <a:ext cx="29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2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0" name="Text Box 17"/>
            <p:cNvSpPr txBox="1">
              <a:spLocks noChangeArrowheads="1"/>
            </p:cNvSpPr>
            <p:nvPr/>
          </p:nvSpPr>
          <p:spPr bwMode="auto">
            <a:xfrm>
              <a:off x="4155" y="317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1" name="Line 18"/>
            <p:cNvSpPr>
              <a:spLocks noChangeShapeType="1"/>
            </p:cNvSpPr>
            <p:nvPr/>
          </p:nvSpPr>
          <p:spPr bwMode="auto">
            <a:xfrm>
              <a:off x="4440" y="3158"/>
              <a:ext cx="1" cy="8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2" name="Text Box 19"/>
            <p:cNvSpPr txBox="1">
              <a:spLocks noChangeArrowheads="1"/>
            </p:cNvSpPr>
            <p:nvPr/>
          </p:nvSpPr>
          <p:spPr bwMode="auto">
            <a:xfrm>
              <a:off x="4831" y="3197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n-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2)ef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3" name="Rectangle 20"/>
            <p:cNvSpPr>
              <a:spLocks noChangeArrowheads="1"/>
            </p:cNvSpPr>
            <p:nvPr/>
          </p:nvSpPr>
          <p:spPr bwMode="auto">
            <a:xfrm>
              <a:off x="4443" y="3170"/>
              <a:ext cx="314" cy="8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 b="0">
                <a:ea typeface="宋体" pitchFamily="2" charset="-122"/>
              </a:endParaRPr>
            </a:p>
          </p:txBody>
        </p:sp>
        <p:sp>
          <p:nvSpPr>
            <p:cNvPr id="32864" name="Text Box 21"/>
            <p:cNvSpPr txBox="1">
              <a:spLocks noChangeArrowheads="1"/>
            </p:cNvSpPr>
            <p:nvPr/>
          </p:nvSpPr>
          <p:spPr bwMode="auto">
            <a:xfrm>
              <a:off x="4326" y="3564"/>
              <a:ext cx="27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5" name="Text Box 22"/>
            <p:cNvSpPr txBox="1">
              <a:spLocks noChangeArrowheads="1"/>
            </p:cNvSpPr>
            <p:nvPr/>
          </p:nvSpPr>
          <p:spPr bwMode="auto">
            <a:xfrm>
              <a:off x="3984" y="356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(2)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6" name="Text Box 23"/>
            <p:cNvSpPr txBox="1">
              <a:spLocks noChangeArrowheads="1"/>
            </p:cNvSpPr>
            <p:nvPr/>
          </p:nvSpPr>
          <p:spPr bwMode="auto">
            <a:xfrm>
              <a:off x="3620" y="356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(1)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7" name="Text Box 24"/>
            <p:cNvSpPr txBox="1">
              <a:spLocks noChangeArrowheads="1"/>
            </p:cNvSpPr>
            <p:nvPr/>
          </p:nvSpPr>
          <p:spPr bwMode="auto">
            <a:xfrm>
              <a:off x="4585" y="3564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68" name="Line 25"/>
            <p:cNvSpPr>
              <a:spLocks noChangeShapeType="1"/>
            </p:cNvSpPr>
            <p:nvPr/>
          </p:nvSpPr>
          <p:spPr bwMode="auto">
            <a:xfrm flipV="1">
              <a:off x="4513" y="3566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23850" y="4941888"/>
            <a:ext cx="1871663" cy="1414462"/>
            <a:chOff x="567" y="3067"/>
            <a:chExt cx="1179" cy="891"/>
          </a:xfrm>
        </p:grpSpPr>
        <p:sp>
          <p:nvSpPr>
            <p:cNvPr id="32840" name="Rectangle 27"/>
            <p:cNvSpPr>
              <a:spLocks noChangeArrowheads="1"/>
            </p:cNvSpPr>
            <p:nvPr/>
          </p:nvSpPr>
          <p:spPr bwMode="auto">
            <a:xfrm>
              <a:off x="944" y="3079"/>
              <a:ext cx="802" cy="878"/>
            </a:xfrm>
            <a:prstGeom prst="rect">
              <a:avLst/>
            </a:prstGeom>
            <a:solidFill>
              <a:srgbClr val="FFF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1" name="Rectangle 28"/>
            <p:cNvSpPr>
              <a:spLocks noChangeArrowheads="1"/>
            </p:cNvSpPr>
            <p:nvPr/>
          </p:nvSpPr>
          <p:spPr bwMode="auto">
            <a:xfrm>
              <a:off x="567" y="3079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2" name="Text Box 29"/>
            <p:cNvSpPr txBox="1">
              <a:spLocks noChangeArrowheads="1"/>
            </p:cNvSpPr>
            <p:nvPr/>
          </p:nvSpPr>
          <p:spPr bwMode="auto">
            <a:xfrm>
              <a:off x="873" y="3602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43" name="Line 30"/>
            <p:cNvSpPr>
              <a:spLocks noChangeShapeType="1"/>
            </p:cNvSpPr>
            <p:nvPr/>
          </p:nvSpPr>
          <p:spPr bwMode="auto">
            <a:xfrm>
              <a:off x="954" y="3079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4" name="Line 31"/>
            <p:cNvSpPr>
              <a:spLocks noChangeShapeType="1"/>
            </p:cNvSpPr>
            <p:nvPr/>
          </p:nvSpPr>
          <p:spPr bwMode="auto">
            <a:xfrm>
              <a:off x="618" y="3829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5" name="Line 32"/>
            <p:cNvSpPr>
              <a:spLocks noChangeShapeType="1"/>
            </p:cNvSpPr>
            <p:nvPr/>
          </p:nvSpPr>
          <p:spPr bwMode="auto">
            <a:xfrm flipH="1">
              <a:off x="618" y="3434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6" name="Text Box 33"/>
            <p:cNvSpPr txBox="1">
              <a:spLocks noChangeArrowheads="1"/>
            </p:cNvSpPr>
            <p:nvPr/>
          </p:nvSpPr>
          <p:spPr bwMode="auto">
            <a:xfrm>
              <a:off x="629" y="3079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1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47" name="Text Box 34"/>
            <p:cNvSpPr txBox="1">
              <a:spLocks noChangeArrowheads="1"/>
            </p:cNvSpPr>
            <p:nvPr/>
          </p:nvSpPr>
          <p:spPr bwMode="auto">
            <a:xfrm>
              <a:off x="1066" y="3067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2ef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48" name="Text Box 35"/>
            <p:cNvSpPr txBox="1">
              <a:spLocks noChangeArrowheads="1"/>
            </p:cNvSpPr>
            <p:nvPr/>
          </p:nvSpPr>
          <p:spPr bwMode="auto">
            <a:xfrm>
              <a:off x="853" y="3475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(1)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23850" y="2998788"/>
            <a:ext cx="3916363" cy="1438275"/>
            <a:chOff x="204" y="1820"/>
            <a:chExt cx="2467" cy="906"/>
          </a:xfrm>
        </p:grpSpPr>
        <p:sp>
          <p:nvSpPr>
            <p:cNvPr id="32811" name="Rectangle 37"/>
            <p:cNvSpPr>
              <a:spLocks noChangeArrowheads="1"/>
            </p:cNvSpPr>
            <p:nvPr/>
          </p:nvSpPr>
          <p:spPr bwMode="auto">
            <a:xfrm>
              <a:off x="581" y="1830"/>
              <a:ext cx="408" cy="88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2" name="Rectangle 38"/>
            <p:cNvSpPr>
              <a:spLocks noChangeArrowheads="1"/>
            </p:cNvSpPr>
            <p:nvPr/>
          </p:nvSpPr>
          <p:spPr bwMode="auto">
            <a:xfrm>
              <a:off x="204" y="1831"/>
              <a:ext cx="397" cy="884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3" name="Rectangle 39"/>
            <p:cNvSpPr>
              <a:spLocks noChangeArrowheads="1"/>
            </p:cNvSpPr>
            <p:nvPr/>
          </p:nvSpPr>
          <p:spPr bwMode="auto">
            <a:xfrm>
              <a:off x="1949" y="1831"/>
              <a:ext cx="305" cy="884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4" name="Rectangle 40"/>
            <p:cNvSpPr>
              <a:spLocks noChangeArrowheads="1"/>
            </p:cNvSpPr>
            <p:nvPr/>
          </p:nvSpPr>
          <p:spPr bwMode="auto">
            <a:xfrm>
              <a:off x="1634" y="1831"/>
              <a:ext cx="315" cy="88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5" name="Rectangle 41"/>
            <p:cNvSpPr>
              <a:spLocks noChangeArrowheads="1"/>
            </p:cNvSpPr>
            <p:nvPr/>
          </p:nvSpPr>
          <p:spPr bwMode="auto">
            <a:xfrm>
              <a:off x="2260" y="1831"/>
              <a:ext cx="411" cy="88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6" name="Rectangle 42"/>
            <p:cNvSpPr>
              <a:spLocks noChangeArrowheads="1"/>
            </p:cNvSpPr>
            <p:nvPr/>
          </p:nvSpPr>
          <p:spPr bwMode="auto">
            <a:xfrm>
              <a:off x="994" y="1831"/>
              <a:ext cx="316" cy="884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7" name="Text Box 43"/>
            <p:cNvSpPr txBox="1">
              <a:spLocks noChangeArrowheads="1"/>
            </p:cNvSpPr>
            <p:nvPr/>
          </p:nvSpPr>
          <p:spPr bwMode="auto">
            <a:xfrm>
              <a:off x="510" y="2255"/>
              <a:ext cx="35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8" name="Text Box 44"/>
            <p:cNvSpPr txBox="1">
              <a:spLocks noChangeArrowheads="1"/>
            </p:cNvSpPr>
            <p:nvPr/>
          </p:nvSpPr>
          <p:spPr bwMode="auto">
            <a:xfrm>
              <a:off x="903" y="2255"/>
              <a:ext cx="36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819" name="Line 45"/>
            <p:cNvSpPr>
              <a:spLocks noChangeShapeType="1"/>
            </p:cNvSpPr>
            <p:nvPr/>
          </p:nvSpPr>
          <p:spPr bwMode="auto">
            <a:xfrm>
              <a:off x="591" y="1831"/>
              <a:ext cx="0" cy="8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Line 46"/>
            <p:cNvSpPr>
              <a:spLocks noChangeShapeType="1"/>
            </p:cNvSpPr>
            <p:nvPr/>
          </p:nvSpPr>
          <p:spPr bwMode="auto">
            <a:xfrm>
              <a:off x="989" y="1841"/>
              <a:ext cx="0" cy="8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1" name="Line 47"/>
            <p:cNvSpPr>
              <a:spLocks noChangeShapeType="1"/>
            </p:cNvSpPr>
            <p:nvPr/>
          </p:nvSpPr>
          <p:spPr bwMode="auto">
            <a:xfrm>
              <a:off x="255" y="2438"/>
              <a:ext cx="2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2" name="Line 48"/>
            <p:cNvSpPr>
              <a:spLocks noChangeShapeType="1"/>
            </p:cNvSpPr>
            <p:nvPr/>
          </p:nvSpPr>
          <p:spPr bwMode="auto">
            <a:xfrm flipH="1">
              <a:off x="255" y="2118"/>
              <a:ext cx="2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3" name="Text Box 49"/>
            <p:cNvSpPr txBox="1">
              <a:spLocks noChangeArrowheads="1"/>
            </p:cNvSpPr>
            <p:nvPr/>
          </p:nvSpPr>
          <p:spPr bwMode="auto">
            <a:xfrm>
              <a:off x="265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1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24" name="Text Box 50"/>
            <p:cNvSpPr txBox="1">
              <a:spLocks noChangeArrowheads="1"/>
            </p:cNvSpPr>
            <p:nvPr/>
          </p:nvSpPr>
          <p:spPr bwMode="auto">
            <a:xfrm>
              <a:off x="652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2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25" name="Text Box 51"/>
            <p:cNvSpPr txBox="1">
              <a:spLocks noChangeArrowheads="1"/>
            </p:cNvSpPr>
            <p:nvPr/>
          </p:nvSpPr>
          <p:spPr bwMode="auto">
            <a:xfrm>
              <a:off x="1026" y="1831"/>
              <a:ext cx="29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26" name="Line 52"/>
            <p:cNvSpPr>
              <a:spLocks noChangeShapeType="1"/>
            </p:cNvSpPr>
            <p:nvPr/>
          </p:nvSpPr>
          <p:spPr bwMode="auto">
            <a:xfrm>
              <a:off x="1942" y="1820"/>
              <a:ext cx="0" cy="9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7" name="Line 53"/>
            <p:cNvSpPr>
              <a:spLocks noChangeShapeType="1"/>
            </p:cNvSpPr>
            <p:nvPr/>
          </p:nvSpPr>
          <p:spPr bwMode="auto">
            <a:xfrm>
              <a:off x="2254" y="1831"/>
              <a:ext cx="0" cy="8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8" name="Line 54"/>
            <p:cNvSpPr>
              <a:spLocks noChangeShapeType="1"/>
            </p:cNvSpPr>
            <p:nvPr/>
          </p:nvSpPr>
          <p:spPr bwMode="auto">
            <a:xfrm>
              <a:off x="1310" y="1820"/>
              <a:ext cx="0" cy="9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9" name="Text Box 55"/>
            <p:cNvSpPr txBox="1">
              <a:spLocks noChangeArrowheads="1"/>
            </p:cNvSpPr>
            <p:nvPr/>
          </p:nvSpPr>
          <p:spPr bwMode="auto">
            <a:xfrm>
              <a:off x="1621" y="1831"/>
              <a:ext cx="44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-2)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0" name="Text Box 56"/>
            <p:cNvSpPr txBox="1">
              <a:spLocks noChangeArrowheads="1"/>
            </p:cNvSpPr>
            <p:nvPr/>
          </p:nvSpPr>
          <p:spPr bwMode="auto">
            <a:xfrm>
              <a:off x="1922" y="1831"/>
              <a:ext cx="39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-1)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1" name="Text Box 57"/>
            <p:cNvSpPr txBox="1">
              <a:spLocks noChangeArrowheads="1"/>
            </p:cNvSpPr>
            <p:nvPr/>
          </p:nvSpPr>
          <p:spPr bwMode="auto">
            <a:xfrm>
              <a:off x="2234" y="1831"/>
              <a:ext cx="29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</a:t>
              </a:r>
              <a:endParaRPr kumimoji="1" lang="en-US" altLang="zh-CN" sz="1800" b="0" i="1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2" name="Rectangle 58"/>
            <p:cNvSpPr>
              <a:spLocks noChangeArrowheads="1"/>
            </p:cNvSpPr>
            <p:nvPr/>
          </p:nvSpPr>
          <p:spPr bwMode="auto">
            <a:xfrm>
              <a:off x="1314" y="1826"/>
              <a:ext cx="314" cy="88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 b="0">
                <a:ea typeface="宋体" pitchFamily="2" charset="-122"/>
              </a:endParaRPr>
            </a:p>
          </p:txBody>
        </p:sp>
        <p:sp>
          <p:nvSpPr>
            <p:cNvPr id="32833" name="Line 59"/>
            <p:cNvSpPr>
              <a:spLocks noChangeShapeType="1"/>
            </p:cNvSpPr>
            <p:nvPr/>
          </p:nvSpPr>
          <p:spPr bwMode="auto">
            <a:xfrm flipV="1">
              <a:off x="1379" y="2205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4" name="Text Box 60"/>
            <p:cNvSpPr txBox="1">
              <a:spLocks noChangeArrowheads="1"/>
            </p:cNvSpPr>
            <p:nvPr/>
          </p:nvSpPr>
          <p:spPr bwMode="auto">
            <a:xfrm>
              <a:off x="1743" y="2217"/>
              <a:ext cx="49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-2)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5" name="Text Box 61"/>
            <p:cNvSpPr txBox="1">
              <a:spLocks noChangeArrowheads="1"/>
            </p:cNvSpPr>
            <p:nvPr/>
          </p:nvSpPr>
          <p:spPr bwMode="auto">
            <a:xfrm>
              <a:off x="2087" y="2217"/>
              <a:ext cx="492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-1)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6" name="Text Box 62"/>
            <p:cNvSpPr txBox="1">
              <a:spLocks noChangeArrowheads="1"/>
            </p:cNvSpPr>
            <p:nvPr/>
          </p:nvSpPr>
          <p:spPr bwMode="auto">
            <a:xfrm>
              <a:off x="1184" y="2216"/>
              <a:ext cx="273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7" name="Text Box 63"/>
            <p:cNvSpPr txBox="1">
              <a:spLocks noChangeArrowheads="1"/>
            </p:cNvSpPr>
            <p:nvPr/>
          </p:nvSpPr>
          <p:spPr bwMode="auto">
            <a:xfrm>
              <a:off x="841" y="2217"/>
              <a:ext cx="375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(2)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8" name="Text Box 64"/>
            <p:cNvSpPr txBox="1">
              <a:spLocks noChangeArrowheads="1"/>
            </p:cNvSpPr>
            <p:nvPr/>
          </p:nvSpPr>
          <p:spPr bwMode="auto">
            <a:xfrm>
              <a:off x="477" y="2217"/>
              <a:ext cx="376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(1)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9" name="Text Box 65"/>
            <p:cNvSpPr txBox="1">
              <a:spLocks noChangeArrowheads="1"/>
            </p:cNvSpPr>
            <p:nvPr/>
          </p:nvSpPr>
          <p:spPr bwMode="auto">
            <a:xfrm>
              <a:off x="1443" y="2216"/>
              <a:ext cx="49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5003800" y="2962275"/>
            <a:ext cx="3833813" cy="1430338"/>
            <a:chOff x="3152" y="1797"/>
            <a:chExt cx="2415" cy="901"/>
          </a:xfrm>
        </p:grpSpPr>
        <p:sp>
          <p:nvSpPr>
            <p:cNvPr id="32787" name="Rectangle 67"/>
            <p:cNvSpPr>
              <a:spLocks noChangeArrowheads="1"/>
            </p:cNvSpPr>
            <p:nvPr/>
          </p:nvSpPr>
          <p:spPr bwMode="auto">
            <a:xfrm>
              <a:off x="3529" y="1809"/>
              <a:ext cx="408" cy="88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88" name="Rectangle 68"/>
            <p:cNvSpPr>
              <a:spLocks noChangeArrowheads="1"/>
            </p:cNvSpPr>
            <p:nvPr/>
          </p:nvSpPr>
          <p:spPr bwMode="auto">
            <a:xfrm>
              <a:off x="3152" y="1810"/>
              <a:ext cx="398" cy="87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89" name="Rectangle 69"/>
            <p:cNvSpPr>
              <a:spLocks noChangeArrowheads="1"/>
            </p:cNvSpPr>
            <p:nvPr/>
          </p:nvSpPr>
          <p:spPr bwMode="auto">
            <a:xfrm>
              <a:off x="4887" y="1808"/>
              <a:ext cx="680" cy="880"/>
            </a:xfrm>
            <a:prstGeom prst="rect">
              <a:avLst/>
            </a:prstGeom>
            <a:solidFill>
              <a:srgbClr val="E781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0" name="Rectangle 70"/>
            <p:cNvSpPr>
              <a:spLocks noChangeArrowheads="1"/>
            </p:cNvSpPr>
            <p:nvPr/>
          </p:nvSpPr>
          <p:spPr bwMode="auto">
            <a:xfrm>
              <a:off x="4581" y="1810"/>
              <a:ext cx="314" cy="879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1" name="Rectangle 71"/>
            <p:cNvSpPr>
              <a:spLocks noChangeArrowheads="1"/>
            </p:cNvSpPr>
            <p:nvPr/>
          </p:nvSpPr>
          <p:spPr bwMode="auto">
            <a:xfrm>
              <a:off x="3942" y="1810"/>
              <a:ext cx="316" cy="87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2" name="Text Box 72"/>
            <p:cNvSpPr txBox="1">
              <a:spLocks noChangeArrowheads="1"/>
            </p:cNvSpPr>
            <p:nvPr/>
          </p:nvSpPr>
          <p:spPr bwMode="auto">
            <a:xfrm>
              <a:off x="3458" y="2334"/>
              <a:ext cx="35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93" name="Line 73"/>
            <p:cNvSpPr>
              <a:spLocks noChangeShapeType="1"/>
            </p:cNvSpPr>
            <p:nvPr/>
          </p:nvSpPr>
          <p:spPr bwMode="auto">
            <a:xfrm>
              <a:off x="3539" y="1810"/>
              <a:ext cx="1" cy="8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74"/>
            <p:cNvSpPr>
              <a:spLocks noChangeShapeType="1"/>
            </p:cNvSpPr>
            <p:nvPr/>
          </p:nvSpPr>
          <p:spPr bwMode="auto">
            <a:xfrm>
              <a:off x="3937" y="1823"/>
              <a:ext cx="1" cy="8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75"/>
            <p:cNvSpPr>
              <a:spLocks noChangeShapeType="1"/>
            </p:cNvSpPr>
            <p:nvPr/>
          </p:nvSpPr>
          <p:spPr bwMode="auto">
            <a:xfrm>
              <a:off x="3203" y="2561"/>
              <a:ext cx="23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76"/>
            <p:cNvSpPr>
              <a:spLocks noChangeShapeType="1"/>
            </p:cNvSpPr>
            <p:nvPr/>
          </p:nvSpPr>
          <p:spPr bwMode="auto">
            <a:xfrm flipH="1">
              <a:off x="3203" y="2165"/>
              <a:ext cx="20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Text Box 77"/>
            <p:cNvSpPr txBox="1">
              <a:spLocks noChangeArrowheads="1"/>
            </p:cNvSpPr>
            <p:nvPr/>
          </p:nvSpPr>
          <p:spPr bwMode="auto">
            <a:xfrm>
              <a:off x="3214" y="181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1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798" name="Text Box 78"/>
            <p:cNvSpPr txBox="1">
              <a:spLocks noChangeArrowheads="1"/>
            </p:cNvSpPr>
            <p:nvPr/>
          </p:nvSpPr>
          <p:spPr bwMode="auto">
            <a:xfrm>
              <a:off x="3600" y="1810"/>
              <a:ext cx="29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2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799" name="Text Box 79"/>
            <p:cNvSpPr txBox="1">
              <a:spLocks noChangeArrowheads="1"/>
            </p:cNvSpPr>
            <p:nvPr/>
          </p:nvSpPr>
          <p:spPr bwMode="auto">
            <a:xfrm>
              <a:off x="3973" y="1810"/>
              <a:ext cx="295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0" name="Line 80"/>
            <p:cNvSpPr>
              <a:spLocks noChangeShapeType="1"/>
            </p:cNvSpPr>
            <p:nvPr/>
          </p:nvSpPr>
          <p:spPr bwMode="auto">
            <a:xfrm>
              <a:off x="4889" y="1797"/>
              <a:ext cx="1" cy="9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81"/>
            <p:cNvSpPr>
              <a:spLocks noChangeShapeType="1"/>
            </p:cNvSpPr>
            <p:nvPr/>
          </p:nvSpPr>
          <p:spPr bwMode="auto">
            <a:xfrm>
              <a:off x="4258" y="1797"/>
              <a:ext cx="1" cy="9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Text Box 82"/>
            <p:cNvSpPr txBox="1">
              <a:spLocks noChangeArrowheads="1"/>
            </p:cNvSpPr>
            <p:nvPr/>
          </p:nvSpPr>
          <p:spPr bwMode="auto">
            <a:xfrm>
              <a:off x="4568" y="1810"/>
              <a:ext cx="44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-2)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3" name="Text Box 83"/>
            <p:cNvSpPr txBox="1">
              <a:spLocks noChangeArrowheads="1"/>
            </p:cNvSpPr>
            <p:nvPr/>
          </p:nvSpPr>
          <p:spPr bwMode="auto">
            <a:xfrm>
              <a:off x="4955" y="1893"/>
              <a:ext cx="53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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 baseline="-30000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 baseline="-30000">
                  <a:latin typeface="Times New Roman" pitchFamily="18" charset="0"/>
                  <a:ea typeface="宋体" pitchFamily="2" charset="-122"/>
                </a:rPr>
                <a:t>-1)ef</a:t>
              </a: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4" name="Rectangle 84"/>
            <p:cNvSpPr>
              <a:spLocks noChangeArrowheads="1"/>
            </p:cNvSpPr>
            <p:nvPr/>
          </p:nvSpPr>
          <p:spPr bwMode="auto">
            <a:xfrm>
              <a:off x="4261" y="1808"/>
              <a:ext cx="314" cy="88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 b="0">
                <a:ea typeface="宋体" pitchFamily="2" charset="-122"/>
              </a:endParaRPr>
            </a:p>
          </p:txBody>
        </p:sp>
        <p:sp>
          <p:nvSpPr>
            <p:cNvPr id="32805" name="Line 85"/>
            <p:cNvSpPr>
              <a:spLocks noChangeShapeType="1"/>
            </p:cNvSpPr>
            <p:nvPr/>
          </p:nvSpPr>
          <p:spPr bwMode="auto">
            <a:xfrm flipV="1">
              <a:off x="4377" y="2251"/>
              <a:ext cx="152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Text Box 86"/>
            <p:cNvSpPr txBox="1">
              <a:spLocks noChangeArrowheads="1"/>
            </p:cNvSpPr>
            <p:nvPr/>
          </p:nvSpPr>
          <p:spPr bwMode="auto">
            <a:xfrm>
              <a:off x="4698" y="2206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-2)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7" name="Text Box 87"/>
            <p:cNvSpPr txBox="1">
              <a:spLocks noChangeArrowheads="1"/>
            </p:cNvSpPr>
            <p:nvPr/>
          </p:nvSpPr>
          <p:spPr bwMode="auto">
            <a:xfrm>
              <a:off x="4139" y="2204"/>
              <a:ext cx="273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8" name="Text Box 88"/>
            <p:cNvSpPr txBox="1">
              <a:spLocks noChangeArrowheads="1"/>
            </p:cNvSpPr>
            <p:nvPr/>
          </p:nvSpPr>
          <p:spPr bwMode="auto">
            <a:xfrm>
              <a:off x="3797" y="220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(2)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9" name="Text Box 89"/>
            <p:cNvSpPr txBox="1">
              <a:spLocks noChangeArrowheads="1"/>
            </p:cNvSpPr>
            <p:nvPr/>
          </p:nvSpPr>
          <p:spPr bwMode="auto">
            <a:xfrm>
              <a:off x="3433" y="2206"/>
              <a:ext cx="37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(1)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0" name="Text Box 90"/>
            <p:cNvSpPr txBox="1">
              <a:spLocks noChangeArrowheads="1"/>
            </p:cNvSpPr>
            <p:nvPr/>
          </p:nvSpPr>
          <p:spPr bwMode="auto">
            <a:xfrm>
              <a:off x="4398" y="2204"/>
              <a:ext cx="4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1800" b="0" i="1"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1" lang="en-US" altLang="zh-CN" sz="1800" b="0">
                  <a:latin typeface="Times New Roman" pitchFamily="18" charset="0"/>
                  <a:ea typeface="宋体" pitchFamily="2" charset="-122"/>
                </a:rPr>
                <a:t>-3)</a:t>
              </a:r>
            </a:p>
            <a:p>
              <a:pPr>
                <a:spcBef>
                  <a:spcPct val="0"/>
                </a:spcBef>
              </a:pPr>
              <a:endParaRPr kumimoji="1" lang="en-US" altLang="zh-CN" sz="1800" b="0"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821339" name="AutoShape 91"/>
          <p:cNvSpPr>
            <a:spLocks noChangeArrowheads="1"/>
          </p:cNvSpPr>
          <p:nvPr/>
        </p:nvSpPr>
        <p:spPr bwMode="auto">
          <a:xfrm>
            <a:off x="6588125" y="4508500"/>
            <a:ext cx="287338" cy="431800"/>
          </a:xfrm>
          <a:prstGeom prst="downArrow">
            <a:avLst>
              <a:gd name="adj1" fmla="val 50000"/>
              <a:gd name="adj2" fmla="val 37569"/>
            </a:avLst>
          </a:prstGeom>
          <a:solidFill>
            <a:srgbClr val="F1B5ED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95"/>
          <p:cNvGrpSpPr>
            <a:grpSpLocks/>
          </p:cNvGrpSpPr>
          <p:nvPr/>
        </p:nvGrpSpPr>
        <p:grpSpPr bwMode="auto">
          <a:xfrm>
            <a:off x="2627313" y="5516563"/>
            <a:ext cx="1800225" cy="250825"/>
            <a:chOff x="2018" y="3454"/>
            <a:chExt cx="1134" cy="232"/>
          </a:xfrm>
        </p:grpSpPr>
        <p:sp>
          <p:nvSpPr>
            <p:cNvPr id="32784" name="AutoShape 92"/>
            <p:cNvSpPr>
              <a:spLocks noChangeArrowheads="1"/>
            </p:cNvSpPr>
            <p:nvPr/>
          </p:nvSpPr>
          <p:spPr bwMode="auto">
            <a:xfrm rot="16200000" flipV="1">
              <a:off x="2063" y="3409"/>
              <a:ext cx="227" cy="318"/>
            </a:xfrm>
            <a:prstGeom prst="downArrow">
              <a:avLst>
                <a:gd name="adj1" fmla="val 50000"/>
                <a:gd name="adj2" fmla="val 35022"/>
              </a:avLst>
            </a:prstGeom>
            <a:solidFill>
              <a:srgbClr val="F1B5ED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785" name="Line 93"/>
            <p:cNvSpPr>
              <a:spLocks noChangeShapeType="1"/>
            </p:cNvSpPr>
            <p:nvPr/>
          </p:nvSpPr>
          <p:spPr bwMode="auto">
            <a:xfrm flipV="1">
              <a:off x="2472" y="3566"/>
              <a:ext cx="197" cy="0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prstDash val="sysDot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AutoShape 94"/>
            <p:cNvSpPr>
              <a:spLocks noChangeArrowheads="1"/>
            </p:cNvSpPr>
            <p:nvPr/>
          </p:nvSpPr>
          <p:spPr bwMode="auto">
            <a:xfrm rot="16200000" flipV="1">
              <a:off x="2879" y="3414"/>
              <a:ext cx="227" cy="318"/>
            </a:xfrm>
            <a:prstGeom prst="downArrow">
              <a:avLst>
                <a:gd name="adj1" fmla="val 50000"/>
                <a:gd name="adj2" fmla="val 35022"/>
              </a:avLst>
            </a:prstGeom>
            <a:solidFill>
              <a:srgbClr val="F1B5ED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780" name="AutoShape 9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1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2" name="AutoShape 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3" name="AutoShape 9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8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8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82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utoUpdateAnimBg="0"/>
      <p:bldP spid="821251" grpId="0" autoUpdateAnimBg="0"/>
      <p:bldP spid="821252" grpId="0" animBg="1"/>
      <p:bldP spid="82133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5C197E-661F-49F9-99D5-9D32050A9DCC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822274" name="Text Box 2"/>
          <p:cNvSpPr txBox="1">
            <a:spLocks noChangeArrowheads="1"/>
          </p:cNvSpPr>
          <p:nvPr/>
        </p:nvSpPr>
        <p:spPr bwMode="auto">
          <a:xfrm>
            <a:off x="217488" y="812800"/>
            <a:ext cx="8675687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楷体_GB2312" pitchFamily="49" charset="-122"/>
              </a:rPr>
              <a:t> 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设两种理想介质的波阻抗分别为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η</a:t>
            </a:r>
            <a:r>
              <a:rPr kumimoji="1" lang="en-US" altLang="zh-CN" baseline="-30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en-US" altLang="zh-CN" b="0" baseline="-300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与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η</a:t>
            </a:r>
            <a:r>
              <a:rPr kumimoji="1" lang="en-US" altLang="zh-CN" baseline="-30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kumimoji="1" lang="en-US" altLang="zh-CN" b="0" baseline="-300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，为了消除分界面的反射，可在两种理想介质中间插入厚度为四分之一波长（</a:t>
            </a:r>
            <a:r>
              <a:rPr kumimoji="1" lang="zh-CN" altLang="en-US">
                <a:solidFill>
                  <a:srgbClr val="FF0000"/>
                </a:solidFill>
                <a:latin typeface="Times New Roman" pitchFamily="18" charset="0"/>
              </a:rPr>
              <a:t>该波长是指平面波在夹层中的波长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）的理想介质夹层</a:t>
            </a:r>
            <a:r>
              <a:rPr kumimoji="1" lang="zh-CN" altLang="en-US">
                <a:solidFill>
                  <a:schemeClr val="bg1"/>
                </a:solidFill>
              </a:rPr>
              <a:t>。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22275" name="Text Box 3"/>
          <p:cNvSpPr txBox="1">
            <a:spLocks noChangeArrowheads="1"/>
          </p:cNvSpPr>
          <p:nvPr/>
        </p:nvSpPr>
        <p:spPr bwMode="auto">
          <a:xfrm>
            <a:off x="3779838" y="2205038"/>
            <a:ext cx="49672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首先求出第一个分界面上的等效波阻抗。考虑到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68313" y="2781300"/>
            <a:ext cx="2735262" cy="2232025"/>
            <a:chOff x="624" y="1452"/>
            <a:chExt cx="1440" cy="1104"/>
          </a:xfrm>
        </p:grpSpPr>
        <p:sp>
          <p:nvSpPr>
            <p:cNvPr id="33817" name="Rectangle 6"/>
            <p:cNvSpPr>
              <a:spLocks noChangeArrowheads="1"/>
            </p:cNvSpPr>
            <p:nvPr/>
          </p:nvSpPr>
          <p:spPr bwMode="auto">
            <a:xfrm>
              <a:off x="1083" y="1660"/>
              <a:ext cx="522" cy="8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8" name="Rectangle 7"/>
            <p:cNvSpPr>
              <a:spLocks noChangeArrowheads="1"/>
            </p:cNvSpPr>
            <p:nvPr/>
          </p:nvSpPr>
          <p:spPr bwMode="auto">
            <a:xfrm>
              <a:off x="624" y="1660"/>
              <a:ext cx="459" cy="87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19" name="Rectangle 8"/>
            <p:cNvSpPr>
              <a:spLocks noChangeArrowheads="1"/>
            </p:cNvSpPr>
            <p:nvPr/>
          </p:nvSpPr>
          <p:spPr bwMode="auto">
            <a:xfrm>
              <a:off x="1605" y="1660"/>
              <a:ext cx="459" cy="87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20" name="Line 9"/>
            <p:cNvSpPr>
              <a:spLocks noChangeShapeType="1"/>
            </p:cNvSpPr>
            <p:nvPr/>
          </p:nvSpPr>
          <p:spPr bwMode="auto">
            <a:xfrm>
              <a:off x="1083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10"/>
            <p:cNvSpPr>
              <a:spLocks noChangeShapeType="1"/>
            </p:cNvSpPr>
            <p:nvPr/>
          </p:nvSpPr>
          <p:spPr bwMode="auto">
            <a:xfrm>
              <a:off x="1605" y="1649"/>
              <a:ext cx="0" cy="8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Text Box 11"/>
            <p:cNvSpPr txBox="1">
              <a:spLocks noChangeArrowheads="1"/>
            </p:cNvSpPr>
            <p:nvPr/>
          </p:nvSpPr>
          <p:spPr bwMode="auto">
            <a:xfrm>
              <a:off x="748" y="1890"/>
              <a:ext cx="32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l-GR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η</a:t>
              </a:r>
              <a:r>
                <a:rPr lang="en-US" altLang="zh-CN" baseline="-250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33823" name="Text Box 12"/>
            <p:cNvSpPr txBox="1">
              <a:spLocks noChangeArrowheads="1"/>
            </p:cNvSpPr>
            <p:nvPr/>
          </p:nvSpPr>
          <p:spPr bwMode="auto">
            <a:xfrm>
              <a:off x="1183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l-GR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η</a:t>
              </a:r>
              <a:endParaRPr lang="el-GR" altLang="zh-CN" baseline="-250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3824" name="Text Box 13"/>
            <p:cNvSpPr txBox="1">
              <a:spLocks noChangeArrowheads="1"/>
            </p:cNvSpPr>
            <p:nvPr/>
          </p:nvSpPr>
          <p:spPr bwMode="auto">
            <a:xfrm>
              <a:off x="1630" y="1890"/>
              <a:ext cx="32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l-GR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η</a:t>
              </a:r>
              <a:r>
                <a:rPr lang="en-US" altLang="zh-CN" baseline="-2500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3825" name="Line 14"/>
            <p:cNvSpPr>
              <a:spLocks noChangeShapeType="1"/>
            </p:cNvSpPr>
            <p:nvPr/>
          </p:nvSpPr>
          <p:spPr bwMode="auto">
            <a:xfrm flipV="1">
              <a:off x="1443" y="237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Line 15"/>
            <p:cNvSpPr>
              <a:spLocks noChangeShapeType="1"/>
            </p:cNvSpPr>
            <p:nvPr/>
          </p:nvSpPr>
          <p:spPr bwMode="auto">
            <a:xfrm flipH="1">
              <a:off x="1083" y="2383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Text Box 16"/>
            <p:cNvSpPr txBox="1">
              <a:spLocks noChangeArrowheads="1"/>
            </p:cNvSpPr>
            <p:nvPr/>
          </p:nvSpPr>
          <p:spPr bwMode="auto">
            <a:xfrm>
              <a:off x="1484" y="1452"/>
              <a:ext cx="32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②</a:t>
              </a:r>
              <a:endParaRPr lang="en-US" altLang="zh-CN" sz="18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828" name="Text Box 17"/>
            <p:cNvSpPr txBox="1">
              <a:spLocks noChangeArrowheads="1"/>
            </p:cNvSpPr>
            <p:nvPr/>
          </p:nvSpPr>
          <p:spPr bwMode="auto">
            <a:xfrm>
              <a:off x="962" y="1452"/>
              <a:ext cx="33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en-US" altLang="zh-CN" sz="18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①</a:t>
              </a:r>
              <a:endParaRPr lang="en-US" altLang="zh-CN" sz="18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33829" name="Object 18"/>
            <p:cNvGraphicFramePr>
              <a:graphicFrameLocks noChangeAspect="1"/>
            </p:cNvGraphicFramePr>
            <p:nvPr/>
          </p:nvGraphicFramePr>
          <p:xfrm>
            <a:off x="1234" y="2199"/>
            <a:ext cx="19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9" name="Equation" r:id="rId3" imgW="215713" imgH="393359" progId="Equation.DSMT4">
                    <p:embed/>
                  </p:oleObj>
                </mc:Choice>
                <mc:Fallback>
                  <p:oleObj name="Equation" r:id="rId3" imgW="215713" imgH="393359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2199"/>
                          <a:ext cx="19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900113" y="5084763"/>
            <a:ext cx="7993062" cy="639762"/>
            <a:chOff x="567" y="3156"/>
            <a:chExt cx="5035" cy="403"/>
          </a:xfrm>
        </p:grpSpPr>
        <p:sp>
          <p:nvSpPr>
            <p:cNvPr id="33815" name="Text Box 26"/>
            <p:cNvSpPr txBox="1">
              <a:spLocks noChangeArrowheads="1"/>
            </p:cNvSpPr>
            <p:nvPr/>
          </p:nvSpPr>
          <p:spPr bwMode="auto">
            <a:xfrm>
              <a:off x="567" y="3156"/>
              <a:ext cx="5035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为了消除反射，必须要求              ，那么</a:t>
              </a:r>
            </a:p>
          </p:txBody>
        </p:sp>
        <p:graphicFrame>
          <p:nvGraphicFramePr>
            <p:cNvPr id="33816" name="Object 27"/>
            <p:cNvGraphicFramePr>
              <a:graphicFrameLocks noChangeAspect="1"/>
            </p:cNvGraphicFramePr>
            <p:nvPr/>
          </p:nvGraphicFramePr>
          <p:xfrm>
            <a:off x="2803" y="3264"/>
            <a:ext cx="56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0" name="Equation" r:id="rId5" imgW="390398" imgH="133453" progId="Equation.DSMT4">
                    <p:embed/>
                  </p:oleObj>
                </mc:Choice>
                <mc:Fallback>
                  <p:oleObj name="Equation" r:id="rId5" imgW="390398" imgH="133453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" y="3264"/>
                          <a:ext cx="56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4284663" y="5805488"/>
            <a:ext cx="2301875" cy="576262"/>
            <a:chOff x="2767" y="3504"/>
            <a:chExt cx="1264" cy="278"/>
          </a:xfrm>
        </p:grpSpPr>
        <p:graphicFrame>
          <p:nvGraphicFramePr>
            <p:cNvPr id="33813" name="Object 30"/>
            <p:cNvGraphicFramePr>
              <a:graphicFrameLocks noChangeAspect="1"/>
            </p:cNvGraphicFramePr>
            <p:nvPr/>
          </p:nvGraphicFramePr>
          <p:xfrm>
            <a:off x="3313" y="3504"/>
            <a:ext cx="71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1" name="公式" r:id="rId7" imgW="561827" imgH="161951" progId="Equation.3">
                    <p:embed/>
                  </p:oleObj>
                </mc:Choice>
                <mc:Fallback>
                  <p:oleObj name="公式" r:id="rId7" imgW="561827" imgH="161951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3" y="3504"/>
                          <a:ext cx="71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4" name="AutoShape 31"/>
            <p:cNvSpPr>
              <a:spLocks noChangeArrowheads="1"/>
            </p:cNvSpPr>
            <p:nvPr/>
          </p:nvSpPr>
          <p:spPr bwMode="auto">
            <a:xfrm>
              <a:off x="2767" y="3600"/>
              <a:ext cx="316" cy="147"/>
            </a:xfrm>
            <a:prstGeom prst="rightArrow">
              <a:avLst>
                <a:gd name="adj1" fmla="val 50000"/>
                <a:gd name="adj2" fmla="val 74999"/>
              </a:avLst>
            </a:prstGeom>
            <a:solidFill>
              <a:srgbClr val="FFCC99"/>
            </a:solidFill>
            <a:ln w="2540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50000"/>
                </a:spcBef>
              </a:pPr>
              <a:endParaRPr kumimoji="1" lang="zh-CN" altLang="zh-CN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822304" name="Text Box 32"/>
          <p:cNvSpPr txBox="1">
            <a:spLocks noChangeArrowheads="1"/>
          </p:cNvSpPr>
          <p:nvPr/>
        </p:nvSpPr>
        <p:spPr bwMode="auto">
          <a:xfrm>
            <a:off x="100013" y="476250"/>
            <a:ext cx="8001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kumimoji="1" lang="en-US" altLang="zh-CN" sz="20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6.2.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2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四分之一波长匹配层</a:t>
            </a:r>
          </a:p>
        </p:txBody>
      </p:sp>
      <p:graphicFrame>
        <p:nvGraphicFramePr>
          <p:cNvPr id="822316" name="Object 44"/>
          <p:cNvGraphicFramePr>
            <a:graphicFrameLocks noChangeAspect="1"/>
          </p:cNvGraphicFramePr>
          <p:nvPr/>
        </p:nvGraphicFramePr>
        <p:xfrm>
          <a:off x="2843213" y="5675313"/>
          <a:ext cx="9366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2" name="公式" r:id="rId9" imgW="409485" imgH="361783" progId="Equation.3">
                  <p:embed/>
                </p:oleObj>
              </mc:Choice>
              <mc:Fallback>
                <p:oleObj name="公式" r:id="rId9" imgW="409485" imgH="361783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675313"/>
                        <a:ext cx="93662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AutoShape 50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3" name="AutoShape 5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4" name="AutoShape 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AutoShape 5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70"/>
          <p:cNvGrpSpPr>
            <a:grpSpLocks/>
          </p:cNvGrpSpPr>
          <p:nvPr/>
        </p:nvGrpSpPr>
        <p:grpSpPr bwMode="auto">
          <a:xfrm>
            <a:off x="4284663" y="3357563"/>
            <a:ext cx="3894137" cy="906462"/>
            <a:chOff x="2890" y="2115"/>
            <a:chExt cx="2453" cy="571"/>
          </a:xfrm>
        </p:grpSpPr>
        <p:graphicFrame>
          <p:nvGraphicFramePr>
            <p:cNvPr id="33810" name="Object 67"/>
            <p:cNvGraphicFramePr>
              <a:graphicFrameLocks noChangeAspect="1"/>
            </p:cNvGraphicFramePr>
            <p:nvPr/>
          </p:nvGraphicFramePr>
          <p:xfrm>
            <a:off x="3991" y="2136"/>
            <a:ext cx="1352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3" name="Equation" r:id="rId12" imgW="1019200" imgH="333285" progId="Equation.DSMT4">
                    <p:embed/>
                  </p:oleObj>
                </mc:Choice>
                <mc:Fallback>
                  <p:oleObj name="Equation" r:id="rId12" imgW="1019200" imgH="333285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1" y="2136"/>
                          <a:ext cx="1352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68"/>
            <p:cNvGraphicFramePr>
              <a:graphicFrameLocks noChangeAspect="1"/>
            </p:cNvGraphicFramePr>
            <p:nvPr/>
          </p:nvGraphicFramePr>
          <p:xfrm>
            <a:off x="2890" y="2115"/>
            <a:ext cx="642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4" name="Equation" r:id="rId14" imgW="361943" imgH="295404" progId="Equation.DSMT4">
                    <p:embed/>
                  </p:oleObj>
                </mc:Choice>
                <mc:Fallback>
                  <p:oleObj name="Equation" r:id="rId14" imgW="361943" imgH="295404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2115"/>
                          <a:ext cx="642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2" name="AutoShape 69"/>
            <p:cNvSpPr>
              <a:spLocks noChangeArrowheads="1"/>
            </p:cNvSpPr>
            <p:nvPr/>
          </p:nvSpPr>
          <p:spPr bwMode="auto">
            <a:xfrm>
              <a:off x="3606" y="2341"/>
              <a:ext cx="327" cy="137"/>
            </a:xfrm>
            <a:prstGeom prst="rightArrow">
              <a:avLst>
                <a:gd name="adj1" fmla="val 50000"/>
                <a:gd name="adj2" fmla="val 59672"/>
              </a:avLst>
            </a:prstGeom>
            <a:solidFill>
              <a:srgbClr val="FFCC99"/>
            </a:solidFill>
            <a:ln w="222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50000"/>
                </a:spcBef>
              </a:pPr>
              <a:endParaRPr kumimoji="1" lang="zh-CN" altLang="zh-CN" sz="20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4140200" y="4292600"/>
            <a:ext cx="4673600" cy="973138"/>
            <a:chOff x="2653" y="2704"/>
            <a:chExt cx="2944" cy="613"/>
          </a:xfrm>
        </p:grpSpPr>
        <p:graphicFrame>
          <p:nvGraphicFramePr>
            <p:cNvPr id="33808" name="Object 71"/>
            <p:cNvGraphicFramePr>
              <a:graphicFrameLocks noChangeAspect="1"/>
            </p:cNvGraphicFramePr>
            <p:nvPr/>
          </p:nvGraphicFramePr>
          <p:xfrm>
            <a:off x="3152" y="2704"/>
            <a:ext cx="2445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5" name="Equation" r:id="rId16" imgW="1685827" imgH="361783" progId="Equation.DSMT4">
                    <p:embed/>
                  </p:oleObj>
                </mc:Choice>
                <mc:Fallback>
                  <p:oleObj name="Equation" r:id="rId16" imgW="1685827" imgH="361783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704"/>
                          <a:ext cx="2445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9" name="AutoShape 72"/>
            <p:cNvSpPr>
              <a:spLocks noChangeArrowheads="1"/>
            </p:cNvSpPr>
            <p:nvPr/>
          </p:nvSpPr>
          <p:spPr bwMode="auto">
            <a:xfrm>
              <a:off x="2653" y="2976"/>
              <a:ext cx="363" cy="136"/>
            </a:xfrm>
            <a:prstGeom prst="rightArrow">
              <a:avLst>
                <a:gd name="adj1" fmla="val 50000"/>
                <a:gd name="adj2" fmla="val 66728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2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82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82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82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4" grpId="0" autoUpdateAnimBg="0"/>
      <p:bldP spid="822275" grpId="0"/>
      <p:bldP spid="82230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3FB3A-2B03-4DDC-B80B-995CC07853EB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824325" name="Text Box 5"/>
          <p:cNvSpPr txBox="1">
            <a:spLocks noChangeArrowheads="1"/>
          </p:cNvSpPr>
          <p:nvPr/>
        </p:nvSpPr>
        <p:spPr bwMode="auto">
          <a:xfrm>
            <a:off x="107950" y="333375"/>
            <a:ext cx="80010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6.2.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半波长介质窗</a:t>
            </a:r>
            <a:r>
              <a:rPr kumimoji="1" lang="zh-CN" altLang="en-US" sz="2000">
                <a:solidFill>
                  <a:schemeClr val="bg1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824332" name="Object 12"/>
          <p:cNvGraphicFramePr>
            <a:graphicFrameLocks noChangeAspect="1"/>
          </p:cNvGraphicFramePr>
          <p:nvPr/>
        </p:nvGraphicFramePr>
        <p:xfrm>
          <a:off x="755650" y="2276475"/>
          <a:ext cx="24272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0" name="Equation" r:id="rId3" imgW="1238170" imgH="133453" progId="Equation.DSMT4">
                  <p:embed/>
                </p:oleObj>
              </mc:Choice>
              <mc:Fallback>
                <p:oleObj name="Equation" r:id="rId3" imgW="1238170" imgH="133453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276475"/>
                        <a:ext cx="24272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34" name="Object 14"/>
          <p:cNvGraphicFramePr>
            <a:graphicFrameLocks noChangeAspect="1"/>
          </p:cNvGraphicFramePr>
          <p:nvPr/>
        </p:nvGraphicFramePr>
        <p:xfrm>
          <a:off x="4211638" y="2060575"/>
          <a:ext cx="422592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" name="Equation" r:id="rId5" imgW="2038401" imgH="333285" progId="Equation.DSMT4">
                  <p:embed/>
                </p:oleObj>
              </mc:Choice>
              <mc:Fallback>
                <p:oleObj name="Equation" r:id="rId5" imgW="2038401" imgH="33328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060575"/>
                        <a:ext cx="422592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38" name="Object 18"/>
          <p:cNvGraphicFramePr>
            <a:graphicFrameLocks noChangeAspect="1"/>
          </p:cNvGraphicFramePr>
          <p:nvPr/>
        </p:nvGraphicFramePr>
        <p:xfrm>
          <a:off x="4284663" y="3068638"/>
          <a:ext cx="20891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2" name="Equation" r:id="rId7" imgW="942856" imgH="333285" progId="Equation.DSMT4">
                  <p:embed/>
                </p:oleObj>
              </mc:Choice>
              <mc:Fallback>
                <p:oleObj name="Equation" r:id="rId7" imgW="942856" imgH="33328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068638"/>
                        <a:ext cx="20891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40" name="Object 20"/>
          <p:cNvGraphicFramePr>
            <a:graphicFrameLocks noChangeAspect="1"/>
          </p:cNvGraphicFramePr>
          <p:nvPr/>
        </p:nvGraphicFramePr>
        <p:xfrm>
          <a:off x="4244975" y="3889375"/>
          <a:ext cx="45751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3" name="Equation" r:id="rId9" imgW="2248001" imgH="380897" progId="Equation.DSMT4">
                  <p:embed/>
                </p:oleObj>
              </mc:Choice>
              <mc:Fallback>
                <p:oleObj name="Equation" r:id="rId9" imgW="2248001" imgH="38089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5" y="3889375"/>
                        <a:ext cx="457517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42" name="Object 22"/>
          <p:cNvGraphicFramePr>
            <a:graphicFrameLocks noChangeAspect="1"/>
          </p:cNvGraphicFramePr>
          <p:nvPr/>
        </p:nvGraphicFramePr>
        <p:xfrm>
          <a:off x="2051050" y="4797425"/>
          <a:ext cx="12954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4" name="Equation" r:id="rId11" imgW="476113" imgH="133453" progId="Equation.DSMT4">
                  <p:embed/>
                </p:oleObj>
              </mc:Choice>
              <mc:Fallback>
                <p:oleObj name="Equation" r:id="rId11" imgW="476113" imgH="13345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797425"/>
                        <a:ext cx="12954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344" name="Object 24"/>
          <p:cNvGraphicFramePr>
            <a:graphicFrameLocks noChangeAspect="1"/>
          </p:cNvGraphicFramePr>
          <p:nvPr/>
        </p:nvGraphicFramePr>
        <p:xfrm>
          <a:off x="4716463" y="4797425"/>
          <a:ext cx="15827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5" name="Equation" r:id="rId13" imgW="676344" imgH="133453" progId="Equation.DSMT4">
                  <p:embed/>
                </p:oleObj>
              </mc:Choice>
              <mc:Fallback>
                <p:oleObj name="Equation" r:id="rId13" imgW="676344" imgH="133453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797425"/>
                        <a:ext cx="15827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79388" y="836613"/>
            <a:ext cx="8785225" cy="1079500"/>
            <a:chOff x="113" y="527"/>
            <a:chExt cx="5534" cy="680"/>
          </a:xfrm>
        </p:grpSpPr>
        <p:graphicFrame>
          <p:nvGraphicFramePr>
            <p:cNvPr id="34840" name="Object 8"/>
            <p:cNvGraphicFramePr>
              <a:graphicFrameLocks noChangeAspect="1"/>
            </p:cNvGraphicFramePr>
            <p:nvPr/>
          </p:nvGraphicFramePr>
          <p:xfrm>
            <a:off x="3696" y="572"/>
            <a:ext cx="54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6" name="Equation" r:id="rId15" imgW="352573" imgH="133453" progId="Equation.DSMT4">
                    <p:embed/>
                  </p:oleObj>
                </mc:Choice>
                <mc:Fallback>
                  <p:oleObj name="Equation" r:id="rId15" imgW="352573" imgH="13345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572"/>
                          <a:ext cx="54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1" name="Object 10"/>
            <p:cNvGraphicFramePr>
              <a:graphicFrameLocks noChangeAspect="1"/>
            </p:cNvGraphicFramePr>
            <p:nvPr/>
          </p:nvGraphicFramePr>
          <p:xfrm>
            <a:off x="359" y="940"/>
            <a:ext cx="70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7" name="Equation" r:id="rId17" imgW="504915" imgH="133453" progId="Equation.DSMT4">
                    <p:embed/>
                  </p:oleObj>
                </mc:Choice>
                <mc:Fallback>
                  <p:oleObj name="Equation" r:id="rId17" imgW="504915" imgH="133453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" y="940"/>
                          <a:ext cx="70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2" name="Rectangle 26"/>
            <p:cNvSpPr>
              <a:spLocks noChangeArrowheads="1"/>
            </p:cNvSpPr>
            <p:nvPr/>
          </p:nvSpPr>
          <p:spPr bwMode="auto">
            <a:xfrm>
              <a:off x="113" y="527"/>
              <a:ext cx="5534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10000"/>
                </a:spcBef>
              </a:pPr>
              <a:r>
                <a:rPr lang="en-US" altLang="zh-CN">
                  <a:solidFill>
                    <a:schemeClr val="bg1"/>
                  </a:solidFill>
                </a:rPr>
                <a:t>      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如果介质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和介质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是相同的介质，即           ，当介质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的厚</a:t>
              </a:r>
            </a:p>
            <a:p>
              <a:pPr eaLnBrk="1" hangingPunct="1">
                <a:lnSpc>
                  <a:spcPct val="130000"/>
                </a:lnSpc>
                <a:spcBef>
                  <a:spcPct val="1000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度               时，有</a:t>
              </a:r>
            </a:p>
          </p:txBody>
        </p:sp>
      </p:grpSp>
      <p:sp>
        <p:nvSpPr>
          <p:cNvPr id="824348" name="Rectangle 28"/>
          <p:cNvSpPr>
            <a:spLocks noChangeArrowheads="1"/>
          </p:cNvSpPr>
          <p:nvPr/>
        </p:nvSpPr>
        <p:spPr bwMode="auto">
          <a:xfrm>
            <a:off x="395288" y="3141663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介质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与介质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的分界面上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:</a:t>
            </a:r>
          </a:p>
        </p:txBody>
      </p:sp>
      <p:graphicFrame>
        <p:nvGraphicFramePr>
          <p:cNvPr id="824351" name="Object 31"/>
          <p:cNvGraphicFramePr>
            <a:graphicFrameLocks noChangeAspect="1"/>
          </p:cNvGraphicFramePr>
          <p:nvPr/>
        </p:nvGraphicFramePr>
        <p:xfrm>
          <a:off x="2916238" y="1341438"/>
          <a:ext cx="216058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8" name="Equation" r:id="rId19" imgW="1047656" imgH="333285" progId="Equation.DSMT4">
                  <p:embed/>
                </p:oleObj>
              </mc:Choice>
              <mc:Fallback>
                <p:oleObj name="Equation" r:id="rId19" imgW="1047656" imgH="333285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341438"/>
                        <a:ext cx="216058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354" name="AutoShape 34"/>
          <p:cNvSpPr>
            <a:spLocks noChangeArrowheads="1"/>
          </p:cNvSpPr>
          <p:nvPr/>
        </p:nvSpPr>
        <p:spPr bwMode="auto">
          <a:xfrm>
            <a:off x="3419475" y="2349500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4357" name="AutoShape 37"/>
          <p:cNvSpPr>
            <a:spLocks noChangeArrowheads="1"/>
          </p:cNvSpPr>
          <p:nvPr/>
        </p:nvSpPr>
        <p:spPr bwMode="auto">
          <a:xfrm>
            <a:off x="1187450" y="4941888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4358" name="AutoShape 38"/>
          <p:cNvSpPr>
            <a:spLocks noChangeArrowheads="1"/>
          </p:cNvSpPr>
          <p:nvPr/>
        </p:nvSpPr>
        <p:spPr bwMode="auto">
          <a:xfrm>
            <a:off x="3995738" y="4941888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179388" y="5373688"/>
            <a:ext cx="8964612" cy="1058862"/>
            <a:chOff x="91" y="3364"/>
            <a:chExt cx="5647" cy="667"/>
          </a:xfrm>
        </p:grpSpPr>
        <p:sp>
          <p:nvSpPr>
            <p:cNvPr id="34837" name="Rectangle 41"/>
            <p:cNvSpPr>
              <a:spLocks noChangeArrowheads="1"/>
            </p:cNvSpPr>
            <p:nvPr/>
          </p:nvSpPr>
          <p:spPr bwMode="auto">
            <a:xfrm>
              <a:off x="91" y="3364"/>
              <a:ext cx="5647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rgbClr val="E781E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结论</a:t>
              </a:r>
              <a:r>
                <a:rPr lang="zh-CN" altLang="en-US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：电磁波可以</a:t>
              </a:r>
              <a:r>
                <a:rPr lang="zh-CN" altLang="en-US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无损耗地</a:t>
              </a:r>
              <a:r>
                <a:rPr lang="zh-CN" altLang="en-US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通过厚度为    </a:t>
              </a:r>
              <a:r>
                <a:rPr lang="zh-CN" altLang="en-US">
                  <a:solidFill>
                    <a:schemeClr val="bg1"/>
                  </a:solidFill>
                  <a:ea typeface="宋体" pitchFamily="2" charset="-122"/>
                  <a:cs typeface="Times New Roman" pitchFamily="18" charset="0"/>
                </a:rPr>
                <a:t>的介质层。因此，这</a:t>
              </a:r>
            </a:p>
            <a:p>
              <a:pPr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ea typeface="宋体" pitchFamily="2" charset="-122"/>
                  <a:cs typeface="Times New Roman" pitchFamily="18" charset="0"/>
                </a:rPr>
                <a:t>           种厚度             的介质层又称为</a:t>
              </a:r>
              <a:r>
                <a:rPr lang="zh-CN" altLang="en-US">
                  <a:solidFill>
                    <a:srgbClr val="FF0000"/>
                  </a:solidFill>
                  <a:ea typeface="宋体" pitchFamily="2" charset="-122"/>
                  <a:cs typeface="Times New Roman" pitchFamily="18" charset="0"/>
                </a:rPr>
                <a:t>半波长介质窗</a:t>
              </a:r>
              <a:r>
                <a:rPr lang="zh-CN" altLang="en-US">
                  <a:solidFill>
                    <a:schemeClr val="bg1"/>
                  </a:solidFill>
                  <a:ea typeface="宋体" pitchFamily="2" charset="-122"/>
                  <a:cs typeface="Times New Roman" pitchFamily="18" charset="0"/>
                </a:rPr>
                <a:t>。</a:t>
              </a:r>
            </a:p>
          </p:txBody>
        </p:sp>
        <p:graphicFrame>
          <p:nvGraphicFramePr>
            <p:cNvPr id="34838" name="Object 40"/>
            <p:cNvGraphicFramePr>
              <a:graphicFrameLocks noChangeAspect="1"/>
            </p:cNvGraphicFramePr>
            <p:nvPr/>
          </p:nvGraphicFramePr>
          <p:xfrm>
            <a:off x="3452" y="3475"/>
            <a:ext cx="34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9" name="Equation" r:id="rId21" imgW="181145" imgH="123722" progId="Equation.DSMT4">
                    <p:embed/>
                  </p:oleObj>
                </mc:Choice>
                <mc:Fallback>
                  <p:oleObj name="Equation" r:id="rId21" imgW="181145" imgH="123722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" y="3475"/>
                          <a:ext cx="34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9" name="Object 39"/>
            <p:cNvGraphicFramePr>
              <a:graphicFrameLocks noChangeAspect="1"/>
            </p:cNvGraphicFramePr>
            <p:nvPr/>
          </p:nvGraphicFramePr>
          <p:xfrm>
            <a:off x="1321" y="3748"/>
            <a:ext cx="67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0" name="Equation" r:id="rId23" imgW="428571" imgH="123722" progId="Equation.DSMT4">
                    <p:embed/>
                  </p:oleObj>
                </mc:Choice>
                <mc:Fallback>
                  <p:oleObj name="Equation" r:id="rId23" imgW="428571" imgH="123722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1" y="3748"/>
                          <a:ext cx="679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3" name="AutoShape 48">
            <a:hlinkClick r:id="rId2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4" name="AutoShape 4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5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6" name="AutoShape 5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2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2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82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2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82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82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82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82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82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82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82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82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325" grpId="0"/>
      <p:bldP spid="824348" grpId="0"/>
      <p:bldP spid="824354" grpId="0" animBg="1"/>
      <p:bldP spid="824357" grpId="0" animBg="1"/>
      <p:bldP spid="8243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9F7F93-31E6-44B7-94BE-3D99C7D72F98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825346" name="Text Box 2"/>
          <p:cNvSpPr txBox="1">
            <a:spLocks noChangeArrowheads="1"/>
          </p:cNvSpPr>
          <p:nvPr/>
        </p:nvSpPr>
        <p:spPr bwMode="auto">
          <a:xfrm>
            <a:off x="107950" y="2387600"/>
            <a:ext cx="87852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此外，如果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夹层媒质的相对介电常数等于相对磁导率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，即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 b="0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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 b="0" baseline="-30000">
                <a:solidFill>
                  <a:schemeClr val="bg1"/>
                </a:solidFill>
                <a:latin typeface="Times New Roman" pitchFamily="18" charset="0"/>
              </a:rPr>
              <a:t>r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=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</a:t>
            </a:r>
            <a:r>
              <a:rPr lang="en-US" altLang="zh-CN" b="0" baseline="-30000">
                <a:solidFill>
                  <a:schemeClr val="bg1"/>
                </a:solidFill>
                <a:latin typeface="Times New Roman" pitchFamily="18" charset="0"/>
              </a:rPr>
              <a:t> r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，那么，夹层媒质的波阻抗等于真空的波阻抗。</a:t>
            </a:r>
          </a:p>
        </p:txBody>
      </p:sp>
      <p:sp>
        <p:nvSpPr>
          <p:cNvPr id="825347" name="Text Box 3"/>
          <p:cNvSpPr txBox="1">
            <a:spLocks noChangeArrowheads="1"/>
          </p:cNvSpPr>
          <p:nvPr/>
        </p:nvSpPr>
        <p:spPr bwMode="auto">
          <a:xfrm>
            <a:off x="179388" y="4937125"/>
            <a:ext cx="8713787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由此可见，若使用这种媒质制成保护天线的天线罩，其电磁特性十分优越。但是，普通媒质的磁导率很难与介电常数达到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同一数量级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。近来研发的新型磁性材料可以接近这种需求。</a:t>
            </a:r>
            <a:endParaRPr lang="zh-CN" altLang="en-US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825348" name="Text Box 4"/>
          <p:cNvSpPr txBox="1">
            <a:spLocks noChangeArrowheads="1"/>
          </p:cNvSpPr>
          <p:nvPr/>
        </p:nvSpPr>
        <p:spPr bwMode="auto">
          <a:xfrm>
            <a:off x="107950" y="3425825"/>
            <a:ext cx="8856663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当这种夹层置于空气中，平面波向其表面正投射时，无论夹层的厚度如何，反射现象均不可能发生。换言之，这种媒质对于电磁波是完全“透明”的。</a:t>
            </a:r>
            <a:endParaRPr lang="zh-CN" altLang="en-US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825349" name="Text Box 5"/>
          <p:cNvSpPr txBox="1">
            <a:spLocks noChangeArrowheads="1"/>
          </p:cNvSpPr>
          <p:nvPr/>
        </p:nvSpPr>
        <p:spPr bwMode="auto">
          <a:xfrm>
            <a:off x="107950" y="430213"/>
            <a:ext cx="8856663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rgbClr val="FF0000"/>
                </a:solidFill>
                <a:ea typeface="宋体" pitchFamily="2" charset="-122"/>
              </a:rPr>
              <a:t>【</a:t>
            </a:r>
            <a:r>
              <a:rPr kumimoji="1" lang="zh-CN" altLang="en-US">
                <a:solidFill>
                  <a:srgbClr val="FF0000"/>
                </a:solidFill>
                <a:ea typeface="宋体" pitchFamily="2" charset="-122"/>
              </a:rPr>
              <a:t>应用</a:t>
            </a:r>
            <a:r>
              <a:rPr kumimoji="1" lang="en-US" altLang="zh-CN">
                <a:solidFill>
                  <a:srgbClr val="FF0000"/>
                </a:solidFill>
                <a:ea typeface="宋体" pitchFamily="2" charset="-122"/>
              </a:rPr>
              <a:t>】</a:t>
            </a:r>
            <a:r>
              <a:rPr kumimoji="1" lang="zh-CN" altLang="en-US">
                <a:solidFill>
                  <a:schemeClr val="bg1"/>
                </a:solidFill>
              </a:rPr>
              <a:t>雷达天线罩的设计就利用了这个原理。为了使雷达天线免受恶劣环境的影响，通常用天线罩将天线保护起来，若天线罩的介质层厚度设计为该介质中的电磁波的半个波长，就可以消除天线罩对电磁波的反射。 </a:t>
            </a:r>
          </a:p>
        </p:txBody>
      </p:sp>
      <p:sp>
        <p:nvSpPr>
          <p:cNvPr id="35847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8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9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0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82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82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82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82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46" grpId="0" autoUpdateAnimBg="0"/>
      <p:bldP spid="825347" grpId="0" autoUpdateAnimBg="0"/>
      <p:bldP spid="825348" grpId="0" autoUpdateAnimBg="0"/>
      <p:bldP spid="825349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11371</TotalTime>
  <Words>2211</Words>
  <Application>Microsoft Office PowerPoint</Application>
  <PresentationFormat>全屏显示(4:3)</PresentationFormat>
  <Paragraphs>328</Paragraphs>
  <Slides>34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39" baseType="lpstr">
      <vt:lpstr>1_默认设计模板</vt:lpstr>
      <vt:lpstr>图片</vt:lpstr>
      <vt:lpstr>Equation</vt:lpstr>
      <vt:lpstr>MathType 6.0 Equation</vt:lpstr>
      <vt:lpstr>公式</vt:lpstr>
      <vt:lpstr>PowerPoint 演示文稿</vt:lpstr>
      <vt:lpstr>PowerPoint 演示文稿</vt:lpstr>
      <vt:lpstr>PowerPoint 演示文稿</vt:lpstr>
      <vt:lpstr> 6.1    均匀平面波对分界平面的垂直入射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    均匀平面波对多层介质分界平面的垂直入射 </vt:lpstr>
      <vt:lpstr>6.2.1  多层媒质的场量关系与等效波阻抗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China</cp:lastModifiedBy>
  <cp:revision>516</cp:revision>
  <dcterms:created xsi:type="dcterms:W3CDTF">2004-02-10T07:06:32Z</dcterms:created>
  <dcterms:modified xsi:type="dcterms:W3CDTF">2026-05-28T04:57:36Z</dcterms:modified>
</cp:coreProperties>
</file>