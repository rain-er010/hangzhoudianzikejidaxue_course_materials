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2"/>
  </p:notesMasterIdLst>
  <p:handoutMasterIdLst>
    <p:handoutMasterId r:id="rId33"/>
  </p:handoutMasterIdLst>
  <p:sldIdLst>
    <p:sldId id="510" r:id="rId2"/>
    <p:sldId id="511" r:id="rId3"/>
    <p:sldId id="512" r:id="rId4"/>
    <p:sldId id="738" r:id="rId5"/>
    <p:sldId id="521" r:id="rId6"/>
    <p:sldId id="613" r:id="rId7"/>
    <p:sldId id="592" r:id="rId8"/>
    <p:sldId id="591" r:id="rId9"/>
    <p:sldId id="593" r:id="rId10"/>
    <p:sldId id="608" r:id="rId11"/>
    <p:sldId id="609" r:id="rId12"/>
    <p:sldId id="523" r:id="rId13"/>
    <p:sldId id="597" r:id="rId14"/>
    <p:sldId id="602" r:id="rId15"/>
    <p:sldId id="603" r:id="rId16"/>
    <p:sldId id="550" r:id="rId17"/>
    <p:sldId id="551" r:id="rId18"/>
    <p:sldId id="553" r:id="rId19"/>
    <p:sldId id="554" r:id="rId20"/>
    <p:sldId id="601" r:id="rId21"/>
    <p:sldId id="576" r:id="rId22"/>
    <p:sldId id="661" r:id="rId23"/>
    <p:sldId id="678" r:id="rId24"/>
    <p:sldId id="577" r:id="rId25"/>
    <p:sldId id="580" r:id="rId26"/>
    <p:sldId id="604" r:id="rId27"/>
    <p:sldId id="669" r:id="rId28"/>
    <p:sldId id="685" r:id="rId29"/>
    <p:sldId id="686" r:id="rId30"/>
    <p:sldId id="684" r:id="rId31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57200" algn="ctr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14400" algn="ctr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371600" algn="ctr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28800" algn="ctr" rtl="0" fontAlgn="base">
      <a:spcBef>
        <a:spcPct val="2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0000"/>
    <a:srgbClr val="066B94"/>
    <a:srgbClr val="E1E1E1"/>
    <a:srgbClr val="990000"/>
    <a:srgbClr val="D4D4D4"/>
    <a:srgbClr val="CC99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8" autoAdjust="0"/>
    <p:restoredTop sz="94863" autoAdjust="0"/>
  </p:normalViewPr>
  <p:slideViewPr>
    <p:cSldViewPr>
      <p:cViewPr>
        <p:scale>
          <a:sx n="100" d="100"/>
          <a:sy n="100" d="100"/>
        </p:scale>
        <p:origin x="-1944" y="-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91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w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10" Type="http://schemas.openxmlformats.org/officeDocument/2006/relationships/image" Target="../media/image19.emf"/><Relationship Id="rId4" Type="http://schemas.openxmlformats.org/officeDocument/2006/relationships/image" Target="../media/image13.wmf"/><Relationship Id="rId9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12" Type="http://schemas.openxmlformats.org/officeDocument/2006/relationships/image" Target="../media/image50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6" Type="http://schemas.openxmlformats.org/officeDocument/2006/relationships/image" Target="../media/image44.emf"/><Relationship Id="rId11" Type="http://schemas.openxmlformats.org/officeDocument/2006/relationships/image" Target="../media/image49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openxmlformats.org/officeDocument/2006/relationships/image" Target="../media/image53.emf"/><Relationship Id="rId7" Type="http://schemas.openxmlformats.org/officeDocument/2006/relationships/image" Target="../media/image57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9" Type="http://schemas.openxmlformats.org/officeDocument/2006/relationships/image" Target="../media/image59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4" Type="http://schemas.openxmlformats.org/officeDocument/2006/relationships/image" Target="../media/image64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77.emf"/><Relationship Id="rId3" Type="http://schemas.openxmlformats.org/officeDocument/2006/relationships/image" Target="../media/image67.emf"/><Relationship Id="rId7" Type="http://schemas.openxmlformats.org/officeDocument/2006/relationships/image" Target="../media/image71.wmf"/><Relationship Id="rId12" Type="http://schemas.openxmlformats.org/officeDocument/2006/relationships/image" Target="../media/image76.emf"/><Relationship Id="rId2" Type="http://schemas.openxmlformats.org/officeDocument/2006/relationships/image" Target="../media/image66.emf"/><Relationship Id="rId16" Type="http://schemas.openxmlformats.org/officeDocument/2006/relationships/image" Target="../media/image80.emf"/><Relationship Id="rId1" Type="http://schemas.openxmlformats.org/officeDocument/2006/relationships/image" Target="../media/image65.emf"/><Relationship Id="rId6" Type="http://schemas.openxmlformats.org/officeDocument/2006/relationships/image" Target="../media/image70.wmf"/><Relationship Id="rId11" Type="http://schemas.openxmlformats.org/officeDocument/2006/relationships/image" Target="../media/image75.emf"/><Relationship Id="rId5" Type="http://schemas.openxmlformats.org/officeDocument/2006/relationships/image" Target="../media/image69.wmf"/><Relationship Id="rId15" Type="http://schemas.openxmlformats.org/officeDocument/2006/relationships/image" Target="../media/image79.e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Relationship Id="rId14" Type="http://schemas.openxmlformats.org/officeDocument/2006/relationships/image" Target="../media/image78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7.wmf"/><Relationship Id="rId2" Type="http://schemas.openxmlformats.org/officeDocument/2006/relationships/image" Target="../media/image82.emf"/><Relationship Id="rId1" Type="http://schemas.openxmlformats.org/officeDocument/2006/relationships/image" Target="../media/image81.e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emf"/><Relationship Id="rId13" Type="http://schemas.openxmlformats.org/officeDocument/2006/relationships/image" Target="../media/image100.emf"/><Relationship Id="rId3" Type="http://schemas.openxmlformats.org/officeDocument/2006/relationships/image" Target="../media/image90.emf"/><Relationship Id="rId7" Type="http://schemas.openxmlformats.org/officeDocument/2006/relationships/image" Target="../media/image94.emf"/><Relationship Id="rId12" Type="http://schemas.openxmlformats.org/officeDocument/2006/relationships/image" Target="../media/image99.emf"/><Relationship Id="rId2" Type="http://schemas.openxmlformats.org/officeDocument/2006/relationships/image" Target="../media/image89.emf"/><Relationship Id="rId1" Type="http://schemas.openxmlformats.org/officeDocument/2006/relationships/image" Target="../media/image88.emf"/><Relationship Id="rId6" Type="http://schemas.openxmlformats.org/officeDocument/2006/relationships/image" Target="../media/image93.emf"/><Relationship Id="rId11" Type="http://schemas.openxmlformats.org/officeDocument/2006/relationships/image" Target="../media/image98.emf"/><Relationship Id="rId5" Type="http://schemas.openxmlformats.org/officeDocument/2006/relationships/image" Target="../media/image92.emf"/><Relationship Id="rId10" Type="http://schemas.openxmlformats.org/officeDocument/2006/relationships/image" Target="../media/image97.emf"/><Relationship Id="rId4" Type="http://schemas.openxmlformats.org/officeDocument/2006/relationships/image" Target="../media/image91.emf"/><Relationship Id="rId9" Type="http://schemas.openxmlformats.org/officeDocument/2006/relationships/image" Target="../media/image96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3" Type="http://schemas.openxmlformats.org/officeDocument/2006/relationships/image" Target="../media/image103.emf"/><Relationship Id="rId7" Type="http://schemas.openxmlformats.org/officeDocument/2006/relationships/image" Target="../media/image107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Relationship Id="rId6" Type="http://schemas.openxmlformats.org/officeDocument/2006/relationships/image" Target="../media/image106.emf"/><Relationship Id="rId5" Type="http://schemas.openxmlformats.org/officeDocument/2006/relationships/image" Target="../media/image105.emf"/><Relationship Id="rId4" Type="http://schemas.openxmlformats.org/officeDocument/2006/relationships/image" Target="../media/image10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3" Type="http://schemas.openxmlformats.org/officeDocument/2006/relationships/image" Target="../media/image127.emf"/><Relationship Id="rId7" Type="http://schemas.openxmlformats.org/officeDocument/2006/relationships/image" Target="../media/image131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image" Target="../media/image128.emf"/><Relationship Id="rId9" Type="http://schemas.openxmlformats.org/officeDocument/2006/relationships/image" Target="../media/image13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image" Target="../media/image135.emf"/><Relationship Id="rId1" Type="http://schemas.openxmlformats.org/officeDocument/2006/relationships/image" Target="../media/image134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4" Type="http://schemas.openxmlformats.org/officeDocument/2006/relationships/image" Target="../media/image14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emf"/><Relationship Id="rId1" Type="http://schemas.openxmlformats.org/officeDocument/2006/relationships/image" Target="../media/image147.emf"/><Relationship Id="rId5" Type="http://schemas.openxmlformats.org/officeDocument/2006/relationships/image" Target="../media/image151.emf"/><Relationship Id="rId4" Type="http://schemas.openxmlformats.org/officeDocument/2006/relationships/image" Target="../media/image15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image" Target="../media/image15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3" Type="http://schemas.openxmlformats.org/officeDocument/2006/relationships/image" Target="../media/image158.emf"/><Relationship Id="rId7" Type="http://schemas.openxmlformats.org/officeDocument/2006/relationships/image" Target="../media/image162.emf"/><Relationship Id="rId2" Type="http://schemas.openxmlformats.org/officeDocument/2006/relationships/image" Target="../media/image157.emf"/><Relationship Id="rId1" Type="http://schemas.openxmlformats.org/officeDocument/2006/relationships/image" Target="../media/image156.emf"/><Relationship Id="rId6" Type="http://schemas.openxmlformats.org/officeDocument/2006/relationships/image" Target="../media/image161.emf"/><Relationship Id="rId5" Type="http://schemas.openxmlformats.org/officeDocument/2006/relationships/image" Target="../media/image160.emf"/><Relationship Id="rId4" Type="http://schemas.openxmlformats.org/officeDocument/2006/relationships/image" Target="../media/image159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emf"/><Relationship Id="rId2" Type="http://schemas.openxmlformats.org/officeDocument/2006/relationships/image" Target="../media/image165.emf"/><Relationship Id="rId1" Type="http://schemas.openxmlformats.org/officeDocument/2006/relationships/image" Target="../media/image164.emf"/><Relationship Id="rId5" Type="http://schemas.openxmlformats.org/officeDocument/2006/relationships/image" Target="../media/image168.emf"/><Relationship Id="rId4" Type="http://schemas.openxmlformats.org/officeDocument/2006/relationships/image" Target="../media/image167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9E65D73-107B-4E6D-9CA8-B04BBF6BA352}" type="datetime1">
              <a:rPr lang="zh-CN" altLang="en-US"/>
              <a:pPr>
                <a:defRPr/>
              </a:pPr>
              <a:t>2026/4/16</a:t>
            </a:fld>
            <a:endParaRPr lang="en-US" altLang="zh-CN"/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A362722B-27DF-47AF-97A2-A06E0A762F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726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1C6D866-3954-44FC-B406-E5365D412AD3}" type="datetime1">
              <a:rPr lang="zh-CN" altLang="en-US"/>
              <a:pPr>
                <a:defRPr/>
              </a:pPr>
              <a:t>2026/4/16</a:t>
            </a:fld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468E94F-826F-4A5D-A393-AB0BAC643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02091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C5983-B4C6-4C8F-8AF1-4BC8A6CA11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985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1F328-54F2-4CDD-AB26-0408AF1B6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05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24D52-DC68-42FA-B942-C2B80CDA24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51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02489A-BEBE-4A8B-A67D-3CB73BB3C9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592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D68C9C-9F74-4283-9FA5-BE948A16FB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00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4048D-4A69-4A65-AF70-6A942C1D46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801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FBA0F-2766-4E97-9655-9A36BCA112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79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55A600-ED51-4E34-89B1-73AFD1A823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98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D3654-518C-493F-966E-97E50E8EC5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71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68ACD-DDDE-43C5-88BB-5BB43B33D8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743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7EE2D-EBEF-44E8-9F61-FF03F15786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625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9E4AF-A7CE-4EFE-81CF-6A12A6019B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665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C0AC-B5DD-4967-94A6-B41CDB992A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4207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80A4A-E055-486D-ABC0-4C9ACDF9D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692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ChangeArrowheads="1"/>
          </p:cNvSpPr>
          <p:nvPr userDrawn="1"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defRPr/>
            </a:pPr>
            <a:endParaRPr lang="zh-CN" altLang="zh-CN" sz="280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74469" name="Rectangle 5"/>
          <p:cNvSpPr>
            <a:spLocks noChangeArrowheads="1"/>
          </p:cNvSpPr>
          <p:nvPr/>
        </p:nvSpPr>
        <p:spPr bwMode="auto">
          <a:xfrm>
            <a:off x="2124075" y="44450"/>
            <a:ext cx="5903913" cy="350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60000"/>
              </a:lnSpc>
              <a:spcBef>
                <a:spcPct val="0"/>
              </a:spcBef>
              <a:defRPr/>
            </a:pPr>
            <a:r>
              <a:rPr lang="zh-CN" altLang="en-US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>
                <a:solidFill>
                  <a:schemeClr val="bg1"/>
                </a:solidFill>
                <a:latin typeface="隶书" pitchFamily="49" charset="-122"/>
                <a:ea typeface="隶书" pitchFamily="49" charset="-122"/>
              </a:rPr>
              <a:t>章 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静态电磁场及其边值问题的解</a:t>
            </a:r>
          </a:p>
        </p:txBody>
      </p:sp>
      <p:sp>
        <p:nvSpPr>
          <p:cNvPr id="1028" name="Rectangle 6"/>
          <p:cNvSpPr>
            <a:spLocks noChangeArrowheads="1"/>
          </p:cNvSpPr>
          <p:nvPr userDrawn="1"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tIns="1080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000" b="1" smtClean="0">
                <a:solidFill>
                  <a:srgbClr val="573CFC"/>
                </a:solidFill>
                <a:ea typeface="华文行楷" pitchFamily="2" charset="-122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 userDrawn="1"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57447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67625" y="0"/>
            <a:ext cx="1343025" cy="3333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ea typeface="+mn-ea"/>
              </a:defRPr>
            </a:lvl1pPr>
          </a:lstStyle>
          <a:p>
            <a:pPr>
              <a:defRPr/>
            </a:pPr>
            <a:fld id="{FD2C2D41-2C93-4F5B-ADFD-C426C9CF58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17" descr="栎木"/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33" name="Rectangle 19" descr="深色横线"/>
          <p:cNvSpPr>
            <a:spLocks noChangeArrowheads="1"/>
          </p:cNvSpPr>
          <p:nvPr userDrawn="1"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1.xml"/><Relationship Id="rId4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19" Type="http://schemas.openxmlformats.org/officeDocument/2006/relationships/slide" Target="slide3.xml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7.e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.wmf"/><Relationship Id="rId20" Type="http://schemas.openxmlformats.org/officeDocument/2006/relationships/image" Target="../media/image18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24" Type="http://schemas.openxmlformats.org/officeDocument/2006/relationships/slide" Target="slide3.xml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image" Target="../media/image20.png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Relationship Id="rId22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emf"/><Relationship Id="rId9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8.wmf"/><Relationship Id="rId17" Type="http://schemas.openxmlformats.org/officeDocument/2006/relationships/image" Target="../media/image30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slide" Target="slide3.xml"/><Relationship Id="rId10" Type="http://schemas.openxmlformats.org/officeDocument/2006/relationships/image" Target="../media/image27.w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9.bin"/><Relationship Id="rId7" Type="http://schemas.openxmlformats.org/officeDocument/2006/relationships/image" Target="../media/image32.emf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2.bin"/><Relationship Id="rId5" Type="http://schemas.openxmlformats.org/officeDocument/2006/relationships/image" Target="../media/image36.png"/><Relationship Id="rId10" Type="http://schemas.openxmlformats.org/officeDocument/2006/relationships/image" Target="../media/image33.e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slide" Target="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8.png"/><Relationship Id="rId5" Type="http://schemas.openxmlformats.org/officeDocument/2006/relationships/image" Target="../media/image20.png"/><Relationship Id="rId4" Type="http://schemas.openxmlformats.org/officeDocument/2006/relationships/image" Target="../media/image3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6.emf"/><Relationship Id="rId26" Type="http://schemas.openxmlformats.org/officeDocument/2006/relationships/image" Target="../media/image50.emf"/><Relationship Id="rId3" Type="http://schemas.openxmlformats.org/officeDocument/2006/relationships/oleObject" Target="../embeddings/oleObject35.bin"/><Relationship Id="rId21" Type="http://schemas.openxmlformats.org/officeDocument/2006/relationships/oleObject" Target="../embeddings/oleObject44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3.e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5.emf"/><Relationship Id="rId20" Type="http://schemas.openxmlformats.org/officeDocument/2006/relationships/image" Target="../media/image47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9.e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10" Type="http://schemas.openxmlformats.org/officeDocument/2006/relationships/image" Target="../media/image42.emf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39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4.emf"/><Relationship Id="rId22" Type="http://schemas.openxmlformats.org/officeDocument/2006/relationships/image" Target="../media/image48.emf"/><Relationship Id="rId27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8.emf"/><Relationship Id="rId3" Type="http://schemas.openxmlformats.org/officeDocument/2006/relationships/oleObject" Target="../embeddings/oleObject47.bin"/><Relationship Id="rId21" Type="http://schemas.openxmlformats.org/officeDocument/2006/relationships/image" Target="../media/image60.png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5.emf"/><Relationship Id="rId17" Type="http://schemas.openxmlformats.org/officeDocument/2006/relationships/oleObject" Target="../embeddings/oleObject5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7.emf"/><Relationship Id="rId20" Type="http://schemas.openxmlformats.org/officeDocument/2006/relationships/image" Target="../media/image59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e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51.e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6.emf"/><Relationship Id="rId22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2.emf"/><Relationship Id="rId11" Type="http://schemas.openxmlformats.org/officeDocument/2006/relationships/slide" Target="slide3.xml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5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72.wmf"/><Relationship Id="rId26" Type="http://schemas.openxmlformats.org/officeDocument/2006/relationships/image" Target="../media/image76.emf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34" Type="http://schemas.openxmlformats.org/officeDocument/2006/relationships/oleObject" Target="../embeddings/oleObject75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33" Type="http://schemas.openxmlformats.org/officeDocument/2006/relationships/image" Target="../media/image79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oleObject" Target="../embeddings/oleObject73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75.emf"/><Relationship Id="rId32" Type="http://schemas.openxmlformats.org/officeDocument/2006/relationships/oleObject" Target="../embeddings/oleObject7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77.emf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68.bin"/><Relationship Id="rId31" Type="http://schemas.openxmlformats.org/officeDocument/2006/relationships/slide" Target="slide3.xml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Relationship Id="rId27" Type="http://schemas.openxmlformats.org/officeDocument/2006/relationships/oleObject" Target="../embeddings/oleObject72.bin"/><Relationship Id="rId30" Type="http://schemas.openxmlformats.org/officeDocument/2006/relationships/image" Target="../media/image78.emf"/><Relationship Id="rId35" Type="http://schemas.openxmlformats.org/officeDocument/2006/relationships/image" Target="../media/image80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85.wmf"/><Relationship Id="rId17" Type="http://schemas.openxmlformats.org/officeDocument/2006/relationships/slide" Target="slide3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2.e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84.emf"/><Relationship Id="rId4" Type="http://schemas.openxmlformats.org/officeDocument/2006/relationships/image" Target="../media/image81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8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emf"/><Relationship Id="rId13" Type="http://schemas.openxmlformats.org/officeDocument/2006/relationships/oleObject" Target="../embeddings/oleObject88.bin"/><Relationship Id="rId18" Type="http://schemas.openxmlformats.org/officeDocument/2006/relationships/image" Target="../media/image95.emf"/><Relationship Id="rId26" Type="http://schemas.openxmlformats.org/officeDocument/2006/relationships/oleObject" Target="../embeddings/oleObject94.bin"/><Relationship Id="rId3" Type="http://schemas.openxmlformats.org/officeDocument/2006/relationships/oleObject" Target="../embeddings/oleObject83.bin"/><Relationship Id="rId21" Type="http://schemas.openxmlformats.org/officeDocument/2006/relationships/slide" Target="slide3.xml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92.emf"/><Relationship Id="rId17" Type="http://schemas.openxmlformats.org/officeDocument/2006/relationships/oleObject" Target="../embeddings/oleObject90.bin"/><Relationship Id="rId25" Type="http://schemas.openxmlformats.org/officeDocument/2006/relationships/image" Target="../media/image98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4.emf"/><Relationship Id="rId20" Type="http://schemas.openxmlformats.org/officeDocument/2006/relationships/image" Target="../media/image96.emf"/><Relationship Id="rId29" Type="http://schemas.openxmlformats.org/officeDocument/2006/relationships/image" Target="../media/image100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7.bin"/><Relationship Id="rId24" Type="http://schemas.openxmlformats.org/officeDocument/2006/relationships/oleObject" Target="../embeddings/oleObject93.bin"/><Relationship Id="rId5" Type="http://schemas.openxmlformats.org/officeDocument/2006/relationships/oleObject" Target="../embeddings/oleObject84.bin"/><Relationship Id="rId15" Type="http://schemas.openxmlformats.org/officeDocument/2006/relationships/oleObject" Target="../embeddings/oleObject89.bin"/><Relationship Id="rId23" Type="http://schemas.openxmlformats.org/officeDocument/2006/relationships/image" Target="../media/image97.emf"/><Relationship Id="rId28" Type="http://schemas.openxmlformats.org/officeDocument/2006/relationships/oleObject" Target="../embeddings/oleObject95.bin"/><Relationship Id="rId10" Type="http://schemas.openxmlformats.org/officeDocument/2006/relationships/image" Target="../media/image91.emf"/><Relationship Id="rId19" Type="http://schemas.openxmlformats.org/officeDocument/2006/relationships/oleObject" Target="../embeddings/oleObject91.bin"/><Relationship Id="rId4" Type="http://schemas.openxmlformats.org/officeDocument/2006/relationships/image" Target="../media/image88.e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93.emf"/><Relationship Id="rId22" Type="http://schemas.openxmlformats.org/officeDocument/2006/relationships/oleObject" Target="../embeddings/oleObject92.bin"/><Relationship Id="rId27" Type="http://schemas.openxmlformats.org/officeDocument/2006/relationships/image" Target="../media/image99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07.emf"/><Relationship Id="rId3" Type="http://schemas.openxmlformats.org/officeDocument/2006/relationships/oleObject" Target="../embeddings/oleObject96.bin"/><Relationship Id="rId7" Type="http://schemas.openxmlformats.org/officeDocument/2006/relationships/image" Target="../media/image102.emf"/><Relationship Id="rId12" Type="http://schemas.openxmlformats.org/officeDocument/2006/relationships/image" Target="../media/image104.e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6.emf"/><Relationship Id="rId20" Type="http://schemas.openxmlformats.org/officeDocument/2006/relationships/image" Target="../media/image108.e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7.bin"/><Relationship Id="rId11" Type="http://schemas.openxmlformats.org/officeDocument/2006/relationships/oleObject" Target="../embeddings/oleObject99.bin"/><Relationship Id="rId5" Type="http://schemas.openxmlformats.org/officeDocument/2006/relationships/image" Target="../media/image20.png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3.e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01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13" Type="http://schemas.openxmlformats.org/officeDocument/2006/relationships/oleObject" Target="../embeddings/oleObject108.bin"/><Relationship Id="rId18" Type="http://schemas.openxmlformats.org/officeDocument/2006/relationships/image" Target="../media/image115.emf"/><Relationship Id="rId3" Type="http://schemas.openxmlformats.org/officeDocument/2006/relationships/image" Target="../media/image20.png"/><Relationship Id="rId7" Type="http://schemas.openxmlformats.org/officeDocument/2006/relationships/image" Target="../media/image110.emf"/><Relationship Id="rId12" Type="http://schemas.openxmlformats.org/officeDocument/2006/relationships/image" Target="../media/image112.emf"/><Relationship Id="rId17" Type="http://schemas.openxmlformats.org/officeDocument/2006/relationships/oleObject" Target="../embeddings/oleObject11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4.e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5.bin"/><Relationship Id="rId11" Type="http://schemas.openxmlformats.org/officeDocument/2006/relationships/oleObject" Target="../embeddings/oleObject107.bin"/><Relationship Id="rId5" Type="http://schemas.openxmlformats.org/officeDocument/2006/relationships/image" Target="../media/image109.emf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111.emf"/><Relationship Id="rId4" Type="http://schemas.openxmlformats.org/officeDocument/2006/relationships/oleObject" Target="../embeddings/oleObject104.bin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113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3.emf"/><Relationship Id="rId3" Type="http://schemas.openxmlformats.org/officeDocument/2006/relationships/oleObject" Target="../embeddings/oleObject111.bin"/><Relationship Id="rId21" Type="http://schemas.openxmlformats.org/officeDocument/2006/relationships/slide" Target="slide3.xml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1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e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32.emf"/><Relationship Id="rId3" Type="http://schemas.openxmlformats.org/officeDocument/2006/relationships/oleObject" Target="../embeddings/oleObject120.bin"/><Relationship Id="rId21" Type="http://schemas.openxmlformats.org/officeDocument/2006/relationships/slide" Target="slide3.xml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9.e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1.emf"/><Relationship Id="rId20" Type="http://schemas.openxmlformats.org/officeDocument/2006/relationships/image" Target="../media/image133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e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28.e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3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5.e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4.emf"/><Relationship Id="rId9" Type="http://schemas.openxmlformats.org/officeDocument/2006/relationships/slide" Target="slide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13" Type="http://schemas.openxmlformats.org/officeDocument/2006/relationships/slide" Target="slide3.xml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41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8.e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5" Type="http://schemas.openxmlformats.org/officeDocument/2006/relationships/image" Target="../media/image142.emf"/><Relationship Id="rId10" Type="http://schemas.openxmlformats.org/officeDocument/2006/relationships/image" Target="../media/image140.emf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35.bin"/><Relationship Id="rId14" Type="http://schemas.openxmlformats.org/officeDocument/2006/relationships/oleObject" Target="../embeddings/oleObject13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3" Type="http://schemas.openxmlformats.org/officeDocument/2006/relationships/oleObject" Target="../embeddings/oleObject138.bin"/><Relationship Id="rId7" Type="http://schemas.openxmlformats.org/officeDocument/2006/relationships/image" Target="../media/image144.emf"/><Relationship Id="rId12" Type="http://schemas.openxmlformats.org/officeDocument/2006/relationships/slide" Target="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46.emf"/><Relationship Id="rId5" Type="http://schemas.openxmlformats.org/officeDocument/2006/relationships/image" Target="../media/image60.png"/><Relationship Id="rId10" Type="http://schemas.openxmlformats.org/officeDocument/2006/relationships/oleObject" Target="../embeddings/oleObject141.bin"/><Relationship Id="rId4" Type="http://schemas.openxmlformats.org/officeDocument/2006/relationships/image" Target="../media/image143.emf"/><Relationship Id="rId9" Type="http://schemas.openxmlformats.org/officeDocument/2006/relationships/image" Target="../media/image145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slide" Target="slide3.xml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51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8.e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50.emf"/><Relationship Id="rId4" Type="http://schemas.openxmlformats.org/officeDocument/2006/relationships/image" Target="../media/image147.emf"/><Relationship Id="rId9" Type="http://schemas.openxmlformats.org/officeDocument/2006/relationships/oleObject" Target="../embeddings/oleObject14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e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3.e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2.emf"/><Relationship Id="rId9" Type="http://schemas.openxmlformats.org/officeDocument/2006/relationships/slide" Target="slide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5" Type="http://schemas.openxmlformats.org/officeDocument/2006/relationships/slide" Target="slide3.xml"/><Relationship Id="rId4" Type="http://schemas.openxmlformats.org/officeDocument/2006/relationships/image" Target="../media/image155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13" Type="http://schemas.openxmlformats.org/officeDocument/2006/relationships/oleObject" Target="../embeddings/oleObject156.bin"/><Relationship Id="rId18" Type="http://schemas.openxmlformats.org/officeDocument/2006/relationships/image" Target="../media/image163.e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60.emf"/><Relationship Id="rId17" Type="http://schemas.openxmlformats.org/officeDocument/2006/relationships/oleObject" Target="../embeddings/oleObject1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7.e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10" Type="http://schemas.openxmlformats.org/officeDocument/2006/relationships/image" Target="../media/image159.emf"/><Relationship Id="rId19" Type="http://schemas.openxmlformats.org/officeDocument/2006/relationships/slide" Target="slide3.xml"/><Relationship Id="rId4" Type="http://schemas.openxmlformats.org/officeDocument/2006/relationships/image" Target="../media/image156.e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6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emf"/><Relationship Id="rId13" Type="http://schemas.openxmlformats.org/officeDocument/2006/relationships/slide" Target="slide3.xml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5.e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7.emf"/><Relationship Id="rId4" Type="http://schemas.openxmlformats.org/officeDocument/2006/relationships/image" Target="../media/image164.emf"/><Relationship Id="rId9" Type="http://schemas.openxmlformats.org/officeDocument/2006/relationships/oleObject" Target="../embeddings/oleObject16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13" Type="http://schemas.openxmlformats.org/officeDocument/2006/relationships/slide" Target="slide3.xml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7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70.e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72.emf"/><Relationship Id="rId4" Type="http://schemas.openxmlformats.org/officeDocument/2006/relationships/image" Target="../media/image169.emf"/><Relationship Id="rId9" Type="http://schemas.openxmlformats.org/officeDocument/2006/relationships/oleObject" Target="../embeddings/oleObject1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0A1A86-4B41-4FFF-BF36-B4117047EBBD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89479" name="WordArt 1031"/>
          <p:cNvSpPr>
            <a:spLocks noChangeArrowheads="1" noChangeShapeType="1" noTextEdit="1"/>
          </p:cNvSpPr>
          <p:nvPr/>
        </p:nvSpPr>
        <p:spPr bwMode="auto">
          <a:xfrm>
            <a:off x="827088" y="2060575"/>
            <a:ext cx="7489825" cy="1655763"/>
          </a:xfrm>
          <a:prstGeom prst="rect">
            <a:avLst/>
          </a:prstGeom>
        </p:spPr>
        <p:txBody>
          <a:bodyPr wrap="none" fromWordArt="1">
            <a:prstTxWarp prst="textInflateTop">
              <a:avLst>
                <a:gd name="adj" fmla="val 31917"/>
              </a:avLst>
            </a:prstTxWarp>
          </a:bodyPr>
          <a:lstStyle/>
          <a:p>
            <a:pPr>
              <a:defRPr/>
            </a:pPr>
            <a:r>
              <a:rPr lang="zh-CN" altLang="en-US" sz="3600" kern="10" normalizeH="1">
                <a:ln w="9525">
                  <a:solidFill>
                    <a:srgbClr val="FFCC99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77513">
                        <a:gamma/>
                        <a:shade val="56078"/>
                        <a:invGamma/>
                      </a:srgbClr>
                    </a:gs>
                    <a:gs pos="100000">
                      <a:srgbClr val="F77513">
                        <a:alpha val="42000"/>
                      </a:srgbClr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隶书"/>
                <a:ea typeface="隶书"/>
              </a:rPr>
              <a:t>第</a:t>
            </a:r>
            <a:r>
              <a:rPr lang="en-US" altLang="zh-CN" sz="3600" kern="10" normalizeH="1">
                <a:ln w="9525">
                  <a:solidFill>
                    <a:srgbClr val="FFCC99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77513">
                        <a:gamma/>
                        <a:shade val="56078"/>
                        <a:invGamma/>
                      </a:srgbClr>
                    </a:gs>
                    <a:gs pos="100000">
                      <a:srgbClr val="F77513">
                        <a:alpha val="42000"/>
                      </a:srgbClr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隶书"/>
                <a:ea typeface="隶书"/>
              </a:rPr>
              <a:t>3</a:t>
            </a:r>
            <a:r>
              <a:rPr lang="zh-CN" altLang="en-US" sz="3600" kern="10" normalizeH="1">
                <a:ln w="9525">
                  <a:solidFill>
                    <a:srgbClr val="FFCC99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77513">
                        <a:gamma/>
                        <a:shade val="56078"/>
                        <a:invGamma/>
                      </a:srgbClr>
                    </a:gs>
                    <a:gs pos="100000">
                      <a:srgbClr val="F77513">
                        <a:alpha val="42000"/>
                      </a:srgbClr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80000"/>
                    </a:srgbClr>
                  </a:outerShdw>
                </a:effectLst>
                <a:latin typeface="隶书"/>
                <a:ea typeface="隶书"/>
              </a:rPr>
              <a:t>章 静态电磁场及其边值问题的解</a:t>
            </a:r>
          </a:p>
        </p:txBody>
      </p:sp>
      <p:sp>
        <p:nvSpPr>
          <p:cNvPr id="2052" name="AutoShape 103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3" name="AutoShape 103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4" name="AutoShape 103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5" name="AutoShape 103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D106B8-4406-4020-A603-B279E03E539F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476375" y="2676525"/>
            <a:ext cx="6481763" cy="3776663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>
                <a:solidFill>
                  <a:srgbClr val="FF3300"/>
                </a:solidFill>
                <a:ea typeface="隶书" pitchFamily="49" charset="-122"/>
              </a:rPr>
              <a:t>本章内容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/>
              <a:t>   </a:t>
            </a:r>
            <a:r>
              <a:rPr lang="en-US" altLang="zh-CN" b="1">
                <a:latin typeface="Times New Roman" pitchFamily="18" charset="0"/>
              </a:rPr>
              <a:t>3.1 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rId2" action="ppaction://hlinksldjump"/>
              </a:rPr>
              <a:t>静电场分析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en-US" altLang="zh-CN" b="1">
                <a:latin typeface="Times New Roman" pitchFamily="18" charset="0"/>
              </a:rPr>
              <a:t>3.2 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" action="ppaction://noaction"/>
              </a:rPr>
              <a:t>导电媒质中的恒定电场分析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en-US" altLang="zh-CN" b="1">
                <a:latin typeface="Times New Roman" pitchFamily="18" charset="0"/>
              </a:rPr>
              <a:t>3.3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" action="ppaction://noaction"/>
              </a:rPr>
              <a:t>恒定磁场分析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en-US" altLang="zh-CN" b="1">
                <a:latin typeface="Times New Roman" pitchFamily="18" charset="0"/>
              </a:rPr>
              <a:t>3.4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" action="ppaction://noaction"/>
              </a:rPr>
              <a:t>静态场的边值问题及解的唯一性定理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en-US" altLang="zh-CN" b="1">
                <a:latin typeface="Times New Roman" pitchFamily="18" charset="0"/>
              </a:rPr>
              <a:t>3.5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" action="ppaction://noaction"/>
              </a:rPr>
              <a:t>镜像法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>
                <a:latin typeface="Times New Roman" pitchFamily="18" charset="0"/>
              </a:rPr>
              <a:t>   </a:t>
            </a:r>
            <a:r>
              <a:rPr lang="en-US" altLang="zh-CN" b="1">
                <a:latin typeface="Times New Roman" pitchFamily="18" charset="0"/>
              </a:rPr>
              <a:t>3.6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hlinkClick r:id="" action="ppaction://noaction"/>
              </a:rPr>
              <a:t>分离变量法</a:t>
            </a:r>
            <a:endParaRPr lang="zh-CN" altLang="en-US" b="1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106363" y="404813"/>
            <a:ext cx="8858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静态电磁场：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场量不随时间变化，包括：</a:t>
            </a: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              </a:t>
            </a:r>
            <a:r>
              <a:rPr kumimoji="1" lang="zh-CN" altLang="en-US" b="1">
                <a:solidFill>
                  <a:srgbClr val="FF7C80"/>
                </a:solidFill>
                <a:latin typeface="楷体_GB2312" pitchFamily="49" charset="-122"/>
                <a:ea typeface="宋体" pitchFamily="2" charset="-122"/>
              </a:rPr>
              <a:t>静电场、恒定电场和恒定磁场</a:t>
            </a:r>
            <a:endParaRPr kumimoji="1" lang="zh-CN" altLang="en-US" b="1">
              <a:solidFill>
                <a:srgbClr val="FF7C80"/>
              </a:solidFill>
              <a:latin typeface="幼圆" pitchFamily="49" charset="-122"/>
              <a:ea typeface="宋体" pitchFamily="2" charset="-122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07950" y="1341438"/>
            <a:ext cx="82089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</a:rPr>
              <a:t>   </a:t>
            </a:r>
            <a:r>
              <a:rPr kumimoji="1" lang="zh-CN" altLang="en-US" b="1">
                <a:solidFill>
                  <a:schemeClr val="bg1"/>
                </a:solidFill>
              </a:rPr>
              <a:t>静态情况下，电场和磁场由各自的源激发，且相互独立。</a:t>
            </a:r>
            <a:endParaRPr kumimoji="1" lang="zh-CN" altLang="en-US" b="1">
              <a:solidFill>
                <a:schemeClr val="bg1"/>
              </a:solidFill>
              <a:latin typeface="楷体_GB2312" pitchFamily="49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b="1">
                <a:solidFill>
                  <a:schemeClr val="bg1"/>
                </a:solidFill>
              </a:rPr>
              <a:t>   时变情况下，电场和磁场相互关联，构成统一的电磁场。</a:t>
            </a:r>
          </a:p>
        </p:txBody>
      </p:sp>
      <p:sp>
        <p:nvSpPr>
          <p:cNvPr id="3078" name="AutoShape 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9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0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1" name="AutoShape 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568D97D-49E6-4BA6-BE69-3F8A618F35AC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836613"/>
            <a:ext cx="8229600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3.1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静电场分析</a:t>
            </a:r>
            <a:r>
              <a:rPr lang="zh-CN" altLang="en-US" sz="1800" smtClean="0"/>
              <a:t> </a:t>
            </a:r>
          </a:p>
        </p:txBody>
      </p:sp>
      <p:sp>
        <p:nvSpPr>
          <p:cNvPr id="4100" name="Rectangle 29"/>
          <p:cNvSpPr>
            <a:spLocks noChangeArrowheads="1"/>
          </p:cNvSpPr>
          <p:nvPr/>
        </p:nvSpPr>
        <p:spPr bwMode="auto">
          <a:xfrm>
            <a:off x="1836738" y="1989138"/>
            <a:ext cx="6119812" cy="3365500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990000"/>
                </a:solidFill>
              </a:rPr>
              <a:t>                        </a:t>
            </a:r>
            <a:r>
              <a:rPr lang="zh-CN" altLang="en-US" sz="2800" b="1">
                <a:solidFill>
                  <a:srgbClr val="990000"/>
                </a:solidFill>
                <a:ea typeface="隶书" pitchFamily="49" charset="-122"/>
              </a:rPr>
              <a:t>本节内容</a:t>
            </a:r>
            <a:endParaRPr lang="zh-CN" altLang="en-US" sz="2800" b="1">
              <a:latin typeface="Times New Roman" pitchFamily="18" charset="0"/>
              <a:ea typeface="隶书" pitchFamily="49" charset="-122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>
                <a:latin typeface="Times New Roman" pitchFamily="18" charset="0"/>
              </a:rPr>
              <a:t>  </a:t>
            </a:r>
            <a:r>
              <a:rPr lang="en-US" altLang="zh-CN" b="1">
                <a:latin typeface="Times New Roman" pitchFamily="18" charset="0"/>
              </a:rPr>
              <a:t>3.1.1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hlinkClick r:id="rId2" action="ppaction://hlinksldjump"/>
              </a:rPr>
              <a:t>静电场的基本方程和边界条件</a:t>
            </a:r>
            <a:r>
              <a:rPr lang="zh-CN" altLang="en-US">
                <a:latin typeface="Times New Roman" pitchFamily="18" charset="0"/>
                <a:hlinkClick r:id="rId2" action="ppaction://hlinksldjump"/>
              </a:rPr>
              <a:t> </a:t>
            </a:r>
            <a:endParaRPr lang="zh-CN" altLang="en-US">
              <a:latin typeface="Times New Roman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b="1">
                <a:latin typeface="Times New Roman" pitchFamily="18" charset="0"/>
              </a:rPr>
              <a:t>  </a:t>
            </a:r>
            <a:r>
              <a:rPr kumimoji="1" lang="en-US" altLang="zh-CN" b="1">
                <a:latin typeface="Times New Roman" pitchFamily="18" charset="0"/>
              </a:rPr>
              <a:t>3.1.2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hlinkClick r:id="rId3" action="ppaction://hlinksldjump"/>
              </a:rPr>
              <a:t>电位函数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b="1">
                <a:latin typeface="Times New Roman" pitchFamily="18" charset="0"/>
              </a:rPr>
              <a:t>  </a:t>
            </a:r>
            <a:r>
              <a:rPr kumimoji="1" lang="en-US" altLang="zh-CN" b="1">
                <a:latin typeface="Times New Roman" pitchFamily="18" charset="0"/>
              </a:rPr>
              <a:t>3.1.3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hlinkClick r:id="rId4" action="ppaction://hlinksldjump"/>
              </a:rPr>
              <a:t>导体系统的电容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b="1">
                <a:latin typeface="Times New Roman" pitchFamily="18" charset="0"/>
              </a:rPr>
              <a:t>  </a:t>
            </a:r>
            <a:r>
              <a:rPr kumimoji="1" lang="en-US" altLang="zh-CN" b="1">
                <a:latin typeface="Times New Roman" pitchFamily="18" charset="0"/>
              </a:rPr>
              <a:t>3.1.4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hlinkClick r:id="rId5" action="ppaction://hlinksldjump"/>
              </a:rPr>
              <a:t>静电场的能量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b="1">
                <a:latin typeface="Times New Roman" pitchFamily="18" charset="0"/>
              </a:rPr>
              <a:t>  </a:t>
            </a:r>
            <a:r>
              <a:rPr kumimoji="1" lang="en-US" altLang="zh-CN" b="1">
                <a:latin typeface="Times New Roman" pitchFamily="18" charset="0"/>
              </a:rPr>
              <a:t>3.1.5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hlinkClick r:id="rId6" action="ppaction://hlinksldjump"/>
              </a:rPr>
              <a:t>静电力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101" name="AutoShape 30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24750" y="6605588"/>
            <a:ext cx="360363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2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3" name="AutoShape 3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4" name="AutoShape 3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3DFE78-5505-4C6F-8A92-8003BA516349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829447" name="Text Box 7"/>
          <p:cNvSpPr txBox="1">
            <a:spLocks noChangeArrowheads="1"/>
          </p:cNvSpPr>
          <p:nvPr/>
        </p:nvSpPr>
        <p:spPr bwMode="auto">
          <a:xfrm>
            <a:off x="107950" y="3548063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2.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边界条件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39750" y="1628775"/>
            <a:ext cx="3311525" cy="1081088"/>
            <a:chOff x="340" y="1026"/>
            <a:chExt cx="2086" cy="681"/>
          </a:xfrm>
        </p:grpSpPr>
        <p:graphicFrame>
          <p:nvGraphicFramePr>
            <p:cNvPr id="5148" name="Object 3"/>
            <p:cNvGraphicFramePr>
              <a:graphicFrameLocks noChangeAspect="1"/>
            </p:cNvGraphicFramePr>
            <p:nvPr/>
          </p:nvGraphicFramePr>
          <p:xfrm>
            <a:off x="1338" y="1026"/>
            <a:ext cx="1088" cy="6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8" name="公式" r:id="rId3" imgW="590630" imgH="409742" progId="Equation.3">
                    <p:embed/>
                  </p:oleObj>
                </mc:Choice>
                <mc:Fallback>
                  <p:oleObj name="公式" r:id="rId3" imgW="590630" imgH="409742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026"/>
                          <a:ext cx="1088" cy="6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9" name="Text Box 8"/>
            <p:cNvSpPr txBox="1">
              <a:spLocks noChangeArrowheads="1"/>
            </p:cNvSpPr>
            <p:nvPr/>
          </p:nvSpPr>
          <p:spPr bwMode="auto">
            <a:xfrm>
              <a:off x="340" y="1207"/>
              <a:ext cx="1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微分形式：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468313" y="2852738"/>
            <a:ext cx="2738437" cy="457200"/>
            <a:chOff x="295" y="1797"/>
            <a:chExt cx="1725" cy="288"/>
          </a:xfrm>
        </p:grpSpPr>
        <p:graphicFrame>
          <p:nvGraphicFramePr>
            <p:cNvPr id="5146" name="Object 6"/>
            <p:cNvGraphicFramePr>
              <a:graphicFrameLocks noChangeAspect="1"/>
            </p:cNvGraphicFramePr>
            <p:nvPr/>
          </p:nvGraphicFramePr>
          <p:xfrm>
            <a:off x="1338" y="1797"/>
            <a:ext cx="68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9" name="公式" r:id="rId5" imgW="390398" imgH="123722" progId="Equation.3">
                    <p:embed/>
                  </p:oleObj>
                </mc:Choice>
                <mc:Fallback>
                  <p:oleObj name="公式" r:id="rId5" imgW="390398" imgH="12372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797"/>
                          <a:ext cx="68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7" name="Text Box 9"/>
            <p:cNvSpPr txBox="1">
              <a:spLocks noChangeArrowheads="1"/>
            </p:cNvSpPr>
            <p:nvPr/>
          </p:nvSpPr>
          <p:spPr bwMode="auto">
            <a:xfrm>
              <a:off x="295" y="1797"/>
              <a:ext cx="111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本构关系：</a:t>
              </a:r>
            </a:p>
          </p:txBody>
        </p:sp>
      </p:grpSp>
      <p:sp>
        <p:nvSpPr>
          <p:cNvPr id="829450" name="Text Box 10"/>
          <p:cNvSpPr txBox="1">
            <a:spLocks noChangeArrowheads="1"/>
          </p:cNvSpPr>
          <p:nvPr/>
        </p:nvSpPr>
        <p:spPr bwMode="auto">
          <a:xfrm>
            <a:off x="107950" y="1171575"/>
            <a:ext cx="247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1.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基本方程</a:t>
            </a:r>
            <a:endParaRPr kumimoji="1" lang="zh-CN" altLang="en-US" sz="28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829451" name="Object 11"/>
          <p:cNvGraphicFramePr>
            <a:graphicFrameLocks noChangeAspect="1"/>
          </p:cNvGraphicFramePr>
          <p:nvPr/>
        </p:nvGraphicFramePr>
        <p:xfrm>
          <a:off x="2038350" y="3500438"/>
          <a:ext cx="26193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" name="公式" r:id="rId7" imgW="1124001" imgH="438240" progId="Equation.3">
                  <p:embed/>
                </p:oleObj>
              </mc:Choice>
              <mc:Fallback>
                <p:oleObj name="公式" r:id="rId7" imgW="1124001" imgH="4382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500438"/>
                        <a:ext cx="26193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4284663" y="1557338"/>
            <a:ext cx="3608387" cy="1254125"/>
            <a:chOff x="2699" y="981"/>
            <a:chExt cx="2273" cy="790"/>
          </a:xfrm>
        </p:grpSpPr>
        <p:graphicFrame>
          <p:nvGraphicFramePr>
            <p:cNvPr id="5144" name="Object 4"/>
            <p:cNvGraphicFramePr>
              <a:graphicFrameLocks noChangeAspect="1"/>
            </p:cNvGraphicFramePr>
            <p:nvPr/>
          </p:nvGraphicFramePr>
          <p:xfrm>
            <a:off x="3601" y="981"/>
            <a:ext cx="1371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1" name="公式" r:id="rId9" imgW="771427" imgH="542848" progId="Equation.3">
                    <p:embed/>
                  </p:oleObj>
                </mc:Choice>
                <mc:Fallback>
                  <p:oleObj name="公式" r:id="rId9" imgW="771427" imgH="542848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981"/>
                          <a:ext cx="1371" cy="7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5" name="Text Box 13"/>
            <p:cNvSpPr txBox="1">
              <a:spLocks noChangeArrowheads="1"/>
            </p:cNvSpPr>
            <p:nvPr/>
          </p:nvSpPr>
          <p:spPr bwMode="auto">
            <a:xfrm>
              <a:off x="2699" y="1207"/>
              <a:ext cx="1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积分形式：</a:t>
              </a:r>
            </a:p>
          </p:txBody>
        </p:sp>
      </p:grpSp>
      <p:graphicFrame>
        <p:nvGraphicFramePr>
          <p:cNvPr id="8294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597778"/>
              </p:ext>
            </p:extLst>
          </p:nvPr>
        </p:nvGraphicFramePr>
        <p:xfrm>
          <a:off x="1958869" y="5248275"/>
          <a:ext cx="2305156" cy="120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2" name="Equation" r:id="rId11" imgW="1143000" imgH="533160" progId="Equation.DSMT4">
                  <p:embed/>
                </p:oleObj>
              </mc:Choice>
              <mc:Fallback>
                <p:oleObj name="Equation" r:id="rId11" imgW="1143000" imgH="5331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869" y="5248275"/>
                        <a:ext cx="2305156" cy="1205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968875" y="3500438"/>
            <a:ext cx="3348038" cy="1022350"/>
            <a:chOff x="3130" y="2205"/>
            <a:chExt cx="2109" cy="644"/>
          </a:xfrm>
        </p:grpSpPr>
        <p:graphicFrame>
          <p:nvGraphicFramePr>
            <p:cNvPr id="5142" name="Object 12"/>
            <p:cNvGraphicFramePr>
              <a:graphicFrameLocks noChangeAspect="1"/>
            </p:cNvGraphicFramePr>
            <p:nvPr/>
          </p:nvGraphicFramePr>
          <p:xfrm>
            <a:off x="3653" y="2205"/>
            <a:ext cx="1586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3" name="公式" r:id="rId13" imgW="923770" imgH="390628" progId="Equation.3">
                    <p:embed/>
                  </p:oleObj>
                </mc:Choice>
                <mc:Fallback>
                  <p:oleObj name="公式" r:id="rId13" imgW="923770" imgH="390628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" y="2205"/>
                          <a:ext cx="1586" cy="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3" name="Text Box 16"/>
            <p:cNvSpPr txBox="1">
              <a:spLocks noChangeArrowheads="1"/>
            </p:cNvSpPr>
            <p:nvPr/>
          </p:nvSpPr>
          <p:spPr bwMode="auto">
            <a:xfrm>
              <a:off x="3130" y="2387"/>
              <a:ext cx="5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或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4643438" y="5445125"/>
            <a:ext cx="2735262" cy="1022350"/>
            <a:chOff x="2903" y="3421"/>
            <a:chExt cx="1723" cy="644"/>
          </a:xfrm>
        </p:grpSpPr>
        <p:graphicFrame>
          <p:nvGraphicFramePr>
            <p:cNvPr id="5140" name="Object 15"/>
            <p:cNvGraphicFramePr>
              <a:graphicFrameLocks noChangeAspect="1"/>
            </p:cNvGraphicFramePr>
            <p:nvPr/>
          </p:nvGraphicFramePr>
          <p:xfrm>
            <a:off x="3515" y="3421"/>
            <a:ext cx="1111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4" name="公式" r:id="rId15" imgW="619085" imgH="390628" progId="Equation.3">
                    <p:embed/>
                  </p:oleObj>
                </mc:Choice>
                <mc:Fallback>
                  <p:oleObj name="公式" r:id="rId15" imgW="619085" imgH="39062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421"/>
                          <a:ext cx="1111" cy="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Text Box 18"/>
            <p:cNvSpPr txBox="1">
              <a:spLocks noChangeArrowheads="1"/>
            </p:cNvSpPr>
            <p:nvPr/>
          </p:nvSpPr>
          <p:spPr bwMode="auto">
            <a:xfrm>
              <a:off x="2903" y="3566"/>
              <a:ext cx="5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或</a:t>
              </a:r>
            </a:p>
          </p:txBody>
        </p:sp>
      </p:grpSp>
      <p:sp>
        <p:nvSpPr>
          <p:cNvPr id="829460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87313" y="561975"/>
            <a:ext cx="822960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3.1.1  </a:t>
            </a:r>
            <a:r>
              <a:rPr lang="zh-CN" altLang="en-US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静电场的基本方程和边界条件</a:t>
            </a:r>
          </a:p>
        </p:txBody>
      </p: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468313" y="4860925"/>
            <a:ext cx="6408737" cy="484188"/>
            <a:chOff x="295" y="3062"/>
            <a:chExt cx="4037" cy="305"/>
          </a:xfrm>
        </p:grpSpPr>
        <p:sp>
          <p:nvSpPr>
            <p:cNvPr id="5138" name="Text Box 17"/>
            <p:cNvSpPr txBox="1">
              <a:spLocks noChangeArrowheads="1"/>
            </p:cNvSpPr>
            <p:nvPr/>
          </p:nvSpPr>
          <p:spPr bwMode="auto">
            <a:xfrm>
              <a:off x="295" y="3067"/>
              <a:ext cx="40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若分界面上不存在面电荷，即       ，则</a:t>
              </a:r>
              <a:endParaRPr kumimoji="1" lang="zh-CN" altLang="el-GR" b="1">
                <a:solidFill>
                  <a:schemeClr val="bg1"/>
                </a:solidFill>
                <a:latin typeface="楷体_GB2312" pitchFamily="49" charset="-122"/>
              </a:endParaRPr>
            </a:p>
          </p:txBody>
        </p:sp>
        <p:graphicFrame>
          <p:nvGraphicFramePr>
            <p:cNvPr id="5139" name="Object 27"/>
            <p:cNvGraphicFramePr>
              <a:graphicFrameLocks noChangeAspect="1"/>
            </p:cNvGraphicFramePr>
            <p:nvPr/>
          </p:nvGraphicFramePr>
          <p:xfrm>
            <a:off x="2844" y="3062"/>
            <a:ext cx="69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5" name="公式" r:id="rId17" imgW="352573" imgH="133453" progId="Equation.3">
                    <p:embed/>
                  </p:oleObj>
                </mc:Choice>
                <mc:Fallback>
                  <p:oleObj name="公式" r:id="rId17" imgW="352573" imgH="133453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3062"/>
                          <a:ext cx="693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34" name="AutoShape 30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5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6" name="AutoShape 3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7" name="AutoShape 3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2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8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82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47" grpId="0"/>
      <p:bldP spid="829450" grpId="0"/>
      <p:bldP spid="8294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5B0D40-2D4B-43F0-AE38-BA8803DF5CBF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grpSp>
        <p:nvGrpSpPr>
          <p:cNvPr id="2" name="Group 1039"/>
          <p:cNvGrpSpPr>
            <a:grpSpLocks/>
          </p:cNvGrpSpPr>
          <p:nvPr/>
        </p:nvGrpSpPr>
        <p:grpSpPr bwMode="auto">
          <a:xfrm>
            <a:off x="5724525" y="765175"/>
            <a:ext cx="3240088" cy="2449513"/>
            <a:chOff x="3651" y="1842"/>
            <a:chExt cx="2041" cy="1543"/>
          </a:xfrm>
        </p:grpSpPr>
        <p:sp>
          <p:nvSpPr>
            <p:cNvPr id="6160" name="Rectangle 1040"/>
            <p:cNvSpPr>
              <a:spLocks noChangeArrowheads="1"/>
            </p:cNvSpPr>
            <p:nvPr/>
          </p:nvSpPr>
          <p:spPr bwMode="auto">
            <a:xfrm>
              <a:off x="3651" y="1842"/>
              <a:ext cx="2041" cy="81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1" name="Rectangle 1041"/>
            <p:cNvSpPr>
              <a:spLocks noChangeArrowheads="1"/>
            </p:cNvSpPr>
            <p:nvPr/>
          </p:nvSpPr>
          <p:spPr bwMode="auto">
            <a:xfrm>
              <a:off x="3651" y="2659"/>
              <a:ext cx="2041" cy="72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62" name="Text Box 1042"/>
            <p:cNvSpPr txBox="1">
              <a:spLocks noChangeArrowheads="1"/>
            </p:cNvSpPr>
            <p:nvPr/>
          </p:nvSpPr>
          <p:spPr bwMode="auto">
            <a:xfrm>
              <a:off x="3696" y="2659"/>
              <a:ext cx="7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楷体_GB2312" pitchFamily="49" charset="-122"/>
                </a:rPr>
                <a:t>介质</a:t>
              </a:r>
              <a:r>
                <a:rPr kumimoji="1" lang="en-US" altLang="zh-CN" sz="2000" b="1">
                  <a:latin typeface="楷体_GB2312" pitchFamily="49" charset="-122"/>
                </a:rPr>
                <a:t>2</a:t>
              </a:r>
            </a:p>
          </p:txBody>
        </p:sp>
        <p:sp>
          <p:nvSpPr>
            <p:cNvPr id="6163" name="Text Box 1043"/>
            <p:cNvSpPr txBox="1">
              <a:spLocks noChangeArrowheads="1"/>
            </p:cNvSpPr>
            <p:nvPr/>
          </p:nvSpPr>
          <p:spPr bwMode="auto">
            <a:xfrm>
              <a:off x="3696" y="2296"/>
              <a:ext cx="5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2000" b="1">
                  <a:latin typeface="楷体_GB2312" pitchFamily="49" charset="-122"/>
                </a:rPr>
                <a:t>介质</a:t>
              </a:r>
              <a:r>
                <a:rPr kumimoji="1" lang="en-US" altLang="zh-CN" sz="2000" b="1">
                  <a:latin typeface="楷体_GB2312" pitchFamily="49" charset="-122"/>
                </a:rPr>
                <a:t>1</a:t>
              </a:r>
            </a:p>
          </p:txBody>
        </p:sp>
        <p:graphicFrame>
          <p:nvGraphicFramePr>
            <p:cNvPr id="6164" name="Object 1044"/>
            <p:cNvGraphicFramePr>
              <a:graphicFrameLocks noChangeAspect="1"/>
            </p:cNvGraphicFramePr>
            <p:nvPr/>
          </p:nvGraphicFramePr>
          <p:xfrm>
            <a:off x="5342" y="2704"/>
            <a:ext cx="18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7" name="公式" r:id="rId3" imgW="164885" imgH="215619" progId="Equation.3">
                    <p:embed/>
                  </p:oleObj>
                </mc:Choice>
                <mc:Fallback>
                  <p:oleObj name="公式" r:id="rId3" imgW="164885" imgH="215619" progId="Equation.3">
                    <p:embed/>
                    <p:pic>
                      <p:nvPicPr>
                        <p:cNvPr id="0" name="Object 10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2" y="2704"/>
                          <a:ext cx="18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1045"/>
            <p:cNvGraphicFramePr>
              <a:graphicFrameLocks noChangeAspect="1"/>
            </p:cNvGraphicFramePr>
            <p:nvPr/>
          </p:nvGraphicFramePr>
          <p:xfrm>
            <a:off x="5345" y="2387"/>
            <a:ext cx="18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8" name="公式" r:id="rId5" imgW="152268" imgH="215713" progId="Equation.3">
                    <p:embed/>
                  </p:oleObj>
                </mc:Choice>
                <mc:Fallback>
                  <p:oleObj name="公式" r:id="rId5" imgW="152268" imgH="215713" progId="Equation.3">
                    <p:embed/>
                    <p:pic>
                      <p:nvPicPr>
                        <p:cNvPr id="0" name="Object 10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5" y="2387"/>
                          <a:ext cx="18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6" name="Line 1046"/>
            <p:cNvSpPr>
              <a:spLocks noChangeShapeType="1"/>
            </p:cNvSpPr>
            <p:nvPr/>
          </p:nvSpPr>
          <p:spPr bwMode="auto">
            <a:xfrm flipV="1">
              <a:off x="4416" y="2659"/>
              <a:ext cx="431" cy="31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1047"/>
            <p:cNvSpPr>
              <a:spLocks noChangeShapeType="1"/>
            </p:cNvSpPr>
            <p:nvPr/>
          </p:nvSpPr>
          <p:spPr bwMode="auto">
            <a:xfrm flipH="1">
              <a:off x="4830" y="2071"/>
              <a:ext cx="0" cy="1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8" name="Line 1048"/>
            <p:cNvSpPr>
              <a:spLocks noChangeShapeType="1"/>
            </p:cNvSpPr>
            <p:nvPr/>
          </p:nvSpPr>
          <p:spPr bwMode="auto">
            <a:xfrm flipV="1">
              <a:off x="4830" y="2088"/>
              <a:ext cx="431" cy="57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9" name="Freeform 1049"/>
            <p:cNvSpPr>
              <a:spLocks/>
            </p:cNvSpPr>
            <p:nvPr/>
          </p:nvSpPr>
          <p:spPr bwMode="auto">
            <a:xfrm>
              <a:off x="4689" y="2761"/>
              <a:ext cx="170" cy="91"/>
            </a:xfrm>
            <a:custGeom>
              <a:avLst/>
              <a:gdLst>
                <a:gd name="T0" fmla="*/ 0 w 192"/>
                <a:gd name="T1" fmla="*/ 0 h 112"/>
                <a:gd name="T2" fmla="*/ 17 w 192"/>
                <a:gd name="T3" fmla="*/ 6 h 112"/>
                <a:gd name="T4" fmla="*/ 35 w 192"/>
                <a:gd name="T5" fmla="*/ 6 h 112"/>
                <a:gd name="T6" fmla="*/ 0 60000 65536"/>
                <a:gd name="T7" fmla="*/ 0 60000 65536"/>
                <a:gd name="T8" fmla="*/ 0 60000 65536"/>
                <a:gd name="T9" fmla="*/ 0 w 192"/>
                <a:gd name="T10" fmla="*/ 0 h 112"/>
                <a:gd name="T11" fmla="*/ 192 w 192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12">
                  <a:moveTo>
                    <a:pt x="0" y="0"/>
                  </a:moveTo>
                  <a:cubicBezTo>
                    <a:pt x="32" y="40"/>
                    <a:pt x="64" y="80"/>
                    <a:pt x="96" y="96"/>
                  </a:cubicBezTo>
                  <a:cubicBezTo>
                    <a:pt x="128" y="112"/>
                    <a:pt x="160" y="104"/>
                    <a:pt x="192" y="96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0" name="Freeform 1050"/>
            <p:cNvSpPr>
              <a:spLocks/>
            </p:cNvSpPr>
            <p:nvPr/>
          </p:nvSpPr>
          <p:spPr bwMode="auto">
            <a:xfrm>
              <a:off x="4851" y="2385"/>
              <a:ext cx="148" cy="59"/>
            </a:xfrm>
            <a:custGeom>
              <a:avLst/>
              <a:gdLst>
                <a:gd name="T0" fmla="*/ 0 w 192"/>
                <a:gd name="T1" fmla="*/ 116 h 56"/>
                <a:gd name="T2" fmla="*/ 2 w 192"/>
                <a:gd name="T3" fmla="*/ 8 h 56"/>
                <a:gd name="T4" fmla="*/ 5 w 192"/>
                <a:gd name="T5" fmla="*/ 8 h 56"/>
                <a:gd name="T6" fmla="*/ 0 60000 65536"/>
                <a:gd name="T7" fmla="*/ 0 60000 65536"/>
                <a:gd name="T8" fmla="*/ 0 60000 65536"/>
                <a:gd name="T9" fmla="*/ 0 w 192"/>
                <a:gd name="T10" fmla="*/ 0 h 56"/>
                <a:gd name="T11" fmla="*/ 192 w 192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56">
                  <a:moveTo>
                    <a:pt x="0" y="56"/>
                  </a:moveTo>
                  <a:cubicBezTo>
                    <a:pt x="32" y="36"/>
                    <a:pt x="64" y="16"/>
                    <a:pt x="96" y="8"/>
                  </a:cubicBezTo>
                  <a:cubicBezTo>
                    <a:pt x="128" y="0"/>
                    <a:pt x="168" y="8"/>
                    <a:pt x="192" y="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1" name="Object 1051"/>
            <p:cNvGraphicFramePr>
              <a:graphicFrameLocks noChangeAspect="1"/>
            </p:cNvGraphicFramePr>
            <p:nvPr/>
          </p:nvGraphicFramePr>
          <p:xfrm>
            <a:off x="4602" y="2803"/>
            <a:ext cx="22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9" name="Equation" r:id="rId7" imgW="164885" imgH="215619" progId="Equation.3">
                    <p:embed/>
                  </p:oleObj>
                </mc:Choice>
                <mc:Fallback>
                  <p:oleObj name="Equation" r:id="rId7" imgW="164885" imgH="215619" progId="Equation.3">
                    <p:embed/>
                    <p:pic>
                      <p:nvPicPr>
                        <p:cNvPr id="0" name="Object 1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" y="2803"/>
                          <a:ext cx="228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2" name="Object 1052"/>
            <p:cNvGraphicFramePr>
              <a:graphicFrameLocks noChangeAspect="1"/>
            </p:cNvGraphicFramePr>
            <p:nvPr/>
          </p:nvGraphicFramePr>
          <p:xfrm>
            <a:off x="4859" y="2121"/>
            <a:ext cx="24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0" name="Equation" r:id="rId9" imgW="152268" imgH="215713" progId="Equation.3">
                    <p:embed/>
                  </p:oleObj>
                </mc:Choice>
                <mc:Fallback>
                  <p:oleObj name="Equation" r:id="rId9" imgW="152268" imgH="215713" progId="Equation.3">
                    <p:embed/>
                    <p:pic>
                      <p:nvPicPr>
                        <p:cNvPr id="0" name="Object 1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9" y="2121"/>
                          <a:ext cx="24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3" name="Object 1053"/>
            <p:cNvGraphicFramePr>
              <a:graphicFrameLocks noChangeAspect="1"/>
            </p:cNvGraphicFramePr>
            <p:nvPr/>
          </p:nvGraphicFramePr>
          <p:xfrm>
            <a:off x="4240" y="2846"/>
            <a:ext cx="268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1" name="公式" r:id="rId11" imgW="190417" imgH="241195" progId="Equation.3">
                    <p:embed/>
                  </p:oleObj>
                </mc:Choice>
                <mc:Fallback>
                  <p:oleObj name="公式" r:id="rId11" imgW="190417" imgH="241195" progId="Equation.3">
                    <p:embed/>
                    <p:pic>
                      <p:nvPicPr>
                        <p:cNvPr id="0" name="Object 10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0" y="2846"/>
                          <a:ext cx="268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4" name="Object 1054"/>
            <p:cNvGraphicFramePr>
              <a:graphicFrameLocks noChangeAspect="1"/>
            </p:cNvGraphicFramePr>
            <p:nvPr/>
          </p:nvGraphicFramePr>
          <p:xfrm>
            <a:off x="5193" y="1879"/>
            <a:ext cx="2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2" name="公式" r:id="rId13" imgW="177646" imgH="241091" progId="Equation.3">
                    <p:embed/>
                  </p:oleObj>
                </mc:Choice>
                <mc:Fallback>
                  <p:oleObj name="公式" r:id="rId13" imgW="177646" imgH="241091" progId="Equation.3">
                    <p:embed/>
                    <p:pic>
                      <p:nvPicPr>
                        <p:cNvPr id="0" name="Object 1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1879"/>
                          <a:ext cx="2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5" name="Object 1055"/>
            <p:cNvGraphicFramePr>
              <a:graphicFrameLocks noChangeAspect="1"/>
            </p:cNvGraphicFramePr>
            <p:nvPr/>
          </p:nvGraphicFramePr>
          <p:xfrm>
            <a:off x="4598" y="1938"/>
            <a:ext cx="27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3" name="公式" r:id="rId15" imgW="164885" imgH="215619" progId="Equation.3">
                    <p:embed/>
                  </p:oleObj>
                </mc:Choice>
                <mc:Fallback>
                  <p:oleObj name="公式" r:id="rId15" imgW="164885" imgH="215619" progId="Equation.3">
                    <p:embed/>
                    <p:pic>
                      <p:nvPicPr>
                        <p:cNvPr id="0" name="Object 10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1938"/>
                          <a:ext cx="27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6" name="Rectangle 1056"/>
            <p:cNvSpPr>
              <a:spLocks noChangeArrowheads="1"/>
            </p:cNvSpPr>
            <p:nvPr/>
          </p:nvSpPr>
          <p:spPr bwMode="auto">
            <a:xfrm>
              <a:off x="3651" y="1842"/>
              <a:ext cx="2041" cy="154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08962" name="Object 1058"/>
          <p:cNvGraphicFramePr>
            <a:graphicFrameLocks noChangeAspect="1"/>
          </p:cNvGraphicFramePr>
          <p:nvPr/>
        </p:nvGraphicFramePr>
        <p:xfrm>
          <a:off x="323850" y="1700213"/>
          <a:ext cx="5435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17" imgW="2314629" imgH="333285" progId="Equation.DSMT4">
                  <p:embed/>
                </p:oleObj>
              </mc:Choice>
              <mc:Fallback>
                <p:oleObj name="Equation" r:id="rId17" imgW="2314629" imgH="333285" progId="Equation.DSMT4">
                  <p:embed/>
                  <p:pic>
                    <p:nvPicPr>
                      <p:cNvPr id="0" name="Object 1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00213"/>
                        <a:ext cx="5435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8964" name="Text Box 1060"/>
          <p:cNvSpPr txBox="1">
            <a:spLocks noChangeArrowheads="1"/>
          </p:cNvSpPr>
          <p:nvPr/>
        </p:nvSpPr>
        <p:spPr bwMode="auto">
          <a:xfrm>
            <a:off x="107950" y="3540125"/>
            <a:ext cx="8640763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在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静电平衡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的情况下，导体内部的电场为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，则导体表面的边界条件为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</a:t>
            </a:r>
          </a:p>
        </p:txBody>
      </p:sp>
      <p:graphicFrame>
        <p:nvGraphicFramePr>
          <p:cNvPr id="508965" name="Object 1061"/>
          <p:cNvGraphicFramePr>
            <a:graphicFrameLocks noChangeAspect="1"/>
          </p:cNvGraphicFramePr>
          <p:nvPr/>
        </p:nvGraphicFramePr>
        <p:xfrm>
          <a:off x="1319213" y="4724400"/>
          <a:ext cx="16637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公式" r:id="rId19" imgW="676344" imgH="438240" progId="Equation.3">
                  <p:embed/>
                </p:oleObj>
              </mc:Choice>
              <mc:Fallback>
                <p:oleObj name="公式" r:id="rId19" imgW="676344" imgH="438240" progId="Equation.3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4724400"/>
                        <a:ext cx="166370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67"/>
          <p:cNvGrpSpPr>
            <a:grpSpLocks/>
          </p:cNvGrpSpPr>
          <p:nvPr/>
        </p:nvGrpSpPr>
        <p:grpSpPr bwMode="auto">
          <a:xfrm>
            <a:off x="3316288" y="4783138"/>
            <a:ext cx="2263775" cy="1022350"/>
            <a:chOff x="1927" y="2977"/>
            <a:chExt cx="1426" cy="644"/>
          </a:xfrm>
        </p:grpSpPr>
        <p:graphicFrame>
          <p:nvGraphicFramePr>
            <p:cNvPr id="6158" name="Object 1062"/>
            <p:cNvGraphicFramePr>
              <a:graphicFrameLocks noChangeAspect="1"/>
            </p:cNvGraphicFramePr>
            <p:nvPr/>
          </p:nvGraphicFramePr>
          <p:xfrm>
            <a:off x="2381" y="2977"/>
            <a:ext cx="972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6" name="公式" r:id="rId21" imgW="524002" imgH="390628" progId="Equation.3">
                    <p:embed/>
                  </p:oleObj>
                </mc:Choice>
                <mc:Fallback>
                  <p:oleObj name="公式" r:id="rId21" imgW="524002" imgH="390628" progId="Equation.3">
                    <p:embed/>
                    <p:pic>
                      <p:nvPicPr>
                        <p:cNvPr id="0" name="Object 1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977"/>
                          <a:ext cx="972" cy="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9" name="Text Box 1063"/>
            <p:cNvSpPr txBox="1">
              <a:spLocks noChangeArrowheads="1"/>
            </p:cNvSpPr>
            <p:nvPr/>
          </p:nvSpPr>
          <p:spPr bwMode="auto">
            <a:xfrm>
              <a:off x="1927" y="3142"/>
              <a:ext cx="5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或</a:t>
              </a:r>
            </a:p>
          </p:txBody>
        </p:sp>
      </p:grpSp>
      <p:sp>
        <p:nvSpPr>
          <p:cNvPr id="508972" name="Rectangle 1068"/>
          <p:cNvSpPr>
            <a:spLocks noChangeArrowheads="1"/>
          </p:cNvSpPr>
          <p:nvPr/>
        </p:nvSpPr>
        <p:spPr bwMode="auto">
          <a:xfrm>
            <a:off x="34925" y="692150"/>
            <a:ext cx="410527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3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ea typeface="宋体" pitchFamily="2" charset="-122"/>
              </a:rPr>
              <a:t>场矢量的折射关系</a:t>
            </a:r>
          </a:p>
        </p:txBody>
      </p:sp>
      <p:sp>
        <p:nvSpPr>
          <p:cNvPr id="508973" name="Rectangle 1069"/>
          <p:cNvSpPr>
            <a:spLocks noChangeArrowheads="1"/>
          </p:cNvSpPr>
          <p:nvPr/>
        </p:nvSpPr>
        <p:spPr bwMode="auto">
          <a:xfrm>
            <a:off x="179388" y="2852738"/>
            <a:ext cx="43211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3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ea typeface="宋体" pitchFamily="2" charset="-122"/>
              </a:rPr>
              <a:t>导体表面的边界条件</a:t>
            </a:r>
          </a:p>
        </p:txBody>
      </p:sp>
      <p:sp>
        <p:nvSpPr>
          <p:cNvPr id="6154" name="AutoShape 1070">
            <a:hlinkClick r:id="rId2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5" name="AutoShape 107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6" name="AutoShape 107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7" name="AutoShape 107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0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0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0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0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64" grpId="0"/>
      <p:bldP spid="508972" grpId="0"/>
      <p:bldP spid="5089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B7772A-BA79-4089-8E63-1AD490120124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728663" y="1844675"/>
            <a:ext cx="1898650" cy="566738"/>
            <a:chOff x="521" y="941"/>
            <a:chExt cx="1196" cy="357"/>
          </a:xfrm>
        </p:grpSpPr>
        <p:graphicFrame>
          <p:nvGraphicFramePr>
            <p:cNvPr id="7184" name="Object 3"/>
            <p:cNvGraphicFramePr>
              <a:graphicFrameLocks noChangeAspect="1"/>
            </p:cNvGraphicFramePr>
            <p:nvPr/>
          </p:nvGraphicFramePr>
          <p:xfrm>
            <a:off x="839" y="997"/>
            <a:ext cx="878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" name="公式" r:id="rId3" imgW="514285" imgH="123722" progId="Equation.3">
                    <p:embed/>
                  </p:oleObj>
                </mc:Choice>
                <mc:Fallback>
                  <p:oleObj name="公式" r:id="rId3" imgW="514285" imgH="123722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997"/>
                          <a:ext cx="878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Text Box 4"/>
            <p:cNvSpPr txBox="1">
              <a:spLocks noChangeArrowheads="1"/>
            </p:cNvSpPr>
            <p:nvPr/>
          </p:nvSpPr>
          <p:spPr bwMode="auto">
            <a:xfrm>
              <a:off x="521" y="941"/>
              <a:ext cx="1089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30000"/>
                </a:spcBef>
              </a:pPr>
              <a:endParaRPr kumimoji="1" lang="zh-CN" altLang="en-US" b="1">
                <a:solidFill>
                  <a:schemeClr val="bg1"/>
                </a:solidFill>
                <a:latin typeface="楷体_GB2312" pitchFamily="49" charset="-122"/>
              </a:endParaRP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250825" y="2636838"/>
            <a:ext cx="8893175" cy="1041400"/>
            <a:chOff x="68" y="1413"/>
            <a:chExt cx="5602" cy="656"/>
          </a:xfrm>
        </p:grpSpPr>
        <p:graphicFrame>
          <p:nvGraphicFramePr>
            <p:cNvPr id="7182" name="Object 5"/>
            <p:cNvGraphicFramePr>
              <a:graphicFrameLocks noChangeAspect="1"/>
            </p:cNvGraphicFramePr>
            <p:nvPr/>
          </p:nvGraphicFramePr>
          <p:xfrm>
            <a:off x="4769" y="1482"/>
            <a:ext cx="181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0" name="公式" r:id="rId5" imgW="47542" imgH="66726" progId="Equation.3">
                    <p:embed/>
                  </p:oleObj>
                </mc:Choice>
                <mc:Fallback>
                  <p:oleObj name="公式" r:id="rId5" imgW="47542" imgH="66726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9" y="1482"/>
                          <a:ext cx="181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3" name="Text Box 6"/>
            <p:cNvSpPr txBox="1">
              <a:spLocks noChangeArrowheads="1"/>
            </p:cNvSpPr>
            <p:nvPr/>
          </p:nvSpPr>
          <p:spPr bwMode="auto">
            <a:xfrm>
              <a:off x="68" y="1413"/>
              <a:ext cx="5602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即</a:t>
              </a:r>
              <a:r>
                <a:rPr kumimoji="1" lang="zh-CN" altLang="en-US" b="1">
                  <a:solidFill>
                    <a:schemeClr val="bg1"/>
                  </a:solidFill>
                </a:rPr>
                <a:t>静电场可以用一个标量函数的梯度来表示，</a:t>
              </a: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标量函数  称为静电场的标量电位（简称电位）。</a:t>
              </a:r>
            </a:p>
          </p:txBody>
        </p:sp>
      </p:grpSp>
      <p:sp>
        <p:nvSpPr>
          <p:cNvPr id="637959" name="Text Box 7"/>
          <p:cNvSpPr txBox="1">
            <a:spLocks noChangeArrowheads="1"/>
          </p:cNvSpPr>
          <p:nvPr/>
        </p:nvSpPr>
        <p:spPr bwMode="auto">
          <a:xfrm>
            <a:off x="179388" y="1263650"/>
            <a:ext cx="3455987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3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1.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电位函数的定义</a:t>
            </a:r>
            <a:endParaRPr kumimoji="1" lang="zh-CN" altLang="en-US" b="1">
              <a:solidFill>
                <a:schemeClr val="bg1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2916238" y="1924050"/>
            <a:ext cx="2257425" cy="534988"/>
            <a:chOff x="1837" y="1007"/>
            <a:chExt cx="1422" cy="337"/>
          </a:xfrm>
        </p:grpSpPr>
        <p:graphicFrame>
          <p:nvGraphicFramePr>
            <p:cNvPr id="7180" name="Object 8"/>
            <p:cNvGraphicFramePr>
              <a:graphicFrameLocks noChangeAspect="1"/>
            </p:cNvGraphicFramePr>
            <p:nvPr/>
          </p:nvGraphicFramePr>
          <p:xfrm>
            <a:off x="2381" y="1007"/>
            <a:ext cx="878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1" name="公式" r:id="rId7" imgW="514285" imgH="142836" progId="Equation.3">
                    <p:embed/>
                  </p:oleObj>
                </mc:Choice>
                <mc:Fallback>
                  <p:oleObj name="公式" r:id="rId7" imgW="514285" imgH="142836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1007"/>
                          <a:ext cx="878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1" name="AutoShape 9"/>
            <p:cNvSpPr>
              <a:spLocks noChangeArrowheads="1"/>
            </p:cNvSpPr>
            <p:nvPr/>
          </p:nvSpPr>
          <p:spPr bwMode="auto">
            <a:xfrm>
              <a:off x="1837" y="1111"/>
              <a:ext cx="408" cy="182"/>
            </a:xfrm>
            <a:prstGeom prst="rightArrow">
              <a:avLst>
                <a:gd name="adj1" fmla="val 50000"/>
                <a:gd name="adj2" fmla="val 56044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37988" name="Rectangle 36"/>
          <p:cNvSpPr>
            <a:spLocks noGrp="1" noChangeArrowheads="1"/>
          </p:cNvSpPr>
          <p:nvPr>
            <p:ph type="title"/>
          </p:nvPr>
        </p:nvSpPr>
        <p:spPr bwMode="auto">
          <a:xfrm>
            <a:off x="158750" y="620713"/>
            <a:ext cx="4989513" cy="490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1"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3.1.2</a:t>
            </a:r>
            <a:r>
              <a:rPr kumimoji="1" lang="en-US" altLang="zh-CN" sz="2400" b="1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sz="2400" b="1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电位函数</a:t>
            </a:r>
          </a:p>
        </p:txBody>
      </p:sp>
      <p:sp>
        <p:nvSpPr>
          <p:cNvPr id="7176" name="AutoShape 40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7" name="AutoShape 4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8" name="AutoShape 4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9" name="AutoShape 4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3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3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9" grpId="0"/>
      <p:bldP spid="6379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2B52E6-7B46-4D8D-ADC7-B08C498CB33B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576516" name="Text Box 4"/>
          <p:cNvSpPr txBox="1">
            <a:spLocks noChangeArrowheads="1"/>
          </p:cNvSpPr>
          <p:nvPr/>
        </p:nvSpPr>
        <p:spPr bwMode="auto">
          <a:xfrm>
            <a:off x="125413" y="404813"/>
            <a:ext cx="401478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2.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电位的表达式</a:t>
            </a:r>
          </a:p>
        </p:txBody>
      </p:sp>
      <p:sp>
        <p:nvSpPr>
          <p:cNvPr id="576518" name="Text Box 6"/>
          <p:cNvSpPr txBox="1">
            <a:spLocks noChangeArrowheads="1"/>
          </p:cNvSpPr>
          <p:nvPr/>
        </p:nvSpPr>
        <p:spPr bwMode="auto">
          <a:xfrm>
            <a:off x="684213" y="908050"/>
            <a:ext cx="3959795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对于连续的体分布电荷，由</a:t>
            </a:r>
            <a:endParaRPr kumimoji="1" lang="zh-CN" altLang="en-US" b="1">
              <a:solidFill>
                <a:schemeClr val="bg1"/>
              </a:solidFill>
              <a:latin typeface="宋体" pitchFamily="2" charset="-122"/>
            </a:endParaRPr>
          </a:p>
        </p:txBody>
      </p:sp>
      <p:sp>
        <p:nvSpPr>
          <p:cNvPr id="576536" name="Text Box 24"/>
          <p:cNvSpPr txBox="1">
            <a:spLocks noChangeArrowheads="1"/>
          </p:cNvSpPr>
          <p:nvPr/>
        </p:nvSpPr>
        <p:spPr bwMode="auto">
          <a:xfrm>
            <a:off x="395288" y="4221163"/>
            <a:ext cx="475297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同理，面电荷的电位：  </a:t>
            </a:r>
            <a:endParaRPr kumimoji="1" lang="zh-CN" altLang="en-US" b="1">
              <a:solidFill>
                <a:schemeClr val="bg1"/>
              </a:solidFill>
              <a:latin typeface="宋体" pitchFamily="2" charset="-122"/>
            </a:endParaRPr>
          </a:p>
        </p:txBody>
      </p:sp>
      <p:graphicFrame>
        <p:nvGraphicFramePr>
          <p:cNvPr id="576537" name="Object 25"/>
          <p:cNvGraphicFramePr>
            <a:graphicFrameLocks noChangeAspect="1"/>
          </p:cNvGraphicFramePr>
          <p:nvPr/>
        </p:nvGraphicFramePr>
        <p:xfrm>
          <a:off x="1331913" y="3213100"/>
          <a:ext cx="38290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Equation" r:id="rId3" imgW="1609830" imgH="295404" progId="Equation.DSMT4">
                  <p:embed/>
                </p:oleObj>
              </mc:Choice>
              <mc:Fallback>
                <p:oleObj name="Equation" r:id="rId3" imgW="1609830" imgH="29540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213100"/>
                        <a:ext cx="38290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40" name="Text Box 28"/>
          <p:cNvSpPr txBox="1">
            <a:spLocks noChangeArrowheads="1"/>
          </p:cNvSpPr>
          <p:nvPr/>
        </p:nvSpPr>
        <p:spPr bwMode="auto">
          <a:xfrm>
            <a:off x="395288" y="3371850"/>
            <a:ext cx="159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</a:rPr>
              <a:t>故得</a:t>
            </a:r>
            <a:endParaRPr kumimoji="1" lang="zh-CN" altLang="en-US" b="1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76541" name="Text Box 29"/>
          <p:cNvSpPr txBox="1">
            <a:spLocks noChangeArrowheads="1"/>
          </p:cNvSpPr>
          <p:nvPr/>
        </p:nvSpPr>
        <p:spPr bwMode="auto">
          <a:xfrm>
            <a:off x="1282700" y="5900738"/>
            <a:ext cx="307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点电荷的电位：</a:t>
            </a:r>
          </a:p>
        </p:txBody>
      </p:sp>
      <p:graphicFrame>
        <p:nvGraphicFramePr>
          <p:cNvPr id="576542" name="Object 30"/>
          <p:cNvGraphicFramePr>
            <a:graphicFrameLocks noChangeAspect="1"/>
          </p:cNvGraphicFramePr>
          <p:nvPr/>
        </p:nvGraphicFramePr>
        <p:xfrm>
          <a:off x="3643313" y="5737225"/>
          <a:ext cx="24558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Equation" r:id="rId5" imgW="1000114" imgH="295404" progId="Equation.DSMT4">
                  <p:embed/>
                </p:oleObj>
              </mc:Choice>
              <mc:Fallback>
                <p:oleObj name="Equation" r:id="rId5" imgW="1000114" imgH="29540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5737225"/>
                        <a:ext cx="24558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44" name="Object 32"/>
          <p:cNvGraphicFramePr>
            <a:graphicFrameLocks noChangeAspect="1"/>
          </p:cNvGraphicFramePr>
          <p:nvPr/>
        </p:nvGraphicFramePr>
        <p:xfrm>
          <a:off x="3622675" y="4916488"/>
          <a:ext cx="3771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7" imgW="1581027" imgH="295404" progId="Equation.DSMT4">
                  <p:embed/>
                </p:oleObj>
              </mc:Choice>
              <mc:Fallback>
                <p:oleObj name="Equation" r:id="rId7" imgW="1581027" imgH="295404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4916488"/>
                        <a:ext cx="3771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4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317499"/>
              </p:ext>
            </p:extLst>
          </p:nvPr>
        </p:nvGraphicFramePr>
        <p:xfrm>
          <a:off x="1123950" y="1366838"/>
          <a:ext cx="6443663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Equation" r:id="rId9" imgW="3187440" imgH="914400" progId="Equation.DSMT4">
                  <p:embed/>
                </p:oleObj>
              </mc:Choice>
              <mc:Fallback>
                <p:oleObj name="Equation" r:id="rId9" imgW="3187440" imgH="9144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1366838"/>
                        <a:ext cx="6443663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6417468" y="2133550"/>
            <a:ext cx="2239963" cy="1511474"/>
            <a:chOff x="4035" y="1183"/>
            <a:chExt cx="1411" cy="1057"/>
          </a:xfrm>
        </p:grpSpPr>
        <p:graphicFrame>
          <p:nvGraphicFramePr>
            <p:cNvPr id="821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3593279"/>
                </p:ext>
              </p:extLst>
            </p:nvPr>
          </p:nvGraphicFramePr>
          <p:xfrm>
            <a:off x="4035" y="1616"/>
            <a:ext cx="1411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4" name="Equation" r:id="rId11" imgW="888840" imgH="444240" progId="Equation.DSMT4">
                    <p:embed/>
                  </p:oleObj>
                </mc:Choice>
                <mc:Fallback>
                  <p:oleObj name="Equation" r:id="rId11" imgW="888840" imgH="44424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5" y="1616"/>
                          <a:ext cx="1411" cy="62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99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5" name="Line 38"/>
            <p:cNvSpPr>
              <a:spLocks noChangeShapeType="1"/>
            </p:cNvSpPr>
            <p:nvPr/>
          </p:nvSpPr>
          <p:spPr bwMode="auto">
            <a:xfrm flipH="1" flipV="1">
              <a:off x="4188" y="1183"/>
              <a:ext cx="98" cy="433"/>
            </a:xfrm>
            <a:prstGeom prst="line">
              <a:avLst/>
            </a:prstGeom>
            <a:noFill/>
            <a:ln w="2222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6551" name="Text Box 39"/>
          <p:cNvSpPr txBox="1">
            <a:spLocks noChangeArrowheads="1"/>
          </p:cNvSpPr>
          <p:nvPr/>
        </p:nvSpPr>
        <p:spPr bwMode="auto">
          <a:xfrm>
            <a:off x="1331913" y="5078413"/>
            <a:ext cx="324008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线电荷的电位：</a:t>
            </a:r>
            <a:endParaRPr kumimoji="1" lang="zh-CN" altLang="en-US" b="1">
              <a:solidFill>
                <a:schemeClr val="bg1"/>
              </a:solidFill>
              <a:latin typeface="宋体" pitchFamily="2" charset="-122"/>
            </a:endParaRPr>
          </a:p>
        </p:txBody>
      </p: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3923928" y="692696"/>
            <a:ext cx="2336800" cy="838200"/>
            <a:chOff x="2653" y="482"/>
            <a:chExt cx="1472" cy="528"/>
          </a:xfrm>
        </p:grpSpPr>
        <p:graphicFrame>
          <p:nvGraphicFramePr>
            <p:cNvPr id="8212" name="Object 40"/>
            <p:cNvGraphicFramePr>
              <a:graphicFrameLocks noChangeAspect="1"/>
            </p:cNvGraphicFramePr>
            <p:nvPr/>
          </p:nvGraphicFramePr>
          <p:xfrm>
            <a:off x="3243" y="482"/>
            <a:ext cx="88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5" name="Equation" r:id="rId13" imgW="524002" imgH="104608" progId="Equation.DSMT4">
                    <p:embed/>
                  </p:oleObj>
                </mc:Choice>
                <mc:Fallback>
                  <p:oleObj name="Equation" r:id="rId13" imgW="524002" imgH="104608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482"/>
                          <a:ext cx="882" cy="25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99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Line 42"/>
            <p:cNvSpPr>
              <a:spLocks noChangeShapeType="1"/>
            </p:cNvSpPr>
            <p:nvPr/>
          </p:nvSpPr>
          <p:spPr bwMode="auto">
            <a:xfrm flipH="1">
              <a:off x="2653" y="738"/>
              <a:ext cx="590" cy="272"/>
            </a:xfrm>
            <a:prstGeom prst="line">
              <a:avLst/>
            </a:prstGeom>
            <a:noFill/>
            <a:ln w="2222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07" name="AutoShape 46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8" name="AutoShape 4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9" name="AutoShape 4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10" name="AutoShape 4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76564" name="Object 52"/>
          <p:cNvGraphicFramePr>
            <a:graphicFrameLocks noChangeAspect="1"/>
          </p:cNvGraphicFramePr>
          <p:nvPr/>
        </p:nvGraphicFramePr>
        <p:xfrm>
          <a:off x="3662363" y="4005263"/>
          <a:ext cx="3770312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16" imgW="1628916" imgH="295404" progId="Equation.DSMT4">
                  <p:embed/>
                </p:oleObj>
              </mc:Choice>
              <mc:Fallback>
                <p:oleObj name="Equation" r:id="rId16" imgW="1628916" imgH="295404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4005263"/>
                        <a:ext cx="3770312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7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7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7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57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7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57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57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57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7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57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576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/>
      <p:bldP spid="576518" grpId="0"/>
      <p:bldP spid="576536" grpId="0"/>
      <p:bldP spid="576540" grpId="0"/>
      <p:bldP spid="576541" grpId="0"/>
      <p:bldP spid="5765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223B92-F21B-4C77-9EBD-C03E41ADD142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44463" y="333375"/>
            <a:ext cx="3635375" cy="57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b="1" smtClean="0">
                <a:solidFill>
                  <a:schemeClr val="bg1"/>
                </a:solidFill>
                <a:effectLst/>
                <a:latin typeface="Times New Roman" pitchFamily="18" charset="0"/>
              </a:rPr>
              <a:t>3.  </a:t>
            </a:r>
            <a:r>
              <a:rPr kumimoji="1" lang="zh-CN" altLang="en-US" sz="2400" b="1" smtClean="0">
                <a:solidFill>
                  <a:schemeClr val="bg1"/>
                </a:solidFill>
                <a:effectLst/>
                <a:latin typeface="Times New Roman" pitchFamily="18" charset="0"/>
              </a:rPr>
              <a:t>电位差</a:t>
            </a:r>
          </a:p>
        </p:txBody>
      </p:sp>
      <p:sp>
        <p:nvSpPr>
          <p:cNvPr id="575507" name="Text Box 19"/>
          <p:cNvSpPr txBox="1">
            <a:spLocks noChangeArrowheads="1"/>
          </p:cNvSpPr>
          <p:nvPr/>
        </p:nvSpPr>
        <p:spPr bwMode="auto">
          <a:xfrm>
            <a:off x="107950" y="2192338"/>
            <a:ext cx="72009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上式两边从点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到点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沿任意路径进行积分，得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79375" y="3789363"/>
            <a:ext cx="3700463" cy="688975"/>
            <a:chOff x="213" y="2372"/>
            <a:chExt cx="2331" cy="434"/>
          </a:xfrm>
        </p:grpSpPr>
        <p:graphicFrame>
          <p:nvGraphicFramePr>
            <p:cNvPr id="9245" name="Object 32"/>
            <p:cNvGraphicFramePr>
              <a:graphicFrameLocks noChangeAspect="1"/>
            </p:cNvGraphicFramePr>
            <p:nvPr/>
          </p:nvGraphicFramePr>
          <p:xfrm>
            <a:off x="213" y="2372"/>
            <a:ext cx="507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2" name="剪辑" r:id="rId3" imgW="4046538" imgH="3352800" progId="MS_ClipArt_Gallery.2">
                    <p:embed/>
                  </p:oleObj>
                </mc:Choice>
                <mc:Fallback>
                  <p:oleObj name="剪辑" r:id="rId3" imgW="4046538" imgH="3352800" progId="MS_ClipArt_Gallery.2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" y="2372"/>
                          <a:ext cx="507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Text Box 33"/>
            <p:cNvSpPr txBox="1">
              <a:spLocks noChangeArrowheads="1"/>
            </p:cNvSpPr>
            <p:nvPr/>
          </p:nvSpPr>
          <p:spPr bwMode="auto">
            <a:xfrm>
              <a:off x="816" y="2449"/>
              <a:ext cx="1728" cy="35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关于电位差的说明</a:t>
              </a:r>
            </a:p>
          </p:txBody>
        </p:sp>
      </p:grpSp>
      <p:sp>
        <p:nvSpPr>
          <p:cNvPr id="575522" name="Text Box 34"/>
          <p:cNvSpPr txBox="1">
            <a:spLocks noChangeArrowheads="1"/>
          </p:cNvSpPr>
          <p:nvPr/>
        </p:nvSpPr>
        <p:spPr bwMode="auto">
          <a:xfrm>
            <a:off x="73025" y="4437063"/>
            <a:ext cx="90360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en-US" altLang="zh-CN" b="1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两点间的电位差等于电场力将单位正电荷从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点移至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点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所做的功，电场力使单位正电荷由高电位处移到低电位处。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电位差又称为电压，可用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U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表示。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电位差有确定值，只与首尾两点位置有关，与积分路径无关。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575523" name="Object 35"/>
          <p:cNvGraphicFramePr>
            <a:graphicFrameLocks noChangeAspect="1"/>
          </p:cNvGraphicFramePr>
          <p:nvPr/>
        </p:nvGraphicFramePr>
        <p:xfrm>
          <a:off x="2473325" y="2759075"/>
          <a:ext cx="4973638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name="Equation" r:id="rId6" imgW="2019314" imgH="323901" progId="Equation.DSMT4">
                  <p:embed/>
                </p:oleObj>
              </mc:Choice>
              <mc:Fallback>
                <p:oleObj name="Equation" r:id="rId6" imgW="2019314" imgH="32390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2759075"/>
                        <a:ext cx="4973638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5435600" y="2852738"/>
            <a:ext cx="3529013" cy="1317625"/>
            <a:chOff x="3424" y="1834"/>
            <a:chExt cx="2223" cy="830"/>
          </a:xfrm>
        </p:grpSpPr>
        <p:sp>
          <p:nvSpPr>
            <p:cNvPr id="9241" name="Rectangle 39"/>
            <p:cNvSpPr>
              <a:spLocks noChangeArrowheads="1"/>
            </p:cNvSpPr>
            <p:nvPr/>
          </p:nvSpPr>
          <p:spPr bwMode="auto">
            <a:xfrm>
              <a:off x="3424" y="1834"/>
              <a:ext cx="1180" cy="408"/>
            </a:xfrm>
            <a:prstGeom prst="rect">
              <a:avLst/>
            </a:prstGeom>
            <a:noFill/>
            <a:ln w="22225">
              <a:solidFill>
                <a:srgbClr val="FF99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9242" name="Group 42"/>
            <p:cNvGrpSpPr>
              <a:grpSpLocks/>
            </p:cNvGrpSpPr>
            <p:nvPr/>
          </p:nvGrpSpPr>
          <p:grpSpPr bwMode="auto">
            <a:xfrm>
              <a:off x="3697" y="2045"/>
              <a:ext cx="1950" cy="619"/>
              <a:chOff x="3697" y="2045"/>
              <a:chExt cx="1950" cy="619"/>
            </a:xfrm>
          </p:grpSpPr>
          <p:sp>
            <p:nvSpPr>
              <p:cNvPr id="9243" name="Text Box 22"/>
              <p:cNvSpPr txBox="1">
                <a:spLocks noChangeArrowheads="1"/>
              </p:cNvSpPr>
              <p:nvPr/>
            </p:nvSpPr>
            <p:spPr bwMode="auto">
              <a:xfrm>
                <a:off x="3697" y="2379"/>
                <a:ext cx="1950" cy="285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en-US" altLang="zh-CN" sz="2000" b="1" i="1">
                    <a:solidFill>
                      <a:srgbClr val="990000"/>
                    </a:solidFill>
                    <a:latin typeface="Times New Roman" pitchFamily="18" charset="0"/>
                  </a:rPr>
                  <a:t>P</a:t>
                </a:r>
                <a:r>
                  <a:rPr lang="zh-CN" altLang="en-US" sz="2000" b="1">
                    <a:solidFill>
                      <a:srgbClr val="990000"/>
                    </a:solidFill>
                    <a:latin typeface="Times New Roman" pitchFamily="18" charset="0"/>
                  </a:rPr>
                  <a:t>、</a:t>
                </a:r>
                <a:r>
                  <a:rPr lang="en-US" altLang="zh-CN" sz="2000" b="1" i="1">
                    <a:solidFill>
                      <a:srgbClr val="990000"/>
                    </a:solidFill>
                    <a:latin typeface="Times New Roman" pitchFamily="18" charset="0"/>
                  </a:rPr>
                  <a:t>Q </a:t>
                </a:r>
                <a:r>
                  <a:rPr lang="zh-CN" altLang="en-US" sz="2000" b="1">
                    <a:solidFill>
                      <a:srgbClr val="990000"/>
                    </a:solidFill>
                    <a:latin typeface="Times New Roman" pitchFamily="18" charset="0"/>
                    <a:ea typeface="宋体" pitchFamily="2" charset="-122"/>
                  </a:rPr>
                  <a:t>两点间的电位差</a:t>
                </a:r>
              </a:p>
            </p:txBody>
          </p:sp>
          <p:sp>
            <p:nvSpPr>
              <p:cNvPr id="9244" name="Line 40"/>
              <p:cNvSpPr>
                <a:spLocks noChangeShapeType="1"/>
              </p:cNvSpPr>
              <p:nvPr/>
            </p:nvSpPr>
            <p:spPr bwMode="auto">
              <a:xfrm flipH="1" flipV="1">
                <a:off x="4604" y="2045"/>
                <a:ext cx="635" cy="318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900113" y="2782888"/>
            <a:ext cx="2951162" cy="790575"/>
            <a:chOff x="567" y="1753"/>
            <a:chExt cx="1859" cy="498"/>
          </a:xfrm>
        </p:grpSpPr>
        <p:grpSp>
          <p:nvGrpSpPr>
            <p:cNvPr id="9237" name="Group 41"/>
            <p:cNvGrpSpPr>
              <a:grpSpLocks/>
            </p:cNvGrpSpPr>
            <p:nvPr/>
          </p:nvGrpSpPr>
          <p:grpSpPr bwMode="auto">
            <a:xfrm>
              <a:off x="567" y="1753"/>
              <a:ext cx="1089" cy="498"/>
              <a:chOff x="628" y="1743"/>
              <a:chExt cx="1089" cy="498"/>
            </a:xfrm>
          </p:grpSpPr>
          <p:sp>
            <p:nvSpPr>
              <p:cNvPr id="9239" name="Text Box 30"/>
              <p:cNvSpPr txBox="1">
                <a:spLocks noChangeArrowheads="1"/>
              </p:cNvSpPr>
              <p:nvPr/>
            </p:nvSpPr>
            <p:spPr bwMode="auto">
              <a:xfrm>
                <a:off x="628" y="1743"/>
                <a:ext cx="771" cy="498"/>
              </a:xfrm>
              <a:prstGeom prst="rect">
                <a:avLst/>
              </a:prstGeom>
              <a:solidFill>
                <a:srgbClr val="CCFFFF"/>
              </a:solidFill>
              <a:ln w="28575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</a:pPr>
                <a:r>
                  <a:rPr lang="zh-CN" altLang="en-US" sz="2000" b="1">
                    <a:solidFill>
                      <a:srgbClr val="990000"/>
                    </a:solidFill>
                    <a:latin typeface="Times New Roman" pitchFamily="18" charset="0"/>
                    <a:ea typeface="宋体" pitchFamily="2" charset="-122"/>
                  </a:rPr>
                  <a:t>电场力做的功</a:t>
                </a:r>
              </a:p>
            </p:txBody>
          </p:sp>
          <p:sp>
            <p:nvSpPr>
              <p:cNvPr id="9240" name="Line 38"/>
              <p:cNvSpPr>
                <a:spLocks noChangeShapeType="1"/>
              </p:cNvSpPr>
              <p:nvPr/>
            </p:nvSpPr>
            <p:spPr bwMode="auto">
              <a:xfrm>
                <a:off x="1399" y="2015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38" name="Rectangle 44"/>
            <p:cNvSpPr>
              <a:spLocks noChangeArrowheads="1"/>
            </p:cNvSpPr>
            <p:nvPr/>
          </p:nvSpPr>
          <p:spPr bwMode="auto">
            <a:xfrm>
              <a:off x="1655" y="1797"/>
              <a:ext cx="771" cy="454"/>
            </a:xfrm>
            <a:prstGeom prst="rect">
              <a:avLst/>
            </a:prstGeom>
            <a:noFill/>
            <a:ln w="19050" algn="ctr">
              <a:solidFill>
                <a:srgbClr val="FF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9226" name="AutoShape 46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7" name="AutoShape 4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8" name="AutoShape 4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9" name="AutoShape 4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612775" y="823913"/>
            <a:ext cx="6862763" cy="1373187"/>
            <a:chOff x="612775" y="823913"/>
            <a:chExt cx="6863312" cy="1372574"/>
          </a:xfrm>
        </p:grpSpPr>
        <p:grpSp>
          <p:nvGrpSpPr>
            <p:cNvPr id="9231" name="Group 37"/>
            <p:cNvGrpSpPr>
              <a:grpSpLocks/>
            </p:cNvGrpSpPr>
            <p:nvPr/>
          </p:nvGrpSpPr>
          <p:grpSpPr bwMode="auto">
            <a:xfrm>
              <a:off x="612775" y="823913"/>
              <a:ext cx="4535488" cy="566737"/>
              <a:chOff x="249" y="572"/>
              <a:chExt cx="2857" cy="357"/>
            </a:xfrm>
          </p:grpSpPr>
          <p:sp>
            <p:nvSpPr>
              <p:cNvPr id="9233" name="Text Box 3"/>
              <p:cNvSpPr txBox="1">
                <a:spLocks noChangeArrowheads="1"/>
              </p:cNvSpPr>
              <p:nvPr/>
            </p:nvSpPr>
            <p:spPr bwMode="auto">
              <a:xfrm>
                <a:off x="1292" y="572"/>
                <a:ext cx="1814" cy="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lnSpc>
                    <a:spcPct val="130000"/>
                  </a:lnSpc>
                  <a:spcBef>
                    <a:spcPct val="0"/>
                  </a:spcBef>
                </a:pPr>
                <a:r>
                  <a:rPr kumimoji="1" lang="zh-CN" altLang="en-US" b="1">
                    <a:solidFill>
                      <a:schemeClr val="bg1"/>
                    </a:solidFill>
                    <a:latin typeface="Times New Roman" pitchFamily="18" charset="0"/>
                  </a:rPr>
                  <a:t>两端点乘    ，则有</a:t>
                </a:r>
              </a:p>
            </p:txBody>
          </p:sp>
          <p:graphicFrame>
            <p:nvGraphicFramePr>
              <p:cNvPr id="9234" name="Object 7"/>
              <p:cNvGraphicFramePr>
                <a:graphicFrameLocks noChangeAspect="1"/>
              </p:cNvGraphicFramePr>
              <p:nvPr/>
            </p:nvGraphicFramePr>
            <p:xfrm>
              <a:off x="2118" y="618"/>
              <a:ext cx="263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04" name="公式" r:id="rId9" imgW="104800" imgH="123722" progId="Equation.3">
                      <p:embed/>
                    </p:oleObj>
                  </mc:Choice>
                  <mc:Fallback>
                    <p:oleObj name="公式" r:id="rId9" imgW="104800" imgH="123722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8" y="618"/>
                            <a:ext cx="263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5" name="Object 8"/>
              <p:cNvGraphicFramePr>
                <a:graphicFrameLocks noChangeAspect="1"/>
              </p:cNvGraphicFramePr>
              <p:nvPr/>
            </p:nvGraphicFramePr>
            <p:xfrm>
              <a:off x="516" y="602"/>
              <a:ext cx="794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05" name="公式" r:id="rId11" imgW="514285" imgH="142836" progId="Equation.3">
                      <p:embed/>
                    </p:oleObj>
                  </mc:Choice>
                  <mc:Fallback>
                    <p:oleObj name="公式" r:id="rId11" imgW="514285" imgH="142836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6" y="602"/>
                            <a:ext cx="794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36" name="Text Box 9"/>
              <p:cNvSpPr txBox="1">
                <a:spLocks noChangeArrowheads="1"/>
              </p:cNvSpPr>
              <p:nvPr/>
            </p:nvSpPr>
            <p:spPr bwMode="auto">
              <a:xfrm>
                <a:off x="249" y="572"/>
                <a:ext cx="1089" cy="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lnSpc>
                    <a:spcPct val="130000"/>
                  </a:lnSpc>
                  <a:spcBef>
                    <a:spcPct val="0"/>
                  </a:spcBef>
                </a:pPr>
                <a:r>
                  <a:rPr kumimoji="1" lang="zh-CN" altLang="en-US" b="1">
                    <a:solidFill>
                      <a:schemeClr val="bg1"/>
                    </a:solidFill>
                    <a:latin typeface="楷体_GB2312" pitchFamily="49" charset="-122"/>
                  </a:rPr>
                  <a:t>将</a:t>
                </a:r>
              </a:p>
            </p:txBody>
          </p:sp>
        </p:grpSp>
        <p:graphicFrame>
          <p:nvGraphicFramePr>
            <p:cNvPr id="9232" name="对象 4"/>
            <p:cNvGraphicFramePr>
              <a:graphicFrameLocks noChangeAspect="1"/>
            </p:cNvGraphicFramePr>
            <p:nvPr/>
          </p:nvGraphicFramePr>
          <p:xfrm>
            <a:off x="1477169" y="1349581"/>
            <a:ext cx="5998918" cy="846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06" name="Equation" r:id="rId13" imgW="3238500" imgH="457200" progId="Equation.DSMT4">
                    <p:embed/>
                  </p:oleObj>
                </mc:Choice>
                <mc:Fallback>
                  <p:oleObj name="Equation" r:id="rId13" imgW="3238500" imgH="457200" progId="Equation.DSMT4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7169" y="1349581"/>
                          <a:ext cx="5998918" cy="8469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75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57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57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75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575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575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575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490" grpId="0" build="p"/>
      <p:bldP spid="57550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F44528-AEA0-44E0-87A3-A7CD2AE280A9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77540" name="Text Box 4"/>
          <p:cNvSpPr txBox="1">
            <a:spLocks noChangeArrowheads="1"/>
          </p:cNvSpPr>
          <p:nvPr/>
        </p:nvSpPr>
        <p:spPr bwMode="auto">
          <a:xfrm>
            <a:off x="0" y="765175"/>
            <a:ext cx="889317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静电位不惟一，可以相差一个常数，即</a:t>
            </a:r>
          </a:p>
        </p:txBody>
      </p:sp>
      <p:graphicFrame>
        <p:nvGraphicFramePr>
          <p:cNvPr id="577545" name="Object 9"/>
          <p:cNvGraphicFramePr>
            <a:graphicFrameLocks noChangeAspect="1"/>
          </p:cNvGraphicFramePr>
          <p:nvPr/>
        </p:nvGraphicFramePr>
        <p:xfrm>
          <a:off x="1835150" y="1341438"/>
          <a:ext cx="49688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公式" r:id="rId3" imgW="2085942" imgH="104608" progId="Equation.3">
                  <p:embed/>
                </p:oleObj>
              </mc:Choice>
              <mc:Fallback>
                <p:oleObj name="公式" r:id="rId3" imgW="2085942" imgH="10460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341438"/>
                        <a:ext cx="49688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7565" name="Text Box 29"/>
          <p:cNvSpPr txBox="1">
            <a:spLocks noChangeArrowheads="1"/>
          </p:cNvSpPr>
          <p:nvPr/>
        </p:nvSpPr>
        <p:spPr bwMode="auto">
          <a:xfrm>
            <a:off x="658813" y="3357563"/>
            <a:ext cx="1524000" cy="595312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Verdana" pitchFamily="34" charset="0"/>
              </a:rPr>
              <a:t>选参考点</a:t>
            </a:r>
          </a:p>
        </p:txBody>
      </p:sp>
      <p:sp>
        <p:nvSpPr>
          <p:cNvPr id="577566" name="Line 30"/>
          <p:cNvSpPr>
            <a:spLocks noChangeShapeType="1"/>
          </p:cNvSpPr>
          <p:nvPr/>
        </p:nvSpPr>
        <p:spPr bwMode="auto">
          <a:xfrm>
            <a:off x="2182813" y="3586163"/>
            <a:ext cx="517525" cy="4762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7567" name="Text Box 31"/>
          <p:cNvSpPr txBox="1">
            <a:spLocks noChangeArrowheads="1"/>
          </p:cNvSpPr>
          <p:nvPr/>
        </p:nvSpPr>
        <p:spPr bwMode="auto">
          <a:xfrm>
            <a:off x="2700338" y="3357563"/>
            <a:ext cx="2819400" cy="595312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Verdana" pitchFamily="34" charset="0"/>
              </a:rPr>
              <a:t>令参考点电位为零</a:t>
            </a:r>
          </a:p>
        </p:txBody>
      </p:sp>
      <p:sp>
        <p:nvSpPr>
          <p:cNvPr id="577568" name="Text Box 32"/>
          <p:cNvSpPr txBox="1">
            <a:spLocks noChangeArrowheads="1"/>
          </p:cNvSpPr>
          <p:nvPr/>
        </p:nvSpPr>
        <p:spPr bwMode="auto">
          <a:xfrm>
            <a:off x="6084888" y="3357563"/>
            <a:ext cx="2895600" cy="595312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</a:rPr>
              <a:t>电位确定值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</a:rPr>
              <a:t>(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</a:rPr>
              <a:t>电位差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</a:rPr>
              <a:t>)</a:t>
            </a:r>
          </a:p>
        </p:txBody>
      </p:sp>
      <p:sp>
        <p:nvSpPr>
          <p:cNvPr id="577569" name="Text Box 33"/>
          <p:cNvSpPr txBox="1">
            <a:spLocks noChangeArrowheads="1"/>
          </p:cNvSpPr>
          <p:nvPr/>
        </p:nvSpPr>
        <p:spPr bwMode="auto">
          <a:xfrm>
            <a:off x="4451350" y="4149725"/>
            <a:ext cx="3048000" cy="595313"/>
          </a:xfrm>
          <a:prstGeom prst="rect">
            <a:avLst/>
          </a:prstGeom>
          <a:noFill/>
          <a:ln w="2857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Verdana" pitchFamily="34" charset="0"/>
              </a:rPr>
              <a:t>两点间电位差有定值</a:t>
            </a:r>
          </a:p>
        </p:txBody>
      </p:sp>
      <p:sp>
        <p:nvSpPr>
          <p:cNvPr id="577571" name="Line 35"/>
          <p:cNvSpPr>
            <a:spLocks noChangeShapeType="1"/>
          </p:cNvSpPr>
          <p:nvPr/>
        </p:nvSpPr>
        <p:spPr bwMode="auto">
          <a:xfrm>
            <a:off x="5573713" y="3586163"/>
            <a:ext cx="4953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7573" name="Line 37"/>
          <p:cNvSpPr>
            <a:spLocks noChangeShapeType="1"/>
          </p:cNvSpPr>
          <p:nvPr/>
        </p:nvSpPr>
        <p:spPr bwMode="auto">
          <a:xfrm rot="-5400000">
            <a:off x="5530850" y="3838576"/>
            <a:ext cx="530225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7574" name="Text Box 38"/>
          <p:cNvSpPr txBox="1">
            <a:spLocks noChangeArrowheads="1"/>
          </p:cNvSpPr>
          <p:nvPr/>
        </p:nvSpPr>
        <p:spPr bwMode="auto">
          <a:xfrm>
            <a:off x="179388" y="4076700"/>
            <a:ext cx="8964612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en-US" altLang="zh-CN" b="1" dirty="0">
                <a:solidFill>
                  <a:srgbClr val="9A003E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选择电位参考点的原则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6"/>
              </a:buBlip>
            </a:pPr>
            <a:r>
              <a:rPr kumimoji="1" lang="zh-CN" altLang="en-US" b="1" dirty="0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</a:rPr>
              <a:t>应使电位表达式有意义。例如不能选点电荷所在的点。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6"/>
              </a:buBlip>
            </a:pP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</a:rPr>
              <a:t>   应使电位表达式最简单。若电荷分布在有限区域，通常取无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</a:rPr>
              <a:t>      限远处作电位参考点。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6"/>
              </a:buBlip>
            </a:pPr>
            <a:r>
              <a:rPr kumimoji="1" lang="zh-CN" altLang="en-US" b="1" dirty="0">
                <a:solidFill>
                  <a:schemeClr val="bg1"/>
                </a:solidFill>
                <a:latin typeface="Times New Roman" pitchFamily="18" charset="0"/>
              </a:rPr>
              <a:t>   同一个问题只能有一个参考点。</a:t>
            </a:r>
          </a:p>
        </p:txBody>
      </p:sp>
      <p:sp>
        <p:nvSpPr>
          <p:cNvPr id="577576" name="Text Box 40"/>
          <p:cNvSpPr txBox="1">
            <a:spLocks noChangeArrowheads="1"/>
          </p:cNvSpPr>
          <p:nvPr/>
        </p:nvSpPr>
        <p:spPr bwMode="auto">
          <a:xfrm>
            <a:off x="107950" y="333375"/>
            <a:ext cx="327818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电位参考点</a:t>
            </a:r>
          </a:p>
        </p:txBody>
      </p:sp>
      <p:sp>
        <p:nvSpPr>
          <p:cNvPr id="577577" name="Text Box 41"/>
          <p:cNvSpPr txBox="1">
            <a:spLocks noChangeArrowheads="1"/>
          </p:cNvSpPr>
          <p:nvPr/>
        </p:nvSpPr>
        <p:spPr bwMode="auto">
          <a:xfrm>
            <a:off x="0" y="1700213"/>
            <a:ext cx="9144000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　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为使空间各点电位具有确定值，可以选定空间某一点作为参考点，并令参考点的电位为零。由于空间各点与参考点的电位差为确定值，所以该点的电位也就具有确定值，即</a:t>
            </a:r>
          </a:p>
        </p:txBody>
      </p:sp>
      <p:sp>
        <p:nvSpPr>
          <p:cNvPr id="10255" name="AutoShape 45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6" name="AutoShape 4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7" name="AutoShape 4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8" name="AutoShape 4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7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7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7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57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7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7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7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7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77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000"/>
                                        <p:tgtEl>
                                          <p:spTgt spid="57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577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577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5775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5775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5775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2000"/>
                                        <p:tgtEl>
                                          <p:spTgt spid="5775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40" grpId="0"/>
      <p:bldP spid="577565" grpId="0" animBg="1"/>
      <p:bldP spid="577566" grpId="0" animBg="1"/>
      <p:bldP spid="577567" grpId="0" animBg="1"/>
      <p:bldP spid="577568" grpId="0" animBg="1"/>
      <p:bldP spid="577569" grpId="0" animBg="1"/>
      <p:bldP spid="577571" grpId="0" animBg="1"/>
      <p:bldP spid="577573" grpId="0" animBg="1"/>
      <p:bldP spid="577576" grpId="0"/>
      <p:bldP spid="5775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C3AE1C-3C19-41F2-AD60-F0426479BD76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32834" name="Text Box 2"/>
          <p:cNvSpPr txBox="1">
            <a:spLocks noChangeArrowheads="1"/>
          </p:cNvSpPr>
          <p:nvPr/>
        </p:nvSpPr>
        <p:spPr bwMode="auto">
          <a:xfrm>
            <a:off x="69850" y="476250"/>
            <a:ext cx="428612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b="1" dirty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  【</a:t>
            </a:r>
            <a:r>
              <a:rPr kumimoji="1" lang="zh-CN" altLang="en-US" b="1" dirty="0">
                <a:solidFill>
                  <a:srgbClr val="FFB953"/>
                </a:solidFill>
                <a:latin typeface="Times New Roman" pitchFamily="18" charset="0"/>
                <a:ea typeface="幼圆" pitchFamily="49" charset="-122"/>
              </a:rPr>
              <a:t>例 </a:t>
            </a:r>
            <a:r>
              <a:rPr kumimoji="1" lang="en-US" altLang="zh-CN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】</a:t>
            </a:r>
            <a:r>
              <a:rPr kumimoji="1" lang="zh-CN" altLang="en-US" b="1" dirty="0">
                <a:solidFill>
                  <a:schemeClr val="bg1"/>
                </a:solidFill>
                <a:latin typeface="楷体_GB2312" pitchFamily="49" charset="-122"/>
              </a:rPr>
              <a:t>求电偶极子的</a:t>
            </a:r>
            <a:r>
              <a:rPr kumimoji="1" lang="zh-CN" altLang="en-US" b="1" dirty="0" smtClean="0">
                <a:solidFill>
                  <a:schemeClr val="bg1"/>
                </a:solidFill>
                <a:latin typeface="楷体_GB2312" pitchFamily="49" charset="-122"/>
              </a:rPr>
              <a:t>电位。</a:t>
            </a:r>
            <a:endParaRPr kumimoji="1" lang="zh-CN" altLang="en-US" b="1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632835" name="Text Box 3"/>
          <p:cNvSpPr txBox="1">
            <a:spLocks noChangeArrowheads="1"/>
          </p:cNvSpPr>
          <p:nvPr/>
        </p:nvSpPr>
        <p:spPr bwMode="auto">
          <a:xfrm>
            <a:off x="276225" y="955675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b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</a:t>
            </a:r>
            <a:r>
              <a:rPr kumimoji="1" lang="zh-CN" altLang="en-US" b="1">
                <a:solidFill>
                  <a:srgbClr val="FFB953"/>
                </a:solidFill>
                <a:latin typeface="幼圆" pitchFamily="49" charset="-122"/>
                <a:ea typeface="幼圆" pitchFamily="49" charset="-122"/>
              </a:rPr>
              <a:t>解</a:t>
            </a: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在球坐标系中</a:t>
            </a:r>
          </a:p>
        </p:txBody>
      </p:sp>
      <p:graphicFrame>
        <p:nvGraphicFramePr>
          <p:cNvPr id="632836" name="Object 4"/>
          <p:cNvGraphicFramePr>
            <a:graphicFrameLocks noChangeAspect="1"/>
          </p:cNvGraphicFramePr>
          <p:nvPr/>
        </p:nvGraphicFramePr>
        <p:xfrm>
          <a:off x="1136650" y="1411288"/>
          <a:ext cx="45148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0" name="公式" r:id="rId3" imgW="2076573" imgH="333285" progId="Equation.3">
                  <p:embed/>
                </p:oleObj>
              </mc:Choice>
              <mc:Fallback>
                <p:oleObj name="公式" r:id="rId3" imgW="2076573" imgH="3332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1411288"/>
                        <a:ext cx="4514850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7" name="Object 5"/>
          <p:cNvGraphicFramePr>
            <a:graphicFrameLocks noChangeAspect="1"/>
          </p:cNvGraphicFramePr>
          <p:nvPr/>
        </p:nvGraphicFramePr>
        <p:xfrm>
          <a:off x="1619250" y="2420938"/>
          <a:ext cx="38893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1" name="Equation" r:id="rId5" imgW="1647655" imgH="466738" progId="Equation.DSMT4">
                  <p:embed/>
                </p:oleObj>
              </mc:Choice>
              <mc:Fallback>
                <p:oleObj name="Equation" r:id="rId5" imgW="1647655" imgH="46673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420938"/>
                        <a:ext cx="38893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8" name="Object 6"/>
          <p:cNvGraphicFramePr>
            <a:graphicFrameLocks noChangeAspect="1"/>
          </p:cNvGraphicFramePr>
          <p:nvPr/>
        </p:nvGraphicFramePr>
        <p:xfrm>
          <a:off x="6913563" y="3865563"/>
          <a:ext cx="19065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2" name="公式" r:id="rId7" imgW="857142" imgH="295404" progId="Equation.3">
                  <p:embed/>
                </p:oleObj>
              </mc:Choice>
              <mc:Fallback>
                <p:oleObj name="公式" r:id="rId7" imgW="857142" imgH="29540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3865563"/>
                        <a:ext cx="190658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274638" y="3979863"/>
            <a:ext cx="5305425" cy="457200"/>
            <a:chOff x="173" y="2507"/>
            <a:chExt cx="3342" cy="288"/>
          </a:xfrm>
        </p:grpSpPr>
        <p:sp>
          <p:nvSpPr>
            <p:cNvPr id="11314" name="Text Box 7"/>
            <p:cNvSpPr txBox="1">
              <a:spLocks noChangeArrowheads="1"/>
            </p:cNvSpPr>
            <p:nvPr/>
          </p:nvSpPr>
          <p:spPr bwMode="auto">
            <a:xfrm>
              <a:off x="173" y="2507"/>
              <a:ext cx="33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用二项式展开，由于　　　，得</a:t>
              </a:r>
            </a:p>
          </p:txBody>
        </p:sp>
        <p:graphicFrame>
          <p:nvGraphicFramePr>
            <p:cNvPr id="11315" name="Object 8"/>
            <p:cNvGraphicFramePr>
              <a:graphicFrameLocks noChangeAspect="1"/>
            </p:cNvGraphicFramePr>
            <p:nvPr/>
          </p:nvGraphicFramePr>
          <p:xfrm>
            <a:off x="1957" y="2526"/>
            <a:ext cx="56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3" name="Equation" r:id="rId9" imgW="352573" imgH="85841" progId="Equation.3">
                    <p:embed/>
                  </p:oleObj>
                </mc:Choice>
                <mc:Fallback>
                  <p:oleObj name="Equation" r:id="rId9" imgW="352573" imgH="85841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7" y="2526"/>
                          <a:ext cx="56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2841" name="Object 9"/>
          <p:cNvGraphicFramePr>
            <a:graphicFrameLocks noChangeAspect="1"/>
          </p:cNvGraphicFramePr>
          <p:nvPr/>
        </p:nvGraphicFramePr>
        <p:xfrm>
          <a:off x="4787900" y="3841750"/>
          <a:ext cx="20161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4" name="公式" r:id="rId11" imgW="885944" imgH="295404" progId="Equation.3">
                  <p:embed/>
                </p:oleObj>
              </mc:Choice>
              <mc:Fallback>
                <p:oleObj name="公式" r:id="rId11" imgW="885944" imgH="29540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841750"/>
                        <a:ext cx="20161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67" name="Object 35"/>
          <p:cNvGraphicFramePr>
            <a:graphicFrameLocks noChangeAspect="1"/>
          </p:cNvGraphicFramePr>
          <p:nvPr/>
        </p:nvGraphicFramePr>
        <p:xfrm>
          <a:off x="2441575" y="4719638"/>
          <a:ext cx="559117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5" name="Equation" r:id="rId13" imgW="2171657" imgH="419126" progId="Equation.DSMT4">
                  <p:embed/>
                </p:oleObj>
              </mc:Choice>
              <mc:Fallback>
                <p:oleObj name="Equation" r:id="rId13" imgW="2171657" imgH="419126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4719638"/>
                        <a:ext cx="559117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68" name="Text Box 36"/>
          <p:cNvSpPr txBox="1">
            <a:spLocks noChangeArrowheads="1"/>
          </p:cNvSpPr>
          <p:nvPr/>
        </p:nvSpPr>
        <p:spPr bwMode="auto">
          <a:xfrm>
            <a:off x="323850" y="4978400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代入上式，得</a:t>
            </a:r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971550" y="5788025"/>
            <a:ext cx="7127875" cy="477838"/>
            <a:chOff x="295" y="3692"/>
            <a:chExt cx="4490" cy="301"/>
          </a:xfrm>
        </p:grpSpPr>
        <p:sp>
          <p:nvSpPr>
            <p:cNvPr id="11312" name="Text Box 37"/>
            <p:cNvSpPr txBox="1">
              <a:spLocks noChangeArrowheads="1"/>
            </p:cNvSpPr>
            <p:nvPr/>
          </p:nvSpPr>
          <p:spPr bwMode="auto">
            <a:xfrm>
              <a:off x="521" y="3703"/>
              <a:ext cx="4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表示电偶极矩，</a:t>
              </a:r>
              <a:r>
                <a:rPr kumimoji="1" lang="zh-CN" altLang="en-US" b="1">
                  <a:solidFill>
                    <a:srgbClr val="FF0000"/>
                  </a:solidFill>
                  <a:latin typeface="楷体_GB2312" pitchFamily="49" charset="-122"/>
                </a:rPr>
                <a:t>方向由负电荷指向正电荷</a:t>
              </a: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。</a:t>
              </a:r>
            </a:p>
          </p:txBody>
        </p:sp>
        <p:graphicFrame>
          <p:nvGraphicFramePr>
            <p:cNvPr id="11313" name="Object 38"/>
            <p:cNvGraphicFramePr>
              <a:graphicFrameLocks noChangeAspect="1"/>
            </p:cNvGraphicFramePr>
            <p:nvPr/>
          </p:nvGraphicFramePr>
          <p:xfrm>
            <a:off x="295" y="3692"/>
            <a:ext cx="58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6" name="Equation" r:id="rId15" imgW="371312" imgH="142836" progId="Equation.DSMT4">
                    <p:embed/>
                  </p:oleObj>
                </mc:Choice>
                <mc:Fallback>
                  <p:oleObj name="Equation" r:id="rId15" imgW="371312" imgH="142836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3692"/>
                          <a:ext cx="58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7" name="Group 51"/>
          <p:cNvGrpSpPr>
            <a:grpSpLocks/>
          </p:cNvGrpSpPr>
          <p:nvPr/>
        </p:nvGrpSpPr>
        <p:grpSpPr bwMode="auto">
          <a:xfrm>
            <a:off x="5940425" y="620713"/>
            <a:ext cx="2879725" cy="3022600"/>
            <a:chOff x="3742" y="391"/>
            <a:chExt cx="1814" cy="1904"/>
          </a:xfrm>
        </p:grpSpPr>
        <p:sp>
          <p:nvSpPr>
            <p:cNvPr id="11282" name="Rectangle 10"/>
            <p:cNvSpPr>
              <a:spLocks noChangeArrowheads="1"/>
            </p:cNvSpPr>
            <p:nvPr/>
          </p:nvSpPr>
          <p:spPr bwMode="auto">
            <a:xfrm>
              <a:off x="3742" y="391"/>
              <a:ext cx="1814" cy="190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1283" name="Object 11"/>
            <p:cNvGraphicFramePr>
              <a:graphicFrameLocks noChangeAspect="1"/>
            </p:cNvGraphicFramePr>
            <p:nvPr/>
          </p:nvGraphicFramePr>
          <p:xfrm>
            <a:off x="4225" y="1025"/>
            <a:ext cx="16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7" name="Equation" r:id="rId17" imgW="28456" imgH="85841" progId="Equation.DSMT4">
                    <p:embed/>
                  </p:oleObj>
                </mc:Choice>
                <mc:Fallback>
                  <p:oleObj name="Equation" r:id="rId17" imgW="28456" imgH="8584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5" y="1025"/>
                          <a:ext cx="16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4" name="Text Box 12"/>
            <p:cNvSpPr txBox="1">
              <a:spLocks noChangeArrowheads="1"/>
            </p:cNvSpPr>
            <p:nvPr/>
          </p:nvSpPr>
          <p:spPr bwMode="auto">
            <a:xfrm>
              <a:off x="4181" y="1070"/>
              <a:ext cx="21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15000"/>
                </a:spcBef>
              </a:pPr>
              <a:endParaRPr lang="zh-CN" altLang="zh-CN" sz="2800">
                <a:solidFill>
                  <a:schemeClr val="bg1"/>
                </a:solidFill>
                <a:ea typeface="幼圆" pitchFamily="49" charset="-122"/>
              </a:endParaRPr>
            </a:p>
          </p:txBody>
        </p:sp>
        <p:sp>
          <p:nvSpPr>
            <p:cNvPr id="11285" name="Line 13"/>
            <p:cNvSpPr>
              <a:spLocks noChangeShapeType="1"/>
            </p:cNvSpPr>
            <p:nvPr/>
          </p:nvSpPr>
          <p:spPr bwMode="auto">
            <a:xfrm rot="21272468" flipV="1">
              <a:off x="4167" y="817"/>
              <a:ext cx="1055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Line 14"/>
            <p:cNvSpPr>
              <a:spLocks noChangeShapeType="1"/>
            </p:cNvSpPr>
            <p:nvPr/>
          </p:nvSpPr>
          <p:spPr bwMode="auto">
            <a:xfrm flipV="1">
              <a:off x="4201" y="754"/>
              <a:ext cx="991" cy="2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15"/>
            <p:cNvSpPr>
              <a:spLocks noChangeShapeType="1"/>
            </p:cNvSpPr>
            <p:nvPr/>
          </p:nvSpPr>
          <p:spPr bwMode="auto">
            <a:xfrm flipV="1">
              <a:off x="4195" y="760"/>
              <a:ext cx="1000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16"/>
            <p:cNvSpPr>
              <a:spLocks noChangeShapeType="1"/>
            </p:cNvSpPr>
            <p:nvPr/>
          </p:nvSpPr>
          <p:spPr bwMode="auto">
            <a:xfrm flipV="1">
              <a:off x="4195" y="1033"/>
              <a:ext cx="444" cy="2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17"/>
            <p:cNvSpPr>
              <a:spLocks noChangeShapeType="1"/>
            </p:cNvSpPr>
            <p:nvPr/>
          </p:nvSpPr>
          <p:spPr bwMode="auto">
            <a:xfrm flipV="1">
              <a:off x="4195" y="1008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18"/>
            <p:cNvSpPr>
              <a:spLocks noChangeShapeType="1"/>
            </p:cNvSpPr>
            <p:nvPr/>
          </p:nvSpPr>
          <p:spPr bwMode="auto">
            <a:xfrm flipH="1">
              <a:off x="3973" y="996"/>
              <a:ext cx="1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19"/>
            <p:cNvSpPr>
              <a:spLocks noChangeShapeType="1"/>
            </p:cNvSpPr>
            <p:nvPr/>
          </p:nvSpPr>
          <p:spPr bwMode="auto">
            <a:xfrm flipH="1">
              <a:off x="3977" y="1502"/>
              <a:ext cx="1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20"/>
            <p:cNvSpPr>
              <a:spLocks noChangeShapeType="1"/>
            </p:cNvSpPr>
            <p:nvPr/>
          </p:nvSpPr>
          <p:spPr bwMode="auto">
            <a:xfrm>
              <a:off x="4081" y="977"/>
              <a:ext cx="0" cy="5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Arc 21"/>
            <p:cNvSpPr>
              <a:spLocks/>
            </p:cNvSpPr>
            <p:nvPr/>
          </p:nvSpPr>
          <p:spPr bwMode="auto">
            <a:xfrm>
              <a:off x="4195" y="1164"/>
              <a:ext cx="56" cy="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Text Box 22"/>
            <p:cNvSpPr txBox="1">
              <a:spLocks noChangeArrowheads="1"/>
            </p:cNvSpPr>
            <p:nvPr/>
          </p:nvSpPr>
          <p:spPr bwMode="auto">
            <a:xfrm>
              <a:off x="3923" y="749"/>
              <a:ext cx="31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sz="2000" b="1" i="1">
                  <a:latin typeface="Times New Roman" pitchFamily="18" charset="0"/>
                  <a:ea typeface="宋体" pitchFamily="2" charset="-122"/>
                </a:rPr>
                <a:t>+q</a:t>
              </a:r>
              <a:endParaRPr lang="en-US" altLang="zh-CN" sz="2000" b="1">
                <a:ea typeface="幼圆" pitchFamily="49" charset="-122"/>
              </a:endParaRPr>
            </a:p>
          </p:txBody>
        </p:sp>
        <p:sp>
          <p:nvSpPr>
            <p:cNvPr id="11295" name="Text Box 23"/>
            <p:cNvSpPr txBox="1">
              <a:spLocks noChangeArrowheads="1"/>
            </p:cNvSpPr>
            <p:nvPr/>
          </p:nvSpPr>
          <p:spPr bwMode="auto">
            <a:xfrm>
              <a:off x="3968" y="2024"/>
              <a:ext cx="1361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 sz="1800" b="1">
                  <a:latin typeface="Times New Roman" pitchFamily="18" charset="0"/>
                  <a:ea typeface="宋体" pitchFamily="2" charset="-122"/>
                </a:rPr>
                <a:t>电偶极子</a:t>
              </a:r>
              <a:endParaRPr lang="zh-CN" altLang="en-US" sz="1800" b="1">
                <a:ea typeface="宋体" pitchFamily="2" charset="-122"/>
              </a:endParaRPr>
            </a:p>
          </p:txBody>
        </p:sp>
        <p:sp>
          <p:nvSpPr>
            <p:cNvPr id="11296" name="Text Box 24"/>
            <p:cNvSpPr txBox="1">
              <a:spLocks noChangeArrowheads="1"/>
            </p:cNvSpPr>
            <p:nvPr/>
          </p:nvSpPr>
          <p:spPr bwMode="auto">
            <a:xfrm>
              <a:off x="4178" y="435"/>
              <a:ext cx="27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lang="en-US" altLang="zh-CN" b="1">
                  <a:latin typeface="Times New Roman" pitchFamily="18" charset="0"/>
                  <a:ea typeface="宋体" pitchFamily="2" charset="-122"/>
                </a:rPr>
                <a:t>z</a:t>
              </a:r>
              <a:endParaRPr lang="en-US" altLang="zh-CN" b="1">
                <a:ea typeface="幼圆" pitchFamily="49" charset="-122"/>
              </a:endParaRPr>
            </a:p>
          </p:txBody>
        </p:sp>
        <p:sp>
          <p:nvSpPr>
            <p:cNvPr id="11297" name="Line 25"/>
            <p:cNvSpPr>
              <a:spLocks noChangeShapeType="1"/>
            </p:cNvSpPr>
            <p:nvPr/>
          </p:nvSpPr>
          <p:spPr bwMode="auto">
            <a:xfrm flipH="1" flipV="1">
              <a:off x="4193" y="527"/>
              <a:ext cx="2" cy="139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Oval 26"/>
            <p:cNvSpPr>
              <a:spLocks noChangeArrowheads="1"/>
            </p:cNvSpPr>
            <p:nvPr/>
          </p:nvSpPr>
          <p:spPr bwMode="auto">
            <a:xfrm>
              <a:off x="4124" y="934"/>
              <a:ext cx="136" cy="136"/>
            </a:xfrm>
            <a:prstGeom prst="ellipse">
              <a:avLst/>
            </a:prstGeom>
            <a:gradFill rotWithShape="1">
              <a:gsLst>
                <a:gs pos="0">
                  <a:srgbClr val="5C2500"/>
                </a:gs>
                <a:gs pos="100000">
                  <a:srgbClr val="FF6600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32859" name="Oval 27"/>
            <p:cNvSpPr>
              <a:spLocks noChangeArrowheads="1"/>
            </p:cNvSpPr>
            <p:nvPr/>
          </p:nvSpPr>
          <p:spPr bwMode="auto">
            <a:xfrm>
              <a:off x="4124" y="1433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36078"/>
                    <a:invGamma/>
                  </a:schemeClr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00" name="Text Box 28"/>
            <p:cNvSpPr txBox="1">
              <a:spLocks noChangeArrowheads="1"/>
            </p:cNvSpPr>
            <p:nvPr/>
          </p:nvSpPr>
          <p:spPr bwMode="auto">
            <a:xfrm>
              <a:off x="4156" y="1146"/>
              <a:ext cx="27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lang="en-US" altLang="zh-CN" b="1">
                  <a:latin typeface="Times New Roman" pitchFamily="18" charset="0"/>
                  <a:ea typeface="宋体" pitchFamily="2" charset="-122"/>
                </a:rPr>
                <a:t>o</a:t>
              </a:r>
              <a:endParaRPr lang="en-US" altLang="zh-CN" b="1">
                <a:ea typeface="幼圆" pitchFamily="49" charset="-122"/>
              </a:endParaRPr>
            </a:p>
          </p:txBody>
        </p:sp>
        <p:sp>
          <p:nvSpPr>
            <p:cNvPr id="11301" name="Text Box 29"/>
            <p:cNvSpPr txBox="1">
              <a:spLocks noChangeArrowheads="1"/>
            </p:cNvSpPr>
            <p:nvPr/>
          </p:nvSpPr>
          <p:spPr bwMode="auto">
            <a:xfrm>
              <a:off x="3900" y="1115"/>
              <a:ext cx="27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lang="en-US" altLang="zh-CN" b="1" i="1">
                  <a:latin typeface="Times New Roman" pitchFamily="18" charset="0"/>
                  <a:ea typeface="宋体" pitchFamily="2" charset="-122"/>
                </a:rPr>
                <a:t>d</a:t>
              </a:r>
              <a:endParaRPr lang="en-US" altLang="zh-CN" b="1" i="1">
                <a:ea typeface="幼圆" pitchFamily="49" charset="-122"/>
              </a:endParaRPr>
            </a:p>
          </p:txBody>
        </p:sp>
        <p:sp>
          <p:nvSpPr>
            <p:cNvPr id="11302" name="Line 30"/>
            <p:cNvSpPr>
              <a:spLocks noChangeShapeType="1"/>
            </p:cNvSpPr>
            <p:nvPr/>
          </p:nvSpPr>
          <p:spPr bwMode="auto">
            <a:xfrm>
              <a:off x="4156" y="1500"/>
              <a:ext cx="68" cy="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303" name="Group 31"/>
            <p:cNvGrpSpPr>
              <a:grpSpLocks/>
            </p:cNvGrpSpPr>
            <p:nvPr/>
          </p:nvGrpSpPr>
          <p:grpSpPr bwMode="auto">
            <a:xfrm>
              <a:off x="4156" y="963"/>
              <a:ext cx="68" cy="68"/>
              <a:chOff x="2661" y="3323"/>
              <a:chExt cx="68" cy="68"/>
            </a:xfrm>
          </p:grpSpPr>
          <p:sp>
            <p:nvSpPr>
              <p:cNvPr id="11310" name="Line 32"/>
              <p:cNvSpPr>
                <a:spLocks noChangeShapeType="1"/>
              </p:cNvSpPr>
              <p:nvPr/>
            </p:nvSpPr>
            <p:spPr bwMode="auto">
              <a:xfrm>
                <a:off x="2661" y="3361"/>
                <a:ext cx="68" cy="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311" name="Line 33"/>
              <p:cNvSpPr>
                <a:spLocks noChangeShapeType="1"/>
              </p:cNvSpPr>
              <p:nvPr/>
            </p:nvSpPr>
            <p:spPr bwMode="auto">
              <a:xfrm rot="5400000">
                <a:off x="2662" y="3357"/>
                <a:ext cx="68" cy="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304" name="Text Box 34"/>
            <p:cNvSpPr txBox="1">
              <a:spLocks noChangeArrowheads="1"/>
            </p:cNvSpPr>
            <p:nvPr/>
          </p:nvSpPr>
          <p:spPr bwMode="auto">
            <a:xfrm>
              <a:off x="3878" y="1434"/>
              <a:ext cx="40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zh-CN" altLang="en-US" sz="1400" b="1" i="1"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2000" b="1" i="1">
                  <a:latin typeface="Times New Roman" pitchFamily="18" charset="0"/>
                  <a:ea typeface="宋体" pitchFamily="2" charset="-122"/>
                </a:rPr>
                <a:t>q</a:t>
              </a:r>
              <a:endParaRPr lang="en-US" altLang="zh-CN" sz="2000" b="1">
                <a:ea typeface="幼圆" pitchFamily="49" charset="-122"/>
              </a:endParaRPr>
            </a:p>
          </p:txBody>
        </p:sp>
        <p:graphicFrame>
          <p:nvGraphicFramePr>
            <p:cNvPr id="11305" name="Object 39"/>
            <p:cNvGraphicFramePr>
              <a:graphicFrameLocks noChangeAspect="1"/>
            </p:cNvGraphicFramePr>
            <p:nvPr/>
          </p:nvGraphicFramePr>
          <p:xfrm>
            <a:off x="4422" y="663"/>
            <a:ext cx="165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8" name="公式" r:id="rId19" imgW="28456" imgH="123722" progId="Equation.3">
                    <p:embed/>
                  </p:oleObj>
                </mc:Choice>
                <mc:Fallback>
                  <p:oleObj name="公式" r:id="rId19" imgW="28456" imgH="123722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663"/>
                          <a:ext cx="165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6" name="Object 40"/>
            <p:cNvGraphicFramePr>
              <a:graphicFrameLocks noChangeAspect="1"/>
            </p:cNvGraphicFramePr>
            <p:nvPr/>
          </p:nvGraphicFramePr>
          <p:xfrm>
            <a:off x="4558" y="1162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69" name="Equation" r:id="rId21" imgW="47542" imgH="123722" progId="Equation.DSMT4">
                    <p:embed/>
                  </p:oleObj>
                </mc:Choice>
                <mc:Fallback>
                  <p:oleObj name="Equation" r:id="rId21" imgW="47542" imgH="123722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1162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7" name="Object 41"/>
            <p:cNvGraphicFramePr>
              <a:graphicFrameLocks noChangeAspect="1"/>
            </p:cNvGraphicFramePr>
            <p:nvPr/>
          </p:nvGraphicFramePr>
          <p:xfrm>
            <a:off x="4430" y="953"/>
            <a:ext cx="148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0" name="公式" r:id="rId23" imgW="19086" imgH="28498" progId="Equation.3">
                    <p:embed/>
                  </p:oleObj>
                </mc:Choice>
                <mc:Fallback>
                  <p:oleObj name="公式" r:id="rId23" imgW="19086" imgH="28498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0" y="953"/>
                          <a:ext cx="148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8" name="Oval 42"/>
            <p:cNvSpPr>
              <a:spLocks noChangeArrowheads="1"/>
            </p:cNvSpPr>
            <p:nvPr/>
          </p:nvSpPr>
          <p:spPr bwMode="auto">
            <a:xfrm>
              <a:off x="5148" y="755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1309" name="Object 43"/>
            <p:cNvGraphicFramePr>
              <a:graphicFrameLocks noChangeAspect="1"/>
            </p:cNvGraphicFramePr>
            <p:nvPr/>
          </p:nvGraphicFramePr>
          <p:xfrm>
            <a:off x="4842" y="527"/>
            <a:ext cx="66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1" name="公式" r:id="rId25" imgW="504915" imgH="104608" progId="Equation.3">
                    <p:embed/>
                  </p:oleObj>
                </mc:Choice>
                <mc:Fallback>
                  <p:oleObj name="公式" r:id="rId25" imgW="504915" imgH="104608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2" y="527"/>
                          <a:ext cx="66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78" name="AutoShape 47">
            <a:hlinkClick r:id="rId2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9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80" name="AutoShape 4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81" name="AutoShape 5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0"/>
                                        <p:tgtEl>
                                          <p:spTgt spid="6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63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3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4" grpId="0"/>
      <p:bldP spid="632835" grpId="0"/>
      <p:bldP spid="6328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95E21D-6C2A-415F-A1EE-D7974EA20B1C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graphicFrame>
        <p:nvGraphicFramePr>
          <p:cNvPr id="633859" name="Object 3"/>
          <p:cNvGraphicFramePr>
            <a:graphicFrameLocks noChangeAspect="1"/>
          </p:cNvGraphicFramePr>
          <p:nvPr/>
        </p:nvGraphicFramePr>
        <p:xfrm>
          <a:off x="2051050" y="4441825"/>
          <a:ext cx="18002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1" name="公式" r:id="rId3" imgW="552457" imgH="333285" progId="Equation.3">
                  <p:embed/>
                </p:oleObj>
              </mc:Choice>
              <mc:Fallback>
                <p:oleObj name="公式" r:id="rId3" imgW="552457" imgH="3332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441825"/>
                        <a:ext cx="180022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61" name="Object 5"/>
          <p:cNvGraphicFramePr>
            <a:graphicFrameLocks noChangeAspect="1"/>
          </p:cNvGraphicFramePr>
          <p:nvPr/>
        </p:nvGraphicFramePr>
        <p:xfrm>
          <a:off x="1966913" y="5949950"/>
          <a:ext cx="18129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2" name="公式" r:id="rId5" imgW="695430" imgH="133453" progId="Equation.3">
                  <p:embed/>
                </p:oleObj>
              </mc:Choice>
              <mc:Fallback>
                <p:oleObj name="公式" r:id="rId5" imgW="695430" imgH="13345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5949950"/>
                        <a:ext cx="18129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71438" y="5373692"/>
            <a:ext cx="5724525" cy="503238"/>
            <a:chOff x="45" y="3293"/>
            <a:chExt cx="3606" cy="317"/>
          </a:xfrm>
        </p:grpSpPr>
        <p:sp>
          <p:nvSpPr>
            <p:cNvPr id="12340" name="Text Box 6"/>
            <p:cNvSpPr txBox="1">
              <a:spLocks noChangeArrowheads="1"/>
            </p:cNvSpPr>
            <p:nvPr/>
          </p:nvSpPr>
          <p:spPr bwMode="auto">
            <a:xfrm>
              <a:off x="45" y="3294"/>
              <a:ext cx="360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b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b="1" dirty="0">
                  <a:solidFill>
                    <a:schemeClr val="bg1"/>
                  </a:solidFill>
                  <a:latin typeface="楷体_GB2312" pitchFamily="49" charset="-122"/>
                </a:rPr>
                <a:t>将　 和　 代入上式，</a:t>
              </a:r>
              <a:r>
                <a:rPr kumimoji="1" lang="zh-CN" altLang="en-US" b="1" dirty="0">
                  <a:solidFill>
                    <a:schemeClr val="bg1"/>
                  </a:solidFill>
                  <a:latin typeface="Times New Roman" pitchFamily="18" charset="0"/>
                </a:rPr>
                <a:t>解</a:t>
              </a:r>
              <a:r>
                <a:rPr kumimoji="1" lang="zh-CN" altLang="en-US" b="1" dirty="0" smtClean="0">
                  <a:solidFill>
                    <a:schemeClr val="bg1"/>
                  </a:solidFill>
                  <a:latin typeface="Times New Roman" pitchFamily="18" charset="0"/>
                </a:rPr>
                <a:t>得电场线方程：</a:t>
              </a:r>
              <a:endParaRPr kumimoji="1" lang="zh-CN" altLang="en-US" b="1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234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122333"/>
                </p:ext>
              </p:extLst>
            </p:nvPr>
          </p:nvGraphicFramePr>
          <p:xfrm>
            <a:off x="771" y="3293"/>
            <a:ext cx="29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3" name="Equation" r:id="rId7" imgW="123886" imgH="133453" progId="Equation.3">
                    <p:embed/>
                  </p:oleObj>
                </mc:Choice>
                <mc:Fallback>
                  <p:oleObj name="Equation" r:id="rId7" imgW="123886" imgH="133453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3293"/>
                          <a:ext cx="29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9126915"/>
                </p:ext>
              </p:extLst>
            </p:nvPr>
          </p:nvGraphicFramePr>
          <p:xfrm>
            <a:off x="288" y="3293"/>
            <a:ext cx="27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4" name="Equation" r:id="rId9" imgW="104800" imgH="123722" progId="Equation.3">
                    <p:embed/>
                  </p:oleObj>
                </mc:Choice>
                <mc:Fallback>
                  <p:oleObj name="Equation" r:id="rId9" imgW="104800" imgH="123722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3293"/>
                          <a:ext cx="27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3868" name="Text Box 12"/>
          <p:cNvSpPr txBox="1">
            <a:spLocks noChangeArrowheads="1"/>
          </p:cNvSpPr>
          <p:nvPr/>
        </p:nvSpPr>
        <p:spPr bwMode="auto">
          <a:xfrm>
            <a:off x="34925" y="404813"/>
            <a:ext cx="8856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由球坐标系中的梯度公式，可得到电偶极子的远区电场强度</a:t>
            </a:r>
          </a:p>
        </p:txBody>
      </p:sp>
      <p:graphicFrame>
        <p:nvGraphicFramePr>
          <p:cNvPr id="633858" name="Object 2"/>
          <p:cNvGraphicFramePr>
            <a:graphicFrameLocks noChangeAspect="1"/>
          </p:cNvGraphicFramePr>
          <p:nvPr/>
        </p:nvGraphicFramePr>
        <p:xfrm>
          <a:off x="2339975" y="1700213"/>
          <a:ext cx="40592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Equation" r:id="rId11" imgW="1733716" imgH="333285" progId="Equation.DSMT4">
                  <p:embed/>
                </p:oleObj>
              </mc:Choice>
              <mc:Fallback>
                <p:oleObj name="Equation" r:id="rId11" imgW="1733716" imgH="3332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700213"/>
                        <a:ext cx="405923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69" name="Object 13"/>
          <p:cNvGraphicFramePr>
            <a:graphicFrameLocks noChangeAspect="1"/>
          </p:cNvGraphicFramePr>
          <p:nvPr/>
        </p:nvGraphicFramePr>
        <p:xfrm>
          <a:off x="1547813" y="958850"/>
          <a:ext cx="67691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公式" r:id="rId13" imgW="2886173" imgH="323901" progId="Equation.3">
                  <p:embed/>
                </p:oleObj>
              </mc:Choice>
              <mc:Fallback>
                <p:oleObj name="公式" r:id="rId13" imgW="2886173" imgH="32390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958850"/>
                        <a:ext cx="67691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684213" y="2981325"/>
            <a:ext cx="4854575" cy="1047750"/>
            <a:chOff x="462" y="1828"/>
            <a:chExt cx="3058" cy="660"/>
          </a:xfrm>
        </p:grpSpPr>
        <p:graphicFrame>
          <p:nvGraphicFramePr>
            <p:cNvPr id="12337" name="Object 10"/>
            <p:cNvGraphicFramePr>
              <a:graphicFrameLocks noChangeAspect="1"/>
            </p:cNvGraphicFramePr>
            <p:nvPr/>
          </p:nvGraphicFramePr>
          <p:xfrm>
            <a:off x="2249" y="1963"/>
            <a:ext cx="127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7" name="公式" r:id="rId15" imgW="695430" imgH="104608" progId="Equation.3">
                    <p:embed/>
                  </p:oleObj>
                </mc:Choice>
                <mc:Fallback>
                  <p:oleObj name="公式" r:id="rId15" imgW="695430" imgH="104608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9" y="1963"/>
                          <a:ext cx="127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00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8" name="Object 11"/>
            <p:cNvGraphicFramePr>
              <a:graphicFrameLocks noChangeAspect="1"/>
            </p:cNvGraphicFramePr>
            <p:nvPr/>
          </p:nvGraphicFramePr>
          <p:xfrm>
            <a:off x="462" y="1828"/>
            <a:ext cx="1376" cy="6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8" name="Equation" r:id="rId17" imgW="752341" imgH="352399" progId="Equation.DSMT4">
                    <p:embed/>
                  </p:oleObj>
                </mc:Choice>
                <mc:Fallback>
                  <p:oleObj name="Equation" r:id="rId17" imgW="752341" imgH="35239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" y="1828"/>
                          <a:ext cx="1376" cy="6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9" name="AutoShape 36"/>
            <p:cNvSpPr>
              <a:spLocks noChangeArrowheads="1"/>
            </p:cNvSpPr>
            <p:nvPr/>
          </p:nvSpPr>
          <p:spPr bwMode="auto">
            <a:xfrm>
              <a:off x="1887" y="2053"/>
              <a:ext cx="363" cy="182"/>
            </a:xfrm>
            <a:prstGeom prst="rightArrow">
              <a:avLst>
                <a:gd name="adj1" fmla="val 50000"/>
                <a:gd name="adj2" fmla="val 49863"/>
              </a:avLst>
            </a:prstGeom>
            <a:solidFill>
              <a:srgbClr val="FFCC99"/>
            </a:solidFill>
            <a:ln w="25400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5724525" y="2852738"/>
            <a:ext cx="3313113" cy="3240087"/>
            <a:chOff x="3651" y="1797"/>
            <a:chExt cx="2087" cy="2041"/>
          </a:xfrm>
        </p:grpSpPr>
        <p:sp>
          <p:nvSpPr>
            <p:cNvPr id="12305" name="Rectangle 25"/>
            <p:cNvSpPr>
              <a:spLocks noChangeArrowheads="1"/>
            </p:cNvSpPr>
            <p:nvPr/>
          </p:nvSpPr>
          <p:spPr bwMode="auto">
            <a:xfrm>
              <a:off x="3668" y="3610"/>
              <a:ext cx="1924" cy="205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6" name="Rectangle 27"/>
            <p:cNvSpPr>
              <a:spLocks noChangeArrowheads="1"/>
            </p:cNvSpPr>
            <p:nvPr/>
          </p:nvSpPr>
          <p:spPr bwMode="auto">
            <a:xfrm>
              <a:off x="5569" y="1797"/>
              <a:ext cx="124" cy="20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2307" name="Group 61"/>
            <p:cNvGrpSpPr>
              <a:grpSpLocks/>
            </p:cNvGrpSpPr>
            <p:nvPr/>
          </p:nvGrpSpPr>
          <p:grpSpPr bwMode="auto">
            <a:xfrm>
              <a:off x="3652" y="1797"/>
              <a:ext cx="1949" cy="1833"/>
              <a:chOff x="3459" y="1706"/>
              <a:chExt cx="2132" cy="2018"/>
            </a:xfrm>
          </p:grpSpPr>
          <p:graphicFrame>
            <p:nvGraphicFramePr>
              <p:cNvPr id="12316" name="Object 16"/>
              <p:cNvGraphicFramePr>
                <a:graphicFrameLocks noChangeAspect="1"/>
              </p:cNvGraphicFramePr>
              <p:nvPr/>
            </p:nvGraphicFramePr>
            <p:xfrm>
              <a:off x="3459" y="1706"/>
              <a:ext cx="2132" cy="20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59" name="位图图像" r:id="rId19" imgW="2895238" imgH="2838846" progId="Paint.Picture">
                      <p:embed/>
                    </p:oleObj>
                  </mc:Choice>
                  <mc:Fallback>
                    <p:oleObj name="位图图像" r:id="rId19" imgW="2895238" imgH="2838846" progId="Paint.Picture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9" y="1706"/>
                            <a:ext cx="2132" cy="20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317" name="Group 41"/>
              <p:cNvGrpSpPr>
                <a:grpSpLocks/>
              </p:cNvGrpSpPr>
              <p:nvPr/>
            </p:nvGrpSpPr>
            <p:grpSpPr bwMode="auto">
              <a:xfrm>
                <a:off x="3515" y="2704"/>
                <a:ext cx="1996" cy="590"/>
                <a:chOff x="3515" y="2704"/>
                <a:chExt cx="1996" cy="590"/>
              </a:xfrm>
            </p:grpSpPr>
            <p:sp>
              <p:nvSpPr>
                <p:cNvPr id="12335" name="Arc 39"/>
                <p:cNvSpPr>
                  <a:spLocks/>
                </p:cNvSpPr>
                <p:nvPr/>
              </p:nvSpPr>
              <p:spPr bwMode="auto">
                <a:xfrm flipV="1">
                  <a:off x="3515" y="2704"/>
                  <a:ext cx="982" cy="590"/>
                </a:xfrm>
                <a:custGeom>
                  <a:avLst/>
                  <a:gdLst>
                    <a:gd name="T0" fmla="*/ 0 w 26577"/>
                    <a:gd name="T1" fmla="*/ 0 h 21600"/>
                    <a:gd name="T2" fmla="*/ 0 w 26577"/>
                    <a:gd name="T3" fmla="*/ 0 h 21600"/>
                    <a:gd name="T4" fmla="*/ 0 w 2657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577"/>
                    <a:gd name="T10" fmla="*/ 0 h 21600"/>
                    <a:gd name="T11" fmla="*/ 26577 w 2657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577" h="21600" fill="none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</a:path>
                    <a:path w="26577" h="21600" stroke="0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  <a:lnTo>
                        <a:pt x="5325" y="21600"/>
                      </a:lnTo>
                      <a:lnTo>
                        <a:pt x="-1" y="666"/>
                      </a:lnTo>
                      <a:close/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6" name="Arc 40"/>
                <p:cNvSpPr>
                  <a:spLocks/>
                </p:cNvSpPr>
                <p:nvPr/>
              </p:nvSpPr>
              <p:spPr bwMode="auto">
                <a:xfrm flipH="1" flipV="1">
                  <a:off x="4529" y="2704"/>
                  <a:ext cx="982" cy="590"/>
                </a:xfrm>
                <a:custGeom>
                  <a:avLst/>
                  <a:gdLst>
                    <a:gd name="T0" fmla="*/ 0 w 26577"/>
                    <a:gd name="T1" fmla="*/ 0 h 21600"/>
                    <a:gd name="T2" fmla="*/ 0 w 26577"/>
                    <a:gd name="T3" fmla="*/ 0 h 21600"/>
                    <a:gd name="T4" fmla="*/ 0 w 2657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577"/>
                    <a:gd name="T10" fmla="*/ 0 h 21600"/>
                    <a:gd name="T11" fmla="*/ 26577 w 2657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577" h="21600" fill="none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</a:path>
                    <a:path w="26577" h="21600" stroke="0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  <a:lnTo>
                        <a:pt x="5325" y="21600"/>
                      </a:lnTo>
                      <a:lnTo>
                        <a:pt x="-1" y="666"/>
                      </a:lnTo>
                      <a:close/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18" name="Group 42"/>
              <p:cNvGrpSpPr>
                <a:grpSpLocks/>
              </p:cNvGrpSpPr>
              <p:nvPr/>
            </p:nvGrpSpPr>
            <p:grpSpPr bwMode="auto">
              <a:xfrm flipV="1">
                <a:off x="3515" y="2045"/>
                <a:ext cx="1996" cy="590"/>
                <a:chOff x="3515" y="2704"/>
                <a:chExt cx="1996" cy="590"/>
              </a:xfrm>
            </p:grpSpPr>
            <p:sp>
              <p:nvSpPr>
                <p:cNvPr id="12333" name="Arc 43"/>
                <p:cNvSpPr>
                  <a:spLocks/>
                </p:cNvSpPr>
                <p:nvPr/>
              </p:nvSpPr>
              <p:spPr bwMode="auto">
                <a:xfrm flipV="1">
                  <a:off x="3515" y="2704"/>
                  <a:ext cx="982" cy="590"/>
                </a:xfrm>
                <a:custGeom>
                  <a:avLst/>
                  <a:gdLst>
                    <a:gd name="T0" fmla="*/ 0 w 26577"/>
                    <a:gd name="T1" fmla="*/ 0 h 21600"/>
                    <a:gd name="T2" fmla="*/ 0 w 26577"/>
                    <a:gd name="T3" fmla="*/ 0 h 21600"/>
                    <a:gd name="T4" fmla="*/ 0 w 2657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577"/>
                    <a:gd name="T10" fmla="*/ 0 h 21600"/>
                    <a:gd name="T11" fmla="*/ 26577 w 2657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577" h="21600" fill="none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</a:path>
                    <a:path w="26577" h="21600" stroke="0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  <a:lnTo>
                        <a:pt x="5325" y="21600"/>
                      </a:lnTo>
                      <a:lnTo>
                        <a:pt x="-1" y="666"/>
                      </a:lnTo>
                      <a:close/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4" name="Arc 44"/>
                <p:cNvSpPr>
                  <a:spLocks/>
                </p:cNvSpPr>
                <p:nvPr/>
              </p:nvSpPr>
              <p:spPr bwMode="auto">
                <a:xfrm flipH="1" flipV="1">
                  <a:off x="4529" y="2704"/>
                  <a:ext cx="982" cy="590"/>
                </a:xfrm>
                <a:custGeom>
                  <a:avLst/>
                  <a:gdLst>
                    <a:gd name="T0" fmla="*/ 0 w 26577"/>
                    <a:gd name="T1" fmla="*/ 0 h 21600"/>
                    <a:gd name="T2" fmla="*/ 0 w 26577"/>
                    <a:gd name="T3" fmla="*/ 0 h 21600"/>
                    <a:gd name="T4" fmla="*/ 0 w 26577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6577"/>
                    <a:gd name="T10" fmla="*/ 0 h 21600"/>
                    <a:gd name="T11" fmla="*/ 26577 w 2657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6577" h="21600" fill="none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</a:path>
                    <a:path w="26577" h="21600" stroke="0" extrusionOk="0">
                      <a:moveTo>
                        <a:pt x="-1" y="666"/>
                      </a:moveTo>
                      <a:cubicBezTo>
                        <a:pt x="1740" y="223"/>
                        <a:pt x="3529" y="-1"/>
                        <a:pt x="5325" y="0"/>
                      </a:cubicBezTo>
                      <a:cubicBezTo>
                        <a:pt x="15765" y="0"/>
                        <a:pt x="24711" y="7467"/>
                        <a:pt x="26577" y="17739"/>
                      </a:cubicBezTo>
                      <a:lnTo>
                        <a:pt x="5325" y="21600"/>
                      </a:lnTo>
                      <a:lnTo>
                        <a:pt x="-1" y="666"/>
                      </a:lnTo>
                      <a:close/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19" name="Group 46"/>
              <p:cNvGrpSpPr>
                <a:grpSpLocks/>
              </p:cNvGrpSpPr>
              <p:nvPr/>
            </p:nvGrpSpPr>
            <p:grpSpPr bwMode="auto">
              <a:xfrm>
                <a:off x="4434" y="2696"/>
                <a:ext cx="141" cy="136"/>
                <a:chOff x="3990" y="3203"/>
                <a:chExt cx="136" cy="136"/>
              </a:xfrm>
            </p:grpSpPr>
            <p:sp>
              <p:nvSpPr>
                <p:cNvPr id="633903" name="Oval 47"/>
                <p:cNvSpPr>
                  <a:spLocks noChangeArrowheads="1"/>
                </p:cNvSpPr>
                <p:nvPr/>
              </p:nvSpPr>
              <p:spPr bwMode="auto">
                <a:xfrm>
                  <a:off x="3990" y="3203"/>
                  <a:ext cx="136" cy="14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36078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18900000" scaled="1"/>
                </a:gradFill>
                <a:ln>
                  <a:noFill/>
                </a:ln>
                <a:effectLst/>
                <a:extLst/>
              </p:spPr>
              <p:txBody>
                <a:bodyPr wrap="none" anchor="ctr">
                  <a:spAutoFit/>
                </a:bodyPr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2332" name="Line 48"/>
                <p:cNvSpPr>
                  <a:spLocks noChangeShapeType="1"/>
                </p:cNvSpPr>
                <p:nvPr/>
              </p:nvSpPr>
              <p:spPr bwMode="auto">
                <a:xfrm>
                  <a:off x="4022" y="3270"/>
                  <a:ext cx="68" cy="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20" name="Group 49"/>
              <p:cNvGrpSpPr>
                <a:grpSpLocks/>
              </p:cNvGrpSpPr>
              <p:nvPr/>
            </p:nvGrpSpPr>
            <p:grpSpPr bwMode="auto">
              <a:xfrm>
                <a:off x="4434" y="2514"/>
                <a:ext cx="141" cy="136"/>
                <a:chOff x="3990" y="2704"/>
                <a:chExt cx="136" cy="136"/>
              </a:xfrm>
            </p:grpSpPr>
            <p:sp>
              <p:nvSpPr>
                <p:cNvPr id="12327" name="Oval 50"/>
                <p:cNvSpPr>
                  <a:spLocks noChangeArrowheads="1"/>
                </p:cNvSpPr>
                <p:nvPr/>
              </p:nvSpPr>
              <p:spPr bwMode="auto">
                <a:xfrm>
                  <a:off x="3990" y="2704"/>
                  <a:ext cx="136" cy="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2500"/>
                    </a:gs>
                    <a:gs pos="100000">
                      <a:srgbClr val="FF6600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12328" name="Group 51"/>
                <p:cNvGrpSpPr>
                  <a:grpSpLocks/>
                </p:cNvGrpSpPr>
                <p:nvPr/>
              </p:nvGrpSpPr>
              <p:grpSpPr bwMode="auto">
                <a:xfrm>
                  <a:off x="4022" y="2733"/>
                  <a:ext cx="68" cy="68"/>
                  <a:chOff x="2661" y="3323"/>
                  <a:chExt cx="68" cy="68"/>
                </a:xfrm>
              </p:grpSpPr>
              <p:sp>
                <p:nvSpPr>
                  <p:cNvPr id="12329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2661" y="3361"/>
                    <a:ext cx="68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30" name="Line 53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2662" y="3357"/>
                    <a:ext cx="68" cy="0"/>
                  </a:xfrm>
                  <a:prstGeom prst="line">
                    <a:avLst/>
                  </a:prstGeom>
                  <a:noFill/>
                  <a:ln w="22225">
                    <a:solidFill>
                      <a:schemeClr val="bg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2321" name="Group 56"/>
              <p:cNvGrpSpPr>
                <a:grpSpLocks/>
              </p:cNvGrpSpPr>
              <p:nvPr/>
            </p:nvGrpSpPr>
            <p:grpSpPr bwMode="auto">
              <a:xfrm>
                <a:off x="3742" y="2053"/>
                <a:ext cx="91" cy="1241"/>
                <a:chOff x="3742" y="2053"/>
                <a:chExt cx="91" cy="1241"/>
              </a:xfrm>
            </p:grpSpPr>
            <p:sp>
              <p:nvSpPr>
                <p:cNvPr id="12325" name="Line 54"/>
                <p:cNvSpPr>
                  <a:spLocks noChangeShapeType="1"/>
                </p:cNvSpPr>
                <p:nvPr/>
              </p:nvSpPr>
              <p:spPr bwMode="auto">
                <a:xfrm>
                  <a:off x="3742" y="3294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6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3742" y="2053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22" name="Group 57"/>
              <p:cNvGrpSpPr>
                <a:grpSpLocks/>
              </p:cNvGrpSpPr>
              <p:nvPr/>
            </p:nvGrpSpPr>
            <p:grpSpPr bwMode="auto">
              <a:xfrm flipH="1">
                <a:off x="5193" y="2053"/>
                <a:ext cx="91" cy="1241"/>
                <a:chOff x="3742" y="2053"/>
                <a:chExt cx="91" cy="1241"/>
              </a:xfrm>
            </p:grpSpPr>
            <p:sp>
              <p:nvSpPr>
                <p:cNvPr id="12323" name="Line 58"/>
                <p:cNvSpPr>
                  <a:spLocks noChangeShapeType="1"/>
                </p:cNvSpPr>
                <p:nvPr/>
              </p:nvSpPr>
              <p:spPr bwMode="auto">
                <a:xfrm>
                  <a:off x="3742" y="3294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4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3742" y="2053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2308" name="Rectangle 62"/>
            <p:cNvSpPr>
              <a:spLocks noChangeArrowheads="1"/>
            </p:cNvSpPr>
            <p:nvPr/>
          </p:nvSpPr>
          <p:spPr bwMode="auto">
            <a:xfrm>
              <a:off x="3651" y="1797"/>
              <a:ext cx="2042" cy="203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2309" name="Group 64"/>
            <p:cNvGrpSpPr>
              <a:grpSpLocks/>
            </p:cNvGrpSpPr>
            <p:nvPr/>
          </p:nvGrpSpPr>
          <p:grpSpPr bwMode="auto">
            <a:xfrm>
              <a:off x="5002" y="3294"/>
              <a:ext cx="736" cy="333"/>
              <a:chOff x="4935" y="3369"/>
              <a:chExt cx="736" cy="333"/>
            </a:xfrm>
          </p:grpSpPr>
          <p:sp>
            <p:nvSpPr>
              <p:cNvPr id="12311" name="Rectangle 65"/>
              <p:cNvSpPr>
                <a:spLocks noChangeArrowheads="1"/>
              </p:cNvSpPr>
              <p:nvPr/>
            </p:nvSpPr>
            <p:spPr bwMode="auto">
              <a:xfrm>
                <a:off x="4981" y="3430"/>
                <a:ext cx="589" cy="2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312" name="Text Box 66"/>
              <p:cNvSpPr txBox="1">
                <a:spLocks noChangeArrowheads="1"/>
              </p:cNvSpPr>
              <p:nvPr/>
            </p:nvSpPr>
            <p:spPr bwMode="auto">
              <a:xfrm>
                <a:off x="5082" y="3515"/>
                <a:ext cx="58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15000"/>
                  </a:spcBef>
                </a:pPr>
                <a:r>
                  <a:rPr lang="zh-CN" altLang="en-US" sz="1800" b="1">
                    <a:solidFill>
                      <a:srgbClr val="0000CC"/>
                    </a:solidFill>
                    <a:latin typeface="Times New Roman" pitchFamily="18" charset="0"/>
                  </a:rPr>
                  <a:t>等位线</a:t>
                </a:r>
                <a:endParaRPr lang="zh-CN" altLang="en-US" sz="1800" b="1">
                  <a:solidFill>
                    <a:srgbClr val="0000CC"/>
                  </a:solidFill>
                </a:endParaRPr>
              </a:p>
            </p:txBody>
          </p:sp>
          <p:sp>
            <p:nvSpPr>
              <p:cNvPr id="12313" name="Line 67"/>
              <p:cNvSpPr>
                <a:spLocks noChangeShapeType="1"/>
              </p:cNvSpPr>
              <p:nvPr/>
            </p:nvSpPr>
            <p:spPr bwMode="auto">
              <a:xfrm>
                <a:off x="4935" y="3657"/>
                <a:ext cx="182" cy="0"/>
              </a:xfrm>
              <a:prstGeom prst="line">
                <a:avLst/>
              </a:prstGeom>
              <a:noFill/>
              <a:ln w="22225">
                <a:solidFill>
                  <a:srgbClr val="0000FF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314" name="Text Box 68"/>
              <p:cNvSpPr txBox="1">
                <a:spLocks noChangeArrowheads="1"/>
              </p:cNvSpPr>
              <p:nvPr/>
            </p:nvSpPr>
            <p:spPr bwMode="auto">
              <a:xfrm>
                <a:off x="5082" y="3369"/>
                <a:ext cx="58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15000"/>
                  </a:spcBef>
                </a:pPr>
                <a:r>
                  <a:rPr lang="zh-CN" altLang="en-US" sz="1800" b="1">
                    <a:solidFill>
                      <a:srgbClr val="FF0000"/>
                    </a:solidFill>
                    <a:latin typeface="Times New Roman" pitchFamily="18" charset="0"/>
                  </a:rPr>
                  <a:t>电场线</a:t>
                </a:r>
                <a:endParaRPr lang="zh-CN" altLang="en-US" sz="1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2315" name="Line 69"/>
              <p:cNvSpPr>
                <a:spLocks noChangeShapeType="1"/>
              </p:cNvSpPr>
              <p:nvPr/>
            </p:nvSpPr>
            <p:spPr bwMode="auto">
              <a:xfrm>
                <a:off x="4935" y="3511"/>
                <a:ext cx="182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310" name="Text Box 70"/>
            <p:cNvSpPr txBox="1">
              <a:spLocks noChangeArrowheads="1"/>
            </p:cNvSpPr>
            <p:nvPr/>
          </p:nvSpPr>
          <p:spPr bwMode="auto">
            <a:xfrm>
              <a:off x="3969" y="3611"/>
              <a:ext cx="1361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 sz="1800" b="1">
                  <a:latin typeface="Times New Roman" pitchFamily="18" charset="0"/>
                  <a:ea typeface="宋体" pitchFamily="2" charset="-122"/>
                </a:rPr>
                <a:t>电偶极子的场图</a:t>
              </a:r>
              <a:endParaRPr lang="zh-CN" altLang="en-US" sz="1800" b="1">
                <a:ea typeface="宋体" pitchFamily="2" charset="-122"/>
              </a:endParaRPr>
            </a:p>
          </p:txBody>
        </p:sp>
      </p:grpSp>
      <p:sp>
        <p:nvSpPr>
          <p:cNvPr id="633928" name="Text Box 72"/>
          <p:cNvSpPr txBox="1">
            <a:spLocks noChangeArrowheads="1"/>
          </p:cNvSpPr>
          <p:nvPr/>
        </p:nvSpPr>
        <p:spPr bwMode="auto">
          <a:xfrm>
            <a:off x="122238" y="3870325"/>
            <a:ext cx="50260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1"/>
              </a:buBlip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　</a:t>
            </a:r>
            <a:r>
              <a:rPr kumimoji="1" lang="zh-CN" altLang="en-US" b="1">
                <a:solidFill>
                  <a:srgbClr val="FFB953"/>
                </a:solidFill>
                <a:ea typeface="宋体" pitchFamily="2" charset="-122"/>
              </a:rPr>
              <a:t>电场线微分方程</a:t>
            </a:r>
            <a:r>
              <a:rPr kumimoji="1" lang="zh-CN" altLang="en-US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633929" name="Text Box 73"/>
          <p:cNvSpPr txBox="1">
            <a:spLocks noChangeArrowheads="1"/>
          </p:cNvSpPr>
          <p:nvPr/>
        </p:nvSpPr>
        <p:spPr bwMode="auto">
          <a:xfrm>
            <a:off x="107950" y="2357438"/>
            <a:ext cx="45354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1"/>
              </a:buBlip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　</a:t>
            </a:r>
            <a:r>
              <a:rPr kumimoji="1" lang="zh-CN" altLang="en-US" b="1">
                <a:solidFill>
                  <a:srgbClr val="FFB953"/>
                </a:solidFill>
                <a:ea typeface="宋体" pitchFamily="2" charset="-122"/>
              </a:rPr>
              <a:t>等位线方程</a:t>
            </a:r>
            <a:r>
              <a:rPr kumimoji="1" lang="zh-CN" altLang="en-US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12301" name="AutoShape 77">
            <a:hlinkClick r:id="rId2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2" name="AutoShape 7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3" name="AutoShape 7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4" name="AutoShape 8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33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3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3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3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3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6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3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8" grpId="0" autoUpdateAnimBg="0"/>
      <p:bldP spid="633928" grpId="0"/>
      <p:bldP spid="6339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CB77DB-F469-44A7-B0AB-937B8A065DD9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02851" name="Text Box 67"/>
          <p:cNvSpPr txBox="1">
            <a:spLocks noChangeArrowheads="1"/>
          </p:cNvSpPr>
          <p:nvPr/>
        </p:nvSpPr>
        <p:spPr bwMode="auto">
          <a:xfrm>
            <a:off x="396875" y="1339850"/>
            <a:ext cx="36703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在均匀介质中，有</a:t>
            </a:r>
          </a:p>
        </p:txBody>
      </p:sp>
      <p:sp>
        <p:nvSpPr>
          <p:cNvPr id="502852" name="Text Box 68"/>
          <p:cNvSpPr txBox="1">
            <a:spLocks noChangeArrowheads="1"/>
          </p:cNvSpPr>
          <p:nvPr/>
        </p:nvSpPr>
        <p:spPr bwMode="auto">
          <a:xfrm>
            <a:off x="107950" y="692150"/>
            <a:ext cx="439261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5.</a:t>
            </a:r>
            <a:r>
              <a:rPr kumimoji="1" lang="en-US" altLang="zh-CN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电位的微分方程</a:t>
            </a:r>
          </a:p>
        </p:txBody>
      </p:sp>
      <p:grpSp>
        <p:nvGrpSpPr>
          <p:cNvPr id="2" name="Group 1040"/>
          <p:cNvGrpSpPr>
            <a:grpSpLocks/>
          </p:cNvGrpSpPr>
          <p:nvPr/>
        </p:nvGrpSpPr>
        <p:grpSpPr bwMode="auto">
          <a:xfrm>
            <a:off x="468313" y="4219575"/>
            <a:ext cx="2879725" cy="576263"/>
            <a:chOff x="295" y="2069"/>
            <a:chExt cx="1814" cy="363"/>
          </a:xfrm>
        </p:grpSpPr>
        <p:sp>
          <p:nvSpPr>
            <p:cNvPr id="13339" name="Text Box 71"/>
            <p:cNvSpPr txBox="1">
              <a:spLocks noChangeArrowheads="1"/>
            </p:cNvSpPr>
            <p:nvPr/>
          </p:nvSpPr>
          <p:spPr bwMode="auto">
            <a:xfrm>
              <a:off x="295" y="2069"/>
              <a:ext cx="181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在无源区域，</a:t>
              </a:r>
            </a:p>
          </p:txBody>
        </p:sp>
        <p:graphicFrame>
          <p:nvGraphicFramePr>
            <p:cNvPr id="13340" name="Object 72"/>
            <p:cNvGraphicFramePr>
              <a:graphicFrameLocks noChangeAspect="1"/>
            </p:cNvGraphicFramePr>
            <p:nvPr/>
          </p:nvGraphicFramePr>
          <p:xfrm>
            <a:off x="1474" y="2127"/>
            <a:ext cx="59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5" name="公式" r:id="rId3" imgW="285598" imgH="104608" progId="Equation.3">
                    <p:embed/>
                  </p:oleObj>
                </mc:Choice>
                <mc:Fallback>
                  <p:oleObj name="公式" r:id="rId3" imgW="285598" imgH="104608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127"/>
                          <a:ext cx="59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2859" name="Object 75"/>
          <p:cNvGraphicFramePr>
            <a:graphicFrameLocks noChangeAspect="1"/>
          </p:cNvGraphicFramePr>
          <p:nvPr/>
        </p:nvGraphicFramePr>
        <p:xfrm>
          <a:off x="827088" y="1995488"/>
          <a:ext cx="3889375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6" name="公式" r:id="rId5" imgW="1495313" imgH="409742" progId="Equation.3">
                  <p:embed/>
                </p:oleObj>
              </mc:Choice>
              <mc:Fallback>
                <p:oleObj name="公式" r:id="rId5" imgW="1495313" imgH="409742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95488"/>
                        <a:ext cx="3889375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38"/>
          <p:cNvGrpSpPr>
            <a:grpSpLocks/>
          </p:cNvGrpSpPr>
          <p:nvPr/>
        </p:nvGrpSpPr>
        <p:grpSpPr bwMode="auto">
          <a:xfrm>
            <a:off x="4716463" y="2354263"/>
            <a:ext cx="2735262" cy="569912"/>
            <a:chOff x="2971" y="1393"/>
            <a:chExt cx="1723" cy="359"/>
          </a:xfrm>
        </p:grpSpPr>
        <p:graphicFrame>
          <p:nvGraphicFramePr>
            <p:cNvPr id="13337" name="Object 69"/>
            <p:cNvGraphicFramePr>
              <a:graphicFrameLocks noChangeAspect="1"/>
            </p:cNvGraphicFramePr>
            <p:nvPr/>
          </p:nvGraphicFramePr>
          <p:xfrm>
            <a:off x="3379" y="1393"/>
            <a:ext cx="131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7" name="公式" r:id="rId7" imgW="714516" imgH="133453" progId="Equation.3">
                    <p:embed/>
                  </p:oleObj>
                </mc:Choice>
                <mc:Fallback>
                  <p:oleObj name="公式" r:id="rId7" imgW="714516" imgH="133453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1393"/>
                          <a:ext cx="1315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AutoShape 76"/>
            <p:cNvSpPr>
              <a:spLocks noChangeArrowheads="1"/>
            </p:cNvSpPr>
            <p:nvPr/>
          </p:nvSpPr>
          <p:spPr bwMode="auto">
            <a:xfrm>
              <a:off x="2971" y="1480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039"/>
          <p:cNvGrpSpPr>
            <a:grpSpLocks/>
          </p:cNvGrpSpPr>
          <p:nvPr/>
        </p:nvGrpSpPr>
        <p:grpSpPr bwMode="auto">
          <a:xfrm>
            <a:off x="3348038" y="4241800"/>
            <a:ext cx="2254250" cy="554038"/>
            <a:chOff x="2109" y="2083"/>
            <a:chExt cx="1420" cy="349"/>
          </a:xfrm>
        </p:grpSpPr>
        <p:graphicFrame>
          <p:nvGraphicFramePr>
            <p:cNvPr id="13335" name="Object 77"/>
            <p:cNvGraphicFramePr>
              <a:graphicFrameLocks noChangeAspect="1"/>
            </p:cNvGraphicFramePr>
            <p:nvPr/>
          </p:nvGraphicFramePr>
          <p:xfrm>
            <a:off x="2608" y="2083"/>
            <a:ext cx="92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8" name="公式" r:id="rId9" imgW="438287" imgH="133453" progId="Equation.3">
                    <p:embed/>
                  </p:oleObj>
                </mc:Choice>
                <mc:Fallback>
                  <p:oleObj name="公式" r:id="rId9" imgW="438287" imgH="133453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2083"/>
                          <a:ext cx="921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AutoShape 78"/>
            <p:cNvSpPr>
              <a:spLocks noChangeArrowheads="1"/>
            </p:cNvSpPr>
            <p:nvPr/>
          </p:nvSpPr>
          <p:spPr bwMode="auto">
            <a:xfrm>
              <a:off x="2109" y="2206"/>
              <a:ext cx="454" cy="136"/>
            </a:xfrm>
            <a:prstGeom prst="rightArrow">
              <a:avLst>
                <a:gd name="adj1" fmla="val 50000"/>
                <a:gd name="adj2" fmla="val 83456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037"/>
          <p:cNvGrpSpPr>
            <a:grpSpLocks/>
          </p:cNvGrpSpPr>
          <p:nvPr/>
        </p:nvGrpSpPr>
        <p:grpSpPr bwMode="auto">
          <a:xfrm>
            <a:off x="5364163" y="1268413"/>
            <a:ext cx="2590800" cy="1655762"/>
            <a:chOff x="3379" y="709"/>
            <a:chExt cx="1632" cy="1043"/>
          </a:xfrm>
        </p:grpSpPr>
        <p:grpSp>
          <p:nvGrpSpPr>
            <p:cNvPr id="13331" name="Group 1032"/>
            <p:cNvGrpSpPr>
              <a:grpSpLocks/>
            </p:cNvGrpSpPr>
            <p:nvPr/>
          </p:nvGrpSpPr>
          <p:grpSpPr bwMode="auto">
            <a:xfrm>
              <a:off x="3651" y="709"/>
              <a:ext cx="1360" cy="680"/>
              <a:chOff x="3651" y="800"/>
              <a:chExt cx="1360" cy="680"/>
            </a:xfrm>
          </p:grpSpPr>
          <p:sp>
            <p:nvSpPr>
              <p:cNvPr id="13333" name="Text Box 73"/>
              <p:cNvSpPr txBox="1">
                <a:spLocks noChangeArrowheads="1"/>
              </p:cNvSpPr>
              <p:nvPr/>
            </p:nvSpPr>
            <p:spPr bwMode="auto">
              <a:xfrm>
                <a:off x="3651" y="800"/>
                <a:ext cx="1360" cy="264"/>
              </a:xfrm>
              <a:prstGeom prst="rect">
                <a:avLst/>
              </a:prstGeom>
              <a:solidFill>
                <a:srgbClr val="CCFFFF"/>
              </a:solidFill>
              <a:ln w="222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000" b="1">
                    <a:solidFill>
                      <a:srgbClr val="990000"/>
                    </a:solidFill>
                    <a:latin typeface="Verdana" pitchFamily="34" charset="0"/>
                    <a:ea typeface="宋体" pitchFamily="2" charset="-122"/>
                  </a:rPr>
                  <a:t>标量泊松方程</a:t>
                </a:r>
              </a:p>
            </p:txBody>
          </p:sp>
          <p:sp>
            <p:nvSpPr>
              <p:cNvPr id="13334" name="Line 1030"/>
              <p:cNvSpPr>
                <a:spLocks noChangeShapeType="1"/>
              </p:cNvSpPr>
              <p:nvPr/>
            </p:nvSpPr>
            <p:spPr bwMode="auto">
              <a:xfrm flipH="1">
                <a:off x="3969" y="1071"/>
                <a:ext cx="317" cy="40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32" name="Rectangle 1034"/>
            <p:cNvSpPr>
              <a:spLocks noChangeArrowheads="1"/>
            </p:cNvSpPr>
            <p:nvPr/>
          </p:nvSpPr>
          <p:spPr bwMode="auto">
            <a:xfrm>
              <a:off x="3379" y="1389"/>
              <a:ext cx="1315" cy="363"/>
            </a:xfrm>
            <a:prstGeom prst="rect">
              <a:avLst/>
            </a:prstGeom>
            <a:noFill/>
            <a:ln w="19050" algn="ctr">
              <a:solidFill>
                <a:srgbClr val="FF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1036"/>
          <p:cNvGrpSpPr>
            <a:grpSpLocks/>
          </p:cNvGrpSpPr>
          <p:nvPr/>
        </p:nvGrpSpPr>
        <p:grpSpPr bwMode="auto">
          <a:xfrm>
            <a:off x="4140200" y="4292600"/>
            <a:ext cx="4392613" cy="576263"/>
            <a:chOff x="2608" y="2478"/>
            <a:chExt cx="2767" cy="363"/>
          </a:xfrm>
        </p:grpSpPr>
        <p:grpSp>
          <p:nvGrpSpPr>
            <p:cNvPr id="13327" name="Group 1033"/>
            <p:cNvGrpSpPr>
              <a:grpSpLocks/>
            </p:cNvGrpSpPr>
            <p:nvPr/>
          </p:nvGrpSpPr>
          <p:grpSpPr bwMode="auto">
            <a:xfrm>
              <a:off x="3606" y="2478"/>
              <a:ext cx="1769" cy="264"/>
              <a:chOff x="3515" y="2069"/>
              <a:chExt cx="1769" cy="264"/>
            </a:xfrm>
          </p:grpSpPr>
          <p:sp>
            <p:nvSpPr>
              <p:cNvPr id="13329" name="Text Box 74"/>
              <p:cNvSpPr txBox="1">
                <a:spLocks noChangeArrowheads="1"/>
              </p:cNvSpPr>
              <p:nvPr/>
            </p:nvSpPr>
            <p:spPr bwMode="auto">
              <a:xfrm>
                <a:off x="3969" y="2069"/>
                <a:ext cx="1315" cy="264"/>
              </a:xfrm>
              <a:prstGeom prst="rect">
                <a:avLst/>
              </a:prstGeom>
              <a:solidFill>
                <a:srgbClr val="CCFFFF"/>
              </a:solidFill>
              <a:ln w="222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zh-CN" altLang="en-US" sz="2000" b="1">
                    <a:solidFill>
                      <a:srgbClr val="990000"/>
                    </a:solidFill>
                    <a:latin typeface="Verdana" pitchFamily="34" charset="0"/>
                    <a:ea typeface="宋体" pitchFamily="2" charset="-122"/>
                  </a:rPr>
                  <a:t>拉普拉斯方程</a:t>
                </a:r>
              </a:p>
            </p:txBody>
          </p:sp>
          <p:sp>
            <p:nvSpPr>
              <p:cNvPr id="13330" name="Line 1031"/>
              <p:cNvSpPr>
                <a:spLocks noChangeShapeType="1"/>
              </p:cNvSpPr>
              <p:nvPr/>
            </p:nvSpPr>
            <p:spPr bwMode="auto">
              <a:xfrm flipH="1">
                <a:off x="3515" y="2206"/>
                <a:ext cx="454" cy="4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28" name="Rectangle 1035"/>
            <p:cNvSpPr>
              <a:spLocks noChangeArrowheads="1"/>
            </p:cNvSpPr>
            <p:nvPr/>
          </p:nvSpPr>
          <p:spPr bwMode="auto">
            <a:xfrm>
              <a:off x="2608" y="2478"/>
              <a:ext cx="998" cy="363"/>
            </a:xfrm>
            <a:prstGeom prst="rect">
              <a:avLst/>
            </a:prstGeom>
            <a:noFill/>
            <a:ln w="19050" algn="ctr">
              <a:solidFill>
                <a:srgbClr val="FF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323" name="AutoShape 1041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AutoShape 10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5" name="AutoShape 104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AutoShape 104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0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50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851" grpId="0"/>
      <p:bldP spid="5028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1C69811-608B-4269-AC0B-A0DA20BBD47C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2713" y="404813"/>
            <a:ext cx="7843837" cy="64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b="1" smtClean="0">
                <a:solidFill>
                  <a:schemeClr val="bg1"/>
                </a:solidFill>
                <a:effectLst/>
                <a:latin typeface="Times New Roman" pitchFamily="18" charset="0"/>
              </a:rPr>
              <a:t>6.  </a:t>
            </a:r>
            <a:r>
              <a:rPr kumimoji="1" lang="zh-CN" altLang="en-US" sz="2400" b="1" smtClean="0">
                <a:solidFill>
                  <a:schemeClr val="bg1"/>
                </a:solidFill>
                <a:effectLst/>
                <a:latin typeface="Times New Roman" pitchFamily="18" charset="0"/>
              </a:rPr>
              <a:t>静电位的边界条件</a:t>
            </a:r>
          </a:p>
        </p:txBody>
      </p:sp>
      <p:sp>
        <p:nvSpPr>
          <p:cNvPr id="583699" name="Text Box 19"/>
          <p:cNvSpPr txBox="1">
            <a:spLocks noChangeArrowheads="1"/>
          </p:cNvSpPr>
          <p:nvPr/>
        </p:nvSpPr>
        <p:spPr bwMode="auto">
          <a:xfrm>
            <a:off x="71438" y="908050"/>
            <a:ext cx="89646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设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和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是介质分界面两侧紧贴界面的相邻两点，其电位分别为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和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。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当两点间距离</a:t>
            </a:r>
            <a:r>
              <a:rPr kumimoji="1" lang="el-GR" altLang="zh-CN" b="1">
                <a:solidFill>
                  <a:schemeClr val="bg1"/>
                </a:solidFill>
                <a:latin typeface="楷体_GB2312" pitchFamily="49" charset="-122"/>
              </a:rPr>
              <a:t>Δ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→0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时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583729" name="Object 49"/>
          <p:cNvGraphicFramePr>
            <a:graphicFrameLocks noChangeAspect="1"/>
          </p:cNvGraphicFramePr>
          <p:nvPr/>
        </p:nvGraphicFramePr>
        <p:xfrm>
          <a:off x="900113" y="2011363"/>
          <a:ext cx="41036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8" name="公式" r:id="rId3" imgW="1505030" imgH="257175" progId="Equation.3">
                  <p:embed/>
                </p:oleObj>
              </mc:Choice>
              <mc:Fallback>
                <p:oleObj name="公式" r:id="rId3" imgW="1505030" imgH="257175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011363"/>
                        <a:ext cx="41036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107950" y="3429000"/>
            <a:ext cx="4860925" cy="576263"/>
            <a:chOff x="68" y="2160"/>
            <a:chExt cx="3062" cy="363"/>
          </a:xfrm>
        </p:grpSpPr>
        <p:graphicFrame>
          <p:nvGraphicFramePr>
            <p:cNvPr id="14383" name="Object 6"/>
            <p:cNvGraphicFramePr>
              <a:graphicFrameLocks noChangeAspect="1"/>
            </p:cNvGraphicFramePr>
            <p:nvPr/>
          </p:nvGraphicFramePr>
          <p:xfrm>
            <a:off x="345" y="2183"/>
            <a:ext cx="149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79" name="公式" r:id="rId5" imgW="1038286" imgH="161951" progId="Equation.3">
                    <p:embed/>
                  </p:oleObj>
                </mc:Choice>
                <mc:Fallback>
                  <p:oleObj name="公式" r:id="rId5" imgW="1038286" imgH="161951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" y="2183"/>
                          <a:ext cx="149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84" name="Object 7"/>
            <p:cNvGraphicFramePr>
              <a:graphicFrameLocks noChangeAspect="1"/>
            </p:cNvGraphicFramePr>
            <p:nvPr/>
          </p:nvGraphicFramePr>
          <p:xfrm>
            <a:off x="2041" y="2182"/>
            <a:ext cx="1089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0" name="公式" r:id="rId7" imgW="590630" imgH="142836" progId="Equation.3">
                    <p:embed/>
                  </p:oleObj>
                </mc:Choice>
                <mc:Fallback>
                  <p:oleObj name="公式" r:id="rId7" imgW="590630" imgH="14283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2182"/>
                          <a:ext cx="1089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5" name="Text Box 51"/>
            <p:cNvSpPr txBox="1">
              <a:spLocks noChangeArrowheads="1"/>
            </p:cNvSpPr>
            <p:nvPr/>
          </p:nvSpPr>
          <p:spPr bwMode="auto">
            <a:xfrm>
              <a:off x="68" y="2160"/>
              <a:ext cx="226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由                和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5508625" y="1773238"/>
            <a:ext cx="3313113" cy="2520950"/>
            <a:chOff x="3651" y="1026"/>
            <a:chExt cx="1951" cy="1452"/>
          </a:xfrm>
        </p:grpSpPr>
        <p:grpSp>
          <p:nvGrpSpPr>
            <p:cNvPr id="14365" name="Group 48"/>
            <p:cNvGrpSpPr>
              <a:grpSpLocks/>
            </p:cNvGrpSpPr>
            <p:nvPr/>
          </p:nvGrpSpPr>
          <p:grpSpPr bwMode="auto">
            <a:xfrm>
              <a:off x="3651" y="1026"/>
              <a:ext cx="1951" cy="1451"/>
              <a:chOff x="3515" y="1979"/>
              <a:chExt cx="2041" cy="1451"/>
            </a:xfrm>
          </p:grpSpPr>
          <p:sp>
            <p:nvSpPr>
              <p:cNvPr id="14367" name="Rectangle 11"/>
              <p:cNvSpPr>
                <a:spLocks noChangeArrowheads="1"/>
              </p:cNvSpPr>
              <p:nvPr/>
            </p:nvSpPr>
            <p:spPr bwMode="auto">
              <a:xfrm>
                <a:off x="3515" y="1979"/>
                <a:ext cx="2041" cy="72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68" name="Rectangle 12"/>
              <p:cNvSpPr>
                <a:spLocks noChangeArrowheads="1"/>
              </p:cNvSpPr>
              <p:nvPr/>
            </p:nvSpPr>
            <p:spPr bwMode="auto">
              <a:xfrm>
                <a:off x="3515" y="2704"/>
                <a:ext cx="2041" cy="726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14369" name="Object 13"/>
              <p:cNvGraphicFramePr>
                <a:graphicFrameLocks noChangeAspect="1"/>
              </p:cNvGraphicFramePr>
              <p:nvPr/>
            </p:nvGraphicFramePr>
            <p:xfrm>
              <a:off x="4616" y="2470"/>
              <a:ext cx="180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1" name="Equation" r:id="rId9" imgW="164885" imgH="215619" progId="Equation.3">
                      <p:embed/>
                    </p:oleObj>
                  </mc:Choice>
                  <mc:Fallback>
                    <p:oleObj name="Equation" r:id="rId9" imgW="164885" imgH="215619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6" y="2470"/>
                            <a:ext cx="180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0" name="Object 14"/>
              <p:cNvGraphicFramePr>
                <a:graphicFrameLocks noChangeAspect="1"/>
              </p:cNvGraphicFramePr>
              <p:nvPr/>
            </p:nvGraphicFramePr>
            <p:xfrm>
              <a:off x="4602" y="2668"/>
              <a:ext cx="194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2" name="Equation" r:id="rId11" imgW="177569" imgH="215619" progId="Equation.3">
                      <p:embed/>
                    </p:oleObj>
                  </mc:Choice>
                  <mc:Fallback>
                    <p:oleObj name="Equation" r:id="rId11" imgW="177569" imgH="215619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2" y="2668"/>
                            <a:ext cx="194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71" name="Text Box 15"/>
              <p:cNvSpPr txBox="1">
                <a:spLocks noChangeArrowheads="1"/>
              </p:cNvSpPr>
              <p:nvPr/>
            </p:nvSpPr>
            <p:spPr bwMode="auto">
              <a:xfrm>
                <a:off x="3606" y="2750"/>
                <a:ext cx="923" cy="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lnSpc>
                    <a:spcPct val="110000"/>
                  </a:lnSpc>
                  <a:spcBef>
                    <a:spcPct val="0"/>
                  </a:spcBef>
                </a:pPr>
                <a:r>
                  <a:rPr kumimoji="1" lang="zh-CN" altLang="en-US" b="1">
                    <a:latin typeface="Times New Roman" pitchFamily="18" charset="0"/>
                    <a:ea typeface="宋体" pitchFamily="2" charset="-122"/>
                  </a:rPr>
                  <a:t>媒质</a:t>
                </a:r>
                <a:r>
                  <a:rPr kumimoji="1" lang="en-US" altLang="zh-CN" b="1">
                    <a:latin typeface="Times New Roman" pitchFamily="18" charset="0"/>
                    <a:ea typeface="宋体" pitchFamily="2" charset="-122"/>
                  </a:rPr>
                  <a:t>2</a:t>
                </a:r>
              </a:p>
            </p:txBody>
          </p:sp>
          <p:sp>
            <p:nvSpPr>
              <p:cNvPr id="14372" name="Text Box 16"/>
              <p:cNvSpPr txBox="1">
                <a:spLocks noChangeArrowheads="1"/>
              </p:cNvSpPr>
              <p:nvPr/>
            </p:nvSpPr>
            <p:spPr bwMode="auto">
              <a:xfrm>
                <a:off x="3606" y="2296"/>
                <a:ext cx="92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lnSpc>
                    <a:spcPct val="110000"/>
                  </a:lnSpc>
                  <a:spcBef>
                    <a:spcPct val="0"/>
                  </a:spcBef>
                </a:pPr>
                <a:r>
                  <a:rPr kumimoji="1" lang="zh-CN" altLang="en-US" b="1">
                    <a:latin typeface="Times New Roman" pitchFamily="18" charset="0"/>
                    <a:ea typeface="宋体" pitchFamily="2" charset="-122"/>
                  </a:rPr>
                  <a:t>媒质</a:t>
                </a:r>
                <a:r>
                  <a:rPr kumimoji="1" lang="en-US" altLang="zh-CN" b="1"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  <p:graphicFrame>
            <p:nvGraphicFramePr>
              <p:cNvPr id="14373" name="Object 17"/>
              <p:cNvGraphicFramePr>
                <a:graphicFrameLocks noChangeAspect="1"/>
              </p:cNvGraphicFramePr>
              <p:nvPr/>
            </p:nvGraphicFramePr>
            <p:xfrm>
              <a:off x="4195" y="2750"/>
              <a:ext cx="282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3" name="Equation" r:id="rId13" imgW="164885" imgH="215619" progId="Equation.3">
                      <p:embed/>
                    </p:oleObj>
                  </mc:Choice>
                  <mc:Fallback>
                    <p:oleObj name="Equation" r:id="rId13" imgW="164885" imgH="215619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5" y="2750"/>
                            <a:ext cx="282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4" name="Object 18"/>
              <p:cNvGraphicFramePr>
                <a:graphicFrameLocks noChangeAspect="1"/>
              </p:cNvGraphicFramePr>
              <p:nvPr/>
            </p:nvGraphicFramePr>
            <p:xfrm>
              <a:off x="4195" y="2296"/>
              <a:ext cx="261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4" name="Equation" r:id="rId15" imgW="152268" imgH="215713" progId="Equation.3">
                      <p:embed/>
                    </p:oleObj>
                  </mc:Choice>
                  <mc:Fallback>
                    <p:oleObj name="Equation" r:id="rId15" imgW="152268" imgH="215713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5" y="2296"/>
                            <a:ext cx="261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75" name="Oval 40"/>
              <p:cNvSpPr>
                <a:spLocks noChangeArrowheads="1"/>
              </p:cNvSpPr>
              <p:nvPr/>
            </p:nvSpPr>
            <p:spPr bwMode="auto">
              <a:xfrm>
                <a:off x="4804" y="2613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6" name="Oval 41"/>
              <p:cNvSpPr>
                <a:spLocks noChangeArrowheads="1"/>
              </p:cNvSpPr>
              <p:nvPr/>
            </p:nvSpPr>
            <p:spPr bwMode="auto">
              <a:xfrm>
                <a:off x="4801" y="2794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7" name="Line 42"/>
              <p:cNvSpPr>
                <a:spLocks noChangeShapeType="1"/>
              </p:cNvSpPr>
              <p:nvPr/>
            </p:nvSpPr>
            <p:spPr bwMode="auto">
              <a:xfrm>
                <a:off x="4886" y="2627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8" name="Line 43"/>
              <p:cNvSpPr>
                <a:spLocks noChangeShapeType="1"/>
              </p:cNvSpPr>
              <p:nvPr/>
            </p:nvSpPr>
            <p:spPr bwMode="auto">
              <a:xfrm>
                <a:off x="4886" y="281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9" name="Line 44"/>
              <p:cNvSpPr>
                <a:spLocks noChangeShapeType="1"/>
              </p:cNvSpPr>
              <p:nvPr/>
            </p:nvSpPr>
            <p:spPr bwMode="auto">
              <a:xfrm>
                <a:off x="4953" y="2635"/>
                <a:ext cx="0" cy="1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380" name="Object 45"/>
              <p:cNvGraphicFramePr>
                <a:graphicFrameLocks noChangeAspect="1"/>
              </p:cNvGraphicFramePr>
              <p:nvPr/>
            </p:nvGraphicFramePr>
            <p:xfrm>
              <a:off x="4980" y="2612"/>
              <a:ext cx="259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5" name="公式" r:id="rId17" imgW="190335" imgH="177646" progId="Equation.3">
                      <p:embed/>
                    </p:oleObj>
                  </mc:Choice>
                  <mc:Fallback>
                    <p:oleObj name="公式" r:id="rId17" imgW="190335" imgH="177646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0" y="2612"/>
                            <a:ext cx="259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81" name="Object 46"/>
              <p:cNvGraphicFramePr>
                <a:graphicFrameLocks noChangeAspect="1"/>
              </p:cNvGraphicFramePr>
              <p:nvPr/>
            </p:nvGraphicFramePr>
            <p:xfrm>
              <a:off x="4772" y="2795"/>
              <a:ext cx="20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6" name="公式" r:id="rId19" imgW="164885" imgH="215619" progId="Equation.3">
                      <p:embed/>
                    </p:oleObj>
                  </mc:Choice>
                  <mc:Fallback>
                    <p:oleObj name="公式" r:id="rId19" imgW="164885" imgH="215619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72" y="2795"/>
                            <a:ext cx="208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82" name="Object 47"/>
              <p:cNvGraphicFramePr>
                <a:graphicFrameLocks noChangeAspect="1"/>
              </p:cNvGraphicFramePr>
              <p:nvPr/>
            </p:nvGraphicFramePr>
            <p:xfrm>
              <a:off x="4758" y="2371"/>
              <a:ext cx="19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87" name="公式" r:id="rId21" imgW="152268" imgH="215713" progId="Equation.3">
                      <p:embed/>
                    </p:oleObj>
                  </mc:Choice>
                  <mc:Fallback>
                    <p:oleObj name="公式" r:id="rId21" imgW="152268" imgH="215713" progId="Equation.3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8" y="2371"/>
                            <a:ext cx="192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66" name="Rectangle 53"/>
            <p:cNvSpPr>
              <a:spLocks noChangeArrowheads="1"/>
            </p:cNvSpPr>
            <p:nvPr/>
          </p:nvSpPr>
          <p:spPr bwMode="auto">
            <a:xfrm>
              <a:off x="3652" y="1026"/>
              <a:ext cx="1950" cy="145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67"/>
          <p:cNvGrpSpPr>
            <a:grpSpLocks/>
          </p:cNvGrpSpPr>
          <p:nvPr/>
        </p:nvGrpSpPr>
        <p:grpSpPr bwMode="auto">
          <a:xfrm>
            <a:off x="34925" y="4956175"/>
            <a:ext cx="5602288" cy="538163"/>
            <a:chOff x="22" y="3122"/>
            <a:chExt cx="3529" cy="339"/>
          </a:xfrm>
        </p:grpSpPr>
        <p:sp>
          <p:nvSpPr>
            <p:cNvPr id="14363" name="Text Box 22"/>
            <p:cNvSpPr txBox="1">
              <a:spLocks noChangeArrowheads="1"/>
            </p:cNvSpPr>
            <p:nvPr/>
          </p:nvSpPr>
          <p:spPr bwMode="auto">
            <a:xfrm>
              <a:off x="22" y="3147"/>
              <a:ext cx="3447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zh-CN" b="1" dirty="0">
                  <a:solidFill>
                    <a:schemeClr val="bg1"/>
                  </a:solidFill>
                  <a:latin typeface="Verdana" pitchFamily="34" charset="0"/>
                </a:rPr>
                <a:t>  </a:t>
              </a:r>
              <a:r>
                <a:rPr lang="zh-CN" altLang="en-US" b="1" dirty="0">
                  <a:solidFill>
                    <a:schemeClr val="bg1"/>
                  </a:solidFill>
                  <a:latin typeface="Verdana" pitchFamily="34" charset="0"/>
                </a:rPr>
                <a:t>介质分界面上无自由电荷，即</a:t>
              </a:r>
            </a:p>
          </p:txBody>
        </p:sp>
        <p:graphicFrame>
          <p:nvGraphicFramePr>
            <p:cNvPr id="14364" name="Object 55"/>
            <p:cNvGraphicFramePr>
              <a:graphicFrameLocks noChangeAspect="1"/>
            </p:cNvGraphicFramePr>
            <p:nvPr/>
          </p:nvGraphicFramePr>
          <p:xfrm>
            <a:off x="2916" y="3122"/>
            <a:ext cx="63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8" name="公式" r:id="rId23" imgW="352573" imgH="133453" progId="Equation.3">
                    <p:embed/>
                  </p:oleObj>
                </mc:Choice>
                <mc:Fallback>
                  <p:oleObj name="公式" r:id="rId23" imgW="352573" imgH="133453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3122"/>
                          <a:ext cx="63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66"/>
          <p:cNvGrpSpPr>
            <a:grpSpLocks/>
          </p:cNvGrpSpPr>
          <p:nvPr/>
        </p:nvGrpSpPr>
        <p:grpSpPr bwMode="auto">
          <a:xfrm>
            <a:off x="5867400" y="4779963"/>
            <a:ext cx="2952750" cy="881062"/>
            <a:chOff x="3696" y="3011"/>
            <a:chExt cx="1860" cy="555"/>
          </a:xfrm>
        </p:grpSpPr>
        <p:sp>
          <p:nvSpPr>
            <p:cNvPr id="14361" name="AutoShape 57"/>
            <p:cNvSpPr>
              <a:spLocks noChangeArrowheads="1"/>
            </p:cNvSpPr>
            <p:nvPr/>
          </p:nvSpPr>
          <p:spPr bwMode="auto">
            <a:xfrm>
              <a:off x="3696" y="3238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  <p:graphicFrame>
          <p:nvGraphicFramePr>
            <p:cNvPr id="14362" name="Object 58"/>
            <p:cNvGraphicFramePr>
              <a:graphicFrameLocks noChangeAspect="1"/>
            </p:cNvGraphicFramePr>
            <p:nvPr/>
          </p:nvGraphicFramePr>
          <p:xfrm>
            <a:off x="4140" y="3011"/>
            <a:ext cx="1416" cy="5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9" name="公式" r:id="rId25" imgW="895314" imgH="295404" progId="Equation.3">
                    <p:embed/>
                  </p:oleObj>
                </mc:Choice>
                <mc:Fallback>
                  <p:oleObj name="公式" r:id="rId25" imgW="895314" imgH="295404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" y="3011"/>
                          <a:ext cx="1416" cy="5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1172146" y="4076700"/>
            <a:ext cx="3471862" cy="863600"/>
            <a:chOff x="521" y="2558"/>
            <a:chExt cx="2187" cy="544"/>
          </a:xfrm>
        </p:grpSpPr>
        <p:graphicFrame>
          <p:nvGraphicFramePr>
            <p:cNvPr id="14356" name="Object 8"/>
            <p:cNvGraphicFramePr>
              <a:graphicFrameLocks noChangeAspect="1"/>
            </p:cNvGraphicFramePr>
            <p:nvPr/>
          </p:nvGraphicFramePr>
          <p:xfrm>
            <a:off x="910" y="2558"/>
            <a:ext cx="1798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0" name="公式" r:id="rId27" imgW="1190629" imgH="295404" progId="Equation.3">
                    <p:embed/>
                  </p:oleObj>
                </mc:Choice>
                <mc:Fallback>
                  <p:oleObj name="公式" r:id="rId27" imgW="1190629" imgH="295404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0" y="2558"/>
                          <a:ext cx="1798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7" name="AutoShape 62"/>
            <p:cNvSpPr>
              <a:spLocks noChangeArrowheads="1"/>
            </p:cNvSpPr>
            <p:nvPr/>
          </p:nvSpPr>
          <p:spPr bwMode="auto">
            <a:xfrm>
              <a:off x="521" y="2795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grpSp>
        <p:nvGrpSpPr>
          <p:cNvPr id="9" name="Group 68"/>
          <p:cNvGrpSpPr>
            <a:grpSpLocks/>
          </p:cNvGrpSpPr>
          <p:nvPr/>
        </p:nvGrpSpPr>
        <p:grpSpPr bwMode="auto">
          <a:xfrm>
            <a:off x="1116013" y="2852738"/>
            <a:ext cx="1871662" cy="503237"/>
            <a:chOff x="703" y="1797"/>
            <a:chExt cx="1179" cy="317"/>
          </a:xfrm>
        </p:grpSpPr>
        <p:graphicFrame>
          <p:nvGraphicFramePr>
            <p:cNvPr id="14354" name="Object 60"/>
            <p:cNvGraphicFramePr>
              <a:graphicFrameLocks noChangeAspect="1"/>
            </p:cNvGraphicFramePr>
            <p:nvPr/>
          </p:nvGraphicFramePr>
          <p:xfrm>
            <a:off x="1111" y="1797"/>
            <a:ext cx="77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1" name="公式" r:id="rId29" imgW="371312" imgH="123722" progId="Equation.3">
                    <p:embed/>
                  </p:oleObj>
                </mc:Choice>
                <mc:Fallback>
                  <p:oleObj name="公式" r:id="rId29" imgW="371312" imgH="123722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1797"/>
                          <a:ext cx="77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5" name="AutoShape 63"/>
            <p:cNvSpPr>
              <a:spLocks noChangeArrowheads="1"/>
            </p:cNvSpPr>
            <p:nvPr/>
          </p:nvSpPr>
          <p:spPr bwMode="auto">
            <a:xfrm>
              <a:off x="703" y="1888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sp>
        <p:nvSpPr>
          <p:cNvPr id="14350" name="AutoShape 70">
            <a:hlinkClick r:id="rId3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1" name="AutoShape 7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2" name="AutoShape 7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53" name="AutoShape 7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2388" y="5643563"/>
            <a:ext cx="7832725" cy="881062"/>
            <a:chOff x="52388" y="5643563"/>
            <a:chExt cx="7832725" cy="881062"/>
          </a:xfrm>
        </p:grpSpPr>
        <p:grpSp>
          <p:nvGrpSpPr>
            <p:cNvPr id="7" name="Group 61"/>
            <p:cNvGrpSpPr>
              <a:grpSpLocks/>
            </p:cNvGrpSpPr>
            <p:nvPr/>
          </p:nvGrpSpPr>
          <p:grpSpPr bwMode="auto">
            <a:xfrm>
              <a:off x="4511675" y="5643563"/>
              <a:ext cx="3373438" cy="881062"/>
              <a:chOff x="2842" y="3555"/>
              <a:chExt cx="2125" cy="555"/>
            </a:xfrm>
          </p:grpSpPr>
          <p:sp>
            <p:nvSpPr>
              <p:cNvPr id="14358" name="Text Box 25"/>
              <p:cNvSpPr txBox="1">
                <a:spLocks noChangeArrowheads="1"/>
              </p:cNvSpPr>
              <p:nvPr/>
            </p:nvSpPr>
            <p:spPr bwMode="auto">
              <a:xfrm>
                <a:off x="3143" y="3631"/>
                <a:ext cx="1179" cy="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Verdana" pitchFamily="34" charset="0"/>
                  </a:rPr>
                  <a:t>常数，</a:t>
                </a:r>
              </a:p>
            </p:txBody>
          </p:sp>
          <p:graphicFrame>
            <p:nvGraphicFramePr>
              <p:cNvPr id="14359" name="Object 50"/>
              <p:cNvGraphicFramePr>
                <a:graphicFrameLocks noChangeAspect="1"/>
              </p:cNvGraphicFramePr>
              <p:nvPr/>
            </p:nvGraphicFramePr>
            <p:xfrm>
              <a:off x="2842" y="3768"/>
              <a:ext cx="392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92" name="公式" r:id="rId32" imgW="162059" imgH="66726" progId="Equation.3">
                      <p:embed/>
                    </p:oleObj>
                  </mc:Choice>
                  <mc:Fallback>
                    <p:oleObj name="公式" r:id="rId32" imgW="162059" imgH="66726" progId="Equation.3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2" y="3768"/>
                            <a:ext cx="392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0" name="Object 59"/>
              <p:cNvGraphicFramePr>
                <a:graphicFrameLocks noChangeAspect="1"/>
              </p:cNvGraphicFramePr>
              <p:nvPr/>
            </p:nvGraphicFramePr>
            <p:xfrm>
              <a:off x="3914" y="3555"/>
              <a:ext cx="1053" cy="5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93" name="Equation" r:id="rId34" imgW="638171" imgH="295404" progId="Equation.DSMT4">
                      <p:embed/>
                    </p:oleObj>
                  </mc:Choice>
                  <mc:Fallback>
                    <p:oleObj name="Equation" r:id="rId34" imgW="638171" imgH="295404" progId="Equation.DSMT4">
                      <p:embed/>
                      <p:pic>
                        <p:nvPicPr>
                          <p:cNvPr id="0" name="Object 5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14" y="3555"/>
                            <a:ext cx="1053" cy="5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99CC00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52388" y="5817332"/>
              <a:ext cx="5472113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1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zh-CN" b="1" dirty="0">
                  <a:solidFill>
                    <a:schemeClr val="bg1"/>
                  </a:solidFill>
                  <a:latin typeface="Verdana" pitchFamily="34" charset="0"/>
                </a:rPr>
                <a:t>  </a:t>
              </a:r>
              <a:r>
                <a:rPr lang="zh-CN" altLang="en-US" b="1" dirty="0" smtClean="0">
                  <a:solidFill>
                    <a:schemeClr val="bg1"/>
                  </a:solidFill>
                  <a:latin typeface="Verdana" pitchFamily="34" charset="0"/>
                </a:rPr>
                <a:t>导体表面上电位的边界条件：</a:t>
              </a:r>
              <a:endParaRPr lang="zh-CN" altLang="en-US" b="1" dirty="0">
                <a:solidFill>
                  <a:schemeClr val="bg1"/>
                </a:solidFill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83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8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58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2" grpId="0" build="p"/>
      <p:bldP spid="5836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D7C515-21BA-4B2C-84CD-09B25E24A8A3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grpSp>
        <p:nvGrpSpPr>
          <p:cNvPr id="2" name="Group 154"/>
          <p:cNvGrpSpPr>
            <a:grpSpLocks/>
          </p:cNvGrpSpPr>
          <p:nvPr/>
        </p:nvGrpSpPr>
        <p:grpSpPr bwMode="auto">
          <a:xfrm>
            <a:off x="95250" y="439738"/>
            <a:ext cx="8943975" cy="1531937"/>
            <a:chOff x="60" y="215"/>
            <a:chExt cx="5634" cy="965"/>
          </a:xfrm>
        </p:grpSpPr>
        <p:sp>
          <p:nvSpPr>
            <p:cNvPr id="15407" name="Rectangle 155"/>
            <p:cNvSpPr>
              <a:spLocks noChangeArrowheads="1"/>
            </p:cNvSpPr>
            <p:nvPr/>
          </p:nvSpPr>
          <p:spPr bwMode="auto">
            <a:xfrm>
              <a:off x="60" y="215"/>
              <a:ext cx="5634" cy="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【</a:t>
              </a:r>
              <a:r>
                <a:rPr lang="zh-CN" altLang="en-US" b="1">
                  <a:solidFill>
                    <a:srgbClr val="FFB953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例</a:t>
              </a:r>
              <a:r>
                <a:rPr lang="en-US" altLang="zh-CN" b="1">
                  <a:solidFill>
                    <a:srgbClr val="FFB953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】</a:t>
              </a: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两块无限大接地导体平板分别置于 </a:t>
              </a:r>
              <a:r>
                <a:rPr lang="en-US" altLang="zh-CN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x </a:t>
              </a: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 0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和 </a:t>
              </a:r>
              <a:r>
                <a:rPr lang="en-US" altLang="zh-CN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x </a:t>
              </a: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 </a:t>
              </a:r>
              <a:r>
                <a:rPr lang="en-US" altLang="zh-CN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a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处，在两板之间的 </a:t>
              </a:r>
              <a:r>
                <a:rPr lang="en-US" altLang="zh-CN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x </a:t>
              </a: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 </a:t>
              </a:r>
              <a:r>
                <a:rPr lang="en-US" altLang="zh-CN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b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处有一面密度为</a:t>
              </a:r>
              <a:r>
                <a:rPr lang="zh-CN" altLang="en-US" b="1" i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   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的均匀电荷分布，如图所示。求两导体平板之间的电位和电场。</a:t>
              </a:r>
              <a:endParaRPr lang="el-GR" altLang="zh-CN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endParaRPr>
            </a:p>
          </p:txBody>
        </p:sp>
        <p:graphicFrame>
          <p:nvGraphicFramePr>
            <p:cNvPr id="15408" name="Object 156"/>
            <p:cNvGraphicFramePr>
              <a:graphicFrameLocks noChangeAspect="1"/>
            </p:cNvGraphicFramePr>
            <p:nvPr/>
          </p:nvGraphicFramePr>
          <p:xfrm>
            <a:off x="2925" y="553"/>
            <a:ext cx="331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6" name="Equation" r:id="rId3" imgW="142973" imgH="133453" progId="Equation.DSMT4">
                    <p:embed/>
                  </p:oleObj>
                </mc:Choice>
                <mc:Fallback>
                  <p:oleObj name="Equation" r:id="rId3" imgW="142973" imgH="133453" progId="Equation.DSMT4">
                    <p:embed/>
                    <p:pic>
                      <p:nvPicPr>
                        <p:cNvPr id="0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553"/>
                          <a:ext cx="331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5821" name="Rectangle 157"/>
          <p:cNvSpPr>
            <a:spLocks noChangeArrowheads="1"/>
          </p:cNvSpPr>
          <p:nvPr/>
        </p:nvSpPr>
        <p:spPr bwMode="auto">
          <a:xfrm>
            <a:off x="60325" y="1939925"/>
            <a:ext cx="8964613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  </a:t>
            </a:r>
            <a:r>
              <a:rPr lang="zh-CN" altLang="en-US" b="1">
                <a:solidFill>
                  <a:srgbClr val="FFB953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解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在两块无限大接地导体平板之间，除 </a:t>
            </a:r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x 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= </a:t>
            </a:r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b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处有均匀面电荷分布外，其余空间均无电荷分布，故电位函数满足一维拉普拉斯方程</a:t>
            </a:r>
          </a:p>
        </p:txBody>
      </p:sp>
      <p:graphicFrame>
        <p:nvGraphicFramePr>
          <p:cNvPr id="625822" name="Object 158"/>
          <p:cNvGraphicFramePr>
            <a:graphicFrameLocks noChangeAspect="1"/>
          </p:cNvGraphicFramePr>
          <p:nvPr/>
        </p:nvGraphicFramePr>
        <p:xfrm>
          <a:off x="1258888" y="3357563"/>
          <a:ext cx="369728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Equation" r:id="rId5" imgW="1666741" imgH="323901" progId="Equation.DSMT4">
                  <p:embed/>
                </p:oleObj>
              </mc:Choice>
              <mc:Fallback>
                <p:oleObj name="Equation" r:id="rId5" imgW="1666741" imgH="323901" progId="Equation.DSMT4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7563"/>
                        <a:ext cx="369728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823" name="Object 159"/>
          <p:cNvGraphicFramePr>
            <a:graphicFrameLocks noChangeAspect="1"/>
          </p:cNvGraphicFramePr>
          <p:nvPr/>
        </p:nvGraphicFramePr>
        <p:xfrm>
          <a:off x="1258888" y="4368800"/>
          <a:ext cx="37687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Equation" r:id="rId7" imgW="1695544" imgH="323901" progId="Equation.DSMT4">
                  <p:embed/>
                </p:oleObj>
              </mc:Choice>
              <mc:Fallback>
                <p:oleObj name="Equation" r:id="rId7" imgW="1695544" imgH="323901" progId="Equation.DSMT4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368800"/>
                        <a:ext cx="376872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824" name="Object 160"/>
          <p:cNvGraphicFramePr>
            <a:graphicFrameLocks noChangeAspect="1"/>
          </p:cNvGraphicFramePr>
          <p:nvPr/>
        </p:nvGraphicFramePr>
        <p:xfrm>
          <a:off x="2017713" y="5327650"/>
          <a:ext cx="29146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9" name="Equation" r:id="rId9" imgW="961942" imgH="361783" progId="Equation.DSMT4">
                  <p:embed/>
                </p:oleObj>
              </mc:Choice>
              <mc:Fallback>
                <p:oleObj name="Equation" r:id="rId9" imgW="961942" imgH="361783" progId="Equation.DSMT4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3" y="5327650"/>
                        <a:ext cx="29146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825" name="Rectangle 161"/>
          <p:cNvSpPr>
            <a:spLocks noChangeArrowheads="1"/>
          </p:cNvSpPr>
          <p:nvPr/>
        </p:nvSpPr>
        <p:spPr bwMode="auto">
          <a:xfrm>
            <a:off x="88900" y="5375275"/>
            <a:ext cx="304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方程的解为</a:t>
            </a:r>
          </a:p>
        </p:txBody>
      </p:sp>
      <p:grpSp>
        <p:nvGrpSpPr>
          <p:cNvPr id="3" name="Group 162"/>
          <p:cNvGrpSpPr>
            <a:grpSpLocks/>
          </p:cNvGrpSpPr>
          <p:nvPr/>
        </p:nvGrpSpPr>
        <p:grpSpPr bwMode="auto">
          <a:xfrm>
            <a:off x="5580063" y="3382963"/>
            <a:ext cx="3132137" cy="2881312"/>
            <a:chOff x="3606" y="2069"/>
            <a:chExt cx="1973" cy="1815"/>
          </a:xfrm>
        </p:grpSpPr>
        <p:sp>
          <p:nvSpPr>
            <p:cNvPr id="15374" name="Rectangle 163"/>
            <p:cNvSpPr>
              <a:spLocks noChangeArrowheads="1"/>
            </p:cNvSpPr>
            <p:nvPr/>
          </p:nvSpPr>
          <p:spPr bwMode="auto">
            <a:xfrm>
              <a:off x="3606" y="2069"/>
              <a:ext cx="1973" cy="181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5" name="Line 164"/>
            <p:cNvSpPr>
              <a:spLocks noChangeShapeType="1"/>
            </p:cNvSpPr>
            <p:nvPr/>
          </p:nvSpPr>
          <p:spPr bwMode="auto">
            <a:xfrm>
              <a:off x="4536" y="2245"/>
              <a:ext cx="0" cy="1213"/>
            </a:xfrm>
            <a:prstGeom prst="line">
              <a:avLst/>
            </a:prstGeom>
            <a:noFill/>
            <a:ln w="25400">
              <a:solidFill>
                <a:srgbClr val="33CC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Line 165"/>
            <p:cNvSpPr>
              <a:spLocks noChangeShapeType="1"/>
            </p:cNvSpPr>
            <p:nvPr/>
          </p:nvSpPr>
          <p:spPr bwMode="auto">
            <a:xfrm>
              <a:off x="4122" y="2914"/>
              <a:ext cx="119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Text Box 166"/>
            <p:cNvSpPr txBox="1">
              <a:spLocks noChangeArrowheads="1"/>
            </p:cNvSpPr>
            <p:nvPr/>
          </p:nvSpPr>
          <p:spPr bwMode="auto">
            <a:xfrm>
              <a:off x="3956" y="2811"/>
              <a:ext cx="25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o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378" name="Text Box 167"/>
            <p:cNvSpPr txBox="1">
              <a:spLocks noChangeArrowheads="1"/>
            </p:cNvSpPr>
            <p:nvPr/>
          </p:nvSpPr>
          <p:spPr bwMode="auto">
            <a:xfrm>
              <a:off x="4506" y="2873"/>
              <a:ext cx="257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b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379" name="Text Box 168"/>
            <p:cNvSpPr txBox="1">
              <a:spLocks noChangeArrowheads="1"/>
            </p:cNvSpPr>
            <p:nvPr/>
          </p:nvSpPr>
          <p:spPr bwMode="auto">
            <a:xfrm>
              <a:off x="4964" y="2863"/>
              <a:ext cx="343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a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380" name="Line 169"/>
            <p:cNvSpPr>
              <a:spLocks noChangeShapeType="1"/>
            </p:cNvSpPr>
            <p:nvPr/>
          </p:nvSpPr>
          <p:spPr bwMode="auto">
            <a:xfrm flipV="1">
              <a:off x="4128" y="2175"/>
              <a:ext cx="0" cy="22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Text Box 170"/>
            <p:cNvSpPr txBox="1">
              <a:spLocks noChangeArrowheads="1"/>
            </p:cNvSpPr>
            <p:nvPr/>
          </p:nvSpPr>
          <p:spPr bwMode="auto">
            <a:xfrm>
              <a:off x="5257" y="2840"/>
              <a:ext cx="18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x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382" name="Text Box 171"/>
            <p:cNvSpPr txBox="1">
              <a:spLocks noChangeArrowheads="1"/>
            </p:cNvSpPr>
            <p:nvPr/>
          </p:nvSpPr>
          <p:spPr bwMode="auto">
            <a:xfrm>
              <a:off x="4106" y="2069"/>
              <a:ext cx="1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t" hangingPunct="1">
                <a:spcBef>
                  <a:spcPct val="0"/>
                </a:spcBef>
              </a:pPr>
              <a:r>
                <a:rPr lang="en-US" altLang="zh-CN" i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y</a:t>
              </a:r>
              <a:endParaRPr lang="en-US" altLang="zh-CN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383" name="Text Box 172"/>
            <p:cNvSpPr txBox="1">
              <a:spLocks noChangeArrowheads="1"/>
            </p:cNvSpPr>
            <p:nvPr/>
          </p:nvSpPr>
          <p:spPr bwMode="auto">
            <a:xfrm>
              <a:off x="3856" y="3521"/>
              <a:ext cx="163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zh-CN" altLang="en-US" sz="2000" b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两块无限大平行板</a:t>
              </a:r>
              <a:endParaRPr lang="zh-CN" altLang="en-US" sz="2000" b="1"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5384" name="Group 173"/>
            <p:cNvGrpSpPr>
              <a:grpSpLocks/>
            </p:cNvGrpSpPr>
            <p:nvPr/>
          </p:nvGrpSpPr>
          <p:grpSpPr bwMode="auto">
            <a:xfrm flipH="1">
              <a:off x="4978" y="2292"/>
              <a:ext cx="284" cy="1140"/>
              <a:chOff x="5400" y="12573"/>
              <a:chExt cx="777" cy="2808"/>
            </a:xfrm>
          </p:grpSpPr>
          <p:sp>
            <p:nvSpPr>
              <p:cNvPr id="15398" name="Line 174"/>
              <p:cNvSpPr>
                <a:spLocks noChangeShapeType="1"/>
              </p:cNvSpPr>
              <p:nvPr/>
            </p:nvSpPr>
            <p:spPr bwMode="auto">
              <a:xfrm>
                <a:off x="6135" y="12573"/>
                <a:ext cx="0" cy="2808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399" name="Group 175"/>
              <p:cNvGrpSpPr>
                <a:grpSpLocks/>
              </p:cNvGrpSpPr>
              <p:nvPr/>
            </p:nvGrpSpPr>
            <p:grpSpPr bwMode="auto">
              <a:xfrm flipH="1">
                <a:off x="5400" y="14742"/>
                <a:ext cx="777" cy="468"/>
                <a:chOff x="6063" y="4848"/>
                <a:chExt cx="777" cy="468"/>
              </a:xfrm>
            </p:grpSpPr>
            <p:sp>
              <p:nvSpPr>
                <p:cNvPr id="15400" name="Line 176"/>
                <p:cNvSpPr>
                  <a:spLocks noChangeShapeType="1"/>
                </p:cNvSpPr>
                <p:nvPr/>
              </p:nvSpPr>
              <p:spPr bwMode="auto">
                <a:xfrm>
                  <a:off x="6120" y="4872"/>
                  <a:ext cx="540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1" name="Line 177"/>
                <p:cNvSpPr>
                  <a:spLocks noChangeShapeType="1"/>
                </p:cNvSpPr>
                <p:nvPr/>
              </p:nvSpPr>
              <p:spPr bwMode="auto">
                <a:xfrm>
                  <a:off x="6660" y="4872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2" name="Line 178"/>
                <p:cNvSpPr>
                  <a:spLocks noChangeShapeType="1"/>
                </p:cNvSpPr>
                <p:nvPr/>
              </p:nvSpPr>
              <p:spPr bwMode="auto">
                <a:xfrm>
                  <a:off x="6480" y="518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3" name="Line 179"/>
                <p:cNvSpPr>
                  <a:spLocks noChangeShapeType="1"/>
                </p:cNvSpPr>
                <p:nvPr/>
              </p:nvSpPr>
              <p:spPr bwMode="auto">
                <a:xfrm>
                  <a:off x="6540" y="5229"/>
                  <a:ext cx="249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4" name="Line 180"/>
                <p:cNvSpPr>
                  <a:spLocks noChangeShapeType="1"/>
                </p:cNvSpPr>
                <p:nvPr/>
              </p:nvSpPr>
              <p:spPr bwMode="auto">
                <a:xfrm>
                  <a:off x="6600" y="5280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5" name="Line 181"/>
                <p:cNvSpPr>
                  <a:spLocks noChangeShapeType="1"/>
                </p:cNvSpPr>
                <p:nvPr/>
              </p:nvSpPr>
              <p:spPr bwMode="auto">
                <a:xfrm>
                  <a:off x="6660" y="5316"/>
                  <a:ext cx="23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406" name="Oval 182"/>
                <p:cNvSpPr>
                  <a:spLocks noChangeArrowheads="1"/>
                </p:cNvSpPr>
                <p:nvPr/>
              </p:nvSpPr>
              <p:spPr bwMode="auto">
                <a:xfrm>
                  <a:off x="6063" y="4848"/>
                  <a:ext cx="102" cy="102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  <p:graphicFrame>
          <p:nvGraphicFramePr>
            <p:cNvPr id="15385" name="Object 183"/>
            <p:cNvGraphicFramePr>
              <a:graphicFrameLocks noChangeAspect="1"/>
            </p:cNvGraphicFramePr>
            <p:nvPr/>
          </p:nvGraphicFramePr>
          <p:xfrm>
            <a:off x="4516" y="2209"/>
            <a:ext cx="29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90" name="Equation" r:id="rId11" imgW="241300" imgH="228600" progId="Equation.DSMT4">
                    <p:embed/>
                  </p:oleObj>
                </mc:Choice>
                <mc:Fallback>
                  <p:oleObj name="Equation" r:id="rId11" imgW="241300" imgH="228600" progId="Equation.DSMT4">
                    <p:embed/>
                    <p:pic>
                      <p:nvPicPr>
                        <p:cNvPr id="0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2209"/>
                          <a:ext cx="292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6" name="Object 184"/>
            <p:cNvGraphicFramePr>
              <a:graphicFrameLocks noChangeAspect="1"/>
            </p:cNvGraphicFramePr>
            <p:nvPr/>
          </p:nvGraphicFramePr>
          <p:xfrm>
            <a:off x="4127" y="2568"/>
            <a:ext cx="40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91" name="Equation" r:id="rId13" imgW="368300" imgH="228600" progId="Equation.DSMT4">
                    <p:embed/>
                  </p:oleObj>
                </mc:Choice>
                <mc:Fallback>
                  <p:oleObj name="Equation" r:id="rId13" imgW="368300" imgH="228600" progId="Equation.DSMT4">
                    <p:embed/>
                    <p:pic>
                      <p:nvPicPr>
                        <p:cNvPr id="0" name="Object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7" y="2568"/>
                          <a:ext cx="40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7" name="Object 185"/>
            <p:cNvGraphicFramePr>
              <a:graphicFrameLocks noChangeAspect="1"/>
            </p:cNvGraphicFramePr>
            <p:nvPr/>
          </p:nvGraphicFramePr>
          <p:xfrm>
            <a:off x="4565" y="2568"/>
            <a:ext cx="409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92" name="Equation" r:id="rId15" imgW="381000" imgH="228600" progId="Equation.DSMT4">
                    <p:embed/>
                  </p:oleObj>
                </mc:Choice>
                <mc:Fallback>
                  <p:oleObj name="Equation" r:id="rId15" imgW="381000" imgH="228600" progId="Equation.DSMT4">
                    <p:embed/>
                    <p:pic>
                      <p:nvPicPr>
                        <p:cNvPr id="0" name="Object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5" y="2568"/>
                          <a:ext cx="409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88" name="Group 186"/>
            <p:cNvGrpSpPr>
              <a:grpSpLocks/>
            </p:cNvGrpSpPr>
            <p:nvPr/>
          </p:nvGrpSpPr>
          <p:grpSpPr bwMode="auto">
            <a:xfrm>
              <a:off x="3856" y="2292"/>
              <a:ext cx="284" cy="1140"/>
              <a:chOff x="5400" y="12573"/>
              <a:chExt cx="777" cy="2808"/>
            </a:xfrm>
          </p:grpSpPr>
          <p:sp>
            <p:nvSpPr>
              <p:cNvPr id="15389" name="Line 187"/>
              <p:cNvSpPr>
                <a:spLocks noChangeShapeType="1"/>
              </p:cNvSpPr>
              <p:nvPr/>
            </p:nvSpPr>
            <p:spPr bwMode="auto">
              <a:xfrm>
                <a:off x="6135" y="12573"/>
                <a:ext cx="0" cy="2808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390" name="Group 188"/>
              <p:cNvGrpSpPr>
                <a:grpSpLocks/>
              </p:cNvGrpSpPr>
              <p:nvPr/>
            </p:nvGrpSpPr>
            <p:grpSpPr bwMode="auto">
              <a:xfrm flipH="1">
                <a:off x="5400" y="14742"/>
                <a:ext cx="777" cy="468"/>
                <a:chOff x="6063" y="4848"/>
                <a:chExt cx="777" cy="468"/>
              </a:xfrm>
            </p:grpSpPr>
            <p:sp>
              <p:nvSpPr>
                <p:cNvPr id="15391" name="Line 189"/>
                <p:cNvSpPr>
                  <a:spLocks noChangeShapeType="1"/>
                </p:cNvSpPr>
                <p:nvPr/>
              </p:nvSpPr>
              <p:spPr bwMode="auto">
                <a:xfrm>
                  <a:off x="6120" y="4872"/>
                  <a:ext cx="540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2" name="Line 190"/>
                <p:cNvSpPr>
                  <a:spLocks noChangeShapeType="1"/>
                </p:cNvSpPr>
                <p:nvPr/>
              </p:nvSpPr>
              <p:spPr bwMode="auto">
                <a:xfrm>
                  <a:off x="6660" y="4872"/>
                  <a:ext cx="0" cy="312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3" name="Line 191"/>
                <p:cNvSpPr>
                  <a:spLocks noChangeShapeType="1"/>
                </p:cNvSpPr>
                <p:nvPr/>
              </p:nvSpPr>
              <p:spPr bwMode="auto">
                <a:xfrm>
                  <a:off x="6480" y="5184"/>
                  <a:ext cx="360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4" name="Line 192"/>
                <p:cNvSpPr>
                  <a:spLocks noChangeShapeType="1"/>
                </p:cNvSpPr>
                <p:nvPr/>
              </p:nvSpPr>
              <p:spPr bwMode="auto">
                <a:xfrm>
                  <a:off x="6540" y="5229"/>
                  <a:ext cx="249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5" name="Line 193"/>
                <p:cNvSpPr>
                  <a:spLocks noChangeShapeType="1"/>
                </p:cNvSpPr>
                <p:nvPr/>
              </p:nvSpPr>
              <p:spPr bwMode="auto">
                <a:xfrm>
                  <a:off x="6600" y="5280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6" name="Line 194"/>
                <p:cNvSpPr>
                  <a:spLocks noChangeShapeType="1"/>
                </p:cNvSpPr>
                <p:nvPr/>
              </p:nvSpPr>
              <p:spPr bwMode="auto">
                <a:xfrm>
                  <a:off x="6660" y="5316"/>
                  <a:ext cx="23" cy="0"/>
                </a:xfrm>
                <a:prstGeom prst="line">
                  <a:avLst/>
                </a:prstGeom>
                <a:noFill/>
                <a:ln w="952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397" name="Oval 195"/>
                <p:cNvSpPr>
                  <a:spLocks noChangeArrowheads="1"/>
                </p:cNvSpPr>
                <p:nvPr/>
              </p:nvSpPr>
              <p:spPr bwMode="auto">
                <a:xfrm>
                  <a:off x="6063" y="4848"/>
                  <a:ext cx="102" cy="102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5pPr>
                  <a:lvl6pPr marL="25146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6pPr>
                  <a:lvl7pPr marL="29718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7pPr>
                  <a:lvl8pPr marL="34290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8pPr>
                  <a:lvl9pPr marL="3886200" indent="-228600" algn="ctr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sp>
        <p:nvSpPr>
          <p:cNvPr id="15370" name="AutoShape 196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1" name="AutoShape 1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2" name="AutoShape 1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3" name="AutoShape 19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62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25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2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2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625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821" grpId="0"/>
      <p:bldP spid="6258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FCAF31C-2D71-4723-B252-67D30B343C11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626756" name="Object 68"/>
          <p:cNvGraphicFramePr>
            <a:graphicFrameLocks noChangeAspect="1"/>
          </p:cNvGraphicFramePr>
          <p:nvPr/>
        </p:nvGraphicFramePr>
        <p:xfrm>
          <a:off x="5580063" y="765175"/>
          <a:ext cx="3382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Equation" r:id="rId3" imgW="1581027" imgH="333285" progId="Equation.DSMT4">
                  <p:embed/>
                </p:oleObj>
              </mc:Choice>
              <mc:Fallback>
                <p:oleObj name="Equation" r:id="rId3" imgW="1581027" imgH="333285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765175"/>
                        <a:ext cx="33829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755" name="Object 67"/>
          <p:cNvGraphicFramePr>
            <a:graphicFrameLocks noChangeAspect="1"/>
          </p:cNvGraphicFramePr>
          <p:nvPr/>
        </p:nvGraphicFramePr>
        <p:xfrm>
          <a:off x="5651500" y="1700213"/>
          <a:ext cx="32210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0" name="Equation" r:id="rId5" imgW="1505030" imgH="333285" progId="Equation.DSMT4">
                  <p:embed/>
                </p:oleObj>
              </mc:Choice>
              <mc:Fallback>
                <p:oleObj name="Equation" r:id="rId5" imgW="1505030" imgH="333285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700213"/>
                        <a:ext cx="32210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6771" name="Rectangle 83"/>
          <p:cNvSpPr>
            <a:spLocks noChangeArrowheads="1"/>
          </p:cNvSpPr>
          <p:nvPr/>
        </p:nvSpPr>
        <p:spPr bwMode="auto">
          <a:xfrm>
            <a:off x="107950" y="549275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</a:rPr>
              <a:t>利用</a:t>
            </a:r>
            <a:r>
              <a:rPr lang="zh-CN" altLang="en-US" b="1">
                <a:solidFill>
                  <a:srgbClr val="FF0000"/>
                </a:solidFill>
              </a:rPr>
              <a:t>边界条件</a:t>
            </a:r>
            <a:r>
              <a:rPr lang="zh-CN" altLang="en-US" b="1">
                <a:solidFill>
                  <a:schemeClr val="bg1"/>
                </a:solidFill>
              </a:rPr>
              <a:t>，有</a:t>
            </a:r>
          </a:p>
        </p:txBody>
      </p:sp>
      <p:grpSp>
        <p:nvGrpSpPr>
          <p:cNvPr id="2" name="Group 94"/>
          <p:cNvGrpSpPr>
            <a:grpSpLocks/>
          </p:cNvGrpSpPr>
          <p:nvPr/>
        </p:nvGrpSpPr>
        <p:grpSpPr bwMode="auto">
          <a:xfrm>
            <a:off x="69850" y="2205038"/>
            <a:ext cx="4357688" cy="1600200"/>
            <a:chOff x="113" y="1360"/>
            <a:chExt cx="2745" cy="1008"/>
          </a:xfrm>
        </p:grpSpPr>
        <p:graphicFrame>
          <p:nvGraphicFramePr>
            <p:cNvPr id="16412" name="Object 77"/>
            <p:cNvGraphicFramePr>
              <a:graphicFrameLocks noChangeAspect="1"/>
            </p:cNvGraphicFramePr>
            <p:nvPr/>
          </p:nvGraphicFramePr>
          <p:xfrm>
            <a:off x="274" y="1387"/>
            <a:ext cx="50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1" name="Equation" r:id="rId7" imgW="257142" imgH="85841" progId="Equation.DSMT4">
                    <p:embed/>
                  </p:oleObj>
                </mc:Choice>
                <mc:Fallback>
                  <p:oleObj name="Equation" r:id="rId7" imgW="257142" imgH="85841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1387"/>
                          <a:ext cx="508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3" name="Object 79"/>
            <p:cNvGraphicFramePr>
              <a:graphicFrameLocks noChangeAspect="1"/>
            </p:cNvGraphicFramePr>
            <p:nvPr/>
          </p:nvGraphicFramePr>
          <p:xfrm>
            <a:off x="1080" y="1360"/>
            <a:ext cx="1270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2" name="Equation" r:id="rId9" imgW="781144" imgH="133453" progId="Equation.DSMT4">
                    <p:embed/>
                  </p:oleObj>
                </mc:Choice>
                <mc:Fallback>
                  <p:oleObj name="Equation" r:id="rId9" imgW="781144" imgH="133453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1360"/>
                          <a:ext cx="1270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4" name="Object 80"/>
            <p:cNvGraphicFramePr>
              <a:graphicFrameLocks noChangeAspect="1"/>
            </p:cNvGraphicFramePr>
            <p:nvPr/>
          </p:nvGraphicFramePr>
          <p:xfrm>
            <a:off x="559" y="1748"/>
            <a:ext cx="2299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3" name="Equation" r:id="rId11" imgW="1857256" imgH="371514" progId="Equation.DSMT4">
                    <p:embed/>
                  </p:oleObj>
                </mc:Choice>
                <mc:Fallback>
                  <p:oleObj name="Equation" r:id="rId11" imgW="1857256" imgH="371514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" y="1748"/>
                          <a:ext cx="2299" cy="6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Rectangle 86"/>
            <p:cNvSpPr>
              <a:spLocks noChangeArrowheads="1"/>
            </p:cNvSpPr>
            <p:nvPr/>
          </p:nvSpPr>
          <p:spPr bwMode="auto">
            <a:xfrm>
              <a:off x="113" y="1374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           </a:t>
              </a:r>
              <a:r>
                <a:rPr lang="zh-CN" altLang="en-US" b="1">
                  <a:solidFill>
                    <a:schemeClr val="bg1"/>
                  </a:solidFill>
                </a:rPr>
                <a:t>处，</a:t>
              </a:r>
            </a:p>
          </p:txBody>
        </p:sp>
      </p:grpSp>
      <p:grpSp>
        <p:nvGrpSpPr>
          <p:cNvPr id="3" name="Group 92"/>
          <p:cNvGrpSpPr>
            <a:grpSpLocks/>
          </p:cNvGrpSpPr>
          <p:nvPr/>
        </p:nvGrpSpPr>
        <p:grpSpPr bwMode="auto">
          <a:xfrm>
            <a:off x="34925" y="1022350"/>
            <a:ext cx="3024188" cy="522288"/>
            <a:chOff x="68" y="644"/>
            <a:chExt cx="1905" cy="329"/>
          </a:xfrm>
        </p:grpSpPr>
        <p:graphicFrame>
          <p:nvGraphicFramePr>
            <p:cNvPr id="16409" name="Object 73"/>
            <p:cNvGraphicFramePr>
              <a:graphicFrameLocks noChangeAspect="1"/>
            </p:cNvGraphicFramePr>
            <p:nvPr/>
          </p:nvGraphicFramePr>
          <p:xfrm>
            <a:off x="272" y="688"/>
            <a:ext cx="47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4" name="Equation" r:id="rId13" imgW="257142" imgH="85841" progId="Equation.DSMT4">
                    <p:embed/>
                  </p:oleObj>
                </mc:Choice>
                <mc:Fallback>
                  <p:oleObj name="Equation" r:id="rId13" imgW="257142" imgH="85841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688"/>
                          <a:ext cx="475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0" name="Rectangle 85"/>
            <p:cNvSpPr>
              <a:spLocks noChangeArrowheads="1"/>
            </p:cNvSpPr>
            <p:nvPr/>
          </p:nvSpPr>
          <p:spPr bwMode="auto">
            <a:xfrm>
              <a:off x="68" y="663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            </a:t>
              </a:r>
              <a:r>
                <a:rPr lang="zh-CN" altLang="en-US" b="1">
                  <a:solidFill>
                    <a:schemeClr val="bg1"/>
                  </a:solidFill>
                </a:rPr>
                <a:t>处，</a:t>
              </a:r>
            </a:p>
          </p:txBody>
        </p:sp>
        <p:graphicFrame>
          <p:nvGraphicFramePr>
            <p:cNvPr id="16411" name="Object 88"/>
            <p:cNvGraphicFramePr>
              <a:graphicFrameLocks noChangeAspect="1"/>
            </p:cNvGraphicFramePr>
            <p:nvPr/>
          </p:nvGraphicFramePr>
          <p:xfrm>
            <a:off x="1052" y="644"/>
            <a:ext cx="836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5" name="Equation" r:id="rId15" imgW="485829" imgH="133453" progId="Equation.DSMT4">
                    <p:embed/>
                  </p:oleObj>
                </mc:Choice>
                <mc:Fallback>
                  <p:oleObj name="Equation" r:id="rId15" imgW="485829" imgH="133453" progId="Equation.DSMT4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" y="644"/>
                          <a:ext cx="836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3"/>
          <p:cNvGrpSpPr>
            <a:grpSpLocks/>
          </p:cNvGrpSpPr>
          <p:nvPr/>
        </p:nvGrpSpPr>
        <p:grpSpPr bwMode="auto">
          <a:xfrm>
            <a:off x="34925" y="1585913"/>
            <a:ext cx="3024188" cy="522287"/>
            <a:chOff x="68" y="999"/>
            <a:chExt cx="1905" cy="329"/>
          </a:xfrm>
        </p:grpSpPr>
        <p:graphicFrame>
          <p:nvGraphicFramePr>
            <p:cNvPr id="16406" name="Object 74"/>
            <p:cNvGraphicFramePr>
              <a:graphicFrameLocks noChangeAspect="1"/>
            </p:cNvGraphicFramePr>
            <p:nvPr/>
          </p:nvGraphicFramePr>
          <p:xfrm>
            <a:off x="279" y="1073"/>
            <a:ext cx="45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6" name="Equation" r:id="rId17" imgW="257142" imgH="47612" progId="Equation.DSMT4">
                    <p:embed/>
                  </p:oleObj>
                </mc:Choice>
                <mc:Fallback>
                  <p:oleObj name="Equation" r:id="rId17" imgW="257142" imgH="47612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" y="1073"/>
                          <a:ext cx="45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7" name="Object 76"/>
            <p:cNvGraphicFramePr>
              <a:graphicFrameLocks noChangeAspect="1"/>
            </p:cNvGraphicFramePr>
            <p:nvPr/>
          </p:nvGraphicFramePr>
          <p:xfrm>
            <a:off x="1068" y="999"/>
            <a:ext cx="871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7" name="Equation" r:id="rId19" imgW="514285" imgH="133453" progId="Equation.DSMT4">
                    <p:embed/>
                  </p:oleObj>
                </mc:Choice>
                <mc:Fallback>
                  <p:oleObj name="Equation" r:id="rId19" imgW="514285" imgH="133453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999"/>
                          <a:ext cx="871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8" name="Rectangle 89"/>
            <p:cNvSpPr>
              <a:spLocks noChangeArrowheads="1"/>
            </p:cNvSpPr>
            <p:nvPr/>
          </p:nvSpPr>
          <p:spPr bwMode="auto">
            <a:xfrm>
              <a:off x="68" y="1026"/>
              <a:ext cx="19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</a:rPr>
                <a:t>            </a:t>
              </a:r>
              <a:r>
                <a:rPr lang="zh-CN" altLang="en-US" b="1">
                  <a:solidFill>
                    <a:schemeClr val="bg1"/>
                  </a:solidFill>
                </a:rPr>
                <a:t>处，</a:t>
              </a:r>
            </a:p>
          </p:txBody>
        </p:sp>
      </p:grpSp>
      <p:sp>
        <p:nvSpPr>
          <p:cNvPr id="626783" name="Rectangle 95"/>
          <p:cNvSpPr>
            <a:spLocks noChangeArrowheads="1"/>
          </p:cNvSpPr>
          <p:nvPr/>
        </p:nvSpPr>
        <p:spPr bwMode="auto">
          <a:xfrm>
            <a:off x="4427538" y="476250"/>
            <a:ext cx="230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由此解得</a:t>
            </a:r>
          </a:p>
        </p:txBody>
      </p:sp>
      <p:sp>
        <p:nvSpPr>
          <p:cNvPr id="16394" name="AutoShape 96">
            <a:hlinkClick r:id="rId2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5" name="AutoShape 9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6" name="AutoShape 9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7" name="AutoShape 9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组合 2"/>
          <p:cNvGrpSpPr>
            <a:grpSpLocks/>
          </p:cNvGrpSpPr>
          <p:nvPr/>
        </p:nvGrpSpPr>
        <p:grpSpPr bwMode="auto">
          <a:xfrm>
            <a:off x="4572000" y="2852738"/>
            <a:ext cx="4572000" cy="3673475"/>
            <a:chOff x="4572000" y="2852738"/>
            <a:chExt cx="4572000" cy="3673475"/>
          </a:xfrm>
        </p:grpSpPr>
        <p:graphicFrame>
          <p:nvGraphicFramePr>
            <p:cNvPr id="16402" name="Object 66"/>
            <p:cNvGraphicFramePr>
              <a:graphicFrameLocks noChangeAspect="1"/>
            </p:cNvGraphicFramePr>
            <p:nvPr/>
          </p:nvGraphicFramePr>
          <p:xfrm>
            <a:off x="4643438" y="2900363"/>
            <a:ext cx="4178300" cy="175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8" name="Equation" r:id="rId22" imgW="2028684" imgH="790639" progId="Equation.DSMT4">
                    <p:embed/>
                  </p:oleObj>
                </mc:Choice>
                <mc:Fallback>
                  <p:oleObj name="Equation" r:id="rId22" imgW="2028684" imgH="790639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3438" y="2900363"/>
                          <a:ext cx="4178300" cy="175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65"/>
            <p:cNvGraphicFramePr>
              <a:graphicFrameLocks noChangeAspect="1"/>
            </p:cNvGraphicFramePr>
            <p:nvPr/>
          </p:nvGraphicFramePr>
          <p:xfrm>
            <a:off x="4675188" y="4654550"/>
            <a:ext cx="4289425" cy="935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69" name="Equation" r:id="rId24" imgW="1971773" imgH="333285" progId="Equation.DSMT4">
                    <p:embed/>
                  </p:oleObj>
                </mc:Choice>
                <mc:Fallback>
                  <p:oleObj name="Equation" r:id="rId24" imgW="1971773" imgH="333285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5188" y="4654550"/>
                          <a:ext cx="4289425" cy="935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91"/>
            <p:cNvGraphicFramePr>
              <a:graphicFrameLocks noChangeAspect="1"/>
            </p:cNvGraphicFramePr>
            <p:nvPr/>
          </p:nvGraphicFramePr>
          <p:xfrm>
            <a:off x="4716463" y="5589588"/>
            <a:ext cx="3476625" cy="936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0" name="Equation" r:id="rId26" imgW="1581027" imgH="333285" progId="Equation.DSMT4">
                    <p:embed/>
                  </p:oleObj>
                </mc:Choice>
                <mc:Fallback>
                  <p:oleObj name="Equation" r:id="rId26" imgW="1581027" imgH="333285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463" y="5589588"/>
                          <a:ext cx="3476625" cy="936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5" name="Rectangle 101"/>
            <p:cNvSpPr>
              <a:spLocks noChangeArrowheads="1"/>
            </p:cNvSpPr>
            <p:nvPr/>
          </p:nvSpPr>
          <p:spPr bwMode="auto">
            <a:xfrm>
              <a:off x="4572000" y="2852738"/>
              <a:ext cx="4572000" cy="3673475"/>
            </a:xfrm>
            <a:prstGeom prst="rect">
              <a:avLst/>
            </a:prstGeom>
            <a:noFill/>
            <a:ln w="41275" algn="ctr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组合 1"/>
          <p:cNvGrpSpPr>
            <a:grpSpLocks/>
          </p:cNvGrpSpPr>
          <p:nvPr/>
        </p:nvGrpSpPr>
        <p:grpSpPr bwMode="auto">
          <a:xfrm>
            <a:off x="539750" y="4076700"/>
            <a:ext cx="3013075" cy="2446338"/>
            <a:chOff x="539750" y="4076700"/>
            <a:chExt cx="3013075" cy="2446338"/>
          </a:xfrm>
        </p:grpSpPr>
        <p:graphicFrame>
          <p:nvGraphicFramePr>
            <p:cNvPr id="16400" name="Object 82"/>
            <p:cNvGraphicFramePr>
              <a:graphicFrameLocks noChangeAspect="1"/>
            </p:cNvGraphicFramePr>
            <p:nvPr/>
          </p:nvGraphicFramePr>
          <p:xfrm>
            <a:off x="900113" y="4076700"/>
            <a:ext cx="2652712" cy="2446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71" name="Equation" r:id="rId28" imgW="1133370" imgH="1047814" progId="Equation.DSMT4">
                    <p:embed/>
                  </p:oleObj>
                </mc:Choice>
                <mc:Fallback>
                  <p:oleObj name="Equation" r:id="rId28" imgW="1133370" imgH="1047814" progId="Equation.DSMT4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3" y="4076700"/>
                          <a:ext cx="2652712" cy="2446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1" name="AutoShape 102"/>
            <p:cNvSpPr>
              <a:spLocks/>
            </p:cNvSpPr>
            <p:nvPr/>
          </p:nvSpPr>
          <p:spPr bwMode="auto">
            <a:xfrm>
              <a:off x="539750" y="4076700"/>
              <a:ext cx="287338" cy="2420938"/>
            </a:xfrm>
            <a:prstGeom prst="leftBrace">
              <a:avLst>
                <a:gd name="adj1" fmla="val 70212"/>
                <a:gd name="adj2" fmla="val 50000"/>
              </a:avLst>
            </a:pr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2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2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62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71" grpId="0"/>
      <p:bldP spid="6267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341FD8-C0FC-4AA6-8B7B-19345EDA7D24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30435" name="Rectangle 1027"/>
          <p:cNvSpPr>
            <a:spLocks noChangeArrowheads="1"/>
          </p:cNvSpPr>
          <p:nvPr/>
        </p:nvSpPr>
        <p:spPr bwMode="auto">
          <a:xfrm>
            <a:off x="250825" y="1271588"/>
            <a:ext cx="86423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电容器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广泛应用于电子设备的电路中：</a:t>
            </a:r>
          </a:p>
        </p:txBody>
      </p:sp>
      <p:sp>
        <p:nvSpPr>
          <p:cNvPr id="4157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695325"/>
            <a:ext cx="338455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1" lang="en-US" altLang="zh-CN" sz="2400" smtClean="0">
                <a:latin typeface="Times New Roman" pitchFamily="18" charset="0"/>
                <a:ea typeface="幼圆" pitchFamily="49" charset="-122"/>
              </a:rPr>
              <a:t> </a:t>
            </a:r>
            <a:r>
              <a:rPr kumimoji="1"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3.1.3  </a:t>
            </a:r>
            <a:r>
              <a:rPr kumimoji="1" lang="zh-CN" altLang="en-US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导体系统的电容</a:t>
            </a:r>
            <a:endParaRPr kumimoji="1" lang="zh-CN" altLang="en-US" sz="2400" b="1" smtClean="0">
              <a:latin typeface="Times New Roman" pitchFamily="18" charset="0"/>
              <a:ea typeface="幼圆" pitchFamily="49" charset="-122"/>
            </a:endParaRPr>
          </a:p>
        </p:txBody>
      </p:sp>
      <p:sp>
        <p:nvSpPr>
          <p:cNvPr id="17413" name="AutoShape 1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4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5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16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5763" name="Rectangle 19"/>
          <p:cNvSpPr>
            <a:spLocks noChangeArrowheads="1"/>
          </p:cNvSpPr>
          <p:nvPr/>
        </p:nvSpPr>
        <p:spPr bwMode="auto">
          <a:xfrm>
            <a:off x="293688" y="2027238"/>
            <a:ext cx="86423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在电子电路中，利用电容器来实现滤波、移相、隔直、旁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  路、选频等作用。</a:t>
            </a:r>
          </a:p>
        </p:txBody>
      </p:sp>
      <p:sp>
        <p:nvSpPr>
          <p:cNvPr id="415764" name="Rectangle 20"/>
          <p:cNvSpPr>
            <a:spLocks noChangeArrowheads="1"/>
          </p:cNvSpPr>
          <p:nvPr/>
        </p:nvSpPr>
        <p:spPr bwMode="auto">
          <a:xfrm>
            <a:off x="265113" y="3178175"/>
            <a:ext cx="86423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通过电容、电感、电阻的排布，可组合成各种功能的复杂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 电路。</a:t>
            </a:r>
          </a:p>
        </p:txBody>
      </p:sp>
      <p:sp>
        <p:nvSpPr>
          <p:cNvPr id="415765" name="Rectangle 21"/>
          <p:cNvSpPr>
            <a:spLocks noChangeArrowheads="1"/>
          </p:cNvSpPr>
          <p:nvPr/>
        </p:nvSpPr>
        <p:spPr bwMode="auto">
          <a:xfrm>
            <a:off x="322263" y="4259263"/>
            <a:ext cx="86423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  <a:buFontTx/>
              <a:buChar char="•"/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在电力系统中，可利用电容器来改善系统的功率因数，以</a:t>
            </a:r>
          </a:p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 减少电能的损失和提高电气设备的利用率。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3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1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1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/>
      <p:bldP spid="415758" grpId="0"/>
      <p:bldP spid="415763" grpId="0"/>
      <p:bldP spid="415764" grpId="0"/>
      <p:bldP spid="4157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1781DD-9907-4E15-8002-E32CEB5EF66A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531460" name="Rectangle 1028"/>
          <p:cNvSpPr>
            <a:spLocks noChangeArrowheads="1"/>
          </p:cNvSpPr>
          <p:nvPr/>
        </p:nvSpPr>
        <p:spPr bwMode="auto">
          <a:xfrm>
            <a:off x="34925" y="836613"/>
            <a:ext cx="91090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电容是导体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系统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的一种基本属性，是描述导体系统储存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电荷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能力的物理量。</a:t>
            </a:r>
          </a:p>
        </p:txBody>
      </p:sp>
      <p:sp>
        <p:nvSpPr>
          <p:cNvPr id="531461" name="Rectangle 1029"/>
          <p:cNvSpPr>
            <a:spLocks noChangeArrowheads="1"/>
          </p:cNvSpPr>
          <p:nvPr/>
        </p:nvSpPr>
        <p:spPr bwMode="auto">
          <a:xfrm>
            <a:off x="34925" y="2276475"/>
            <a:ext cx="889317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孤立导体的电容定义为所带电量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与其电位</a:t>
            </a:r>
            <a:r>
              <a:rPr kumimoji="1" lang="zh-CN" altLang="en-US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的比值，即</a:t>
            </a:r>
          </a:p>
        </p:txBody>
      </p:sp>
      <p:graphicFrame>
        <p:nvGraphicFramePr>
          <p:cNvPr id="531462" name="Object 1030"/>
          <p:cNvGraphicFramePr>
            <a:graphicFrameLocks noChangeAspect="1"/>
          </p:cNvGraphicFramePr>
          <p:nvPr/>
        </p:nvGraphicFramePr>
        <p:xfrm>
          <a:off x="2411413" y="2852738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5" name="公式" r:id="rId3" imgW="323770" imgH="323901" progId="Equation.3">
                  <p:embed/>
                </p:oleObj>
              </mc:Choice>
              <mc:Fallback>
                <p:oleObj name="公式" r:id="rId3" imgW="323770" imgH="323901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852738"/>
                        <a:ext cx="838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65" name="Text Box 1033"/>
          <p:cNvSpPr txBox="1">
            <a:spLocks noChangeArrowheads="1"/>
          </p:cNvSpPr>
          <p:nvPr/>
        </p:nvSpPr>
        <p:spPr bwMode="auto">
          <a:xfrm>
            <a:off x="120650" y="47625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1.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电容</a:t>
            </a:r>
          </a:p>
        </p:txBody>
      </p:sp>
      <p:sp>
        <p:nvSpPr>
          <p:cNvPr id="531466" name="Text Box 1034"/>
          <p:cNvSpPr txBox="1">
            <a:spLocks noChangeArrowheads="1"/>
          </p:cNvSpPr>
          <p:nvPr/>
        </p:nvSpPr>
        <p:spPr bwMode="auto">
          <a:xfrm>
            <a:off x="107950" y="1916113"/>
            <a:ext cx="453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孤立导体的电容</a:t>
            </a:r>
          </a:p>
        </p:txBody>
      </p:sp>
      <p:sp>
        <p:nvSpPr>
          <p:cNvPr id="531467" name="Text Box 1035"/>
          <p:cNvSpPr txBox="1">
            <a:spLocks noChangeArrowheads="1"/>
          </p:cNvSpPr>
          <p:nvPr/>
        </p:nvSpPr>
        <p:spPr bwMode="auto">
          <a:xfrm>
            <a:off x="107950" y="3573463"/>
            <a:ext cx="4824413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两个带等量异号电荷（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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q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）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的</a:t>
            </a: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       导体组成的电容器，其电容为</a:t>
            </a:r>
          </a:p>
        </p:txBody>
      </p:sp>
      <p:graphicFrame>
        <p:nvGraphicFramePr>
          <p:cNvPr id="531469" name="Object 1037"/>
          <p:cNvGraphicFramePr>
            <a:graphicFrameLocks noChangeAspect="1"/>
          </p:cNvGraphicFramePr>
          <p:nvPr/>
        </p:nvGraphicFramePr>
        <p:xfrm>
          <a:off x="1908175" y="4581525"/>
          <a:ext cx="2159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6" name="Equation" r:id="rId6" imgW="981028" imgH="352399" progId="Equation.DSMT4">
                  <p:embed/>
                </p:oleObj>
              </mc:Choice>
              <mc:Fallback>
                <p:oleObj name="Equation" r:id="rId6" imgW="981028" imgH="352399" progId="Equation.DSMT4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2159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1470" name="Text Box 1038"/>
          <p:cNvSpPr txBox="1">
            <a:spLocks noChangeArrowheads="1"/>
          </p:cNvSpPr>
          <p:nvPr/>
        </p:nvSpPr>
        <p:spPr bwMode="auto">
          <a:xfrm>
            <a:off x="60325" y="5445125"/>
            <a:ext cx="8964613" cy="100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  </a:t>
            </a:r>
            <a:r>
              <a:rPr kumimoji="1" lang="zh-CN" altLang="en-US" b="1">
                <a:solidFill>
                  <a:srgbClr val="FF0000"/>
                </a:solidFill>
              </a:rPr>
              <a:t>电容的大小只与导体系统的几何尺寸、形状及周围电介质</a:t>
            </a: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rgbClr val="FF0000"/>
                </a:solidFill>
              </a:rPr>
              <a:t>       的特性参数有关，而与导体的带电量和电位无关。</a:t>
            </a:r>
            <a:endParaRPr lang="zh-CN" altLang="en-US" b="1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8443" name="AutoShape 1039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AutoShape 104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5" name="AutoShape 104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6" name="AutoShape 104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066"/>
          <p:cNvGrpSpPr>
            <a:grpSpLocks/>
          </p:cNvGrpSpPr>
          <p:nvPr/>
        </p:nvGrpSpPr>
        <p:grpSpPr bwMode="auto">
          <a:xfrm>
            <a:off x="5149850" y="3070225"/>
            <a:ext cx="3598863" cy="2303463"/>
            <a:chOff x="3243" y="1888"/>
            <a:chExt cx="2358" cy="1542"/>
          </a:xfrm>
        </p:grpSpPr>
        <p:sp>
          <p:nvSpPr>
            <p:cNvPr id="18448" name="Rectangle 1044"/>
            <p:cNvSpPr>
              <a:spLocks noChangeArrowheads="1"/>
            </p:cNvSpPr>
            <p:nvPr/>
          </p:nvSpPr>
          <p:spPr bwMode="auto">
            <a:xfrm>
              <a:off x="3243" y="1888"/>
              <a:ext cx="2358" cy="1542"/>
            </a:xfrm>
            <a:prstGeom prst="rect">
              <a:avLst/>
            </a:prstGeom>
            <a:solidFill>
              <a:srgbClr val="CCFFFF"/>
            </a:solidFill>
            <a:ln w="22225" algn="ctr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8449" name="Freeform 1045"/>
            <p:cNvSpPr>
              <a:spLocks/>
            </p:cNvSpPr>
            <p:nvPr/>
          </p:nvSpPr>
          <p:spPr bwMode="auto">
            <a:xfrm>
              <a:off x="3963" y="1995"/>
              <a:ext cx="1015" cy="313"/>
            </a:xfrm>
            <a:custGeom>
              <a:avLst/>
              <a:gdLst>
                <a:gd name="T0" fmla="*/ 0 w 1015"/>
                <a:gd name="T1" fmla="*/ 203 h 313"/>
                <a:gd name="T2" fmla="*/ 320 w 1015"/>
                <a:gd name="T3" fmla="*/ 30 h 313"/>
                <a:gd name="T4" fmla="*/ 640 w 1015"/>
                <a:gd name="T5" fmla="*/ 21 h 313"/>
                <a:gd name="T6" fmla="*/ 923 w 1015"/>
                <a:gd name="T7" fmla="*/ 149 h 313"/>
                <a:gd name="T8" fmla="*/ 1015 w 1015"/>
                <a:gd name="T9" fmla="*/ 313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5"/>
                <a:gd name="T16" fmla="*/ 0 h 313"/>
                <a:gd name="T17" fmla="*/ 1015 w 1015"/>
                <a:gd name="T18" fmla="*/ 313 h 3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5" h="313">
                  <a:moveTo>
                    <a:pt x="0" y="203"/>
                  </a:moveTo>
                  <a:cubicBezTo>
                    <a:pt x="52" y="174"/>
                    <a:pt x="213" y="60"/>
                    <a:pt x="320" y="30"/>
                  </a:cubicBezTo>
                  <a:cubicBezTo>
                    <a:pt x="427" y="0"/>
                    <a:pt x="540" y="1"/>
                    <a:pt x="640" y="21"/>
                  </a:cubicBezTo>
                  <a:cubicBezTo>
                    <a:pt x="740" y="41"/>
                    <a:pt x="861" y="100"/>
                    <a:pt x="923" y="149"/>
                  </a:cubicBezTo>
                  <a:cubicBezTo>
                    <a:pt x="985" y="198"/>
                    <a:pt x="996" y="279"/>
                    <a:pt x="1015" y="313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Freeform 1046"/>
            <p:cNvSpPr>
              <a:spLocks/>
            </p:cNvSpPr>
            <p:nvPr/>
          </p:nvSpPr>
          <p:spPr bwMode="auto">
            <a:xfrm rot="-422291">
              <a:off x="3922" y="2878"/>
              <a:ext cx="91" cy="369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1 h 561"/>
                <a:gd name="T4" fmla="*/ 1 w 130"/>
                <a:gd name="T5" fmla="*/ 1 h 561"/>
                <a:gd name="T6" fmla="*/ 1 w 130"/>
                <a:gd name="T7" fmla="*/ 2 h 5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"/>
                <a:gd name="T13" fmla="*/ 0 h 561"/>
                <a:gd name="T14" fmla="*/ 130 w 130"/>
                <a:gd name="T15" fmla="*/ 561 h 5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Freeform 1047"/>
            <p:cNvSpPr>
              <a:spLocks/>
            </p:cNvSpPr>
            <p:nvPr/>
          </p:nvSpPr>
          <p:spPr bwMode="auto">
            <a:xfrm>
              <a:off x="4018" y="2256"/>
              <a:ext cx="877" cy="171"/>
            </a:xfrm>
            <a:custGeom>
              <a:avLst/>
              <a:gdLst>
                <a:gd name="T0" fmla="*/ 0 w 877"/>
                <a:gd name="T1" fmla="*/ 98 h 171"/>
                <a:gd name="T2" fmla="*/ 311 w 877"/>
                <a:gd name="T3" fmla="*/ 6 h 171"/>
                <a:gd name="T4" fmla="*/ 649 w 877"/>
                <a:gd name="T5" fmla="*/ 61 h 171"/>
                <a:gd name="T6" fmla="*/ 877 w 877"/>
                <a:gd name="T7" fmla="*/ 171 h 17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7"/>
                <a:gd name="T13" fmla="*/ 0 h 171"/>
                <a:gd name="T14" fmla="*/ 877 w 877"/>
                <a:gd name="T15" fmla="*/ 171 h 1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7" h="171">
                  <a:moveTo>
                    <a:pt x="0" y="98"/>
                  </a:moveTo>
                  <a:cubicBezTo>
                    <a:pt x="52" y="84"/>
                    <a:pt x="203" y="12"/>
                    <a:pt x="311" y="6"/>
                  </a:cubicBezTo>
                  <a:cubicBezTo>
                    <a:pt x="419" y="0"/>
                    <a:pt x="555" y="34"/>
                    <a:pt x="649" y="61"/>
                  </a:cubicBezTo>
                  <a:cubicBezTo>
                    <a:pt x="743" y="88"/>
                    <a:pt x="830" y="148"/>
                    <a:pt x="877" y="17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Freeform 1048"/>
            <p:cNvSpPr>
              <a:spLocks/>
            </p:cNvSpPr>
            <p:nvPr/>
          </p:nvSpPr>
          <p:spPr bwMode="auto">
            <a:xfrm>
              <a:off x="4182" y="2583"/>
              <a:ext cx="521" cy="91"/>
            </a:xfrm>
            <a:custGeom>
              <a:avLst/>
              <a:gdLst>
                <a:gd name="T0" fmla="*/ 0 w 521"/>
                <a:gd name="T1" fmla="*/ 82 h 91"/>
                <a:gd name="T2" fmla="*/ 183 w 521"/>
                <a:gd name="T3" fmla="*/ 9 h 91"/>
                <a:gd name="T4" fmla="*/ 393 w 521"/>
                <a:gd name="T5" fmla="*/ 27 h 91"/>
                <a:gd name="T6" fmla="*/ 521 w 521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91"/>
                <a:gd name="T14" fmla="*/ 521 w 521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91">
                  <a:moveTo>
                    <a:pt x="0" y="82"/>
                  </a:moveTo>
                  <a:cubicBezTo>
                    <a:pt x="30" y="71"/>
                    <a:pt x="118" y="18"/>
                    <a:pt x="183" y="9"/>
                  </a:cubicBezTo>
                  <a:cubicBezTo>
                    <a:pt x="248" y="0"/>
                    <a:pt x="337" y="13"/>
                    <a:pt x="393" y="27"/>
                  </a:cubicBezTo>
                  <a:cubicBezTo>
                    <a:pt x="449" y="41"/>
                    <a:pt x="494" y="78"/>
                    <a:pt x="521" y="9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Freeform 1049"/>
            <p:cNvSpPr>
              <a:spLocks/>
            </p:cNvSpPr>
            <p:nvPr/>
          </p:nvSpPr>
          <p:spPr bwMode="auto">
            <a:xfrm>
              <a:off x="4155" y="2829"/>
              <a:ext cx="585" cy="174"/>
            </a:xfrm>
            <a:custGeom>
              <a:avLst/>
              <a:gdLst>
                <a:gd name="T0" fmla="*/ 0 w 585"/>
                <a:gd name="T1" fmla="*/ 37 h 174"/>
                <a:gd name="T2" fmla="*/ 155 w 585"/>
                <a:gd name="T3" fmla="*/ 147 h 174"/>
                <a:gd name="T4" fmla="*/ 292 w 585"/>
                <a:gd name="T5" fmla="*/ 174 h 174"/>
                <a:gd name="T6" fmla="*/ 431 w 585"/>
                <a:gd name="T7" fmla="*/ 145 h 174"/>
                <a:gd name="T8" fmla="*/ 585 w 585"/>
                <a:gd name="T9" fmla="*/ 0 h 1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5"/>
                <a:gd name="T16" fmla="*/ 0 h 174"/>
                <a:gd name="T17" fmla="*/ 585 w 585"/>
                <a:gd name="T18" fmla="*/ 174 h 1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5" h="174">
                  <a:moveTo>
                    <a:pt x="0" y="37"/>
                  </a:moveTo>
                  <a:cubicBezTo>
                    <a:pt x="26" y="55"/>
                    <a:pt x="106" y="124"/>
                    <a:pt x="155" y="147"/>
                  </a:cubicBezTo>
                  <a:cubicBezTo>
                    <a:pt x="204" y="170"/>
                    <a:pt x="246" y="174"/>
                    <a:pt x="292" y="174"/>
                  </a:cubicBezTo>
                  <a:cubicBezTo>
                    <a:pt x="338" y="174"/>
                    <a:pt x="382" y="174"/>
                    <a:pt x="431" y="145"/>
                  </a:cubicBezTo>
                  <a:cubicBezTo>
                    <a:pt x="480" y="116"/>
                    <a:pt x="553" y="30"/>
                    <a:pt x="585" y="0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Freeform 1050"/>
            <p:cNvSpPr>
              <a:spLocks/>
            </p:cNvSpPr>
            <p:nvPr/>
          </p:nvSpPr>
          <p:spPr bwMode="auto">
            <a:xfrm>
              <a:off x="4041" y="2851"/>
              <a:ext cx="814" cy="312"/>
            </a:xfrm>
            <a:custGeom>
              <a:avLst/>
              <a:gdLst>
                <a:gd name="T0" fmla="*/ 0 w 814"/>
                <a:gd name="T1" fmla="*/ 45 h 312"/>
                <a:gd name="T2" fmla="*/ 73 w 814"/>
                <a:gd name="T3" fmla="*/ 173 h 312"/>
                <a:gd name="T4" fmla="*/ 229 w 814"/>
                <a:gd name="T5" fmla="*/ 292 h 312"/>
                <a:gd name="T6" fmla="*/ 530 w 814"/>
                <a:gd name="T7" fmla="*/ 292 h 312"/>
                <a:gd name="T8" fmla="*/ 722 w 814"/>
                <a:gd name="T9" fmla="*/ 173 h 312"/>
                <a:gd name="T10" fmla="*/ 814 w 814"/>
                <a:gd name="T11" fmla="*/ 0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4"/>
                <a:gd name="T19" fmla="*/ 0 h 312"/>
                <a:gd name="T20" fmla="*/ 814 w 814"/>
                <a:gd name="T21" fmla="*/ 312 h 31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4" h="312">
                  <a:moveTo>
                    <a:pt x="0" y="45"/>
                  </a:moveTo>
                  <a:cubicBezTo>
                    <a:pt x="12" y="66"/>
                    <a:pt x="35" y="132"/>
                    <a:pt x="73" y="173"/>
                  </a:cubicBezTo>
                  <a:cubicBezTo>
                    <a:pt x="111" y="214"/>
                    <a:pt x="153" y="272"/>
                    <a:pt x="229" y="292"/>
                  </a:cubicBezTo>
                  <a:cubicBezTo>
                    <a:pt x="305" y="312"/>
                    <a:pt x="448" y="312"/>
                    <a:pt x="530" y="292"/>
                  </a:cubicBezTo>
                  <a:cubicBezTo>
                    <a:pt x="612" y="272"/>
                    <a:pt x="675" y="222"/>
                    <a:pt x="722" y="173"/>
                  </a:cubicBezTo>
                  <a:cubicBezTo>
                    <a:pt x="769" y="124"/>
                    <a:pt x="795" y="36"/>
                    <a:pt x="814" y="0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Freeform 1051"/>
            <p:cNvSpPr>
              <a:spLocks/>
            </p:cNvSpPr>
            <p:nvPr/>
          </p:nvSpPr>
          <p:spPr bwMode="auto">
            <a:xfrm>
              <a:off x="4182" y="2784"/>
              <a:ext cx="512" cy="111"/>
            </a:xfrm>
            <a:custGeom>
              <a:avLst/>
              <a:gdLst>
                <a:gd name="T0" fmla="*/ 0 w 512"/>
                <a:gd name="T1" fmla="*/ 27 h 111"/>
                <a:gd name="T2" fmla="*/ 174 w 512"/>
                <a:gd name="T3" fmla="*/ 91 h 111"/>
                <a:gd name="T4" fmla="*/ 275 w 512"/>
                <a:gd name="T5" fmla="*/ 109 h 111"/>
                <a:gd name="T6" fmla="*/ 384 w 512"/>
                <a:gd name="T7" fmla="*/ 82 h 111"/>
                <a:gd name="T8" fmla="*/ 512 w 512"/>
                <a:gd name="T9" fmla="*/ 0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2"/>
                <a:gd name="T16" fmla="*/ 0 h 111"/>
                <a:gd name="T17" fmla="*/ 512 w 512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2" h="111">
                  <a:moveTo>
                    <a:pt x="0" y="27"/>
                  </a:moveTo>
                  <a:cubicBezTo>
                    <a:pt x="29" y="38"/>
                    <a:pt x="128" y="77"/>
                    <a:pt x="174" y="91"/>
                  </a:cubicBezTo>
                  <a:cubicBezTo>
                    <a:pt x="220" y="105"/>
                    <a:pt x="240" y="111"/>
                    <a:pt x="275" y="109"/>
                  </a:cubicBezTo>
                  <a:cubicBezTo>
                    <a:pt x="310" y="107"/>
                    <a:pt x="345" y="100"/>
                    <a:pt x="384" y="82"/>
                  </a:cubicBezTo>
                  <a:cubicBezTo>
                    <a:pt x="423" y="64"/>
                    <a:pt x="485" y="17"/>
                    <a:pt x="512" y="0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Freeform 1052"/>
            <p:cNvSpPr>
              <a:spLocks/>
            </p:cNvSpPr>
            <p:nvPr/>
          </p:nvSpPr>
          <p:spPr bwMode="auto">
            <a:xfrm>
              <a:off x="4059" y="2433"/>
              <a:ext cx="771" cy="176"/>
            </a:xfrm>
            <a:custGeom>
              <a:avLst/>
              <a:gdLst>
                <a:gd name="T0" fmla="*/ 0 w 861"/>
                <a:gd name="T1" fmla="*/ 47 h 185"/>
                <a:gd name="T2" fmla="*/ 65 w 861"/>
                <a:gd name="T3" fmla="*/ 6 h 185"/>
                <a:gd name="T4" fmla="*/ 132 w 861"/>
                <a:gd name="T5" fmla="*/ 29 h 185"/>
                <a:gd name="T6" fmla="*/ 184 w 861"/>
                <a:gd name="T7" fmla="*/ 92 h 1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1"/>
                <a:gd name="T13" fmla="*/ 0 h 185"/>
                <a:gd name="T14" fmla="*/ 861 w 861"/>
                <a:gd name="T15" fmla="*/ 185 h 1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1" h="185">
                  <a:moveTo>
                    <a:pt x="0" y="95"/>
                  </a:moveTo>
                  <a:cubicBezTo>
                    <a:pt x="51" y="80"/>
                    <a:pt x="202" y="12"/>
                    <a:pt x="305" y="6"/>
                  </a:cubicBezTo>
                  <a:cubicBezTo>
                    <a:pt x="408" y="0"/>
                    <a:pt x="523" y="31"/>
                    <a:pt x="616" y="61"/>
                  </a:cubicBezTo>
                  <a:cubicBezTo>
                    <a:pt x="709" y="91"/>
                    <a:pt x="810" y="159"/>
                    <a:pt x="861" y="185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Freeform 1053"/>
            <p:cNvSpPr>
              <a:spLocks/>
            </p:cNvSpPr>
            <p:nvPr/>
          </p:nvSpPr>
          <p:spPr bwMode="auto">
            <a:xfrm>
              <a:off x="4195" y="2750"/>
              <a:ext cx="499" cy="1"/>
            </a:xfrm>
            <a:custGeom>
              <a:avLst/>
              <a:gdLst>
                <a:gd name="T0" fmla="*/ 0 w 499"/>
                <a:gd name="T1" fmla="*/ 0 h 1"/>
                <a:gd name="T2" fmla="*/ 499 w 499"/>
                <a:gd name="T3" fmla="*/ 0 h 1"/>
                <a:gd name="T4" fmla="*/ 0 60000 65536"/>
                <a:gd name="T5" fmla="*/ 0 60000 65536"/>
                <a:gd name="T6" fmla="*/ 0 w 499"/>
                <a:gd name="T7" fmla="*/ 0 h 1"/>
                <a:gd name="T8" fmla="*/ 499 w 49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99" h="1">
                  <a:moveTo>
                    <a:pt x="0" y="0"/>
                  </a:moveTo>
                  <a:cubicBezTo>
                    <a:pt x="208" y="0"/>
                    <a:pt x="416" y="0"/>
                    <a:pt x="499" y="0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Freeform 1054"/>
            <p:cNvSpPr>
              <a:spLocks/>
            </p:cNvSpPr>
            <p:nvPr/>
          </p:nvSpPr>
          <p:spPr bwMode="auto">
            <a:xfrm rot="744496">
              <a:off x="3743" y="2835"/>
              <a:ext cx="47" cy="384"/>
            </a:xfrm>
            <a:custGeom>
              <a:avLst/>
              <a:gdLst>
                <a:gd name="T0" fmla="*/ 0 w 130"/>
                <a:gd name="T1" fmla="*/ 0 h 561"/>
                <a:gd name="T2" fmla="*/ 0 w 130"/>
                <a:gd name="T3" fmla="*/ 1 h 561"/>
                <a:gd name="T4" fmla="*/ 0 w 130"/>
                <a:gd name="T5" fmla="*/ 1 h 561"/>
                <a:gd name="T6" fmla="*/ 0 w 130"/>
                <a:gd name="T7" fmla="*/ 2 h 5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"/>
                <a:gd name="T13" fmla="*/ 0 h 561"/>
                <a:gd name="T14" fmla="*/ 130 w 130"/>
                <a:gd name="T15" fmla="*/ 561 h 5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Freeform 1055"/>
            <p:cNvSpPr>
              <a:spLocks/>
            </p:cNvSpPr>
            <p:nvPr/>
          </p:nvSpPr>
          <p:spPr bwMode="auto">
            <a:xfrm rot="20884883" flipH="1">
              <a:off x="4649" y="2297"/>
              <a:ext cx="590" cy="589"/>
            </a:xfrm>
            <a:custGeom>
              <a:avLst/>
              <a:gdLst>
                <a:gd name="T0" fmla="*/ 0 w 763"/>
                <a:gd name="T1" fmla="*/ 10 h 730"/>
                <a:gd name="T2" fmla="*/ 2 w 763"/>
                <a:gd name="T3" fmla="*/ 3 h 730"/>
                <a:gd name="T4" fmla="*/ 9 w 763"/>
                <a:gd name="T5" fmla="*/ 2 h 730"/>
                <a:gd name="T6" fmla="*/ 13 w 763"/>
                <a:gd name="T7" fmla="*/ 12 h 730"/>
                <a:gd name="T8" fmla="*/ 15 w 763"/>
                <a:gd name="T9" fmla="*/ 17 h 730"/>
                <a:gd name="T10" fmla="*/ 20 w 763"/>
                <a:gd name="T11" fmla="*/ 22 h 730"/>
                <a:gd name="T12" fmla="*/ 19 w 763"/>
                <a:gd name="T13" fmla="*/ 31 h 730"/>
                <a:gd name="T14" fmla="*/ 9 w 763"/>
                <a:gd name="T15" fmla="*/ 36 h 730"/>
                <a:gd name="T16" fmla="*/ 4 w 763"/>
                <a:gd name="T17" fmla="*/ 29 h 730"/>
                <a:gd name="T18" fmla="*/ 2 w 763"/>
                <a:gd name="T19" fmla="*/ 23 h 730"/>
                <a:gd name="T20" fmla="*/ 0 w 763"/>
                <a:gd name="T21" fmla="*/ 10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63"/>
                <a:gd name="T34" fmla="*/ 0 h 730"/>
                <a:gd name="T35" fmla="*/ 763 w 763"/>
                <a:gd name="T36" fmla="*/ 730 h 73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>
              <a:solidFill>
                <a:srgbClr val="3333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Freeform 1056"/>
            <p:cNvSpPr>
              <a:spLocks/>
            </p:cNvSpPr>
            <p:nvPr/>
          </p:nvSpPr>
          <p:spPr bwMode="auto">
            <a:xfrm rot="1270317">
              <a:off x="3515" y="2161"/>
              <a:ext cx="763" cy="730"/>
            </a:xfrm>
            <a:custGeom>
              <a:avLst/>
              <a:gdLst>
                <a:gd name="T0" fmla="*/ 0 w 763"/>
                <a:gd name="T1" fmla="*/ 202 h 730"/>
                <a:gd name="T2" fmla="*/ 77 w 763"/>
                <a:gd name="T3" fmla="*/ 73 h 730"/>
                <a:gd name="T4" fmla="*/ 306 w 763"/>
                <a:gd name="T5" fmla="*/ 27 h 730"/>
                <a:gd name="T6" fmla="*/ 480 w 763"/>
                <a:gd name="T7" fmla="*/ 236 h 730"/>
                <a:gd name="T8" fmla="*/ 568 w 763"/>
                <a:gd name="T9" fmla="*/ 341 h 730"/>
                <a:gd name="T10" fmla="*/ 735 w 763"/>
                <a:gd name="T11" fmla="*/ 448 h 730"/>
                <a:gd name="T12" fmla="*/ 699 w 763"/>
                <a:gd name="T13" fmla="*/ 620 h 730"/>
                <a:gd name="T14" fmla="*/ 349 w 763"/>
                <a:gd name="T15" fmla="*/ 725 h 730"/>
                <a:gd name="T16" fmla="*/ 131 w 763"/>
                <a:gd name="T17" fmla="*/ 585 h 730"/>
                <a:gd name="T18" fmla="*/ 44 w 763"/>
                <a:gd name="T19" fmla="*/ 481 h 730"/>
                <a:gd name="T20" fmla="*/ 0 w 763"/>
                <a:gd name="T21" fmla="*/ 202 h 7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63"/>
                <a:gd name="T34" fmla="*/ 0 h 730"/>
                <a:gd name="T35" fmla="*/ 763 w 763"/>
                <a:gd name="T36" fmla="*/ 730 h 73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63" h="730">
                  <a:moveTo>
                    <a:pt x="0" y="202"/>
                  </a:moveTo>
                  <a:cubicBezTo>
                    <a:pt x="5" y="134"/>
                    <a:pt x="26" y="102"/>
                    <a:pt x="77" y="73"/>
                  </a:cubicBezTo>
                  <a:cubicBezTo>
                    <a:pt x="128" y="44"/>
                    <a:pt x="239" y="0"/>
                    <a:pt x="306" y="27"/>
                  </a:cubicBezTo>
                  <a:cubicBezTo>
                    <a:pt x="373" y="54"/>
                    <a:pt x="437" y="184"/>
                    <a:pt x="480" y="236"/>
                  </a:cubicBezTo>
                  <a:cubicBezTo>
                    <a:pt x="523" y="289"/>
                    <a:pt x="526" y="306"/>
                    <a:pt x="568" y="341"/>
                  </a:cubicBezTo>
                  <a:cubicBezTo>
                    <a:pt x="610" y="376"/>
                    <a:pt x="713" y="401"/>
                    <a:pt x="735" y="448"/>
                  </a:cubicBezTo>
                  <a:cubicBezTo>
                    <a:pt x="757" y="495"/>
                    <a:pt x="763" y="574"/>
                    <a:pt x="699" y="620"/>
                  </a:cubicBezTo>
                  <a:cubicBezTo>
                    <a:pt x="635" y="666"/>
                    <a:pt x="443" y="730"/>
                    <a:pt x="349" y="725"/>
                  </a:cubicBezTo>
                  <a:cubicBezTo>
                    <a:pt x="255" y="719"/>
                    <a:pt x="182" y="626"/>
                    <a:pt x="131" y="585"/>
                  </a:cubicBezTo>
                  <a:cubicBezTo>
                    <a:pt x="80" y="545"/>
                    <a:pt x="66" y="539"/>
                    <a:pt x="44" y="481"/>
                  </a:cubicBezTo>
                  <a:cubicBezTo>
                    <a:pt x="22" y="422"/>
                    <a:pt x="0" y="272"/>
                    <a:pt x="0" y="202"/>
                  </a:cubicBezTo>
                  <a:close/>
                </a:path>
              </a:pathLst>
            </a:custGeom>
            <a:gradFill rotWithShape="0">
              <a:gsLst>
                <a:gs pos="0">
                  <a:srgbClr val="3D3D3D"/>
                </a:gs>
                <a:gs pos="100000">
                  <a:srgbClr val="909090"/>
                </a:gs>
              </a:gsLst>
              <a:lin ang="18900000" scaled="1"/>
            </a:gradFill>
            <a:ln w="22225">
              <a:solidFill>
                <a:srgbClr val="333333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Freeform 1057"/>
            <p:cNvSpPr>
              <a:spLocks/>
            </p:cNvSpPr>
            <p:nvPr/>
          </p:nvSpPr>
          <p:spPr bwMode="auto">
            <a:xfrm flipH="1">
              <a:off x="4966" y="2853"/>
              <a:ext cx="91" cy="415"/>
            </a:xfrm>
            <a:custGeom>
              <a:avLst/>
              <a:gdLst>
                <a:gd name="T0" fmla="*/ 1 w 130"/>
                <a:gd name="T1" fmla="*/ 0 h 561"/>
                <a:gd name="T2" fmla="*/ 1 w 130"/>
                <a:gd name="T3" fmla="*/ 3 h 561"/>
                <a:gd name="T4" fmla="*/ 1 w 130"/>
                <a:gd name="T5" fmla="*/ 5 h 561"/>
                <a:gd name="T6" fmla="*/ 1 w 130"/>
                <a:gd name="T7" fmla="*/ 8 h 5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"/>
                <a:gd name="T13" fmla="*/ 0 h 561"/>
                <a:gd name="T14" fmla="*/ 130 w 130"/>
                <a:gd name="T15" fmla="*/ 561 h 5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Freeform 1058"/>
            <p:cNvSpPr>
              <a:spLocks/>
            </p:cNvSpPr>
            <p:nvPr/>
          </p:nvSpPr>
          <p:spPr bwMode="auto">
            <a:xfrm rot="699248" flipH="1">
              <a:off x="4803" y="2832"/>
              <a:ext cx="108" cy="415"/>
            </a:xfrm>
            <a:custGeom>
              <a:avLst/>
              <a:gdLst>
                <a:gd name="T0" fmla="*/ 2 w 130"/>
                <a:gd name="T1" fmla="*/ 0 h 561"/>
                <a:gd name="T2" fmla="*/ 2 w 130"/>
                <a:gd name="T3" fmla="*/ 3 h 561"/>
                <a:gd name="T4" fmla="*/ 2 w 130"/>
                <a:gd name="T5" fmla="*/ 5 h 561"/>
                <a:gd name="T6" fmla="*/ 10 w 130"/>
                <a:gd name="T7" fmla="*/ 8 h 5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"/>
                <a:gd name="T13" fmla="*/ 0 h 561"/>
                <a:gd name="T14" fmla="*/ 130 w 130"/>
                <a:gd name="T15" fmla="*/ 561 h 5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" h="561">
                  <a:moveTo>
                    <a:pt x="29" y="0"/>
                  </a:moveTo>
                  <a:cubicBezTo>
                    <a:pt x="24" y="33"/>
                    <a:pt x="0" y="131"/>
                    <a:pt x="2" y="196"/>
                  </a:cubicBezTo>
                  <a:cubicBezTo>
                    <a:pt x="4" y="261"/>
                    <a:pt x="18" y="327"/>
                    <a:pt x="39" y="388"/>
                  </a:cubicBezTo>
                  <a:cubicBezTo>
                    <a:pt x="60" y="449"/>
                    <a:pt x="111" y="525"/>
                    <a:pt x="130" y="561"/>
                  </a:cubicBez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3" name="Object 1059"/>
            <p:cNvGraphicFramePr>
              <a:graphicFrameLocks noChangeAspect="1"/>
            </p:cNvGraphicFramePr>
            <p:nvPr/>
          </p:nvGraphicFramePr>
          <p:xfrm>
            <a:off x="4422" y="2278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7" name="公式" r:id="rId9" imgW="28456" imgH="47612" progId="Equation.3">
                    <p:embed/>
                  </p:oleObj>
                </mc:Choice>
                <mc:Fallback>
                  <p:oleObj name="公式" r:id="rId9" imgW="28456" imgH="47612" progId="Equation.3">
                    <p:embed/>
                    <p:pic>
                      <p:nvPicPr>
                        <p:cNvPr id="0" name="Object 1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2278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4" name="Object 1060"/>
            <p:cNvGraphicFramePr>
              <a:graphicFrameLocks noChangeAspect="1"/>
            </p:cNvGraphicFramePr>
            <p:nvPr/>
          </p:nvGraphicFramePr>
          <p:xfrm>
            <a:off x="4341" y="1979"/>
            <a:ext cx="20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" name="公式" r:id="rId11" imgW="57258" imgH="104608" progId="Equation.3">
                    <p:embed/>
                  </p:oleObj>
                </mc:Choice>
                <mc:Fallback>
                  <p:oleObj name="公式" r:id="rId11" imgW="57258" imgH="104608" progId="Equation.3">
                    <p:embed/>
                    <p:pic>
                      <p:nvPicPr>
                        <p:cNvPr id="0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1" y="1979"/>
                          <a:ext cx="20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5" name="Object 1061"/>
            <p:cNvGraphicFramePr>
              <a:graphicFrameLocks noChangeAspect="1"/>
            </p:cNvGraphicFramePr>
            <p:nvPr/>
          </p:nvGraphicFramePr>
          <p:xfrm>
            <a:off x="4981" y="2035"/>
            <a:ext cx="52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9" name="公式" r:id="rId13" imgW="323770" imgH="123722" progId="Equation.3">
                    <p:embed/>
                  </p:oleObj>
                </mc:Choice>
                <mc:Fallback>
                  <p:oleObj name="公式" r:id="rId13" imgW="323770" imgH="123722" progId="Equation.3">
                    <p:embed/>
                    <p:pic>
                      <p:nvPicPr>
                        <p:cNvPr id="0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1" y="2035"/>
                          <a:ext cx="520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6" name="Object 1062"/>
            <p:cNvGraphicFramePr>
              <a:graphicFrameLocks noChangeAspect="1"/>
            </p:cNvGraphicFramePr>
            <p:nvPr/>
          </p:nvGraphicFramePr>
          <p:xfrm>
            <a:off x="3349" y="1926"/>
            <a:ext cx="52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0" name="公式" r:id="rId15" imgW="352573" imgH="123722" progId="Equation.3">
                    <p:embed/>
                  </p:oleObj>
                </mc:Choice>
                <mc:Fallback>
                  <p:oleObj name="公式" r:id="rId15" imgW="352573" imgH="123722" progId="Equation.3">
                    <p:embed/>
                    <p:pic>
                      <p:nvPicPr>
                        <p:cNvPr id="0" name="Object 1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9" y="1926"/>
                          <a:ext cx="52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7" name="Object 1064"/>
            <p:cNvGraphicFramePr>
              <a:graphicFrameLocks noChangeAspect="1"/>
            </p:cNvGraphicFramePr>
            <p:nvPr/>
          </p:nvGraphicFramePr>
          <p:xfrm>
            <a:off x="3398" y="2768"/>
            <a:ext cx="34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1" name="公式" r:id="rId17" imgW="142973" imgH="85841" progId="Equation.3">
                    <p:embed/>
                  </p:oleObj>
                </mc:Choice>
                <mc:Fallback>
                  <p:oleObj name="公式" r:id="rId17" imgW="142973" imgH="85841" progId="Equation.3">
                    <p:embed/>
                    <p:pic>
                      <p:nvPicPr>
                        <p:cNvPr id="0" name="Object 10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8" y="2768"/>
                          <a:ext cx="34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8" name="Object 1065"/>
            <p:cNvGraphicFramePr>
              <a:graphicFrameLocks noChangeAspect="1"/>
            </p:cNvGraphicFramePr>
            <p:nvPr/>
          </p:nvGraphicFramePr>
          <p:xfrm>
            <a:off x="5057" y="2786"/>
            <a:ext cx="344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72" name="公式" r:id="rId19" imgW="142973" imgH="66726" progId="Equation.3">
                    <p:embed/>
                  </p:oleObj>
                </mc:Choice>
                <mc:Fallback>
                  <p:oleObj name="公式" r:id="rId19" imgW="142973" imgH="66726" progId="Equation.3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2786"/>
                          <a:ext cx="344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3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3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5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53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60" grpId="0"/>
      <p:bldP spid="531461" grpId="0"/>
      <p:bldP spid="531465" grpId="0"/>
      <p:bldP spid="531466" grpId="0"/>
      <p:bldP spid="531467" grpId="0"/>
      <p:bldP spid="5314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230B08E-FC25-415E-8CF5-24ABDFCDCB92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33506" name="Rectangle 1026"/>
          <p:cNvSpPr>
            <a:spLocks noChangeArrowheads="1"/>
          </p:cNvSpPr>
          <p:nvPr/>
        </p:nvSpPr>
        <p:spPr bwMode="auto">
          <a:xfrm>
            <a:off x="730250" y="836613"/>
            <a:ext cx="83058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3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(1)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假定两导体上分别带电荷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和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-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；</a:t>
            </a:r>
          </a:p>
        </p:txBody>
      </p:sp>
      <p:sp>
        <p:nvSpPr>
          <p:cNvPr id="533511" name="Text Box 1031"/>
          <p:cNvSpPr txBox="1">
            <a:spLocks noChangeArrowheads="1"/>
          </p:cNvSpPr>
          <p:nvPr/>
        </p:nvSpPr>
        <p:spPr bwMode="auto">
          <a:xfrm>
            <a:off x="333375" y="476250"/>
            <a:ext cx="730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ea typeface="宋体" pitchFamily="2" charset="-122"/>
              </a:rPr>
              <a:t>计算电容的方法一（</a:t>
            </a:r>
            <a:r>
              <a:rPr kumimoji="1" lang="zh-CN" altLang="en-US" b="1">
                <a:solidFill>
                  <a:srgbClr val="FF0000"/>
                </a:solidFill>
                <a:ea typeface="宋体" pitchFamily="2" charset="-122"/>
              </a:rPr>
              <a:t>推荐</a:t>
            </a:r>
            <a:r>
              <a:rPr kumimoji="1" lang="zh-CN" altLang="en-US" b="1">
                <a:solidFill>
                  <a:schemeClr val="bg1"/>
                </a:solidFill>
                <a:ea typeface="宋体" pitchFamily="2" charset="-122"/>
              </a:rPr>
              <a:t>）</a:t>
            </a:r>
            <a:r>
              <a:rPr kumimoji="1" lang="zh-CN" altLang="en-US" b="1">
                <a:solidFill>
                  <a:schemeClr val="bg1"/>
                </a:solidFill>
              </a:rPr>
              <a:t>：</a:t>
            </a:r>
          </a:p>
        </p:txBody>
      </p:sp>
      <p:grpSp>
        <p:nvGrpSpPr>
          <p:cNvPr id="2" name="Group 1035"/>
          <p:cNvGrpSpPr>
            <a:grpSpLocks/>
          </p:cNvGrpSpPr>
          <p:nvPr/>
        </p:nvGrpSpPr>
        <p:grpSpPr bwMode="auto">
          <a:xfrm>
            <a:off x="585788" y="2349500"/>
            <a:ext cx="8305800" cy="574675"/>
            <a:chOff x="158" y="2478"/>
            <a:chExt cx="5232" cy="362"/>
          </a:xfrm>
        </p:grpSpPr>
        <p:graphicFrame>
          <p:nvGraphicFramePr>
            <p:cNvPr id="19486" name="Object 1028"/>
            <p:cNvGraphicFramePr>
              <a:graphicFrameLocks noChangeAspect="1"/>
            </p:cNvGraphicFramePr>
            <p:nvPr/>
          </p:nvGraphicFramePr>
          <p:xfrm>
            <a:off x="1247" y="2568"/>
            <a:ext cx="7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5" name="公式" r:id="rId4" imgW="476113" imgH="123722" progId="Equation.3">
                    <p:embed/>
                  </p:oleObj>
                </mc:Choice>
                <mc:Fallback>
                  <p:oleObj name="公式" r:id="rId4" imgW="476113" imgH="123722" progId="Equation.3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568"/>
                          <a:ext cx="72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Rectangle 1032"/>
            <p:cNvSpPr>
              <a:spLocks noChangeArrowheads="1"/>
            </p:cNvSpPr>
            <p:nvPr/>
          </p:nvSpPr>
          <p:spPr bwMode="auto">
            <a:xfrm>
              <a:off x="158" y="2478"/>
              <a:ext cx="523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3000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  (4)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求比值              ，即得出所求电容。</a:t>
              </a:r>
            </a:p>
          </p:txBody>
        </p:sp>
      </p:grpSp>
      <p:grpSp>
        <p:nvGrpSpPr>
          <p:cNvPr id="3" name="Group 1036"/>
          <p:cNvGrpSpPr>
            <a:grpSpLocks/>
          </p:cNvGrpSpPr>
          <p:nvPr/>
        </p:nvGrpSpPr>
        <p:grpSpPr bwMode="auto">
          <a:xfrm>
            <a:off x="657225" y="1844675"/>
            <a:ext cx="7345363" cy="709613"/>
            <a:chOff x="158" y="1554"/>
            <a:chExt cx="4627" cy="447"/>
          </a:xfrm>
        </p:grpSpPr>
        <p:graphicFrame>
          <p:nvGraphicFramePr>
            <p:cNvPr id="19484" name="Object 1027"/>
            <p:cNvGraphicFramePr>
              <a:graphicFrameLocks noChangeAspect="1"/>
            </p:cNvGraphicFramePr>
            <p:nvPr/>
          </p:nvGraphicFramePr>
          <p:xfrm>
            <a:off x="803" y="1554"/>
            <a:ext cx="1040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" name="公式" r:id="rId6" imgW="733255" imgH="257175" progId="Equation.3">
                    <p:embed/>
                  </p:oleObj>
                </mc:Choice>
                <mc:Fallback>
                  <p:oleObj name="公式" r:id="rId6" imgW="733255" imgH="257175" progId="Equation.3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3" y="1554"/>
                          <a:ext cx="1040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Rectangle 1033"/>
            <p:cNvSpPr>
              <a:spLocks noChangeArrowheads="1"/>
            </p:cNvSpPr>
            <p:nvPr/>
          </p:nvSpPr>
          <p:spPr bwMode="auto">
            <a:xfrm>
              <a:off x="158" y="1570"/>
              <a:ext cx="4627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3000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 (3)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由  	         ，求出两导体间的电位差；</a:t>
              </a:r>
            </a:p>
          </p:txBody>
        </p:sp>
      </p:grpSp>
      <p:sp>
        <p:nvSpPr>
          <p:cNvPr id="19463" name="AutoShape 1037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4" name="AutoShape 10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5" name="AutoShape 10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66" name="AutoShape 104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3521" name="Rectangle 1041"/>
          <p:cNvSpPr>
            <a:spLocks noChangeArrowheads="1"/>
          </p:cNvSpPr>
          <p:nvPr/>
        </p:nvSpPr>
        <p:spPr bwMode="auto">
          <a:xfrm>
            <a:off x="730250" y="1349375"/>
            <a:ext cx="83058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3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(2)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计算两导体间的电场强度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； </a:t>
            </a:r>
          </a:p>
        </p:txBody>
      </p:sp>
      <p:sp>
        <p:nvSpPr>
          <p:cNvPr id="533529" name="Text Box 1049"/>
          <p:cNvSpPr txBox="1">
            <a:spLocks noChangeArrowheads="1"/>
          </p:cNvSpPr>
          <p:nvPr/>
        </p:nvSpPr>
        <p:spPr bwMode="auto">
          <a:xfrm>
            <a:off x="333375" y="2971800"/>
            <a:ext cx="730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 b="1">
                <a:solidFill>
                  <a:schemeClr val="bg1"/>
                </a:solidFill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ea typeface="宋体" pitchFamily="2" charset="-122"/>
              </a:rPr>
              <a:t>计算电容的方法二</a:t>
            </a:r>
            <a:r>
              <a:rPr kumimoji="1" lang="zh-CN" altLang="en-US" b="1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533524" name="Rectangle 1044"/>
          <p:cNvSpPr>
            <a:spLocks noChangeArrowheads="1"/>
          </p:cNvSpPr>
          <p:nvPr/>
        </p:nvSpPr>
        <p:spPr bwMode="auto">
          <a:xfrm>
            <a:off x="684213" y="3357563"/>
            <a:ext cx="662622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(1)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假定两电极间的电位差为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U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；</a:t>
            </a:r>
          </a:p>
        </p:txBody>
      </p:sp>
      <p:grpSp>
        <p:nvGrpSpPr>
          <p:cNvPr id="4" name="Group 1070"/>
          <p:cNvGrpSpPr>
            <a:grpSpLocks/>
          </p:cNvGrpSpPr>
          <p:nvPr/>
        </p:nvGrpSpPr>
        <p:grpSpPr bwMode="auto">
          <a:xfrm>
            <a:off x="555625" y="4856163"/>
            <a:ext cx="6626225" cy="579437"/>
            <a:chOff x="203" y="3059"/>
            <a:chExt cx="4174" cy="365"/>
          </a:xfrm>
        </p:grpSpPr>
        <p:sp>
          <p:nvSpPr>
            <p:cNvPr id="19481" name="Rectangle 1059"/>
            <p:cNvSpPr>
              <a:spLocks noChangeArrowheads="1"/>
            </p:cNvSpPr>
            <p:nvPr/>
          </p:nvSpPr>
          <p:spPr bwMode="auto">
            <a:xfrm>
              <a:off x="203" y="3067"/>
              <a:ext cx="417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  (4)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由                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得到</a:t>
              </a:r>
              <a:r>
                <a:rPr kumimoji="1" lang="zh-CN" altLang="en-US" b="1" i="1">
                  <a:solidFill>
                    <a:schemeClr val="bg1"/>
                  </a:solidFill>
                  <a:latin typeface="Times New Roman" pitchFamily="18" charset="0"/>
                </a:rPr>
                <a:t>       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;</a:t>
              </a:r>
              <a:endParaRPr kumimoji="1" lang="en-US" altLang="zh-CN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9482" name="Object 1061"/>
            <p:cNvGraphicFramePr>
              <a:graphicFrameLocks noChangeAspect="1"/>
            </p:cNvGraphicFramePr>
            <p:nvPr/>
          </p:nvGraphicFramePr>
          <p:xfrm>
            <a:off x="930" y="3083"/>
            <a:ext cx="83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7" name="公式" r:id="rId9" imgW="504915" imgH="133453" progId="Equation.3">
                    <p:embed/>
                  </p:oleObj>
                </mc:Choice>
                <mc:Fallback>
                  <p:oleObj name="公式" r:id="rId9" imgW="504915" imgH="133453" progId="Equation.3">
                    <p:embed/>
                    <p:pic>
                      <p:nvPicPr>
                        <p:cNvPr id="0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3083"/>
                          <a:ext cx="83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1062"/>
            <p:cNvGraphicFramePr>
              <a:graphicFrameLocks noChangeAspect="1"/>
            </p:cNvGraphicFramePr>
            <p:nvPr/>
          </p:nvGraphicFramePr>
          <p:xfrm>
            <a:off x="2200" y="3059"/>
            <a:ext cx="28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8" name="公式" r:id="rId11" imgW="104800" imgH="133453" progId="Equation.3">
                    <p:embed/>
                  </p:oleObj>
                </mc:Choice>
                <mc:Fallback>
                  <p:oleObj name="公式" r:id="rId11" imgW="104800" imgH="133453" progId="Equation.3">
                    <p:embed/>
                    <p:pic>
                      <p:nvPicPr>
                        <p:cNvPr id="0" name="Object 1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3059"/>
                          <a:ext cx="28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3545" name="Rectangle 1065"/>
          <p:cNvSpPr>
            <a:spLocks noChangeArrowheads="1"/>
          </p:cNvSpPr>
          <p:nvPr/>
        </p:nvSpPr>
        <p:spPr bwMode="auto">
          <a:xfrm>
            <a:off x="701675" y="3860800"/>
            <a:ext cx="66262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 (2)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计算两电极间的电位分布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zh-CN" altLang="en-US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；</a:t>
            </a:r>
          </a:p>
        </p:txBody>
      </p:sp>
      <p:grpSp>
        <p:nvGrpSpPr>
          <p:cNvPr id="5" name="Group 1069"/>
          <p:cNvGrpSpPr>
            <a:grpSpLocks/>
          </p:cNvGrpSpPr>
          <p:nvPr/>
        </p:nvGrpSpPr>
        <p:grpSpPr bwMode="auto">
          <a:xfrm>
            <a:off x="611188" y="4365625"/>
            <a:ext cx="6626225" cy="566738"/>
            <a:chOff x="249" y="2704"/>
            <a:chExt cx="4174" cy="357"/>
          </a:xfrm>
        </p:grpSpPr>
        <p:graphicFrame>
          <p:nvGraphicFramePr>
            <p:cNvPr id="19479" name="Object 1060"/>
            <p:cNvGraphicFramePr>
              <a:graphicFrameLocks noChangeAspect="1"/>
            </p:cNvGraphicFramePr>
            <p:nvPr/>
          </p:nvGraphicFramePr>
          <p:xfrm>
            <a:off x="930" y="2740"/>
            <a:ext cx="77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9" name="公式" r:id="rId13" imgW="514285" imgH="142836" progId="Equation.3">
                    <p:embed/>
                  </p:oleObj>
                </mc:Choice>
                <mc:Fallback>
                  <p:oleObj name="公式" r:id="rId13" imgW="514285" imgH="142836" progId="Equation.3">
                    <p:embed/>
                    <p:pic>
                      <p:nvPicPr>
                        <p:cNvPr id="0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2740"/>
                          <a:ext cx="77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0" name="Rectangle 1066"/>
            <p:cNvSpPr>
              <a:spLocks noChangeArrowheads="1"/>
            </p:cNvSpPr>
            <p:nvPr/>
          </p:nvSpPr>
          <p:spPr bwMode="auto">
            <a:xfrm>
              <a:off x="249" y="2704"/>
              <a:ext cx="417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 (3)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由               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得到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E 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;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6" name="Group 1071"/>
          <p:cNvGrpSpPr>
            <a:grpSpLocks/>
          </p:cNvGrpSpPr>
          <p:nvPr/>
        </p:nvGrpSpPr>
        <p:grpSpPr bwMode="auto">
          <a:xfrm>
            <a:off x="701675" y="5287963"/>
            <a:ext cx="6626225" cy="681037"/>
            <a:chOff x="295" y="3331"/>
            <a:chExt cx="4174" cy="429"/>
          </a:xfrm>
        </p:grpSpPr>
        <p:graphicFrame>
          <p:nvGraphicFramePr>
            <p:cNvPr id="19477" name="Object 1063"/>
            <p:cNvGraphicFramePr>
              <a:graphicFrameLocks noChangeAspect="1"/>
            </p:cNvGraphicFramePr>
            <p:nvPr/>
          </p:nvGraphicFramePr>
          <p:xfrm>
            <a:off x="929" y="3331"/>
            <a:ext cx="998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0" name="公式" r:id="rId15" imgW="638171" imgH="218946" progId="Equation.3">
                    <p:embed/>
                  </p:oleObj>
                </mc:Choice>
                <mc:Fallback>
                  <p:oleObj name="公式" r:id="rId15" imgW="638171" imgH="218946" progId="Equation.3">
                    <p:embed/>
                    <p:pic>
                      <p:nvPicPr>
                        <p:cNvPr id="0" name="Object 10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9" y="3331"/>
                          <a:ext cx="998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8" name="Rectangle 1067"/>
            <p:cNvSpPr>
              <a:spLocks noChangeArrowheads="1"/>
            </p:cNvSpPr>
            <p:nvPr/>
          </p:nvSpPr>
          <p:spPr bwMode="auto">
            <a:xfrm>
              <a:off x="295" y="3345"/>
              <a:ext cx="417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(5)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由	                     ，求出导体的电荷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itchFamily="18" charset="0"/>
                </a:rPr>
                <a:t>q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；</a:t>
              </a:r>
            </a:p>
          </p:txBody>
        </p:sp>
      </p:grpSp>
      <p:grpSp>
        <p:nvGrpSpPr>
          <p:cNvPr id="7" name="Group 1072"/>
          <p:cNvGrpSpPr>
            <a:grpSpLocks/>
          </p:cNvGrpSpPr>
          <p:nvPr/>
        </p:nvGrpSpPr>
        <p:grpSpPr bwMode="auto">
          <a:xfrm>
            <a:off x="728663" y="5876925"/>
            <a:ext cx="6626225" cy="566738"/>
            <a:chOff x="312" y="3702"/>
            <a:chExt cx="4174" cy="357"/>
          </a:xfrm>
        </p:grpSpPr>
        <p:graphicFrame>
          <p:nvGraphicFramePr>
            <p:cNvPr id="19475" name="Object 1064"/>
            <p:cNvGraphicFramePr>
              <a:graphicFrameLocks noChangeAspect="1"/>
            </p:cNvGraphicFramePr>
            <p:nvPr/>
          </p:nvGraphicFramePr>
          <p:xfrm>
            <a:off x="1329" y="3741"/>
            <a:ext cx="797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71" name="公式" r:id="rId17" imgW="476113" imgH="123722" progId="Equation.3">
                    <p:embed/>
                  </p:oleObj>
                </mc:Choice>
                <mc:Fallback>
                  <p:oleObj name="公式" r:id="rId17" imgW="476113" imgH="123722" progId="Equation.3">
                    <p:embed/>
                    <p:pic>
                      <p:nvPicPr>
                        <p:cNvPr id="0" name="Object 10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" y="3741"/>
                          <a:ext cx="797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Rectangle 1068"/>
            <p:cNvSpPr>
              <a:spLocks noChangeArrowheads="1"/>
            </p:cNvSpPr>
            <p:nvPr/>
          </p:nvSpPr>
          <p:spPr bwMode="auto">
            <a:xfrm>
              <a:off x="312" y="3702"/>
              <a:ext cx="417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</a:rPr>
                <a:t> (6) 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求比值                ，即得出所求电容。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33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33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3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3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3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11" grpId="0" autoUpdateAnimBg="0"/>
      <p:bldP spid="533529" grpId="0" autoUpdateAnimBg="0"/>
      <p:bldP spid="533524" grpId="0"/>
      <p:bldP spid="5335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342F96-9B2B-4547-949B-0D8E889076BD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34532" name="Text Box 4"/>
          <p:cNvSpPr txBox="1">
            <a:spLocks noChangeArrowheads="1"/>
          </p:cNvSpPr>
          <p:nvPr/>
        </p:nvSpPr>
        <p:spPr bwMode="auto">
          <a:xfrm>
            <a:off x="69850" y="1524000"/>
            <a:ext cx="87503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 </a:t>
            </a:r>
            <a:r>
              <a:rPr kumimoji="1" lang="zh-CN" altLang="en-US" b="1">
                <a:solidFill>
                  <a:srgbClr val="FFB953"/>
                </a:solidFill>
                <a:latin typeface="幼圆" pitchFamily="49" charset="-122"/>
                <a:ea typeface="幼圆" pitchFamily="49" charset="-122"/>
              </a:rPr>
              <a:t>解</a:t>
            </a: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设内导体所带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电荷为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q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，则由高斯定理可求得内外导体间的电场</a:t>
            </a:r>
          </a:p>
        </p:txBody>
      </p:sp>
      <p:graphicFrame>
        <p:nvGraphicFramePr>
          <p:cNvPr id="534535" name="Object 7"/>
          <p:cNvGraphicFramePr>
            <a:graphicFrameLocks noChangeAspect="1"/>
          </p:cNvGraphicFramePr>
          <p:nvPr/>
        </p:nvGraphicFramePr>
        <p:xfrm>
          <a:off x="1554163" y="1916113"/>
          <a:ext cx="47466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2" name="Equation" r:id="rId3" imgW="2133484" imgH="343016" progId="Equation.DSMT4">
                  <p:embed/>
                </p:oleObj>
              </mc:Choice>
              <mc:Fallback>
                <p:oleObj name="Equation" r:id="rId3" imgW="2133484" imgH="34301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1916113"/>
                        <a:ext cx="474662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536" name="Object 8"/>
          <p:cNvGraphicFramePr>
            <a:graphicFrameLocks noChangeAspect="1"/>
          </p:cNvGraphicFramePr>
          <p:nvPr/>
        </p:nvGraphicFramePr>
        <p:xfrm>
          <a:off x="390525" y="2982913"/>
          <a:ext cx="5789613" cy="203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3" name="Equation" r:id="rId5" imgW="2447885" imgH="857366" progId="Equation.DSMT4">
                  <p:embed/>
                </p:oleObj>
              </mc:Choice>
              <mc:Fallback>
                <p:oleObj name="Equation" r:id="rId5" imgW="2447885" imgH="85736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" y="2982913"/>
                        <a:ext cx="5789613" cy="203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37" name="Text Box 9"/>
          <p:cNvSpPr txBox="1">
            <a:spLocks noChangeArrowheads="1"/>
          </p:cNvSpPr>
          <p:nvPr/>
        </p:nvSpPr>
        <p:spPr bwMode="auto">
          <a:xfrm>
            <a:off x="0" y="2781300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同心导体间的电压</a:t>
            </a:r>
          </a:p>
        </p:txBody>
      </p:sp>
      <p:graphicFrame>
        <p:nvGraphicFramePr>
          <p:cNvPr id="534538" name="Object 10"/>
          <p:cNvGraphicFramePr>
            <a:graphicFrameLocks noChangeAspect="1"/>
          </p:cNvGraphicFramePr>
          <p:nvPr/>
        </p:nvGraphicFramePr>
        <p:xfrm>
          <a:off x="2914650" y="5054600"/>
          <a:ext cx="21955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4" name="Equation" r:id="rId7" imgW="923770" imgH="295404" progId="Equation.DSMT4">
                  <p:embed/>
                </p:oleObj>
              </mc:Choice>
              <mc:Fallback>
                <p:oleObj name="Equation" r:id="rId7" imgW="923770" imgH="29540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0" y="5054600"/>
                        <a:ext cx="219551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40" name="Text Box 12"/>
          <p:cNvSpPr txBox="1">
            <a:spLocks noChangeArrowheads="1"/>
          </p:cNvSpPr>
          <p:nvPr/>
        </p:nvSpPr>
        <p:spPr bwMode="auto">
          <a:xfrm>
            <a:off x="84138" y="5229225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球形电容器的电容</a:t>
            </a:r>
          </a:p>
        </p:txBody>
      </p:sp>
      <p:graphicFrame>
        <p:nvGraphicFramePr>
          <p:cNvPr id="534541" name="Object 13"/>
          <p:cNvGraphicFramePr>
            <a:graphicFrameLocks noChangeAspect="1"/>
          </p:cNvGraphicFramePr>
          <p:nvPr/>
        </p:nvGraphicFramePr>
        <p:xfrm>
          <a:off x="2195513" y="5930900"/>
          <a:ext cx="17049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5" name="Equation" r:id="rId9" imgW="580913" imgH="133453" progId="Equation.DSMT4">
                  <p:embed/>
                </p:oleObj>
              </mc:Choice>
              <mc:Fallback>
                <p:oleObj name="Equation" r:id="rId9" imgW="580913" imgH="13345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930900"/>
                        <a:ext cx="17049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72"/>
          <p:cNvGrpSpPr>
            <a:grpSpLocks/>
          </p:cNvGrpSpPr>
          <p:nvPr/>
        </p:nvGrpSpPr>
        <p:grpSpPr bwMode="auto">
          <a:xfrm>
            <a:off x="107950" y="5924550"/>
            <a:ext cx="2592388" cy="457200"/>
            <a:chOff x="113" y="3612"/>
            <a:chExt cx="1633" cy="288"/>
          </a:xfrm>
        </p:grpSpPr>
        <p:sp>
          <p:nvSpPr>
            <p:cNvPr id="20511" name="Text Box 14"/>
            <p:cNvSpPr txBox="1">
              <a:spLocks noChangeArrowheads="1"/>
            </p:cNvSpPr>
            <p:nvPr/>
          </p:nvSpPr>
          <p:spPr bwMode="auto">
            <a:xfrm>
              <a:off x="113" y="3612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当       </a:t>
              </a:r>
              <a:r>
                <a:rPr kumimoji="1" lang="zh-CN" altLang="en-US" b="1">
                  <a:solidFill>
                    <a:schemeClr val="bg1"/>
                  </a:solidFill>
                </a:rPr>
                <a:t>时，</a:t>
              </a:r>
            </a:p>
          </p:txBody>
        </p:sp>
        <p:graphicFrame>
          <p:nvGraphicFramePr>
            <p:cNvPr id="20512" name="Object 15"/>
            <p:cNvGraphicFramePr>
              <a:graphicFrameLocks noChangeAspect="1"/>
            </p:cNvGraphicFramePr>
            <p:nvPr/>
          </p:nvGraphicFramePr>
          <p:xfrm>
            <a:off x="360" y="3645"/>
            <a:ext cx="67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6" name="Equation" r:id="rId11" imgW="352573" imgH="85841" progId="Equation.3">
                    <p:embed/>
                  </p:oleObj>
                </mc:Choice>
                <mc:Fallback>
                  <p:oleObj name="Equation" r:id="rId11" imgW="352573" imgH="8584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" y="3645"/>
                          <a:ext cx="67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9388" name="Text Box 1068"/>
          <p:cNvSpPr txBox="1">
            <a:spLocks noChangeArrowheads="1"/>
          </p:cNvSpPr>
          <p:nvPr/>
        </p:nvSpPr>
        <p:spPr bwMode="auto">
          <a:xfrm>
            <a:off x="34925" y="444500"/>
            <a:ext cx="90360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rgbClr val="FFB953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rgbClr val="FFB953"/>
                </a:solidFill>
                <a:latin typeface="Times New Roman" pitchFamily="18" charset="0"/>
                <a:ea typeface="幼圆" pitchFamily="49" charset="-122"/>
              </a:rPr>
              <a:t>例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 同心球形电容器的内导体半径为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、外导体半径为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b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，其间填充介电常数为</a:t>
            </a:r>
            <a:r>
              <a:rPr kumimoji="1" lang="el-GR" altLang="zh-CN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的均匀介质。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求此球形电容器的电容。</a:t>
            </a:r>
          </a:p>
        </p:txBody>
      </p:sp>
      <p:grpSp>
        <p:nvGrpSpPr>
          <p:cNvPr id="3" name="Group 1070"/>
          <p:cNvGrpSpPr>
            <a:grpSpLocks/>
          </p:cNvGrpSpPr>
          <p:nvPr/>
        </p:nvGrpSpPr>
        <p:grpSpPr bwMode="auto">
          <a:xfrm>
            <a:off x="3995738" y="6021388"/>
            <a:ext cx="3240087" cy="419100"/>
            <a:chOff x="2336" y="3724"/>
            <a:chExt cx="2041" cy="264"/>
          </a:xfrm>
        </p:grpSpPr>
        <p:sp>
          <p:nvSpPr>
            <p:cNvPr id="20509" name="Text Box 17"/>
            <p:cNvSpPr txBox="1">
              <a:spLocks noChangeArrowheads="1"/>
            </p:cNvSpPr>
            <p:nvPr/>
          </p:nvSpPr>
          <p:spPr bwMode="auto">
            <a:xfrm>
              <a:off x="2880" y="3724"/>
              <a:ext cx="1497" cy="264"/>
            </a:xfrm>
            <a:prstGeom prst="rect">
              <a:avLst/>
            </a:prstGeom>
            <a:solidFill>
              <a:srgbClr val="CCFFFF"/>
            </a:solidFill>
            <a:ln w="22225">
              <a:solidFill>
                <a:srgbClr val="9933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zh-CN" altLang="en-US" sz="2000" b="1">
                  <a:solidFill>
                    <a:srgbClr val="C60000"/>
                  </a:solidFill>
                  <a:latin typeface="宋体" pitchFamily="2" charset="-122"/>
                  <a:ea typeface="宋体" pitchFamily="2" charset="-122"/>
                </a:rPr>
                <a:t>孤立导体球的电容</a:t>
              </a:r>
            </a:p>
          </p:txBody>
        </p:sp>
        <p:sp>
          <p:nvSpPr>
            <p:cNvPr id="20510" name="Line 1069"/>
            <p:cNvSpPr>
              <a:spLocks noChangeShapeType="1"/>
            </p:cNvSpPr>
            <p:nvPr/>
          </p:nvSpPr>
          <p:spPr bwMode="auto">
            <a:xfrm flipH="1">
              <a:off x="2336" y="3838"/>
              <a:ext cx="544" cy="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04"/>
          <p:cNvGrpSpPr>
            <a:grpSpLocks/>
          </p:cNvGrpSpPr>
          <p:nvPr/>
        </p:nvGrpSpPr>
        <p:grpSpPr bwMode="auto">
          <a:xfrm>
            <a:off x="6300788" y="2420938"/>
            <a:ext cx="2519362" cy="2303462"/>
            <a:chOff x="4059" y="1933"/>
            <a:chExt cx="1587" cy="1451"/>
          </a:xfrm>
        </p:grpSpPr>
        <p:sp>
          <p:nvSpPr>
            <p:cNvPr id="20498" name="Rectangle 1049"/>
            <p:cNvSpPr>
              <a:spLocks noChangeArrowheads="1"/>
            </p:cNvSpPr>
            <p:nvPr/>
          </p:nvSpPr>
          <p:spPr bwMode="auto">
            <a:xfrm>
              <a:off x="4059" y="1933"/>
              <a:ext cx="1587" cy="1451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9" name="Oval 1077"/>
            <p:cNvSpPr>
              <a:spLocks noChangeArrowheads="1"/>
            </p:cNvSpPr>
            <p:nvPr/>
          </p:nvSpPr>
          <p:spPr bwMode="auto">
            <a:xfrm>
              <a:off x="4213" y="2024"/>
              <a:ext cx="1270" cy="1270"/>
            </a:xfrm>
            <a:prstGeom prst="ellipse">
              <a:avLst/>
            </a:prstGeom>
            <a:gradFill rotWithShape="1">
              <a:gsLst>
                <a:gs pos="0">
                  <a:srgbClr val="100905"/>
                </a:gs>
                <a:gs pos="100000">
                  <a:srgbClr val="FF8C53">
                    <a:alpha val="49001"/>
                  </a:srgbClr>
                </a:gs>
              </a:gsLst>
              <a:lin ang="18900000" scaled="1"/>
            </a:gradFill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0" name="Oval 1094"/>
            <p:cNvSpPr>
              <a:spLocks noChangeArrowheads="1"/>
            </p:cNvSpPr>
            <p:nvPr/>
          </p:nvSpPr>
          <p:spPr bwMode="auto">
            <a:xfrm>
              <a:off x="4550" y="2360"/>
              <a:ext cx="589" cy="590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A7376F">
                    <a:alpha val="68999"/>
                  </a:srgb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0501" name="Group 1096"/>
            <p:cNvGrpSpPr>
              <a:grpSpLocks/>
            </p:cNvGrpSpPr>
            <p:nvPr/>
          </p:nvGrpSpPr>
          <p:grpSpPr bwMode="auto">
            <a:xfrm>
              <a:off x="4405" y="2124"/>
              <a:ext cx="715" cy="724"/>
              <a:chOff x="4421" y="2114"/>
              <a:chExt cx="715" cy="724"/>
            </a:xfrm>
          </p:grpSpPr>
          <p:grpSp>
            <p:nvGrpSpPr>
              <p:cNvPr id="20502" name="Group 1097"/>
              <p:cNvGrpSpPr>
                <a:grpSpLocks/>
              </p:cNvGrpSpPr>
              <p:nvPr/>
            </p:nvGrpSpPr>
            <p:grpSpPr bwMode="auto">
              <a:xfrm>
                <a:off x="4422" y="2213"/>
                <a:ext cx="680" cy="454"/>
                <a:chOff x="3198" y="799"/>
                <a:chExt cx="680" cy="454"/>
              </a:xfrm>
            </p:grpSpPr>
            <p:sp>
              <p:nvSpPr>
                <p:cNvPr id="20507" name="Line 1098"/>
                <p:cNvSpPr>
                  <a:spLocks noChangeShapeType="1"/>
                </p:cNvSpPr>
                <p:nvPr/>
              </p:nvSpPr>
              <p:spPr bwMode="auto">
                <a:xfrm flipH="1" flipV="1">
                  <a:off x="3198" y="799"/>
                  <a:ext cx="453" cy="454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08" name="Line 1099"/>
                <p:cNvSpPr>
                  <a:spLocks noChangeShapeType="1"/>
                </p:cNvSpPr>
                <p:nvPr/>
              </p:nvSpPr>
              <p:spPr bwMode="auto">
                <a:xfrm flipV="1">
                  <a:off x="3651" y="1071"/>
                  <a:ext cx="227" cy="182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0503" name="Object 1100"/>
              <p:cNvGraphicFramePr>
                <a:graphicFrameLocks noChangeAspect="1"/>
              </p:cNvGraphicFramePr>
              <p:nvPr/>
            </p:nvGraphicFramePr>
            <p:xfrm>
              <a:off x="4966" y="2568"/>
              <a:ext cx="170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17" name="公式" r:id="rId13" imgW="28456" imgH="47612" progId="Equation.3">
                      <p:embed/>
                    </p:oleObj>
                  </mc:Choice>
                  <mc:Fallback>
                    <p:oleObj name="公式" r:id="rId13" imgW="28456" imgH="47612" progId="Equation.3">
                      <p:embed/>
                      <p:pic>
                        <p:nvPicPr>
                          <p:cNvPr id="0" name="Object 1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6" y="2568"/>
                            <a:ext cx="170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4" name="Object 1101"/>
              <p:cNvGraphicFramePr>
                <a:graphicFrameLocks noChangeAspect="1"/>
              </p:cNvGraphicFramePr>
              <p:nvPr/>
            </p:nvGraphicFramePr>
            <p:xfrm>
              <a:off x="4558" y="2114"/>
              <a:ext cx="170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18" name="公式" r:id="rId15" imgW="28456" imgH="85841" progId="Equation.3">
                      <p:embed/>
                    </p:oleObj>
                  </mc:Choice>
                  <mc:Fallback>
                    <p:oleObj name="公式" r:id="rId15" imgW="28456" imgH="85841" progId="Equation.3">
                      <p:embed/>
                      <p:pic>
                        <p:nvPicPr>
                          <p:cNvPr id="0" name="Object 1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8" y="2114"/>
                            <a:ext cx="170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5" name="Object 1102"/>
              <p:cNvGraphicFramePr>
                <a:graphicFrameLocks noChangeAspect="1"/>
              </p:cNvGraphicFramePr>
              <p:nvPr/>
            </p:nvGraphicFramePr>
            <p:xfrm>
              <a:off x="4421" y="2501"/>
              <a:ext cx="170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19" name="公式" r:id="rId17" imgW="28456" imgH="47612" progId="Equation.3">
                      <p:embed/>
                    </p:oleObj>
                  </mc:Choice>
                  <mc:Fallback>
                    <p:oleObj name="公式" r:id="rId17" imgW="28456" imgH="47612" progId="Equation.3">
                      <p:embed/>
                      <p:pic>
                        <p:nvPicPr>
                          <p:cNvPr id="0" name="Object 1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1" y="2501"/>
                            <a:ext cx="170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6" name="Object 1103"/>
              <p:cNvGraphicFramePr>
                <a:graphicFrameLocks noChangeAspect="1"/>
              </p:cNvGraphicFramePr>
              <p:nvPr/>
            </p:nvGraphicFramePr>
            <p:xfrm>
              <a:off x="4784" y="2659"/>
              <a:ext cx="170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20" name="公式" r:id="rId19" imgW="28456" imgH="47612" progId="Equation.3">
                      <p:embed/>
                    </p:oleObj>
                  </mc:Choice>
                  <mc:Fallback>
                    <p:oleObj name="公式" r:id="rId19" imgW="28456" imgH="47612" progId="Equation.3">
                      <p:embed/>
                      <p:pic>
                        <p:nvPicPr>
                          <p:cNvPr id="0" name="Object 11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4" y="2659"/>
                            <a:ext cx="170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494" name="AutoShape 1105">
            <a:hlinkClick r:id="rId2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5" name="AutoShape 110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6" name="AutoShape 110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97" name="AutoShape 110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6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5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3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3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2" grpId="0"/>
      <p:bldP spid="534537" grpId="0"/>
      <p:bldP spid="534540" grpId="0"/>
      <p:bldP spid="5693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1F0736-2996-47EB-A2CE-3444E865EB19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624642" name="Text Box 2"/>
          <p:cNvSpPr txBox="1">
            <a:spLocks noChangeArrowheads="1"/>
          </p:cNvSpPr>
          <p:nvPr/>
        </p:nvSpPr>
        <p:spPr bwMode="auto">
          <a:xfrm>
            <a:off x="60325" y="404813"/>
            <a:ext cx="89630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       </a:t>
            </a:r>
            <a:r>
              <a:rPr kumimoji="1" lang="zh-CN" altLang="en-US" b="1">
                <a:solidFill>
                  <a:srgbClr val="FFB953"/>
                </a:solidFill>
                <a:latin typeface="Times New Roman" pitchFamily="18" charset="0"/>
                <a:ea typeface="幼圆" pitchFamily="49" charset="-122"/>
              </a:rPr>
              <a:t>例</a:t>
            </a:r>
            <a:r>
              <a:rPr kumimoji="1" lang="zh-CN" altLang="en-US" b="1">
                <a:solidFill>
                  <a:srgbClr val="FFB953"/>
                </a:solidFill>
                <a:latin typeface="Times New Roman" pitchFamily="18" charset="0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同轴线内导体半径为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，外导体半径为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b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，内外导体间填充介电常数为</a:t>
            </a:r>
            <a:r>
              <a:rPr kumimoji="1" lang="zh-CN" altLang="en-US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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的均匀介质，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求同轴线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单位长度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的电容。</a:t>
            </a:r>
          </a:p>
        </p:txBody>
      </p:sp>
      <p:graphicFrame>
        <p:nvGraphicFramePr>
          <p:cNvPr id="624668" name="Object 28"/>
          <p:cNvGraphicFramePr>
            <a:graphicFrameLocks noChangeAspect="1"/>
          </p:cNvGraphicFramePr>
          <p:nvPr/>
        </p:nvGraphicFramePr>
        <p:xfrm>
          <a:off x="2051050" y="2420938"/>
          <a:ext cx="2389188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4" name="Equation" r:id="rId3" imgW="923770" imgH="323901" progId="Equation.DSMT4">
                  <p:embed/>
                </p:oleObj>
              </mc:Choice>
              <mc:Fallback>
                <p:oleObj name="Equation" r:id="rId3" imgW="923770" imgH="323901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420938"/>
                        <a:ext cx="2389188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69" name="Rectangle 29"/>
          <p:cNvSpPr>
            <a:spLocks noChangeArrowheads="1"/>
          </p:cNvSpPr>
          <p:nvPr/>
        </p:nvSpPr>
        <p:spPr bwMode="auto">
          <a:xfrm>
            <a:off x="-36513" y="3332163"/>
            <a:ext cx="401637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tabLst>
                <a:tab pos="266700" algn="r"/>
                <a:tab pos="2641600" algn="ctr"/>
                <a:tab pos="5283200" algn="r"/>
              </a:tabLs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内外导体间的电位差</a:t>
            </a:r>
            <a:endParaRPr lang="zh-CN" altLang="en-US" b="1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624670" name="Object 30"/>
          <p:cNvGraphicFramePr>
            <a:graphicFrameLocks noChangeAspect="1"/>
          </p:cNvGraphicFramePr>
          <p:nvPr/>
        </p:nvGraphicFramePr>
        <p:xfrm>
          <a:off x="835025" y="3860800"/>
          <a:ext cx="41481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5" name="Equation" r:id="rId5" imgW="1819430" imgH="323901" progId="Equation.DSMT4">
                  <p:embed/>
                </p:oleObj>
              </mc:Choice>
              <mc:Fallback>
                <p:oleObj name="Equation" r:id="rId5" imgW="1819430" imgH="323901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860800"/>
                        <a:ext cx="4148138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-36513" y="1406525"/>
            <a:ext cx="9144001" cy="1052513"/>
            <a:chOff x="-23" y="886"/>
            <a:chExt cx="5760" cy="663"/>
          </a:xfrm>
        </p:grpSpPr>
        <p:graphicFrame>
          <p:nvGraphicFramePr>
            <p:cNvPr id="21532" name="Object 25"/>
            <p:cNvGraphicFramePr>
              <a:graphicFrameLocks noChangeAspect="1"/>
            </p:cNvGraphicFramePr>
            <p:nvPr/>
          </p:nvGraphicFramePr>
          <p:xfrm>
            <a:off x="4604" y="972"/>
            <a:ext cx="31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6" name="公式" r:id="rId7" imgW="199884" imgH="133453" progId="Equation.3">
                    <p:embed/>
                  </p:oleObj>
                </mc:Choice>
                <mc:Fallback>
                  <p:oleObj name="公式" r:id="rId7" imgW="199884" imgH="133453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972"/>
                          <a:ext cx="317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3" name="Object 26"/>
            <p:cNvGraphicFramePr>
              <a:graphicFrameLocks noChangeAspect="1"/>
            </p:cNvGraphicFramePr>
            <p:nvPr/>
          </p:nvGraphicFramePr>
          <p:xfrm>
            <a:off x="5148" y="972"/>
            <a:ext cx="30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7" name="公式" r:id="rId9" imgW="181145" imgH="133453" progId="Equation.3">
                    <p:embed/>
                  </p:oleObj>
                </mc:Choice>
                <mc:Fallback>
                  <p:oleObj name="公式" r:id="rId9" imgW="181145" imgH="13345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972"/>
                          <a:ext cx="303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4" name="Rectangle 31"/>
            <p:cNvSpPr>
              <a:spLocks noChangeArrowheads="1"/>
            </p:cNvSpPr>
            <p:nvPr/>
          </p:nvSpPr>
          <p:spPr bwMode="auto">
            <a:xfrm>
              <a:off x="-23" y="886"/>
              <a:ext cx="5760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</a:rPr>
                <a:t>         </a:t>
              </a:r>
              <a:r>
                <a:rPr lang="zh-CN" altLang="en-US" b="1">
                  <a:solidFill>
                    <a:srgbClr val="FFB953"/>
                  </a:solidFill>
                  <a:latin typeface="Times New Roman" pitchFamily="18" charset="0"/>
                  <a:ea typeface="幼圆" pitchFamily="49" charset="-122"/>
                </a:rPr>
                <a:t>解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</a:rPr>
                <a:t>  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</a:rPr>
                <a:t>设同轴线的内、外导体单位长度带电量分别为      和       ，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应用</a:t>
              </a:r>
              <a:r>
                <a:rPr lang="zh-CN" altLang="en-US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高斯定理</a:t>
              </a:r>
              <a:r>
                <a:rPr lang="zh-CN" altLang="en-US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可得到内外导体间任一点处的电场强度为</a:t>
              </a:r>
            </a:p>
          </p:txBody>
        </p:sp>
      </p:grpSp>
      <p:sp>
        <p:nvSpPr>
          <p:cNvPr id="624672" name="Rectangle 32"/>
          <p:cNvSpPr>
            <a:spLocks noChangeArrowheads="1"/>
          </p:cNvSpPr>
          <p:nvPr/>
        </p:nvSpPr>
        <p:spPr bwMode="auto">
          <a:xfrm>
            <a:off x="-36513" y="5635625"/>
            <a:ext cx="5761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故同轴线单位长度的电容为</a:t>
            </a:r>
            <a:endParaRPr lang="zh-CN" altLang="en-US" b="1">
              <a:solidFill>
                <a:schemeClr val="bg1"/>
              </a:solidFill>
              <a:cs typeface="Times New Roman" pitchFamily="18" charset="0"/>
            </a:endParaRPr>
          </a:p>
        </p:txBody>
      </p:sp>
      <p:graphicFrame>
        <p:nvGraphicFramePr>
          <p:cNvPr id="624673" name="Object 33"/>
          <p:cNvGraphicFramePr>
            <a:graphicFrameLocks noChangeAspect="1"/>
          </p:cNvGraphicFramePr>
          <p:nvPr/>
        </p:nvGraphicFramePr>
        <p:xfrm>
          <a:off x="3962400" y="5337175"/>
          <a:ext cx="26971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8" name="Equation" r:id="rId11" imgW="1143087" imgH="409742" progId="Equation.DSMT4">
                  <p:embed/>
                </p:oleObj>
              </mc:Choice>
              <mc:Fallback>
                <p:oleObj name="Equation" r:id="rId11" imgW="1143087" imgH="40974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337175"/>
                        <a:ext cx="269716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5651500" y="2636838"/>
            <a:ext cx="3168650" cy="2447925"/>
            <a:chOff x="3560" y="1661"/>
            <a:chExt cx="1996" cy="1542"/>
          </a:xfrm>
        </p:grpSpPr>
        <p:sp>
          <p:nvSpPr>
            <p:cNvPr id="21520" name="Rectangle 3"/>
            <p:cNvSpPr>
              <a:spLocks noChangeArrowheads="1"/>
            </p:cNvSpPr>
            <p:nvPr/>
          </p:nvSpPr>
          <p:spPr bwMode="auto">
            <a:xfrm>
              <a:off x="3560" y="1661"/>
              <a:ext cx="1996" cy="15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1521" name="Group 38"/>
            <p:cNvGrpSpPr>
              <a:grpSpLocks/>
            </p:cNvGrpSpPr>
            <p:nvPr/>
          </p:nvGrpSpPr>
          <p:grpSpPr bwMode="auto">
            <a:xfrm>
              <a:off x="3878" y="1934"/>
              <a:ext cx="839" cy="839"/>
              <a:chOff x="3878" y="1934"/>
              <a:chExt cx="839" cy="801"/>
            </a:xfrm>
          </p:grpSpPr>
          <p:sp>
            <p:nvSpPr>
              <p:cNvPr id="21523" name="AutoShape 4"/>
              <p:cNvSpPr>
                <a:spLocks noChangeAspect="1" noChangeArrowheads="1"/>
              </p:cNvSpPr>
              <p:nvPr/>
            </p:nvSpPr>
            <p:spPr bwMode="auto">
              <a:xfrm>
                <a:off x="3905" y="1934"/>
                <a:ext cx="812" cy="77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66 w 21600"/>
                  <a:gd name="T25" fmla="*/ 3158 h 21600"/>
                  <a:gd name="T26" fmla="*/ 18434 w 21600"/>
                  <a:gd name="T27" fmla="*/ 18442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817" y="10800"/>
                    </a:moveTo>
                    <a:cubicBezTo>
                      <a:pt x="817" y="16313"/>
                      <a:pt x="5287" y="20783"/>
                      <a:pt x="10800" y="20783"/>
                    </a:cubicBezTo>
                    <a:cubicBezTo>
                      <a:pt x="16313" y="20783"/>
                      <a:pt x="20783" y="16313"/>
                      <a:pt x="20783" y="10800"/>
                    </a:cubicBezTo>
                    <a:cubicBezTo>
                      <a:pt x="20783" y="5287"/>
                      <a:pt x="16313" y="817"/>
                      <a:pt x="10800" y="817"/>
                    </a:cubicBezTo>
                    <a:cubicBezTo>
                      <a:pt x="5287" y="817"/>
                      <a:pt x="817" y="5287"/>
                      <a:pt x="817" y="10800"/>
                    </a:cubicBezTo>
                    <a:close/>
                  </a:path>
                </a:pathLst>
              </a:custGeom>
              <a:solidFill>
                <a:srgbClr val="FF9900"/>
              </a:solidFill>
              <a:ln w="9525">
                <a:round/>
                <a:headEnd/>
                <a:tailEnd/>
              </a:ln>
              <a:scene3d>
                <a:camera prst="legacyPerspectiveTopRight">
                  <a:rot lat="0" lon="1200000" rev="0"/>
                </a:camera>
                <a:lightRig rig="legacyFlat4" dir="b"/>
              </a:scene3d>
              <a:sp3d extrusionH="2513000" prstMaterial="legacyMatte">
                <a:bevelT w="13500" h="13500" prst="angle"/>
                <a:bevelB w="13500" h="13500" prst="angle"/>
                <a:extrusionClr>
                  <a:srgbClr val="FF9900"/>
                </a:extrusionClr>
              </a:sp3d>
            </p:spPr>
            <p:txBody>
              <a:bodyPr wrap="none" anchor="ctr">
                <a:flatTx/>
              </a:bodyPr>
              <a:lstStyle/>
              <a:p>
                <a:endParaRPr lang="zh-CN" altLang="en-US"/>
              </a:p>
            </p:txBody>
          </p:sp>
          <p:sp>
            <p:nvSpPr>
              <p:cNvPr id="21524" name="Oval 5"/>
              <p:cNvSpPr>
                <a:spLocks noChangeAspect="1" noChangeArrowheads="1"/>
              </p:cNvSpPr>
              <p:nvPr/>
            </p:nvSpPr>
            <p:spPr bwMode="auto">
              <a:xfrm>
                <a:off x="3878" y="1943"/>
                <a:ext cx="791" cy="792"/>
              </a:xfrm>
              <a:prstGeom prst="ellipse">
                <a:avLst/>
              </a:prstGeom>
              <a:solidFill>
                <a:srgbClr val="FFBA75"/>
              </a:solidFill>
              <a:ln w="952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5" name="Oval 6"/>
              <p:cNvSpPr>
                <a:spLocks noChangeAspect="1" noChangeArrowheads="1"/>
              </p:cNvSpPr>
              <p:nvPr/>
            </p:nvSpPr>
            <p:spPr bwMode="auto">
              <a:xfrm>
                <a:off x="3928" y="1994"/>
                <a:ext cx="695" cy="695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6" name="Oval 7"/>
              <p:cNvSpPr>
                <a:spLocks noChangeAspect="1" noChangeArrowheads="1"/>
              </p:cNvSpPr>
              <p:nvPr/>
            </p:nvSpPr>
            <p:spPr bwMode="auto">
              <a:xfrm>
                <a:off x="4083" y="2155"/>
                <a:ext cx="386" cy="386"/>
              </a:xfrm>
              <a:prstGeom prst="ellipse">
                <a:avLst/>
              </a:prstGeom>
              <a:solidFill>
                <a:srgbClr val="FFAB57"/>
              </a:solidFill>
              <a:ln w="952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21527" name="Object 8"/>
              <p:cNvGraphicFramePr>
                <a:graphicFrameLocks noChangeAspect="1"/>
              </p:cNvGraphicFramePr>
              <p:nvPr/>
            </p:nvGraphicFramePr>
            <p:xfrm>
              <a:off x="4226" y="1992"/>
              <a:ext cx="177" cy="1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39" name="Equation" r:id="rId13" imgW="28456" imgH="47612" progId="Equation.3">
                      <p:embed/>
                    </p:oleObj>
                  </mc:Choice>
                  <mc:Fallback>
                    <p:oleObj name="Equation" r:id="rId13" imgW="28456" imgH="47612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1992"/>
                            <a:ext cx="177" cy="1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28" name="Line 9"/>
              <p:cNvSpPr>
                <a:spLocks noChangeAspect="1" noChangeShapeType="1"/>
              </p:cNvSpPr>
              <p:nvPr/>
            </p:nvSpPr>
            <p:spPr bwMode="auto">
              <a:xfrm flipV="1">
                <a:off x="4278" y="2106"/>
                <a:ext cx="260" cy="243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9" name="Line 10"/>
              <p:cNvSpPr>
                <a:spLocks noChangeAspect="1" noChangeShapeType="1"/>
              </p:cNvSpPr>
              <p:nvPr/>
            </p:nvSpPr>
            <p:spPr bwMode="auto">
              <a:xfrm flipH="1" flipV="1">
                <a:off x="4104" y="2201"/>
                <a:ext cx="170" cy="143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30" name="Object 11"/>
              <p:cNvGraphicFramePr>
                <a:graphicFrameLocks noChangeAspect="1"/>
              </p:cNvGraphicFramePr>
              <p:nvPr/>
            </p:nvGraphicFramePr>
            <p:xfrm>
              <a:off x="4059" y="2263"/>
              <a:ext cx="165" cy="1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40" name="Equation" r:id="rId15" imgW="28456" imgH="47612" progId="Equation.3">
                      <p:embed/>
                    </p:oleObj>
                  </mc:Choice>
                  <mc:Fallback>
                    <p:oleObj name="Equation" r:id="rId15" imgW="28456" imgH="47612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2263"/>
                            <a:ext cx="165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1" name="Object 12"/>
              <p:cNvGraphicFramePr>
                <a:graphicFrameLocks noChangeAspect="1"/>
              </p:cNvGraphicFramePr>
              <p:nvPr/>
            </p:nvGraphicFramePr>
            <p:xfrm>
              <a:off x="4467" y="2138"/>
              <a:ext cx="181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41" name="Equation" r:id="rId17" imgW="28456" imgH="85841" progId="Equation.DSMT4">
                      <p:embed/>
                    </p:oleObj>
                  </mc:Choice>
                  <mc:Fallback>
                    <p:oleObj name="Equation" r:id="rId17" imgW="28456" imgH="85841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7" y="2138"/>
                            <a:ext cx="181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D60093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2" name="Rectangle 34"/>
            <p:cNvSpPr>
              <a:spLocks noChangeArrowheads="1"/>
            </p:cNvSpPr>
            <p:nvPr/>
          </p:nvSpPr>
          <p:spPr bwMode="auto">
            <a:xfrm>
              <a:off x="4195" y="2860"/>
              <a:ext cx="7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 sz="2000" b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同轴线</a:t>
              </a:r>
              <a:endParaRPr lang="zh-CN" altLang="en-US" sz="2000" b="1">
                <a:ea typeface="宋体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624676" name="Object 36"/>
          <p:cNvGraphicFramePr>
            <a:graphicFrameLocks noChangeAspect="1"/>
          </p:cNvGraphicFramePr>
          <p:nvPr/>
        </p:nvGraphicFramePr>
        <p:xfrm>
          <a:off x="996950" y="4552950"/>
          <a:ext cx="2230438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2" name="Equation" r:id="rId19" imgW="895314" imgH="361783" progId="Equation.DSMT4">
                  <p:embed/>
                </p:oleObj>
              </mc:Choice>
              <mc:Fallback>
                <p:oleObj name="Equation" r:id="rId19" imgW="895314" imgH="361783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4552950"/>
                        <a:ext cx="2230438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AutoShape 41">
            <a:hlinkClick r:id="rId2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7" name="AutoShape 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8" name="AutoShape 4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9" name="AutoShape 4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2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624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62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62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24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2" grpId="0"/>
      <p:bldP spid="624669" grpId="0"/>
      <p:bldP spid="62467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C42912-D8E5-4EFD-9C82-3A35F7627333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22531" name="Text Box 1031"/>
          <p:cNvSpPr txBox="1">
            <a:spLocks noChangeArrowheads="1"/>
          </p:cNvSpPr>
          <p:nvPr/>
        </p:nvSpPr>
        <p:spPr bwMode="auto">
          <a:xfrm>
            <a:off x="71438" y="1125538"/>
            <a:ext cx="88931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"/>
              </a:buBlip>
            </a:pPr>
            <a:endParaRPr kumimoji="1" lang="en-US" altLang="zh-CN" b="1">
              <a:solidFill>
                <a:schemeClr val="bg1"/>
              </a:solidFill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</a:rPr>
              <a:t>       </a:t>
            </a:r>
          </a:p>
        </p:txBody>
      </p:sp>
      <p:sp>
        <p:nvSpPr>
          <p:cNvPr id="557064" name="Text Box 1032"/>
          <p:cNvSpPr txBox="1">
            <a:spLocks noChangeArrowheads="1"/>
          </p:cNvSpPr>
          <p:nvPr/>
        </p:nvSpPr>
        <p:spPr bwMode="auto">
          <a:xfrm>
            <a:off x="142875" y="4467225"/>
            <a:ext cx="88931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</a:rPr>
              <a:t>如果充电过程进行得足够缓慢，就不会有能量辐射，充电过程中外加电源所做的总功将全部转换成电场能量，或者说电场能量就等于外加电源在此电场建立过程中所做的总功。</a:t>
            </a:r>
          </a:p>
        </p:txBody>
      </p:sp>
      <p:sp>
        <p:nvSpPr>
          <p:cNvPr id="557066" name="Text Box 1034"/>
          <p:cNvSpPr txBox="1">
            <a:spLocks noChangeArrowheads="1"/>
          </p:cNvSpPr>
          <p:nvPr/>
        </p:nvSpPr>
        <p:spPr bwMode="auto">
          <a:xfrm>
            <a:off x="149225" y="1125538"/>
            <a:ext cx="8880475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</a:rPr>
              <a:t>静电场最基本的特征是对电荷有作用力，这表明静电场具有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</a:rPr>
              <a:t>能量。静电场的能量来源于建立</a:t>
            </a:r>
            <a:r>
              <a:rPr kumimoji="1" lang="zh-CN" altLang="en-US" b="1">
                <a:solidFill>
                  <a:srgbClr val="FF0000"/>
                </a:solidFill>
              </a:rPr>
              <a:t>电荷系统</a:t>
            </a:r>
            <a:r>
              <a:rPr kumimoji="1" lang="zh-CN" altLang="en-US" b="1">
                <a:solidFill>
                  <a:schemeClr val="bg1"/>
                </a:solidFill>
              </a:rPr>
              <a:t>的过程中外界提供的能量。</a:t>
            </a:r>
          </a:p>
        </p:txBody>
      </p:sp>
      <p:sp>
        <p:nvSpPr>
          <p:cNvPr id="557067" name="Text Box 1035"/>
          <p:cNvSpPr txBox="1">
            <a:spLocks noChangeArrowheads="1"/>
          </p:cNvSpPr>
          <p:nvPr/>
        </p:nvSpPr>
        <p:spPr bwMode="auto">
          <a:xfrm>
            <a:off x="130175" y="2740025"/>
            <a:ext cx="889317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</a:rPr>
              <a:t>任何形式的带电系统，都要经过从没有电荷分布到某个最终电荷分布的建立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或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充电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kumimoji="1" lang="zh-CN" altLang="en-US" b="1">
                <a:solidFill>
                  <a:schemeClr val="bg1"/>
                </a:solidFill>
              </a:rPr>
              <a:t>过程。</a:t>
            </a:r>
            <a:r>
              <a:rPr kumimoji="1" lang="zh-CN" altLang="en-US" b="1">
                <a:solidFill>
                  <a:srgbClr val="FF0000"/>
                </a:solidFill>
              </a:rPr>
              <a:t>在此过程中，外加电源必须克服电荷之间的相互作用力而做功。</a:t>
            </a:r>
          </a:p>
        </p:txBody>
      </p:sp>
      <p:sp>
        <p:nvSpPr>
          <p:cNvPr id="557068" name="Rectangle 1036"/>
          <p:cNvSpPr>
            <a:spLocks noGrp="1" noChangeArrowheads="1"/>
          </p:cNvSpPr>
          <p:nvPr>
            <p:ph type="title"/>
          </p:nvPr>
        </p:nvSpPr>
        <p:spPr bwMode="auto">
          <a:xfrm>
            <a:off x="87313" y="549275"/>
            <a:ext cx="8229600" cy="4905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kumimoji="1"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3.1.4   </a:t>
            </a:r>
            <a:r>
              <a:rPr kumimoji="1" lang="zh-CN" altLang="en-US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静电场的能量</a:t>
            </a:r>
            <a:r>
              <a:rPr kumimoji="1" lang="zh-CN" altLang="en-US" smtClean="0"/>
              <a:t> </a:t>
            </a:r>
          </a:p>
        </p:txBody>
      </p:sp>
      <p:sp>
        <p:nvSpPr>
          <p:cNvPr id="22536" name="AutoShape 103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7" name="AutoShape 103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8" name="AutoShape 103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9" name="AutoShape 104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5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4" grpId="0" autoUpdateAnimBg="0"/>
      <p:bldP spid="557066" grpId="0"/>
      <p:bldP spid="557067" grpId="0" autoUpdateAnimBg="0"/>
      <p:bldP spid="5570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ECD514-F677-4B15-95F0-4D43B1DC8495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3555" name="Rectangle 21"/>
          <p:cNvSpPr>
            <a:spLocks noChangeArrowheads="1"/>
          </p:cNvSpPr>
          <p:nvPr/>
        </p:nvSpPr>
        <p:spPr bwMode="auto">
          <a:xfrm>
            <a:off x="4343400" y="762000"/>
            <a:ext cx="4572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9111" name="Text Box 23"/>
          <p:cNvSpPr txBox="1">
            <a:spLocks noChangeArrowheads="1"/>
          </p:cNvSpPr>
          <p:nvPr/>
        </p:nvSpPr>
        <p:spPr bwMode="auto">
          <a:xfrm>
            <a:off x="136525" y="523875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1.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静电场的能量</a:t>
            </a:r>
          </a:p>
        </p:txBody>
      </p:sp>
      <p:sp>
        <p:nvSpPr>
          <p:cNvPr id="729112" name="Text Box 24"/>
          <p:cNvSpPr txBox="1">
            <a:spLocks noChangeArrowheads="1"/>
          </p:cNvSpPr>
          <p:nvPr/>
        </p:nvSpPr>
        <p:spPr bwMode="auto">
          <a:xfrm>
            <a:off x="-144463" y="1006475"/>
            <a:ext cx="9396413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设系统从零开始充电，最终带电量为 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、电位为</a:t>
            </a:r>
            <a:r>
              <a:rPr kumimoji="1" lang="zh-CN" altLang="en-US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充电过程中某一时刻的电荷量为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、电位为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（</a:t>
            </a:r>
            <a:r>
              <a:rPr kumimoji="1" lang="en-US" altLang="zh-CN" b="1">
                <a:solidFill>
                  <a:srgbClr val="FF0000"/>
                </a:solidFill>
                <a:sym typeface="Symbol" pitchFamily="18" charset="2"/>
              </a:rPr>
              <a:t>0≤</a:t>
            </a:r>
            <a:r>
              <a:rPr kumimoji="1" lang="el-GR" altLang="zh-CN" b="1" i="1">
                <a:solidFill>
                  <a:srgbClr val="FF0000"/>
                </a:solidFill>
                <a:sym typeface="Symbol" pitchFamily="18" charset="2"/>
              </a:rPr>
              <a:t>α</a:t>
            </a:r>
            <a:r>
              <a:rPr kumimoji="1" lang="el-GR" altLang="zh-CN" b="1">
                <a:solidFill>
                  <a:srgbClr val="FF0000"/>
                </a:solidFill>
                <a:sym typeface="Symbol" pitchFamily="18" charset="2"/>
              </a:rPr>
              <a:t>≤</a:t>
            </a:r>
            <a:r>
              <a:rPr kumimoji="1" lang="en-US" altLang="zh-CN" b="1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kumimoji="1" lang="zh-CN" altLang="en-US" b="1">
                <a:solidFill>
                  <a:schemeClr val="bg1"/>
                </a:solidFill>
                <a:sym typeface="Symbol" pitchFamily="18" charset="2"/>
              </a:rPr>
              <a:t>）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。</a:t>
            </a:r>
            <a:endParaRPr kumimoji="1" lang="el-GR" altLang="zh-CN" b="1">
              <a:solidFill>
                <a:schemeClr val="bg1"/>
              </a:solidFill>
              <a:latin typeface="Times New Roman" pitchFamily="18" charset="0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当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增加为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+ 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时，外电源做功为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: 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</a:t>
            </a:r>
            <a:r>
              <a:rPr kumimoji="1" lang="en-US" altLang="zh-CN"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q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kumimoji="1" lang="el-GR" altLang="zh-CN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。</a:t>
            </a: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       对</a:t>
            </a:r>
            <a:r>
              <a:rPr kumimoji="1" lang="el-GR" altLang="zh-CN" b="1" i="1">
                <a:solidFill>
                  <a:schemeClr val="bg1"/>
                </a:solidFill>
                <a:latin typeface="Times New Roman" pitchFamily="18" charset="0"/>
              </a:rPr>
              <a:t>α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从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0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到 </a:t>
            </a: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1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积分，即得到外电源所做的总功为</a:t>
            </a:r>
          </a:p>
        </p:txBody>
      </p:sp>
      <p:graphicFrame>
        <p:nvGraphicFramePr>
          <p:cNvPr id="729114" name="Object 26"/>
          <p:cNvGraphicFramePr>
            <a:graphicFrameLocks noChangeAspect="1"/>
          </p:cNvGraphicFramePr>
          <p:nvPr/>
        </p:nvGraphicFramePr>
        <p:xfrm>
          <a:off x="2843213" y="3001963"/>
          <a:ext cx="22431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0" name="Equation" r:id="rId3" imgW="1019200" imgH="295404" progId="Equation.DSMT4">
                  <p:embed/>
                </p:oleObj>
              </mc:Choice>
              <mc:Fallback>
                <p:oleObj name="Equation" r:id="rId3" imgW="1019200" imgH="295404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001963"/>
                        <a:ext cx="2243137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9118" name="Rectangle 30"/>
          <p:cNvSpPr>
            <a:spLocks noChangeArrowheads="1"/>
          </p:cNvSpPr>
          <p:nvPr/>
        </p:nvSpPr>
        <p:spPr bwMode="auto">
          <a:xfrm>
            <a:off x="107950" y="3716338"/>
            <a:ext cx="88979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</a:rPr>
              <a:t>根据</a:t>
            </a:r>
            <a:r>
              <a:rPr kumimoji="1" lang="zh-CN" altLang="en-US" b="1">
                <a:solidFill>
                  <a:srgbClr val="FF0000"/>
                </a:solidFill>
              </a:rPr>
              <a:t>能量守恒定律</a:t>
            </a:r>
            <a:r>
              <a:rPr kumimoji="1" lang="zh-CN" altLang="en-US" b="1">
                <a:solidFill>
                  <a:schemeClr val="bg1"/>
                </a:solidFill>
              </a:rPr>
              <a:t>，此功也就是电量为 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kumimoji="1" lang="zh-CN" altLang="en-US" b="1">
                <a:solidFill>
                  <a:schemeClr val="bg1"/>
                </a:solidFill>
              </a:rPr>
              <a:t>的带电体具有的电场能量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W</a:t>
            </a:r>
            <a:r>
              <a:rPr kumimoji="1" lang="en-US" altLang="zh-CN" b="1" baseline="-25000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b="1" i="1" baseline="-25000">
                <a:solidFill>
                  <a:schemeClr val="bg1"/>
                </a:solidFill>
                <a:latin typeface="Times New Roman" pitchFamily="18" charset="0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</a:rPr>
              <a:t>，即</a:t>
            </a:r>
            <a:endParaRPr kumimoji="1" lang="zh-CN" altLang="en-US" b="1">
              <a:solidFill>
                <a:schemeClr val="bg1"/>
              </a:solidFill>
              <a:latin typeface="幼圆" pitchFamily="49" charset="-122"/>
            </a:endParaRPr>
          </a:p>
        </p:txBody>
      </p:sp>
      <p:sp>
        <p:nvSpPr>
          <p:cNvPr id="729120" name="Rectangle 32"/>
          <p:cNvSpPr>
            <a:spLocks noChangeArrowheads="1"/>
          </p:cNvSpPr>
          <p:nvPr/>
        </p:nvSpPr>
        <p:spPr bwMode="auto">
          <a:xfrm>
            <a:off x="107950" y="5051425"/>
            <a:ext cx="88979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</a:rPr>
              <a:t>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对于电荷体密度为</a:t>
            </a:r>
            <a:r>
              <a:rPr kumimoji="1" lang="el-GR" altLang="zh-CN" b="1" i="1">
                <a:solidFill>
                  <a:schemeClr val="bg1"/>
                </a:solidFill>
                <a:latin typeface="Times New Roman" pitchFamily="18" charset="0"/>
              </a:rPr>
              <a:t>ρ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的体分布电荷，体积元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中的电荷</a:t>
            </a:r>
            <a:r>
              <a:rPr kumimoji="1" lang="el-GR" altLang="zh-CN" b="1" i="1">
                <a:solidFill>
                  <a:schemeClr val="bg1"/>
                </a:solidFill>
                <a:latin typeface="Times New Roman" pitchFamily="18" charset="0"/>
              </a:rPr>
              <a:t>ρ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具有的电场能量为</a:t>
            </a:r>
          </a:p>
        </p:txBody>
      </p:sp>
      <p:graphicFrame>
        <p:nvGraphicFramePr>
          <p:cNvPr id="729123" name="Object 35"/>
          <p:cNvGraphicFramePr>
            <a:graphicFrameLocks noGrp="1" noChangeAspect="1"/>
          </p:cNvGraphicFramePr>
          <p:nvPr>
            <p:ph/>
          </p:nvPr>
        </p:nvGraphicFramePr>
        <p:xfrm>
          <a:off x="3203575" y="4221163"/>
          <a:ext cx="15128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1" name="公式" r:id="rId5" imgW="580913" imgH="295404" progId="Equation.3">
                  <p:embed/>
                </p:oleObj>
              </mc:Choice>
              <mc:Fallback>
                <p:oleObj name="公式" r:id="rId5" imgW="580913" imgH="295404" progId="Equation.3">
                  <p:embed/>
                  <p:pic>
                    <p:nvPicPr>
                      <p:cNvPr id="0" name="Object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221163"/>
                        <a:ext cx="15128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125" name="Object 37"/>
          <p:cNvGraphicFramePr>
            <a:graphicFrameLocks noChangeAspect="1"/>
          </p:cNvGraphicFramePr>
          <p:nvPr/>
        </p:nvGraphicFramePr>
        <p:xfrm>
          <a:off x="3059113" y="5661025"/>
          <a:ext cx="21129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2" name="公式" r:id="rId7" imgW="847772" imgH="295404" progId="Equation.3">
                  <p:embed/>
                </p:oleObj>
              </mc:Choice>
              <mc:Fallback>
                <p:oleObj name="公式" r:id="rId7" imgW="847772" imgH="295404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661025"/>
                        <a:ext cx="21129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AutoShape 38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4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5" name="AutoShape 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6" name="AutoShape 4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2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29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29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29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29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2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729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2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72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72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111" grpId="0"/>
      <p:bldP spid="7291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3D5331-A2DB-465D-90F2-355085383429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746500" name="Text Box 4"/>
          <p:cNvSpPr txBox="1">
            <a:spLocks noChangeArrowheads="1"/>
          </p:cNvSpPr>
          <p:nvPr/>
        </p:nvSpPr>
        <p:spPr bwMode="auto">
          <a:xfrm>
            <a:off x="323850" y="836613"/>
            <a:ext cx="5599113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</a:rPr>
              <a:t>故体分布电荷的电场能量为</a:t>
            </a:r>
          </a:p>
        </p:txBody>
      </p:sp>
      <p:sp>
        <p:nvSpPr>
          <p:cNvPr id="746501" name="Text Box 5"/>
          <p:cNvSpPr txBox="1">
            <a:spLocks noChangeArrowheads="1"/>
          </p:cNvSpPr>
          <p:nvPr/>
        </p:nvSpPr>
        <p:spPr bwMode="auto">
          <a:xfrm>
            <a:off x="323850" y="1701800"/>
            <a:ext cx="68405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</a:rPr>
              <a:t>对于面分布电荷，</a:t>
            </a:r>
            <a:r>
              <a:rPr kumimoji="1" lang="zh-CN" altLang="en-US" b="1">
                <a:solidFill>
                  <a:schemeClr val="bg1"/>
                </a:solidFill>
              </a:rPr>
              <a:t>电场能量为</a:t>
            </a:r>
            <a:endParaRPr kumimoji="1" lang="zh-CN" altLang="en-US" b="1">
              <a:solidFill>
                <a:schemeClr val="bg1"/>
              </a:solidFill>
              <a:latin typeface="幼圆" pitchFamily="49" charset="-122"/>
            </a:endParaRPr>
          </a:p>
        </p:txBody>
      </p:sp>
      <p:sp>
        <p:nvSpPr>
          <p:cNvPr id="746518" name="Text Box 22"/>
          <p:cNvSpPr txBox="1">
            <a:spLocks noChangeArrowheads="1"/>
          </p:cNvSpPr>
          <p:nvPr/>
        </p:nvSpPr>
        <p:spPr bwMode="auto">
          <a:xfrm>
            <a:off x="325438" y="3149600"/>
            <a:ext cx="6840537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</a:rPr>
              <a:t>对于多导体组成的带电系统，则有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403350" y="4652963"/>
            <a:ext cx="7146925" cy="566737"/>
            <a:chOff x="1009" y="2438"/>
            <a:chExt cx="4502" cy="357"/>
          </a:xfrm>
        </p:grpSpPr>
        <p:graphicFrame>
          <p:nvGraphicFramePr>
            <p:cNvPr id="24596" name="Object 7"/>
            <p:cNvGraphicFramePr>
              <a:graphicFrameLocks noChangeAspect="1"/>
            </p:cNvGraphicFramePr>
            <p:nvPr/>
          </p:nvGraphicFramePr>
          <p:xfrm>
            <a:off x="1009" y="2462"/>
            <a:ext cx="19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64" name="Equation" r:id="rId3" imgW="57258" imgH="133453" progId="Equation.DSMT4">
                    <p:embed/>
                  </p:oleObj>
                </mc:Choice>
                <mc:Fallback>
                  <p:oleObj name="Equation" r:id="rId3" imgW="57258" imgH="133453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2462"/>
                          <a:ext cx="19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Text Box 23"/>
            <p:cNvSpPr txBox="1">
              <a:spLocks noChangeArrowheads="1"/>
            </p:cNvSpPr>
            <p:nvPr/>
          </p:nvSpPr>
          <p:spPr bwMode="auto">
            <a:xfrm>
              <a:off x="1202" y="2438"/>
              <a:ext cx="430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</a:rPr>
                <a:t>——</a:t>
              </a:r>
              <a:r>
                <a:rPr kumimoji="1" lang="en-US" altLang="zh-CN" b="1">
                  <a:solidFill>
                    <a:schemeClr val="bg1"/>
                  </a:solidFill>
                  <a:latin typeface="幼圆" pitchFamily="49" charset="-122"/>
                </a:rPr>
                <a:t> 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第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itchFamily="18" charset="0"/>
                </a:rPr>
                <a:t>i 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个导体所带的电荷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1403350" y="5445125"/>
            <a:ext cx="7102475" cy="566738"/>
            <a:chOff x="1037" y="2756"/>
            <a:chExt cx="4474" cy="357"/>
          </a:xfrm>
        </p:grpSpPr>
        <p:graphicFrame>
          <p:nvGraphicFramePr>
            <p:cNvPr id="24594" name="Object 24"/>
            <p:cNvGraphicFramePr>
              <a:graphicFrameLocks noChangeAspect="1"/>
            </p:cNvGraphicFramePr>
            <p:nvPr/>
          </p:nvGraphicFramePr>
          <p:xfrm>
            <a:off x="1037" y="2825"/>
            <a:ext cx="21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65" name="Equation" r:id="rId5" imgW="66628" imgH="133453" progId="Equation.DSMT4">
                    <p:embed/>
                  </p:oleObj>
                </mc:Choice>
                <mc:Fallback>
                  <p:oleObj name="Equation" r:id="rId5" imgW="66628" imgH="133453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" y="2825"/>
                          <a:ext cx="21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Text Box 25"/>
            <p:cNvSpPr txBox="1">
              <a:spLocks noChangeArrowheads="1"/>
            </p:cNvSpPr>
            <p:nvPr/>
          </p:nvSpPr>
          <p:spPr bwMode="auto">
            <a:xfrm>
              <a:off x="1202" y="2756"/>
              <a:ext cx="4309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</a:rPr>
                <a:t>——</a:t>
              </a:r>
              <a:r>
                <a:rPr kumimoji="1" lang="en-US" altLang="zh-CN" b="1">
                  <a:solidFill>
                    <a:schemeClr val="bg1"/>
                  </a:solidFill>
                  <a:latin typeface="幼圆" pitchFamily="49" charset="-122"/>
                </a:rPr>
                <a:t> 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第</a:t>
              </a:r>
              <a:r>
                <a:rPr kumimoji="1" lang="en-US" altLang="zh-CN" b="1" i="1">
                  <a:solidFill>
                    <a:schemeClr val="bg1"/>
                  </a:solidFill>
                  <a:latin typeface="Times New Roman" pitchFamily="18" charset="0"/>
                </a:rPr>
                <a:t>i 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个导体的电位</a:t>
              </a:r>
            </a:p>
          </p:txBody>
        </p:sp>
      </p:grpSp>
      <p:sp>
        <p:nvSpPr>
          <p:cNvPr id="746522" name="Text Box 26"/>
          <p:cNvSpPr txBox="1">
            <a:spLocks noChangeArrowheads="1"/>
          </p:cNvSpPr>
          <p:nvPr/>
        </p:nvSpPr>
        <p:spPr bwMode="auto">
          <a:xfrm>
            <a:off x="468313" y="4581525"/>
            <a:ext cx="6840537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b="1">
                <a:solidFill>
                  <a:schemeClr val="bg1"/>
                </a:solidFill>
                <a:latin typeface="幼圆" pitchFamily="49" charset="-122"/>
              </a:rPr>
              <a:t>式中：</a:t>
            </a:r>
          </a:p>
        </p:txBody>
      </p:sp>
      <p:graphicFrame>
        <p:nvGraphicFramePr>
          <p:cNvPr id="746527" name="Object 31"/>
          <p:cNvGraphicFramePr>
            <a:graphicFrameLocks noChangeAspect="1"/>
          </p:cNvGraphicFramePr>
          <p:nvPr/>
        </p:nvGraphicFramePr>
        <p:xfrm>
          <a:off x="3203575" y="3716338"/>
          <a:ext cx="197326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Equation" r:id="rId7" imgW="809600" imgH="333285" progId="Equation.DSMT4">
                  <p:embed/>
                </p:oleObj>
              </mc:Choice>
              <mc:Fallback>
                <p:oleObj name="Equation" r:id="rId7" imgW="809600" imgH="333285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716338"/>
                        <a:ext cx="1973263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8" name="Object 32"/>
          <p:cNvGraphicFramePr>
            <a:graphicFrameLocks noChangeAspect="1"/>
          </p:cNvGraphicFramePr>
          <p:nvPr/>
        </p:nvGraphicFramePr>
        <p:xfrm>
          <a:off x="4960938" y="692150"/>
          <a:ext cx="22272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公式" r:id="rId9" imgW="895314" imgH="295404" progId="Equation.3">
                  <p:embed/>
                </p:oleObj>
              </mc:Choice>
              <mc:Fallback>
                <p:oleObj name="公式" r:id="rId9" imgW="895314" imgH="295404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938" y="692150"/>
                        <a:ext cx="22272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9" name="Object 33"/>
          <p:cNvGraphicFramePr>
            <a:graphicFrameLocks noChangeAspect="1"/>
          </p:cNvGraphicFramePr>
          <p:nvPr/>
        </p:nvGraphicFramePr>
        <p:xfrm>
          <a:off x="5003800" y="1628775"/>
          <a:ext cx="22844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公式" r:id="rId11" imgW="923770" imgH="295404" progId="Equation.3">
                  <p:embed/>
                </p:oleObj>
              </mc:Choice>
              <mc:Fallback>
                <p:oleObj name="公式" r:id="rId11" imgW="923770" imgH="295404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628775"/>
                        <a:ext cx="2284413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" name="AutoShape 34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9" name="AutoShape 3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0" name="AutoShape 3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1" name="AutoShape 3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46534" name="Text Box 38"/>
          <p:cNvSpPr txBox="1">
            <a:spLocks noChangeArrowheads="1"/>
          </p:cNvSpPr>
          <p:nvPr/>
        </p:nvSpPr>
        <p:spPr bwMode="auto">
          <a:xfrm>
            <a:off x="250825" y="2579688"/>
            <a:ext cx="799306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幼圆" pitchFamily="49" charset="-122"/>
              </a:rPr>
              <a:t>注意</a:t>
            </a:r>
            <a:r>
              <a:rPr kumimoji="1" lang="zh-CN" altLang="en-US" sz="2000" b="1">
                <a:solidFill>
                  <a:schemeClr val="bg1"/>
                </a:solidFill>
                <a:latin typeface="幼圆" pitchFamily="49" charset="-122"/>
              </a:rPr>
              <a:t>：式中   是电荷所在点的电位，积分遍及整个有电荷的区域。</a:t>
            </a:r>
          </a:p>
        </p:txBody>
      </p:sp>
      <p:graphicFrame>
        <p:nvGraphicFramePr>
          <p:cNvPr id="746535" name="Object 39"/>
          <p:cNvGraphicFramePr>
            <a:graphicFrameLocks noGrp="1" noChangeAspect="1"/>
          </p:cNvGraphicFramePr>
          <p:nvPr>
            <p:ph/>
          </p:nvPr>
        </p:nvGraphicFramePr>
        <p:xfrm>
          <a:off x="1692275" y="2644775"/>
          <a:ext cx="3048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name="Equation" r:id="rId14" imgW="47542" imgH="66726" progId="Equation.DSMT4">
                  <p:embed/>
                </p:oleObj>
              </mc:Choice>
              <mc:Fallback>
                <p:oleObj name="Equation" r:id="rId14" imgW="47542" imgH="66726" progId="Equation.DSMT4">
                  <p:embed/>
                  <p:pic>
                    <p:nvPicPr>
                      <p:cNvPr id="0" name="Object 3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44775"/>
                        <a:ext cx="3048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4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4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4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4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4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4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4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4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00" grpId="0"/>
      <p:bldP spid="746501" grpId="0"/>
      <p:bldP spid="746518" grpId="0"/>
      <p:bldP spid="746522" grpId="0"/>
      <p:bldP spid="7465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ABFD3B-9668-40A2-B421-FAA24F2FFA78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441390" name="Text Box 46"/>
          <p:cNvSpPr txBox="1">
            <a:spLocks noChangeArrowheads="1"/>
          </p:cNvSpPr>
          <p:nvPr/>
        </p:nvSpPr>
        <p:spPr bwMode="auto">
          <a:xfrm>
            <a:off x="179388" y="625475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2.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电场能量密度</a:t>
            </a:r>
          </a:p>
        </p:txBody>
      </p:sp>
      <p:sp>
        <p:nvSpPr>
          <p:cNvPr id="441392" name="Text Box 48"/>
          <p:cNvSpPr txBox="1">
            <a:spLocks noChangeArrowheads="1"/>
          </p:cNvSpPr>
          <p:nvPr/>
        </p:nvSpPr>
        <p:spPr bwMode="auto">
          <a:xfrm>
            <a:off x="187325" y="1123950"/>
            <a:ext cx="90011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楷体_GB2312" pitchFamily="49" charset="-122"/>
              </a:rPr>
              <a:t> 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从场的观点来看，静电场的能量分布于</a:t>
            </a:r>
            <a:r>
              <a:rPr kumimoji="1" lang="zh-CN" altLang="en-US" b="1" u="sng">
                <a:solidFill>
                  <a:schemeClr val="bg1"/>
                </a:solidFill>
                <a:latin typeface="楷体_GB2312" pitchFamily="49" charset="-122"/>
              </a:rPr>
              <a:t>电场所在的整个空间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。</a:t>
            </a:r>
            <a:endParaRPr kumimoji="1" lang="zh-CN" altLang="en-US" b="1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2" name="组合 2"/>
          <p:cNvGrpSpPr>
            <a:grpSpLocks/>
          </p:cNvGrpSpPr>
          <p:nvPr/>
        </p:nvGrpSpPr>
        <p:grpSpPr bwMode="auto">
          <a:xfrm>
            <a:off x="247650" y="1793875"/>
            <a:ext cx="5011738" cy="787400"/>
            <a:chOff x="5629312" y="1666277"/>
            <a:chExt cx="5011663" cy="787400"/>
          </a:xfrm>
        </p:grpSpPr>
        <p:graphicFrame>
          <p:nvGraphicFramePr>
            <p:cNvPr id="25619" name="Object 1027"/>
            <p:cNvGraphicFramePr>
              <a:graphicFrameLocks noChangeAspect="1"/>
            </p:cNvGraphicFramePr>
            <p:nvPr/>
          </p:nvGraphicFramePr>
          <p:xfrm>
            <a:off x="8395441" y="1666277"/>
            <a:ext cx="1547813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5" name="Equation" r:id="rId3" imgW="676344" imgH="295404" progId="Equation.DSMT4">
                    <p:embed/>
                  </p:oleObj>
                </mc:Choice>
                <mc:Fallback>
                  <p:oleObj name="Equation" r:id="rId3" imgW="676344" imgH="295404" progId="Equation.DSMT4">
                    <p:embed/>
                    <p:pic>
                      <p:nvPicPr>
                        <p:cNvPr id="0" name="Object 10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5441" y="1666277"/>
                          <a:ext cx="1547813" cy="78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0" name="Text Box 49"/>
            <p:cNvSpPr txBox="1">
              <a:spLocks noChangeArrowheads="1"/>
            </p:cNvSpPr>
            <p:nvPr/>
          </p:nvSpPr>
          <p:spPr bwMode="auto">
            <a:xfrm>
              <a:off x="5629312" y="1763993"/>
              <a:ext cx="5011663" cy="572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5"/>
                </a:buBlip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　</a:t>
              </a:r>
              <a:r>
                <a:rPr kumimoji="1" lang="zh-CN" altLang="en-US" b="1">
                  <a:solidFill>
                    <a:schemeClr val="bg1"/>
                  </a:solidFill>
                </a:rPr>
                <a:t>电场能量</a:t>
              </a:r>
              <a:r>
                <a:rPr kumimoji="1" lang="zh-CN" altLang="en-US" b="1">
                  <a:solidFill>
                    <a:srgbClr val="FF0000"/>
                  </a:solidFill>
                </a:rPr>
                <a:t>密度</a:t>
              </a:r>
              <a:r>
                <a:rPr kumimoji="1" lang="zh-CN" altLang="en-US" b="1">
                  <a:solidFill>
                    <a:schemeClr val="bg1"/>
                  </a:solidFill>
                </a:rPr>
                <a:t>：</a:t>
              </a:r>
              <a:endParaRPr kumimoji="1" lang="zh-CN" altLang="en-US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179388" y="2581275"/>
            <a:ext cx="8410575" cy="787400"/>
            <a:chOff x="113" y="1490"/>
            <a:chExt cx="5298" cy="496"/>
          </a:xfrm>
        </p:grpSpPr>
        <p:graphicFrame>
          <p:nvGraphicFramePr>
            <p:cNvPr id="25617" name="Object 1030"/>
            <p:cNvGraphicFramePr>
              <a:graphicFrameLocks noChangeAspect="1"/>
            </p:cNvGraphicFramePr>
            <p:nvPr/>
          </p:nvGraphicFramePr>
          <p:xfrm>
            <a:off x="1791" y="1490"/>
            <a:ext cx="139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66" name="Equation" r:id="rId6" imgW="1009484" imgH="295404" progId="Equation.DSMT4">
                    <p:embed/>
                  </p:oleObj>
                </mc:Choice>
                <mc:Fallback>
                  <p:oleObj name="Equation" r:id="rId6" imgW="1009484" imgH="295404" progId="Equation.DSMT4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490"/>
                          <a:ext cx="1392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8" name="Text Box 50"/>
            <p:cNvSpPr txBox="1">
              <a:spLocks noChangeArrowheads="1"/>
            </p:cNvSpPr>
            <p:nvPr/>
          </p:nvSpPr>
          <p:spPr bwMode="auto">
            <a:xfrm>
              <a:off x="113" y="1490"/>
              <a:ext cx="529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FontTx/>
                <a:buBlip>
                  <a:blip r:embed="rId5"/>
                </a:buBlip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</a:rPr>
                <a:t>　</a:t>
              </a:r>
              <a:r>
                <a:rPr kumimoji="1" lang="zh-CN" altLang="en-US" b="1">
                  <a:solidFill>
                    <a:schemeClr val="bg1"/>
                  </a:solidFill>
                </a:rPr>
                <a:t>电场的总能量：</a:t>
              </a: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3995738" y="2946400"/>
            <a:ext cx="3960812" cy="844550"/>
            <a:chOff x="2517" y="1762"/>
            <a:chExt cx="2495" cy="532"/>
          </a:xfrm>
        </p:grpSpPr>
        <p:sp>
          <p:nvSpPr>
            <p:cNvPr id="25615" name="Text Box 1031"/>
            <p:cNvSpPr txBox="1">
              <a:spLocks noChangeArrowheads="1"/>
            </p:cNvSpPr>
            <p:nvPr/>
          </p:nvSpPr>
          <p:spPr bwMode="auto">
            <a:xfrm>
              <a:off x="3696" y="1762"/>
              <a:ext cx="1316" cy="532"/>
            </a:xfrm>
            <a:prstGeom prst="rect">
              <a:avLst/>
            </a:prstGeom>
            <a:solidFill>
              <a:srgbClr val="CCFFFF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</a:pPr>
              <a:r>
                <a:rPr kumimoji="1" lang="zh-CN" altLang="en-US" sz="2000" b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积分区域为电场所在的整个空间</a:t>
              </a:r>
            </a:p>
          </p:txBody>
        </p:sp>
        <p:sp>
          <p:nvSpPr>
            <p:cNvPr id="25616" name="Line 51"/>
            <p:cNvSpPr>
              <a:spLocks noChangeShapeType="1"/>
            </p:cNvSpPr>
            <p:nvPr/>
          </p:nvSpPr>
          <p:spPr bwMode="auto">
            <a:xfrm flipH="1" flipV="1">
              <a:off x="2517" y="1899"/>
              <a:ext cx="1179" cy="18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41409" name="Object 65"/>
          <p:cNvGraphicFramePr>
            <a:graphicFrameLocks noChangeAspect="1"/>
          </p:cNvGraphicFramePr>
          <p:nvPr/>
        </p:nvGraphicFramePr>
        <p:xfrm>
          <a:off x="1908175" y="5233988"/>
          <a:ext cx="5816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8" imgW="2809828" imgH="295404" progId="Equation.DSMT4">
                  <p:embed/>
                </p:oleObj>
              </mc:Choice>
              <mc:Fallback>
                <p:oleObj name="Equation" r:id="rId8" imgW="2809828" imgH="295404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233988"/>
                        <a:ext cx="5816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410" name="Text Box 66"/>
          <p:cNvSpPr txBox="1">
            <a:spLocks noChangeArrowheads="1"/>
          </p:cNvSpPr>
          <p:nvPr/>
        </p:nvSpPr>
        <p:spPr bwMode="auto">
          <a:xfrm>
            <a:off x="179388" y="3443288"/>
            <a:ext cx="60483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5"/>
              </a:buBlip>
            </a:pP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　</a:t>
            </a:r>
            <a:r>
              <a:rPr kumimoji="1" lang="zh-CN" altLang="en-US" b="1">
                <a:solidFill>
                  <a:schemeClr val="bg1"/>
                </a:solidFill>
              </a:rPr>
              <a:t>对于线性、各向同性介质，则有</a:t>
            </a:r>
          </a:p>
        </p:txBody>
      </p:sp>
      <p:graphicFrame>
        <p:nvGraphicFramePr>
          <p:cNvPr id="441412" name="Object 68"/>
          <p:cNvGraphicFramePr>
            <a:graphicFrameLocks noChangeAspect="1"/>
          </p:cNvGraphicFramePr>
          <p:nvPr/>
        </p:nvGraphicFramePr>
        <p:xfrm>
          <a:off x="1908175" y="4225925"/>
          <a:ext cx="38322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8" name="Equation" r:id="rId10" imgW="1819430" imgH="295404" progId="Equation.DSMT4">
                  <p:embed/>
                </p:oleObj>
              </mc:Choice>
              <mc:Fallback>
                <p:oleObj name="Equation" r:id="rId10" imgW="1819430" imgH="295404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225925"/>
                        <a:ext cx="38322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AutoShape 73">
            <a:hlinkClick r:id="rId1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2" name="AutoShape 7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3" name="AutoShape 7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4" name="AutoShape 7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4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4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4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44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44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90" grpId="0"/>
      <p:bldP spid="441392" grpId="0"/>
      <p:bldP spid="4414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B3DEB5-E7F0-4E6E-BD6D-74E39CA93EC2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561155" name="Rectangle 1027"/>
          <p:cNvSpPr>
            <a:spLocks noChangeArrowheads="1"/>
          </p:cNvSpPr>
          <p:nvPr/>
        </p:nvSpPr>
        <p:spPr bwMode="auto">
          <a:xfrm>
            <a:off x="41275" y="404813"/>
            <a:ext cx="90678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 </a:t>
            </a:r>
            <a:r>
              <a:rPr kumimoji="1" lang="zh-CN" altLang="en-US" b="1">
                <a:solidFill>
                  <a:srgbClr val="FFB953"/>
                </a:solidFill>
                <a:latin typeface="幼圆" pitchFamily="49" charset="-122"/>
                <a:ea typeface="幼圆" pitchFamily="49" charset="-122"/>
              </a:rPr>
              <a:t>例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半径为</a:t>
            </a:r>
            <a:r>
              <a:rPr kumimoji="1" lang="en-US" altLang="zh-CN" b="1" i="1">
                <a:solidFill>
                  <a:schemeClr val="bg1"/>
                </a:solidFill>
                <a:latin typeface="Times New Roman" pitchFamily="18" charset="0"/>
              </a:rPr>
              <a:t>a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的球形空间内均匀分布有电荷体密度为</a:t>
            </a:r>
            <a:r>
              <a:rPr kumimoji="1" lang="el-GR" altLang="zh-CN" b="1" i="1">
                <a:solidFill>
                  <a:schemeClr val="bg1"/>
                </a:solidFill>
                <a:latin typeface="Times New Roman" pitchFamily="18" charset="0"/>
              </a:rPr>
              <a:t>ρ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的电荷，试求静电场能量。</a:t>
            </a:r>
          </a:p>
        </p:txBody>
      </p:sp>
      <p:graphicFrame>
        <p:nvGraphicFramePr>
          <p:cNvPr id="561158" name="Object 1030"/>
          <p:cNvGraphicFramePr>
            <a:graphicFrameLocks noChangeAspect="1"/>
          </p:cNvGraphicFramePr>
          <p:nvPr/>
        </p:nvGraphicFramePr>
        <p:xfrm>
          <a:off x="1589088" y="5516563"/>
          <a:ext cx="68484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7" name="Equation" r:id="rId3" imgW="3343199" imgH="390628" progId="Equation.DSMT4">
                  <p:embed/>
                </p:oleObj>
              </mc:Choice>
              <mc:Fallback>
                <p:oleObj name="Equation" r:id="rId3" imgW="3343199" imgH="390628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5516563"/>
                        <a:ext cx="68484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59" name="Object 1031"/>
          <p:cNvGraphicFramePr>
            <a:graphicFrameLocks noChangeAspect="1"/>
          </p:cNvGraphicFramePr>
          <p:nvPr/>
        </p:nvGraphicFramePr>
        <p:xfrm>
          <a:off x="1816100" y="2693988"/>
          <a:ext cx="345757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8" name="Equation" r:id="rId5" imgW="1114284" imgH="352399" progId="Equation.DSMT4">
                  <p:embed/>
                </p:oleObj>
              </mc:Choice>
              <mc:Fallback>
                <p:oleObj name="Equation" r:id="rId5" imgW="1114284" imgH="352399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693988"/>
                        <a:ext cx="345757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40"/>
          <p:cNvGrpSpPr>
            <a:grpSpLocks/>
          </p:cNvGrpSpPr>
          <p:nvPr/>
        </p:nvGrpSpPr>
        <p:grpSpPr bwMode="auto">
          <a:xfrm>
            <a:off x="0" y="1412875"/>
            <a:ext cx="6842125" cy="763588"/>
            <a:chOff x="22" y="935"/>
            <a:chExt cx="4310" cy="481"/>
          </a:xfrm>
        </p:grpSpPr>
        <p:sp>
          <p:nvSpPr>
            <p:cNvPr id="26640" name="Text Box 1032"/>
            <p:cNvSpPr txBox="1">
              <a:spLocks noChangeArrowheads="1"/>
            </p:cNvSpPr>
            <p:nvPr/>
          </p:nvSpPr>
          <p:spPr bwMode="auto">
            <a:xfrm>
              <a:off x="22" y="1006"/>
              <a:ext cx="4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    </a:t>
              </a:r>
              <a:r>
                <a:rPr kumimoji="1" lang="zh-CN" altLang="en-US" b="1">
                  <a:solidFill>
                    <a:srgbClr val="FFB953"/>
                  </a:solidFill>
                  <a:latin typeface="幼圆" pitchFamily="49" charset="-122"/>
                  <a:ea typeface="幼圆" pitchFamily="49" charset="-122"/>
                </a:rPr>
                <a:t>解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：</a:t>
              </a:r>
              <a:r>
                <a:rPr kumimoji="1" lang="zh-CN" altLang="en-US" b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方法一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：</a:t>
              </a: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利用                计算。                     </a:t>
              </a:r>
            </a:p>
          </p:txBody>
        </p:sp>
        <p:graphicFrame>
          <p:nvGraphicFramePr>
            <p:cNvPr id="26641" name="Object 1034"/>
            <p:cNvGraphicFramePr>
              <a:graphicFrameLocks noChangeAspect="1"/>
            </p:cNvGraphicFramePr>
            <p:nvPr/>
          </p:nvGraphicFramePr>
          <p:xfrm>
            <a:off x="2108" y="935"/>
            <a:ext cx="1379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99" name="公式" r:id="rId7" imgW="1038286" imgH="295404" progId="Equation.3">
                    <p:embed/>
                  </p:oleObj>
                </mc:Choice>
                <mc:Fallback>
                  <p:oleObj name="公式" r:id="rId7" imgW="1038286" imgH="295404" progId="Equation.3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8" y="935"/>
                          <a:ext cx="1379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1163" name="Text Box 1035"/>
          <p:cNvSpPr txBox="1">
            <a:spLocks noChangeArrowheads="1"/>
          </p:cNvSpPr>
          <p:nvPr/>
        </p:nvSpPr>
        <p:spPr bwMode="auto">
          <a:xfrm>
            <a:off x="755650" y="2205038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根据</a:t>
            </a:r>
            <a:r>
              <a:rPr kumimoji="1" lang="zh-CN" altLang="en-US" b="1">
                <a:solidFill>
                  <a:srgbClr val="FF0000"/>
                </a:solidFill>
                <a:latin typeface="楷体_GB2312" pitchFamily="49" charset="-122"/>
              </a:rPr>
              <a:t>高斯定理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求得电场强度 </a:t>
            </a:r>
          </a:p>
        </p:txBody>
      </p:sp>
      <p:graphicFrame>
        <p:nvGraphicFramePr>
          <p:cNvPr id="561164" name="Object 10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911970"/>
              </p:ext>
            </p:extLst>
          </p:nvPr>
        </p:nvGraphicFramePr>
        <p:xfrm>
          <a:off x="1835151" y="3573463"/>
          <a:ext cx="3384921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0" name="Equation" r:id="rId9" imgW="1238170" imgH="361783" progId="Equation.DSMT4">
                  <p:embed/>
                </p:oleObj>
              </mc:Choice>
              <mc:Fallback>
                <p:oleObj name="Equation" r:id="rId9" imgW="1238170" imgH="361783" progId="Equation.DSMT4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1" y="3573463"/>
                        <a:ext cx="3384921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39"/>
          <p:cNvGrpSpPr>
            <a:grpSpLocks/>
          </p:cNvGrpSpPr>
          <p:nvPr/>
        </p:nvGrpSpPr>
        <p:grpSpPr bwMode="auto">
          <a:xfrm>
            <a:off x="611188" y="4581525"/>
            <a:ext cx="6934200" cy="863600"/>
            <a:chOff x="46" y="2400"/>
            <a:chExt cx="4368" cy="544"/>
          </a:xfrm>
        </p:grpSpPr>
        <p:sp>
          <p:nvSpPr>
            <p:cNvPr id="26638" name="Text Box 1037"/>
            <p:cNvSpPr txBox="1">
              <a:spLocks noChangeArrowheads="1"/>
            </p:cNvSpPr>
            <p:nvPr/>
          </p:nvSpPr>
          <p:spPr bwMode="auto">
            <a:xfrm>
              <a:off x="46" y="2507"/>
              <a:ext cx="15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故</a:t>
              </a:r>
            </a:p>
          </p:txBody>
        </p:sp>
        <p:graphicFrame>
          <p:nvGraphicFramePr>
            <p:cNvPr id="26639" name="Object 1038"/>
            <p:cNvGraphicFramePr>
              <a:graphicFrameLocks noChangeAspect="1"/>
            </p:cNvGraphicFramePr>
            <p:nvPr/>
          </p:nvGraphicFramePr>
          <p:xfrm>
            <a:off x="341" y="2400"/>
            <a:ext cx="4073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01" name="公式" r:id="rId11" imgW="2848000" imgH="295404" progId="Equation.3">
                    <p:embed/>
                  </p:oleObj>
                </mc:Choice>
                <mc:Fallback>
                  <p:oleObj name="公式" r:id="rId11" imgW="2848000" imgH="295404" progId="Equation.3">
                    <p:embed/>
                    <p:pic>
                      <p:nvPicPr>
                        <p:cNvPr id="0" name="Object 10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" y="2400"/>
                          <a:ext cx="4073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34" name="AutoShape 1041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5" name="AutoShape 104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6" name="AutoShape 104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7" name="AutoShape 104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6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6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56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  <p:bldP spid="5611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0CF426-B3EF-44E3-B229-1E367B33AD1B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graphicFrame>
        <p:nvGraphicFramePr>
          <p:cNvPr id="627717" name="Object 5"/>
          <p:cNvGraphicFramePr>
            <a:graphicFrameLocks noChangeAspect="1"/>
          </p:cNvGraphicFramePr>
          <p:nvPr/>
        </p:nvGraphicFramePr>
        <p:xfrm>
          <a:off x="1058863" y="2054225"/>
          <a:ext cx="7027862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3" imgW="3143315" imgH="904978" progId="Equation.DSMT4">
                  <p:embed/>
                </p:oleObj>
              </mc:Choice>
              <mc:Fallback>
                <p:oleObj name="Equation" r:id="rId3" imgW="3143315" imgH="90497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2054225"/>
                        <a:ext cx="7027862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0" y="620713"/>
            <a:ext cx="6265863" cy="763587"/>
            <a:chOff x="0" y="346"/>
            <a:chExt cx="3947" cy="481"/>
          </a:xfrm>
        </p:grpSpPr>
        <p:sp>
          <p:nvSpPr>
            <p:cNvPr id="27660" name="Text Box 7"/>
            <p:cNvSpPr txBox="1">
              <a:spLocks noChangeArrowheads="1"/>
            </p:cNvSpPr>
            <p:nvPr/>
          </p:nvSpPr>
          <p:spPr bwMode="auto">
            <a:xfrm>
              <a:off x="0" y="436"/>
              <a:ext cx="39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kumimoji="1" lang="en-US" altLang="zh-CN" b="1">
                  <a:solidFill>
                    <a:schemeClr val="bg1"/>
                  </a:solidFill>
                  <a:latin typeface="楷体_GB2312" pitchFamily="49" charset="-122"/>
                </a:rPr>
                <a:t>    </a:t>
              </a:r>
              <a:r>
                <a:rPr kumimoji="1" lang="zh-CN" altLang="en-US" b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方法二</a:t>
              </a:r>
              <a:r>
                <a:rPr kumimoji="1" lang="zh-CN" altLang="en-US" b="1">
                  <a:solidFill>
                    <a:schemeClr val="bg1"/>
                  </a:solidFill>
                  <a:latin typeface="幼圆" pitchFamily="49" charset="-122"/>
                </a:rPr>
                <a:t>：</a:t>
              </a:r>
              <a:r>
                <a:rPr kumimoji="1" lang="zh-CN" altLang="en-US" b="1">
                  <a:solidFill>
                    <a:schemeClr val="bg1"/>
                  </a:solidFill>
                  <a:latin typeface="楷体_GB2312" pitchFamily="49" charset="-122"/>
                </a:rPr>
                <a:t>利用             计算。         </a:t>
              </a:r>
            </a:p>
          </p:txBody>
        </p:sp>
        <p:graphicFrame>
          <p:nvGraphicFramePr>
            <p:cNvPr id="27661" name="Object 8"/>
            <p:cNvGraphicFramePr>
              <a:graphicFrameLocks noChangeAspect="1"/>
            </p:cNvGraphicFramePr>
            <p:nvPr/>
          </p:nvGraphicFramePr>
          <p:xfrm>
            <a:off x="1610" y="346"/>
            <a:ext cx="1224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96" name="公式" r:id="rId5" imgW="905030" imgH="295404" progId="Equation.3">
                    <p:embed/>
                  </p:oleObj>
                </mc:Choice>
                <mc:Fallback>
                  <p:oleObj name="公式" r:id="rId5" imgW="905030" imgH="295404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346"/>
                          <a:ext cx="1224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7721" name="Text Box 9"/>
          <p:cNvSpPr txBox="1">
            <a:spLocks noChangeArrowheads="1"/>
          </p:cNvSpPr>
          <p:nvPr/>
        </p:nvSpPr>
        <p:spPr bwMode="auto">
          <a:xfrm>
            <a:off x="179388" y="1458913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先求出电位分布 </a:t>
            </a:r>
          </a:p>
        </p:txBody>
      </p:sp>
      <p:sp>
        <p:nvSpPr>
          <p:cNvPr id="627723" name="Text Box 11"/>
          <p:cNvSpPr txBox="1">
            <a:spLocks noChangeArrowheads="1"/>
          </p:cNvSpPr>
          <p:nvPr/>
        </p:nvSpPr>
        <p:spPr bwMode="auto">
          <a:xfrm>
            <a:off x="73025" y="4292600"/>
            <a:ext cx="2411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kumimoji="1" lang="zh-CN" altLang="en-US" b="1">
                <a:solidFill>
                  <a:schemeClr val="bg1"/>
                </a:solidFill>
                <a:latin typeface="楷体_GB2312" pitchFamily="49" charset="-122"/>
              </a:rPr>
              <a:t>故</a:t>
            </a:r>
          </a:p>
        </p:txBody>
      </p:sp>
      <p:graphicFrame>
        <p:nvGraphicFramePr>
          <p:cNvPr id="627725" name="Object 13"/>
          <p:cNvGraphicFramePr>
            <a:graphicFrameLocks noChangeAspect="1"/>
          </p:cNvGraphicFramePr>
          <p:nvPr/>
        </p:nvGraphicFramePr>
        <p:xfrm>
          <a:off x="930275" y="4140200"/>
          <a:ext cx="77406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7" imgW="3324113" imgH="380897" progId="Equation.DSMT4">
                  <p:embed/>
                </p:oleObj>
              </mc:Choice>
              <mc:Fallback>
                <p:oleObj name="Equation" r:id="rId7" imgW="3324113" imgH="38089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4140200"/>
                        <a:ext cx="77406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AutoShape 15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7" name="AutoShape 1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8" name="AutoShape 1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AutoShape 1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7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62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27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0"/>
                                        <p:tgtEl>
                                          <p:spTgt spid="62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21" grpId="0" build="p" autoUpdateAnimBg="0"/>
      <p:bldP spid="62772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9C234A-BC9D-47D5-890A-62537A5B22D7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737302" name="Text Box 22"/>
          <p:cNvSpPr txBox="1">
            <a:spLocks noChangeArrowheads="1"/>
          </p:cNvSpPr>
          <p:nvPr/>
        </p:nvSpPr>
        <p:spPr bwMode="auto">
          <a:xfrm>
            <a:off x="71438" y="933450"/>
            <a:ext cx="8964612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已知带电体的电荷分布，原则上，根据库仑定律可以计算带电体电荷之间的电场力。但对于电荷分布复杂的带电系统，根据库仑定律计算电场力往往是非常困难的，因此通常采用</a:t>
            </a:r>
            <a:r>
              <a:rPr kumimoji="1" lang="zh-CN" altLang="en-US" b="1">
                <a:solidFill>
                  <a:srgbClr val="FF0000"/>
                </a:solidFill>
                <a:latin typeface="Times New Roman" pitchFamily="18" charset="0"/>
              </a:rPr>
              <a:t>虚位移法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</a:rPr>
              <a:t>来计算静电力。</a:t>
            </a:r>
            <a:endParaRPr kumimoji="1" lang="zh-CN" altLang="en-US" b="1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37311" name="Rectangle 31"/>
          <p:cNvSpPr>
            <a:spLocks noChangeArrowheads="1"/>
          </p:cNvSpPr>
          <p:nvPr/>
        </p:nvSpPr>
        <p:spPr bwMode="auto">
          <a:xfrm>
            <a:off x="96838" y="2984106"/>
            <a:ext cx="8964612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B953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zh-CN" altLang="en-US" b="1" dirty="0">
                <a:solidFill>
                  <a:srgbClr val="FFB953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虚位移法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宋体" pitchFamily="2" charset="-122"/>
                <a:cs typeface="Times New Roman" pitchFamily="18" charset="0"/>
              </a:rPr>
              <a:t>假设第</a:t>
            </a:r>
            <a:r>
              <a:rPr lang="en-US" altLang="zh-CN" b="1" i="1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b="1" i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楷体_GB2312" pitchFamily="49" charset="-122"/>
                <a:ea typeface="宋体" pitchFamily="2" charset="-122"/>
                <a:cs typeface="Times New Roman" pitchFamily="18" charset="0"/>
              </a:rPr>
              <a:t>个带电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导体在电场力</a:t>
            </a:r>
            <a:r>
              <a:rPr lang="en-US" altLang="zh-CN" b="1" i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b="1" i="1" baseline="-250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 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的作用下发生位移</a:t>
            </a:r>
            <a:r>
              <a:rPr lang="en-US" altLang="zh-CN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en-US" altLang="zh-CN" i="1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</a:t>
            </a:r>
            <a:r>
              <a:rPr lang="en-US" altLang="zh-CN" b="1" i="1" baseline="-25000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，则电场力</a:t>
            </a:r>
            <a:r>
              <a:rPr lang="zh-CN" altLang="en-US" b="1" dirty="0" smtClean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做功</a:t>
            </a:r>
            <a:r>
              <a:rPr lang="en-US" altLang="zh-CN" i="1" dirty="0" smtClean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</a:t>
            </a:r>
            <a:r>
              <a:rPr lang="en-US" altLang="zh-CN" b="1" i="1" baseline="-25000" dirty="0" smtClean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 </a:t>
            </a:r>
            <a:r>
              <a:rPr lang="en-US" altLang="zh-CN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en-US" altLang="zh-CN" i="1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</a:t>
            </a:r>
            <a:r>
              <a:rPr lang="en-US" altLang="zh-CN" b="1" i="1" baseline="-25000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</a:t>
            </a:r>
            <a:r>
              <a:rPr lang="en-US" altLang="zh-CN" b="1" i="1" baseline="-250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，系统的静电能量改变为</a:t>
            </a:r>
            <a:r>
              <a:rPr lang="en-US" altLang="zh-CN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en-US" altLang="zh-CN" i="1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lang="en-US" altLang="zh-CN" b="1" baseline="-25000" dirty="0" err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lang="en-US" altLang="zh-CN" b="1" baseline="-25000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r>
              <a:rPr lang="zh-CN" altLang="en-US" b="1" dirty="0">
                <a:solidFill>
                  <a:schemeClr val="bg1"/>
                </a:solidFill>
                <a:ea typeface="宋体" pitchFamily="2" charset="-122"/>
                <a:cs typeface="Times New Roman" pitchFamily="18" charset="0"/>
              </a:rPr>
              <a:t>根据</a:t>
            </a:r>
            <a:r>
              <a:rPr lang="zh-CN" altLang="en-US" b="1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能量守恒定律</a:t>
            </a:r>
            <a:r>
              <a:rPr lang="zh-CN" altLang="en-US" b="1" dirty="0">
                <a:solidFill>
                  <a:schemeClr val="bg1"/>
                </a:solidFill>
                <a:ea typeface="宋体" pitchFamily="2" charset="-122"/>
                <a:cs typeface="Times New Roman" pitchFamily="18" charset="0"/>
              </a:rPr>
              <a:t>，该系统的功能关系为</a:t>
            </a:r>
          </a:p>
        </p:txBody>
      </p:sp>
      <p:graphicFrame>
        <p:nvGraphicFramePr>
          <p:cNvPr id="737305" name="Object 25"/>
          <p:cNvGraphicFramePr>
            <a:graphicFrameLocks noChangeAspect="1"/>
          </p:cNvGraphicFramePr>
          <p:nvPr/>
        </p:nvGraphicFramePr>
        <p:xfrm>
          <a:off x="2771775" y="4570413"/>
          <a:ext cx="25923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Equation" r:id="rId3" imgW="1057373" imgH="133453" progId="Equation.DSMT4">
                  <p:embed/>
                </p:oleObj>
              </mc:Choice>
              <mc:Fallback>
                <p:oleObj name="Equation" r:id="rId3" imgW="1057373" imgH="133453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570413"/>
                        <a:ext cx="25923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9" name="Rectangle 39"/>
          <p:cNvSpPr>
            <a:spLocks noChangeArrowheads="1"/>
          </p:cNvSpPr>
          <p:nvPr/>
        </p:nvSpPr>
        <p:spPr bwMode="auto">
          <a:xfrm>
            <a:off x="63500" y="5059363"/>
            <a:ext cx="7443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其中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W</a:t>
            </a:r>
            <a:r>
              <a:rPr lang="en-US" altLang="zh-CN" b="1" baseline="-25000">
                <a:solidFill>
                  <a:schemeClr val="bg1"/>
                </a:solidFill>
                <a:latin typeface="Times New Roman" pitchFamily="18" charset="0"/>
              </a:rPr>
              <a:t>S</a:t>
            </a:r>
            <a:r>
              <a:rPr lang="zh-CN" altLang="en-US" b="1">
                <a:solidFill>
                  <a:schemeClr val="bg1"/>
                </a:solidFill>
              </a:rPr>
              <a:t>是与各带电体相连接的外电源所提供的能量。</a:t>
            </a:r>
          </a:p>
        </p:txBody>
      </p:sp>
      <p:sp>
        <p:nvSpPr>
          <p:cNvPr id="737326" name="Rectangle 46"/>
          <p:cNvSpPr>
            <a:spLocks noChangeArrowheads="1"/>
          </p:cNvSpPr>
          <p:nvPr/>
        </p:nvSpPr>
        <p:spPr bwMode="auto">
          <a:xfrm>
            <a:off x="71438" y="5483225"/>
            <a:ext cx="896461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       </a:t>
            </a:r>
            <a:r>
              <a:rPr lang="zh-CN" altLang="en-US" b="1">
                <a:solidFill>
                  <a:schemeClr val="bg1"/>
                </a:solidFill>
              </a:rPr>
              <a:t>具体计算中，可假定各带电导体的电位不变，或假定各带电导体的电荷不变。</a:t>
            </a:r>
          </a:p>
        </p:txBody>
      </p:sp>
      <p:sp>
        <p:nvSpPr>
          <p:cNvPr id="737331" name="Rectangle 51"/>
          <p:cNvSpPr>
            <a:spLocks noChangeArrowheads="1"/>
          </p:cNvSpPr>
          <p:nvPr/>
        </p:nvSpPr>
        <p:spPr bwMode="auto">
          <a:xfrm>
            <a:off x="107950" y="561975"/>
            <a:ext cx="3455988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Arial" charset="0"/>
              </a:rPr>
              <a:t>3.1.5   </a:t>
            </a:r>
            <a:r>
              <a:rPr kumimoji="1" lang="zh-CN" altLang="en-US" b="1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Arial" charset="0"/>
              </a:rPr>
              <a:t>静电力</a:t>
            </a:r>
          </a:p>
        </p:txBody>
      </p:sp>
      <p:sp>
        <p:nvSpPr>
          <p:cNvPr id="28681" name="AutoShape 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2" name="AutoShape 5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3" name="AutoShape 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4" name="AutoShape 5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3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3000"/>
                                        <p:tgtEl>
                                          <p:spTgt spid="73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3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3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2" grpId="0" autoUpdateAnimBg="0"/>
      <p:bldP spid="737311" grpId="0"/>
      <p:bldP spid="737319" grpId="0"/>
      <p:bldP spid="737326" grpId="0"/>
      <p:bldP spid="7373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F5F80-C456-4D71-BD10-A5EA10773E3A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754690" name="Rectangle 2"/>
          <p:cNvSpPr>
            <a:spLocks noChangeArrowheads="1"/>
          </p:cNvSpPr>
          <p:nvPr/>
        </p:nvSpPr>
        <p:spPr bwMode="auto">
          <a:xfrm>
            <a:off x="107950" y="476250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1.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各带电导体的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电位不变</a:t>
            </a:r>
          </a:p>
        </p:txBody>
      </p:sp>
      <p:sp>
        <p:nvSpPr>
          <p:cNvPr id="754692" name="Rectangle 4"/>
          <p:cNvSpPr>
            <a:spLocks noChangeArrowheads="1"/>
          </p:cNvSpPr>
          <p:nvPr/>
        </p:nvSpPr>
        <p:spPr bwMode="auto">
          <a:xfrm>
            <a:off x="107950" y="836613"/>
            <a:ext cx="88217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b="1">
                <a:solidFill>
                  <a:schemeClr val="bg1"/>
                </a:solidFill>
              </a:rPr>
              <a:t>       </a:t>
            </a:r>
            <a:r>
              <a:rPr lang="zh-CN" altLang="en-US" b="1">
                <a:solidFill>
                  <a:schemeClr val="bg1"/>
                </a:solidFill>
              </a:rPr>
              <a:t>此时，各带电导体应分别与外电压源连接，外电压源向系统提供的能量</a:t>
            </a:r>
            <a:endParaRPr lang="zh-CN" altLang="en-US" b="1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754694" name="Object 6"/>
          <p:cNvGraphicFramePr>
            <a:graphicFrameLocks noChangeAspect="1"/>
          </p:cNvGraphicFramePr>
          <p:nvPr/>
        </p:nvGraphicFramePr>
        <p:xfrm>
          <a:off x="2627313" y="1412875"/>
          <a:ext cx="33797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7" name="Equation" r:id="rId3" imgW="1581027" imgH="333285" progId="Equation.DSMT4">
                  <p:embed/>
                </p:oleObj>
              </mc:Choice>
              <mc:Fallback>
                <p:oleObj name="Equation" r:id="rId3" imgW="1581027" imgH="33328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412875"/>
                        <a:ext cx="33797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5" name="Object 7"/>
          <p:cNvGraphicFramePr>
            <a:graphicFrameLocks noChangeAspect="1"/>
          </p:cNvGraphicFramePr>
          <p:nvPr/>
        </p:nvGraphicFramePr>
        <p:xfrm>
          <a:off x="3492500" y="2301875"/>
          <a:ext cx="40687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18" name="Equation" r:id="rId5" imgW="1819430" imgH="333285" progId="Equation.DSMT4">
                  <p:embed/>
                </p:oleObj>
              </mc:Choice>
              <mc:Fallback>
                <p:oleObj name="Equation" r:id="rId5" imgW="1819430" imgH="33328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301875"/>
                        <a:ext cx="406876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8" name="Rectangle 10"/>
          <p:cNvSpPr>
            <a:spLocks noChangeArrowheads="1"/>
          </p:cNvSpPr>
          <p:nvPr/>
        </p:nvSpPr>
        <p:spPr bwMode="auto">
          <a:xfrm>
            <a:off x="107950" y="2492375"/>
            <a:ext cx="417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系统所改变的静电能量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04775" y="3500438"/>
            <a:ext cx="2522538" cy="457200"/>
            <a:chOff x="68" y="2205"/>
            <a:chExt cx="1589" cy="288"/>
          </a:xfrm>
        </p:grpSpPr>
        <p:sp>
          <p:nvSpPr>
            <p:cNvPr id="29727" name="Rectangle 11"/>
            <p:cNvSpPr>
              <a:spLocks noChangeArrowheads="1"/>
            </p:cNvSpPr>
            <p:nvPr/>
          </p:nvSpPr>
          <p:spPr bwMode="auto">
            <a:xfrm>
              <a:off x="68" y="2205"/>
              <a:ext cx="5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b="1">
                  <a:solidFill>
                    <a:schemeClr val="bg1"/>
                  </a:solidFill>
                </a:rPr>
                <a:t>即</a:t>
              </a:r>
            </a:p>
          </p:txBody>
        </p:sp>
        <p:graphicFrame>
          <p:nvGraphicFramePr>
            <p:cNvPr id="29728" name="Object 12"/>
            <p:cNvGraphicFramePr>
              <a:graphicFrameLocks noChangeAspect="1"/>
            </p:cNvGraphicFramePr>
            <p:nvPr/>
          </p:nvGraphicFramePr>
          <p:xfrm>
            <a:off x="657" y="2205"/>
            <a:ext cx="100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9" name="Equation" r:id="rId7" imgW="695430" imgH="133453" progId="Equation.DSMT4">
                    <p:embed/>
                  </p:oleObj>
                </mc:Choice>
                <mc:Fallback>
                  <p:oleObj name="Equation" r:id="rId7" imgW="695430" imgH="13345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205"/>
                          <a:ext cx="100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54707" name="Rectangle 19"/>
          <p:cNvSpPr>
            <a:spLocks noChangeArrowheads="1"/>
          </p:cNvSpPr>
          <p:nvPr/>
        </p:nvSpPr>
        <p:spPr bwMode="auto">
          <a:xfrm>
            <a:off x="611188" y="4627563"/>
            <a:ext cx="798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此时，所有带电体都不和外电源相连接，则</a:t>
            </a:r>
            <a:r>
              <a:rPr lang="zh-CN" altLang="en-US"/>
              <a:t>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d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W</a:t>
            </a:r>
            <a:r>
              <a:rPr lang="en-US" altLang="zh-CN" b="1" i="1" baseline="-25000">
                <a:solidFill>
                  <a:schemeClr val="bg1"/>
                </a:solidFill>
                <a:latin typeface="Times New Roman" pitchFamily="18" charset="0"/>
              </a:rPr>
              <a:t>S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＝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zh-CN" altLang="en-US" b="1">
                <a:solidFill>
                  <a:schemeClr val="bg1"/>
                </a:solidFill>
              </a:rPr>
              <a:t>，因此</a:t>
            </a:r>
          </a:p>
        </p:txBody>
      </p:sp>
      <p:sp>
        <p:nvSpPr>
          <p:cNvPr id="754708" name="Rectangle 20"/>
          <p:cNvSpPr>
            <a:spLocks noChangeArrowheads="1"/>
          </p:cNvSpPr>
          <p:nvPr/>
        </p:nvSpPr>
        <p:spPr bwMode="auto">
          <a:xfrm>
            <a:off x="107950" y="4076700"/>
            <a:ext cx="504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2. 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各带电导体的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电荷不变</a:t>
            </a:r>
          </a:p>
        </p:txBody>
      </p:sp>
      <p:graphicFrame>
        <p:nvGraphicFramePr>
          <p:cNvPr id="754709" name="Object 21"/>
          <p:cNvGraphicFramePr>
            <a:graphicFrameLocks noChangeAspect="1"/>
          </p:cNvGraphicFramePr>
          <p:nvPr/>
        </p:nvGraphicFramePr>
        <p:xfrm>
          <a:off x="1619250" y="5291138"/>
          <a:ext cx="1879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20" name="Equation" r:id="rId9" imgW="742972" imgH="133453" progId="Equation.DSMT4">
                  <p:embed/>
                </p:oleObj>
              </mc:Choice>
              <mc:Fallback>
                <p:oleObj name="Equation" r:id="rId9" imgW="742972" imgH="133453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291138"/>
                        <a:ext cx="18796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13" name="Rectangle 25"/>
          <p:cNvSpPr>
            <a:spLocks noChangeArrowheads="1"/>
          </p:cNvSpPr>
          <p:nvPr/>
        </p:nvSpPr>
        <p:spPr bwMode="auto">
          <a:xfrm>
            <a:off x="36513" y="5949950"/>
            <a:ext cx="907256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式中的“－”号表示电场力做功是靠减少系统的静电能量来实现的。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771775" y="3429000"/>
            <a:ext cx="2376488" cy="514350"/>
            <a:chOff x="1791" y="2205"/>
            <a:chExt cx="1497" cy="324"/>
          </a:xfrm>
        </p:grpSpPr>
        <p:graphicFrame>
          <p:nvGraphicFramePr>
            <p:cNvPr id="29725" name="Object 3"/>
            <p:cNvGraphicFramePr>
              <a:graphicFrameLocks noChangeAspect="1"/>
            </p:cNvGraphicFramePr>
            <p:nvPr/>
          </p:nvGraphicFramePr>
          <p:xfrm>
            <a:off x="2230" y="2205"/>
            <a:ext cx="1058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21" name="Equation" r:id="rId11" imgW="657258" imgH="133453" progId="Equation.DSMT4">
                    <p:embed/>
                  </p:oleObj>
                </mc:Choice>
                <mc:Fallback>
                  <p:oleObj name="Equation" r:id="rId11" imgW="657258" imgH="133453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" y="2205"/>
                          <a:ext cx="1058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6" name="AutoShape 26"/>
            <p:cNvSpPr>
              <a:spLocks noChangeArrowheads="1"/>
            </p:cNvSpPr>
            <p:nvPr/>
          </p:nvSpPr>
          <p:spPr bwMode="auto">
            <a:xfrm>
              <a:off x="1791" y="2295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5292725" y="3213100"/>
            <a:ext cx="3671888" cy="974725"/>
            <a:chOff x="3379" y="2024"/>
            <a:chExt cx="2313" cy="683"/>
          </a:xfrm>
        </p:grpSpPr>
        <p:grpSp>
          <p:nvGrpSpPr>
            <p:cNvPr id="29720" name="Group 15"/>
            <p:cNvGrpSpPr>
              <a:grpSpLocks/>
            </p:cNvGrpSpPr>
            <p:nvPr/>
          </p:nvGrpSpPr>
          <p:grpSpPr bwMode="auto">
            <a:xfrm>
              <a:off x="3885" y="2024"/>
              <a:ext cx="1807" cy="683"/>
              <a:chOff x="1814" y="3047"/>
              <a:chExt cx="1807" cy="683"/>
            </a:xfrm>
          </p:grpSpPr>
          <p:graphicFrame>
            <p:nvGraphicFramePr>
              <p:cNvPr id="29722" name="Object 16"/>
              <p:cNvGraphicFramePr>
                <a:graphicFrameLocks noChangeAspect="1"/>
              </p:cNvGraphicFramePr>
              <p:nvPr/>
            </p:nvGraphicFramePr>
            <p:xfrm>
              <a:off x="1814" y="3047"/>
              <a:ext cx="842" cy="6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22" name="Equation" r:id="rId13" imgW="524002" imgH="390628" progId="Equation.DSMT4">
                      <p:embed/>
                    </p:oleObj>
                  </mc:Choice>
                  <mc:Fallback>
                    <p:oleObj name="Equation" r:id="rId13" imgW="524002" imgH="390628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4" y="3047"/>
                            <a:ext cx="842" cy="6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23" name="Rectangle 17"/>
              <p:cNvSpPr>
                <a:spLocks noChangeArrowheads="1"/>
              </p:cNvSpPr>
              <p:nvPr/>
            </p:nvSpPr>
            <p:spPr bwMode="auto">
              <a:xfrm>
                <a:off x="2608" y="3410"/>
                <a:ext cx="1013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en-US" altLang="zh-CN" b="1">
                    <a:solidFill>
                      <a:schemeClr val="bg1"/>
                    </a:solidFill>
                    <a:latin typeface="Times New Roman" pitchFamily="18" charset="0"/>
                  </a:rPr>
                  <a:t>    </a:t>
                </a:r>
                <a:r>
                  <a:rPr lang="zh-CN" altLang="en-US" b="1">
                    <a:solidFill>
                      <a:schemeClr val="bg1"/>
                    </a:solidFill>
                    <a:latin typeface="Times New Roman" pitchFamily="18" charset="0"/>
                  </a:rPr>
                  <a:t>不变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29724" name="Object 18"/>
              <p:cNvGraphicFramePr>
                <a:graphicFrameLocks noChangeAspect="1"/>
              </p:cNvGraphicFramePr>
              <p:nvPr/>
            </p:nvGraphicFramePr>
            <p:xfrm>
              <a:off x="2698" y="3455"/>
              <a:ext cx="177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23" name="Equation" r:id="rId15" imgW="47542" imgH="66726" progId="Equation.DSMT4">
                      <p:embed/>
                    </p:oleObj>
                  </mc:Choice>
                  <mc:Fallback>
                    <p:oleObj name="Equation" r:id="rId15" imgW="47542" imgH="66726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8" y="3455"/>
                            <a:ext cx="177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721" name="AutoShape 27"/>
            <p:cNvSpPr>
              <a:spLocks noChangeArrowheads="1"/>
            </p:cNvSpPr>
            <p:nvPr/>
          </p:nvSpPr>
          <p:spPr bwMode="auto">
            <a:xfrm>
              <a:off x="3379" y="2296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3924300" y="5121275"/>
            <a:ext cx="4127500" cy="971550"/>
            <a:chOff x="2472" y="3158"/>
            <a:chExt cx="2600" cy="655"/>
          </a:xfrm>
        </p:grpSpPr>
        <p:grpSp>
          <p:nvGrpSpPr>
            <p:cNvPr id="29716" name="Group 22"/>
            <p:cNvGrpSpPr>
              <a:grpSpLocks/>
            </p:cNvGrpSpPr>
            <p:nvPr/>
          </p:nvGrpSpPr>
          <p:grpSpPr bwMode="auto">
            <a:xfrm>
              <a:off x="3107" y="3158"/>
              <a:ext cx="1965" cy="655"/>
              <a:chOff x="2064" y="1298"/>
              <a:chExt cx="1965" cy="655"/>
            </a:xfrm>
          </p:grpSpPr>
          <p:graphicFrame>
            <p:nvGraphicFramePr>
              <p:cNvPr id="29718" name="Object 23"/>
              <p:cNvGraphicFramePr>
                <a:graphicFrameLocks noChangeAspect="1"/>
              </p:cNvGraphicFramePr>
              <p:nvPr/>
            </p:nvGraphicFramePr>
            <p:xfrm>
              <a:off x="2064" y="1298"/>
              <a:ext cx="979" cy="6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24" name="Equation" r:id="rId17" imgW="628802" imgH="390628" progId="Equation.DSMT4">
                      <p:embed/>
                    </p:oleObj>
                  </mc:Choice>
                  <mc:Fallback>
                    <p:oleObj name="Equation" r:id="rId17" imgW="628802" imgH="390628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1298"/>
                            <a:ext cx="979" cy="6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19" name="Rectangle 24"/>
              <p:cNvSpPr>
                <a:spLocks noChangeArrowheads="1"/>
              </p:cNvSpPr>
              <p:nvPr/>
            </p:nvSpPr>
            <p:spPr bwMode="auto">
              <a:xfrm>
                <a:off x="3016" y="1616"/>
                <a:ext cx="1013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en-US" altLang="zh-CN" b="1" i="1">
                    <a:solidFill>
                      <a:schemeClr val="bg1"/>
                    </a:solidFill>
                    <a:latin typeface="Times New Roman" pitchFamily="18" charset="0"/>
                  </a:rPr>
                  <a:t>q</a:t>
                </a:r>
                <a:r>
                  <a:rPr lang="zh-CN" altLang="en-US" b="1">
                    <a:solidFill>
                      <a:schemeClr val="bg1"/>
                    </a:solidFill>
                    <a:latin typeface="Times New Roman" pitchFamily="18" charset="0"/>
                  </a:rPr>
                  <a:t>不变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717" name="AutoShape 28"/>
            <p:cNvSpPr>
              <a:spLocks noChangeArrowheads="1"/>
            </p:cNvSpPr>
            <p:nvPr/>
          </p:nvSpPr>
          <p:spPr bwMode="auto">
            <a:xfrm>
              <a:off x="2472" y="3385"/>
              <a:ext cx="363" cy="137"/>
            </a:xfrm>
            <a:prstGeom prst="rightArrow">
              <a:avLst>
                <a:gd name="adj1" fmla="val 50000"/>
                <a:gd name="adj2" fmla="val 66241"/>
              </a:avLst>
            </a:prstGeom>
            <a:solidFill>
              <a:srgbClr val="FFCC99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zh-CN" sz="2800">
                <a:ea typeface="宋体" pitchFamily="2" charset="-122"/>
              </a:endParaRPr>
            </a:p>
          </p:txBody>
        </p:sp>
      </p:grpSp>
      <p:sp>
        <p:nvSpPr>
          <p:cNvPr id="29712" name="AutoShape 33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3" name="AutoShape 3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4" name="AutoShape 3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15" name="AutoShape 3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5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5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5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5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2000"/>
                                        <p:tgtEl>
                                          <p:spTgt spid="75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0" grpId="0"/>
      <p:bldP spid="754692" grpId="0"/>
      <p:bldP spid="754698" grpId="0"/>
      <p:bldP spid="754707" grpId="0"/>
      <p:bldP spid="754708" grpId="0"/>
      <p:bldP spid="7547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47D07-AD7F-4A51-88E2-ABB5B8AEC537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graphicFrame>
        <p:nvGraphicFramePr>
          <p:cNvPr id="755723" name="Object 11"/>
          <p:cNvGraphicFramePr>
            <a:graphicFrameLocks noChangeAspect="1"/>
          </p:cNvGraphicFramePr>
          <p:nvPr/>
        </p:nvGraphicFramePr>
        <p:xfrm>
          <a:off x="4572000" y="3213100"/>
          <a:ext cx="26876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8" name="Equation" r:id="rId3" imgW="1228801" imgH="295404" progId="Equation.DSMT4">
                  <p:embed/>
                </p:oleObj>
              </mc:Choice>
              <mc:Fallback>
                <p:oleObj name="Equation" r:id="rId3" imgW="1228801" imgH="29540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13100"/>
                        <a:ext cx="268763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4" name="Rectangle 12"/>
          <p:cNvSpPr>
            <a:spLocks noChangeArrowheads="1"/>
          </p:cNvSpPr>
          <p:nvPr/>
        </p:nvSpPr>
        <p:spPr bwMode="auto">
          <a:xfrm>
            <a:off x="493713" y="4124325"/>
            <a:ext cx="494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b="1">
                <a:solidFill>
                  <a:schemeClr val="bg1"/>
                </a:solidFill>
              </a:rPr>
              <a:t>        </a:t>
            </a:r>
            <a:r>
              <a:rPr lang="zh-CN" altLang="en-US" b="1">
                <a:solidFill>
                  <a:schemeClr val="bg1"/>
                </a:solidFill>
              </a:rPr>
              <a:t>电容器内的电场能量为</a:t>
            </a:r>
          </a:p>
        </p:txBody>
      </p:sp>
      <p:graphicFrame>
        <p:nvGraphicFramePr>
          <p:cNvPr id="755725" name="Object 13"/>
          <p:cNvGraphicFramePr>
            <a:graphicFrameLocks noChangeAspect="1"/>
          </p:cNvGraphicFramePr>
          <p:nvPr/>
        </p:nvGraphicFramePr>
        <p:xfrm>
          <a:off x="4500563" y="3929063"/>
          <a:ext cx="44862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9" name="Equation" r:id="rId5" imgW="2609944" imgH="390628" progId="Equation.DSMT4">
                  <p:embed/>
                </p:oleObj>
              </mc:Choice>
              <mc:Fallback>
                <p:oleObj name="Equation" r:id="rId5" imgW="2609944" imgH="39062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929063"/>
                        <a:ext cx="44862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26" name="Object 14"/>
          <p:cNvGraphicFramePr>
            <a:graphicFrameLocks noChangeAspect="1"/>
          </p:cNvGraphicFramePr>
          <p:nvPr/>
        </p:nvGraphicFramePr>
        <p:xfrm>
          <a:off x="1246188" y="5516563"/>
          <a:ext cx="39195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0" name="Equation" r:id="rId7" imgW="1685827" imgH="390628" progId="Equation.DSMT4">
                  <p:embed/>
                </p:oleObj>
              </mc:Choice>
              <mc:Fallback>
                <p:oleObj name="Equation" r:id="rId7" imgW="1685827" imgH="39062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5516563"/>
                        <a:ext cx="39195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125538" y="4652963"/>
            <a:ext cx="6975475" cy="863600"/>
            <a:chOff x="68" y="2886"/>
            <a:chExt cx="4394" cy="544"/>
          </a:xfrm>
        </p:grpSpPr>
        <p:sp>
          <p:nvSpPr>
            <p:cNvPr id="30769" name="Rectangle 16"/>
            <p:cNvSpPr>
              <a:spLocks noChangeArrowheads="1"/>
            </p:cNvSpPr>
            <p:nvPr/>
          </p:nvSpPr>
          <p:spPr bwMode="auto">
            <a:xfrm>
              <a:off x="68" y="3021"/>
              <a:ext cx="43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zh-CN" altLang="en-US" b="1">
                  <a:solidFill>
                    <a:schemeClr val="bg1"/>
                  </a:solidFill>
                </a:rPr>
                <a:t>由                       可求得介质片受到的静电力为</a:t>
              </a:r>
            </a:p>
          </p:txBody>
        </p:sp>
        <p:grpSp>
          <p:nvGrpSpPr>
            <p:cNvPr id="30770" name="Group 54"/>
            <p:cNvGrpSpPr>
              <a:grpSpLocks/>
            </p:cNvGrpSpPr>
            <p:nvPr/>
          </p:nvGrpSpPr>
          <p:grpSpPr bwMode="auto">
            <a:xfrm>
              <a:off x="340" y="2886"/>
              <a:ext cx="1221" cy="544"/>
              <a:chOff x="340" y="2931"/>
              <a:chExt cx="1221" cy="544"/>
            </a:xfrm>
          </p:grpSpPr>
          <p:graphicFrame>
            <p:nvGraphicFramePr>
              <p:cNvPr id="30771" name="Object 17"/>
              <p:cNvGraphicFramePr>
                <a:graphicFrameLocks noChangeAspect="1"/>
              </p:cNvGraphicFramePr>
              <p:nvPr/>
            </p:nvGraphicFramePr>
            <p:xfrm>
              <a:off x="340" y="2931"/>
              <a:ext cx="761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1" name="Equation" r:id="rId9" imgW="524002" imgH="390628" progId="Equation.DSMT4">
                      <p:embed/>
                    </p:oleObj>
                  </mc:Choice>
                  <mc:Fallback>
                    <p:oleObj name="Equation" r:id="rId9" imgW="524002" imgH="390628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" y="2931"/>
                            <a:ext cx="761" cy="5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72" name="Object 18"/>
              <p:cNvGraphicFramePr>
                <a:graphicFrameLocks noChangeAspect="1"/>
              </p:cNvGraphicFramePr>
              <p:nvPr/>
            </p:nvGraphicFramePr>
            <p:xfrm>
              <a:off x="1066" y="3254"/>
              <a:ext cx="495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2" name="Equation" r:id="rId11" imgW="333487" imgH="104608" progId="Equation.DSMT4">
                      <p:embed/>
                    </p:oleObj>
                  </mc:Choice>
                  <mc:Fallback>
                    <p:oleObj name="Equation" r:id="rId11" imgW="333487" imgH="104608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6" y="3254"/>
                            <a:ext cx="495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755732" name="Rectangle 20"/>
          <p:cNvSpPr>
            <a:spLocks noChangeArrowheads="1"/>
          </p:cNvSpPr>
          <p:nvPr/>
        </p:nvSpPr>
        <p:spPr bwMode="auto">
          <a:xfrm>
            <a:off x="117475" y="3357563"/>
            <a:ext cx="517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b="1">
                <a:solidFill>
                  <a:schemeClr val="bg1"/>
                </a:solidFill>
                <a:ea typeface="幼圆" pitchFamily="49" charset="-122"/>
              </a:rPr>
              <a:t>       </a:t>
            </a:r>
            <a:r>
              <a:rPr lang="zh-CN" altLang="en-US" b="1">
                <a:solidFill>
                  <a:srgbClr val="FFB953"/>
                </a:solidFill>
                <a:ea typeface="幼圆" pitchFamily="49" charset="-122"/>
              </a:rPr>
              <a:t>解</a:t>
            </a:r>
            <a:r>
              <a:rPr lang="zh-CN" altLang="en-US" b="1">
                <a:solidFill>
                  <a:srgbClr val="FFB953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 平行板电容器的电容为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5688013" y="620713"/>
            <a:ext cx="3421062" cy="2376487"/>
            <a:chOff x="3605" y="346"/>
            <a:chExt cx="2155" cy="1497"/>
          </a:xfrm>
        </p:grpSpPr>
        <p:sp>
          <p:nvSpPr>
            <p:cNvPr id="30738" name="Rectangle 22"/>
            <p:cNvSpPr>
              <a:spLocks noChangeArrowheads="1"/>
            </p:cNvSpPr>
            <p:nvPr/>
          </p:nvSpPr>
          <p:spPr bwMode="auto">
            <a:xfrm>
              <a:off x="3605" y="346"/>
              <a:ext cx="2133" cy="149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39" name="Text Box 23"/>
            <p:cNvSpPr txBox="1">
              <a:spLocks noChangeArrowheads="1"/>
            </p:cNvSpPr>
            <p:nvPr/>
          </p:nvSpPr>
          <p:spPr bwMode="auto">
            <a:xfrm>
              <a:off x="3777" y="1589"/>
              <a:ext cx="1779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</a:pPr>
              <a:r>
                <a:rPr lang="zh-CN" altLang="en-US" sz="1600" b="1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部分填充介质的平行板电容器</a:t>
              </a:r>
              <a:endParaRPr lang="zh-CN" altLang="en-US" sz="1600" b="1"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30740" name="Rectangle 24"/>
            <p:cNvSpPr>
              <a:spLocks noChangeArrowheads="1"/>
            </p:cNvSpPr>
            <p:nvPr/>
          </p:nvSpPr>
          <p:spPr bwMode="auto">
            <a:xfrm>
              <a:off x="3992" y="1246"/>
              <a:ext cx="1138" cy="41"/>
            </a:xfrm>
            <a:prstGeom prst="rect">
              <a:avLst/>
            </a:prstGeom>
            <a:solidFill>
              <a:srgbClr val="FF6600"/>
            </a:solidFill>
            <a:ln w="9525">
              <a:miter lim="800000"/>
              <a:headEnd/>
              <a:tailEnd/>
            </a:ln>
            <a:scene3d>
              <a:camera prst="legacyObliqueTopRight">
                <a:rot lat="21299976" lon="0" rev="0"/>
              </a:camera>
              <a:lightRig rig="legacyFlat4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6600"/>
              </a:extrusionClr>
            </a:sp3d>
          </p:spPr>
          <p:txBody>
            <a:bodyPr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41" name="Line 25"/>
            <p:cNvSpPr>
              <a:spLocks noChangeShapeType="1"/>
            </p:cNvSpPr>
            <p:nvPr/>
          </p:nvSpPr>
          <p:spPr bwMode="auto">
            <a:xfrm>
              <a:off x="5060" y="834"/>
              <a:ext cx="0" cy="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26"/>
            <p:cNvSpPr>
              <a:spLocks noChangeShapeType="1"/>
            </p:cNvSpPr>
            <p:nvPr/>
          </p:nvSpPr>
          <p:spPr bwMode="auto">
            <a:xfrm>
              <a:off x="5483" y="631"/>
              <a:ext cx="0" cy="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Rectangle 27" descr="50%"/>
            <p:cNvSpPr>
              <a:spLocks noChangeArrowheads="1"/>
            </p:cNvSpPr>
            <p:nvPr/>
          </p:nvSpPr>
          <p:spPr bwMode="auto">
            <a:xfrm>
              <a:off x="3694" y="965"/>
              <a:ext cx="937" cy="280"/>
            </a:xfrm>
            <a:prstGeom prst="rect">
              <a:avLst/>
            </a:prstGeom>
            <a:pattFill prst="pct50">
              <a:fgClr>
                <a:srgbClr val="969696"/>
              </a:fgClr>
              <a:bgClr>
                <a:srgbClr val="B2B2B2"/>
              </a:bgClr>
            </a:pattFill>
            <a:ln w="9525">
              <a:miter lim="800000"/>
              <a:headEnd/>
              <a:tailEnd/>
            </a:ln>
            <a:scene3d>
              <a:camera prst="legacyObliqueTopRight">
                <a:rot lat="21299976" lon="0" rev="0"/>
              </a:camera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969696"/>
              </a:extrusionClr>
            </a:sp3d>
          </p:spPr>
          <p:txBody>
            <a:bodyPr>
              <a:flatTx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/>
              <a:endParaRPr lang="zh-CN" altLang="zh-CN"/>
            </a:p>
          </p:txBody>
        </p:sp>
        <p:grpSp>
          <p:nvGrpSpPr>
            <p:cNvPr id="30744" name="Group 28"/>
            <p:cNvGrpSpPr>
              <a:grpSpLocks/>
            </p:cNvGrpSpPr>
            <p:nvPr/>
          </p:nvGrpSpPr>
          <p:grpSpPr bwMode="auto">
            <a:xfrm>
              <a:off x="5310" y="717"/>
              <a:ext cx="155" cy="355"/>
              <a:chOff x="10707" y="9130"/>
              <a:chExt cx="266" cy="548"/>
            </a:xfrm>
          </p:grpSpPr>
          <p:sp>
            <p:nvSpPr>
              <p:cNvPr id="30765" name="Line 29"/>
              <p:cNvSpPr>
                <a:spLocks noChangeShapeType="1"/>
              </p:cNvSpPr>
              <p:nvPr/>
            </p:nvSpPr>
            <p:spPr bwMode="auto">
              <a:xfrm>
                <a:off x="10707" y="9396"/>
                <a:ext cx="266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6" name="Line 30"/>
              <p:cNvSpPr>
                <a:spLocks noChangeShapeType="1"/>
              </p:cNvSpPr>
              <p:nvPr/>
            </p:nvSpPr>
            <p:spPr bwMode="auto">
              <a:xfrm>
                <a:off x="10752" y="9462"/>
                <a:ext cx="17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7" name="Line 31"/>
              <p:cNvSpPr>
                <a:spLocks noChangeShapeType="1"/>
              </p:cNvSpPr>
              <p:nvPr/>
            </p:nvSpPr>
            <p:spPr bwMode="auto">
              <a:xfrm rot="5400000">
                <a:off x="10709" y="9263"/>
                <a:ext cx="266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8" name="Line 32"/>
              <p:cNvSpPr>
                <a:spLocks noChangeShapeType="1"/>
              </p:cNvSpPr>
              <p:nvPr/>
            </p:nvSpPr>
            <p:spPr bwMode="auto">
              <a:xfrm rot="5400000">
                <a:off x="10737" y="9573"/>
                <a:ext cx="21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45" name="Line 33"/>
            <p:cNvSpPr>
              <a:spLocks noChangeShapeType="1"/>
            </p:cNvSpPr>
            <p:nvPr/>
          </p:nvSpPr>
          <p:spPr bwMode="auto">
            <a:xfrm rot="5400000">
              <a:off x="4305" y="539"/>
              <a:ext cx="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34"/>
            <p:cNvSpPr>
              <a:spLocks noChangeShapeType="1"/>
            </p:cNvSpPr>
            <p:nvPr/>
          </p:nvSpPr>
          <p:spPr bwMode="auto">
            <a:xfrm rot="5400000">
              <a:off x="5429" y="535"/>
              <a:ext cx="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35"/>
            <p:cNvSpPr>
              <a:spLocks noChangeShapeType="1"/>
            </p:cNvSpPr>
            <p:nvPr/>
          </p:nvSpPr>
          <p:spPr bwMode="auto">
            <a:xfrm>
              <a:off x="4395" y="562"/>
              <a:ext cx="111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med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8" name="Group 36"/>
            <p:cNvGrpSpPr>
              <a:grpSpLocks/>
            </p:cNvGrpSpPr>
            <p:nvPr/>
          </p:nvGrpSpPr>
          <p:grpSpPr bwMode="auto">
            <a:xfrm>
              <a:off x="3996" y="1214"/>
              <a:ext cx="644" cy="258"/>
              <a:chOff x="7039" y="10316"/>
              <a:chExt cx="1270" cy="428"/>
            </a:xfrm>
          </p:grpSpPr>
          <p:sp>
            <p:nvSpPr>
              <p:cNvPr id="30761" name="Line 37"/>
              <p:cNvSpPr>
                <a:spLocks noChangeShapeType="1"/>
              </p:cNvSpPr>
              <p:nvPr/>
            </p:nvSpPr>
            <p:spPr bwMode="auto">
              <a:xfrm rot="5400000">
                <a:off x="6906" y="10602"/>
                <a:ext cx="2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2" name="Line 38"/>
              <p:cNvSpPr>
                <a:spLocks noChangeShapeType="1"/>
              </p:cNvSpPr>
              <p:nvPr/>
            </p:nvSpPr>
            <p:spPr bwMode="auto">
              <a:xfrm rot="5400000">
                <a:off x="8166" y="10611"/>
                <a:ext cx="2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3" name="Line 39"/>
              <p:cNvSpPr>
                <a:spLocks noChangeShapeType="1"/>
              </p:cNvSpPr>
              <p:nvPr/>
            </p:nvSpPr>
            <p:spPr bwMode="auto">
              <a:xfrm>
                <a:off x="7039" y="10555"/>
                <a:ext cx="127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4" name="Text Box 40"/>
              <p:cNvSpPr txBox="1">
                <a:spLocks noChangeArrowheads="1"/>
              </p:cNvSpPr>
              <p:nvPr/>
            </p:nvSpPr>
            <p:spPr bwMode="auto">
              <a:xfrm>
                <a:off x="7384" y="10316"/>
                <a:ext cx="339" cy="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0749" name="Group 41"/>
            <p:cNvGrpSpPr>
              <a:grpSpLocks/>
            </p:cNvGrpSpPr>
            <p:nvPr/>
          </p:nvGrpSpPr>
          <p:grpSpPr bwMode="auto">
            <a:xfrm>
              <a:off x="5129" y="981"/>
              <a:ext cx="426" cy="494"/>
              <a:chOff x="5039" y="1123"/>
              <a:chExt cx="372" cy="442"/>
            </a:xfrm>
          </p:grpSpPr>
          <p:sp>
            <p:nvSpPr>
              <p:cNvPr id="30758" name="Line 42"/>
              <p:cNvSpPr>
                <a:spLocks noChangeShapeType="1"/>
              </p:cNvSpPr>
              <p:nvPr/>
            </p:nvSpPr>
            <p:spPr bwMode="auto">
              <a:xfrm rot="5400000">
                <a:off x="5324" y="1203"/>
                <a:ext cx="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9" name="Line 43"/>
              <p:cNvSpPr>
                <a:spLocks noChangeShapeType="1"/>
              </p:cNvSpPr>
              <p:nvPr/>
            </p:nvSpPr>
            <p:spPr bwMode="auto">
              <a:xfrm rot="5400000">
                <a:off x="4966" y="1485"/>
                <a:ext cx="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0" name="Line 44"/>
              <p:cNvSpPr>
                <a:spLocks noChangeShapeType="1"/>
              </p:cNvSpPr>
              <p:nvPr/>
            </p:nvSpPr>
            <p:spPr bwMode="auto">
              <a:xfrm flipV="1">
                <a:off x="5039" y="1176"/>
                <a:ext cx="372" cy="2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50" name="Line 45"/>
            <p:cNvSpPr>
              <a:spLocks noChangeShapeType="1"/>
            </p:cNvSpPr>
            <p:nvPr/>
          </p:nvSpPr>
          <p:spPr bwMode="auto">
            <a:xfrm>
              <a:off x="5034" y="950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med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Text Box 46"/>
            <p:cNvSpPr txBox="1">
              <a:spLocks noChangeArrowheads="1"/>
            </p:cNvSpPr>
            <p:nvPr/>
          </p:nvSpPr>
          <p:spPr bwMode="auto">
            <a:xfrm>
              <a:off x="4844" y="959"/>
              <a:ext cx="260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2" name="Rectangle 47"/>
            <p:cNvSpPr>
              <a:spLocks noChangeArrowheads="1"/>
            </p:cNvSpPr>
            <p:nvPr/>
          </p:nvSpPr>
          <p:spPr bwMode="auto">
            <a:xfrm>
              <a:off x="3985" y="908"/>
              <a:ext cx="1138" cy="41"/>
            </a:xfrm>
            <a:prstGeom prst="rect">
              <a:avLst/>
            </a:prstGeom>
            <a:solidFill>
              <a:srgbClr val="FF6600"/>
            </a:solidFill>
            <a:ln w="9525">
              <a:miter lim="800000"/>
              <a:headEnd/>
              <a:tailEnd/>
            </a:ln>
            <a:scene3d>
              <a:camera prst="legacyObliqueTopRight">
                <a:rot lat="21299976" lon="0" rev="0"/>
              </a:camera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6600"/>
              </a:extrusionClr>
            </a:sp3d>
          </p:spPr>
          <p:txBody>
            <a:bodyPr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753" name="Rectangle 48"/>
            <p:cNvSpPr>
              <a:spLocks noChangeArrowheads="1"/>
            </p:cNvSpPr>
            <p:nvPr/>
          </p:nvSpPr>
          <p:spPr bwMode="auto">
            <a:xfrm>
              <a:off x="4798" y="981"/>
              <a:ext cx="3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30754" name="Rectangle 49"/>
            <p:cNvSpPr>
              <a:spLocks noChangeArrowheads="1"/>
            </p:cNvSpPr>
            <p:nvPr/>
          </p:nvSpPr>
          <p:spPr bwMode="auto">
            <a:xfrm>
              <a:off x="5205" y="1146"/>
              <a:ext cx="3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30755" name="Rectangle 50"/>
            <p:cNvSpPr>
              <a:spLocks noChangeArrowheads="1"/>
            </p:cNvSpPr>
            <p:nvPr/>
          </p:nvSpPr>
          <p:spPr bwMode="auto">
            <a:xfrm>
              <a:off x="5329" y="663"/>
              <a:ext cx="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0756" name="Rectangle 51"/>
            <p:cNvSpPr>
              <a:spLocks noChangeArrowheads="1"/>
            </p:cNvSpPr>
            <p:nvPr/>
          </p:nvSpPr>
          <p:spPr bwMode="auto">
            <a:xfrm>
              <a:off x="4740" y="346"/>
              <a:ext cx="306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b="1" i="1"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30757" name="Rectangle 52"/>
            <p:cNvSpPr>
              <a:spLocks noChangeArrowheads="1"/>
            </p:cNvSpPr>
            <p:nvPr/>
          </p:nvSpPr>
          <p:spPr bwMode="auto">
            <a:xfrm>
              <a:off x="4150" y="1253"/>
              <a:ext cx="3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itchFamily="18" charset="0"/>
                </a:rPr>
                <a:t>x</a:t>
              </a:r>
            </a:p>
          </p:txBody>
        </p:sp>
      </p:grpSp>
      <p:sp>
        <p:nvSpPr>
          <p:cNvPr id="755769" name="Rectangle 57"/>
          <p:cNvSpPr>
            <a:spLocks noChangeArrowheads="1"/>
          </p:cNvSpPr>
          <p:nvPr/>
        </p:nvSpPr>
        <p:spPr bwMode="auto">
          <a:xfrm>
            <a:off x="107950" y="565150"/>
            <a:ext cx="57245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en-US" altLang="zh-CN" b="1">
                <a:solidFill>
                  <a:srgbClr val="FFB953"/>
                </a:solidFill>
                <a:latin typeface="Times New Roman" pitchFamily="18" charset="0"/>
                <a:ea typeface="幼圆" pitchFamily="49" charset="-122"/>
              </a:rPr>
              <a:t>        </a:t>
            </a:r>
            <a:r>
              <a:rPr lang="zh-CN" altLang="en-US" b="1">
                <a:solidFill>
                  <a:srgbClr val="FFB953"/>
                </a:solidFill>
                <a:latin typeface="Times New Roman" pitchFamily="18" charset="0"/>
                <a:ea typeface="幼圆" pitchFamily="49" charset="-122"/>
              </a:rPr>
              <a:t>例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  有一平行金属板电容器，极</a:t>
            </a:r>
          </a:p>
          <a:p>
            <a:pPr algn="l" eaLnBrk="1" hangingPunct="1"/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板面积为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×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b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，板间距离为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d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，用一块介</a:t>
            </a:r>
          </a:p>
          <a:p>
            <a:pPr algn="l" eaLnBrk="1" hangingPunct="1"/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质片（宽度为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b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、厚度为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d 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，介电常数为</a:t>
            </a:r>
          </a:p>
          <a:p>
            <a:pPr algn="l" eaLnBrk="1" hangingPunct="1"/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</a:rPr>
              <a:t>ε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）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部分填充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在两极板之间，如图所示。</a:t>
            </a:r>
          </a:p>
          <a:p>
            <a:pPr algn="l" eaLnBrk="1" hangingPunct="1"/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设极板间外加电压为</a:t>
            </a:r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1" baseline="-2500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，忽略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边缘效应</a:t>
            </a:r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，</a:t>
            </a:r>
          </a:p>
          <a:p>
            <a:pPr algn="l" eaLnBrk="1" hangingPunct="1"/>
            <a:r>
              <a:rPr lang="zh-CN" altLang="en-US" b="1">
                <a:solidFill>
                  <a:schemeClr val="bg1"/>
                </a:solidFill>
                <a:latin typeface="Times New Roman" pitchFamily="18" charset="0"/>
              </a:rPr>
              <a:t>求介质片所受的静电力。</a:t>
            </a:r>
          </a:p>
        </p:txBody>
      </p: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219700" y="5300663"/>
            <a:ext cx="3746500" cy="1185862"/>
            <a:chOff x="3288" y="3339"/>
            <a:chExt cx="2360" cy="747"/>
          </a:xfrm>
        </p:grpSpPr>
        <p:sp>
          <p:nvSpPr>
            <p:cNvPr id="30736" name="Line 53"/>
            <p:cNvSpPr>
              <a:spLocks noChangeShapeType="1"/>
            </p:cNvSpPr>
            <p:nvPr/>
          </p:nvSpPr>
          <p:spPr bwMode="auto">
            <a:xfrm flipH="1">
              <a:off x="3288" y="3748"/>
              <a:ext cx="77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Rectangle 58"/>
            <p:cNvSpPr>
              <a:spLocks noChangeArrowheads="1"/>
            </p:cNvSpPr>
            <p:nvPr/>
          </p:nvSpPr>
          <p:spPr bwMode="auto">
            <a:xfrm>
              <a:off x="4014" y="3339"/>
              <a:ext cx="1634" cy="747"/>
            </a:xfrm>
            <a:prstGeom prst="rect">
              <a:avLst/>
            </a:prstGeom>
            <a:solidFill>
              <a:srgbClr val="CCFFFF"/>
            </a:solidFill>
            <a:ln w="222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fontAlgn="ctr" hangingPunct="1"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sz="2000" b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由于</a:t>
              </a:r>
              <a:r>
                <a:rPr lang="en-US" altLang="zh-CN" b="1" i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ε</a:t>
              </a:r>
              <a:r>
                <a:rPr lang="en-US" altLang="zh-CN" sz="2000" b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&gt;</a:t>
              </a:r>
              <a:r>
                <a:rPr lang="en-US" altLang="zh-CN" b="1" i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ε</a:t>
              </a:r>
              <a:r>
                <a:rPr lang="en-US" altLang="zh-CN" sz="2000" b="1" baseline="-25000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zh-CN" altLang="en-US" sz="2000" b="1">
                  <a:solidFill>
                    <a:srgbClr val="990000"/>
                  </a:solidFill>
                  <a:latin typeface="Times New Roman" pitchFamily="18" charset="0"/>
                  <a:ea typeface="宋体" pitchFamily="2" charset="-122"/>
                </a:rPr>
                <a:t>，所以介质片所受到的力有将其拉进电容器的趋势</a:t>
              </a:r>
            </a:p>
          </p:txBody>
        </p:sp>
      </p:grpSp>
      <p:sp>
        <p:nvSpPr>
          <p:cNvPr id="30732" name="AutoShape 60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3" name="AutoShape 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4" name="AutoShape 6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5" name="AutoShape 6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75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5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5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24" grpId="0"/>
      <p:bldP spid="755732" grpId="0"/>
      <p:bldP spid="7557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87D917-2C58-4F2B-B079-7169864CD2A8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7536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071847"/>
              </p:ext>
            </p:extLst>
          </p:nvPr>
        </p:nvGraphicFramePr>
        <p:xfrm>
          <a:off x="1619672" y="2204864"/>
          <a:ext cx="5240337" cy="93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Equation" r:id="rId3" imgW="2286174" imgH="428509" progId="Equation.DSMT4">
                  <p:embed/>
                </p:oleObj>
              </mc:Choice>
              <mc:Fallback>
                <p:oleObj name="Equation" r:id="rId3" imgW="2286174" imgH="42850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2204864"/>
                        <a:ext cx="5240337" cy="939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72" name="Object 8"/>
          <p:cNvGraphicFramePr>
            <a:graphicFrameLocks noChangeAspect="1"/>
          </p:cNvGraphicFramePr>
          <p:nvPr/>
        </p:nvGraphicFramePr>
        <p:xfrm>
          <a:off x="2124075" y="3357563"/>
          <a:ext cx="4487863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Equation" r:id="rId5" imgW="2181373" imgH="390628" progId="Equation.DSMT4">
                  <p:embed/>
                </p:oleObj>
              </mc:Choice>
              <mc:Fallback>
                <p:oleObj name="Equation" r:id="rId5" imgW="2181373" imgH="39062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357563"/>
                        <a:ext cx="4487863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71" name="Object 7"/>
          <p:cNvGraphicFramePr>
            <a:graphicFrameLocks noChangeAspect="1"/>
          </p:cNvGraphicFramePr>
          <p:nvPr/>
        </p:nvGraphicFramePr>
        <p:xfrm>
          <a:off x="2195513" y="4365625"/>
          <a:ext cx="38163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Equation" r:id="rId7" imgW="1809714" imgH="323901" progId="Equation.DSMT4">
                  <p:embed/>
                </p:oleObj>
              </mc:Choice>
              <mc:Fallback>
                <p:oleObj name="Equation" r:id="rId7" imgW="1809714" imgH="3239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365625"/>
                        <a:ext cx="38163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70" name="Object 6"/>
          <p:cNvGraphicFramePr>
            <a:graphicFrameLocks noChangeAspect="1"/>
          </p:cNvGraphicFramePr>
          <p:nvPr/>
        </p:nvGraphicFramePr>
        <p:xfrm>
          <a:off x="2614613" y="5373688"/>
          <a:ext cx="22590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2" name="Equation" r:id="rId9" imgW="1000114" imgH="323901" progId="Equation.DSMT4">
                  <p:embed/>
                </p:oleObj>
              </mc:Choice>
              <mc:Fallback>
                <p:oleObj name="Equation" r:id="rId9" imgW="1000114" imgH="3239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5373688"/>
                        <a:ext cx="22590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73025" y="547688"/>
            <a:ext cx="6586538" cy="936625"/>
            <a:chOff x="46" y="345"/>
            <a:chExt cx="4149" cy="590"/>
          </a:xfrm>
        </p:grpSpPr>
        <p:sp>
          <p:nvSpPr>
            <p:cNvPr id="31760" name="Rectangle 20"/>
            <p:cNvSpPr>
              <a:spLocks noChangeArrowheads="1"/>
            </p:cNvSpPr>
            <p:nvPr/>
          </p:nvSpPr>
          <p:spPr bwMode="auto">
            <a:xfrm>
              <a:off x="46" y="466"/>
              <a:ext cx="41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l" eaLnBrk="1" hangingPunct="1"/>
              <a:r>
                <a:rPr lang="en-US" altLang="zh-CN" b="1">
                  <a:solidFill>
                    <a:schemeClr val="bg1"/>
                  </a:solidFill>
                </a:rPr>
                <a:t>       </a:t>
              </a:r>
              <a:r>
                <a:rPr lang="zh-CN" altLang="en-US" b="1">
                  <a:solidFill>
                    <a:schemeClr val="bg1"/>
                  </a:solidFill>
                </a:rPr>
                <a:t>此题也可用式                           来计算。</a:t>
              </a:r>
            </a:p>
          </p:txBody>
        </p:sp>
        <p:grpSp>
          <p:nvGrpSpPr>
            <p:cNvPr id="31761" name="Group 21"/>
            <p:cNvGrpSpPr>
              <a:grpSpLocks/>
            </p:cNvGrpSpPr>
            <p:nvPr/>
          </p:nvGrpSpPr>
          <p:grpSpPr bwMode="auto">
            <a:xfrm>
              <a:off x="1655" y="345"/>
              <a:ext cx="1906" cy="590"/>
              <a:chOff x="2064" y="1298"/>
              <a:chExt cx="1965" cy="655"/>
            </a:xfrm>
          </p:grpSpPr>
          <p:graphicFrame>
            <p:nvGraphicFramePr>
              <p:cNvPr id="31762" name="Object 22"/>
              <p:cNvGraphicFramePr>
                <a:graphicFrameLocks noChangeAspect="1"/>
              </p:cNvGraphicFramePr>
              <p:nvPr/>
            </p:nvGraphicFramePr>
            <p:xfrm>
              <a:off x="2064" y="1298"/>
              <a:ext cx="979" cy="6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23" name="Equation" r:id="rId11" imgW="628802" imgH="390628" progId="Equation.DSMT4">
                      <p:embed/>
                    </p:oleObj>
                  </mc:Choice>
                  <mc:Fallback>
                    <p:oleObj name="Equation" r:id="rId11" imgW="628802" imgH="390628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1298"/>
                            <a:ext cx="979" cy="6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763" name="Rectangle 23"/>
              <p:cNvSpPr>
                <a:spLocks noChangeArrowheads="1"/>
              </p:cNvSpPr>
              <p:nvPr/>
            </p:nvSpPr>
            <p:spPr bwMode="auto">
              <a:xfrm>
                <a:off x="3016" y="1616"/>
                <a:ext cx="1013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l" eaLnBrk="1" hangingPunct="1"/>
                <a:r>
                  <a:rPr lang="en-US" altLang="zh-CN" i="1">
                    <a:solidFill>
                      <a:schemeClr val="bg1"/>
                    </a:solidFill>
                    <a:latin typeface="Times New Roman" pitchFamily="18" charset="0"/>
                  </a:rPr>
                  <a:t>q</a:t>
                </a:r>
                <a:r>
                  <a:rPr lang="zh-CN" altLang="en-US" sz="2000" b="1">
                    <a:solidFill>
                      <a:schemeClr val="bg1"/>
                    </a:solidFill>
                    <a:latin typeface="Times New Roman" pitchFamily="18" charset="0"/>
                  </a:rPr>
                  <a:t>不变</a:t>
                </a:r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53688" name="Rectangle 24"/>
          <p:cNvSpPr>
            <a:spLocks noChangeArrowheads="1"/>
          </p:cNvSpPr>
          <p:nvPr/>
        </p:nvSpPr>
        <p:spPr bwMode="auto">
          <a:xfrm>
            <a:off x="684213" y="1603375"/>
            <a:ext cx="554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设极板上保持总电荷</a:t>
            </a:r>
            <a:r>
              <a:rPr lang="en-US" altLang="zh-CN" b="1" i="1">
                <a:solidFill>
                  <a:schemeClr val="bg1"/>
                </a:solidFill>
                <a:latin typeface="Times New Roman" pitchFamily="18" charset="0"/>
              </a:rPr>
              <a:t>q </a:t>
            </a:r>
            <a:r>
              <a:rPr lang="zh-CN" altLang="en-US" b="1">
                <a:solidFill>
                  <a:schemeClr val="bg1"/>
                </a:solidFill>
              </a:rPr>
              <a:t>不变，则</a:t>
            </a:r>
          </a:p>
        </p:txBody>
      </p:sp>
      <p:sp>
        <p:nvSpPr>
          <p:cNvPr id="753689" name="Rectangle 25"/>
          <p:cNvSpPr>
            <a:spLocks noChangeArrowheads="1"/>
          </p:cNvSpPr>
          <p:nvPr/>
        </p:nvSpPr>
        <p:spPr bwMode="auto">
          <a:xfrm>
            <a:off x="730250" y="3500438"/>
            <a:ext cx="1249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可得</a:t>
            </a:r>
          </a:p>
        </p:txBody>
      </p:sp>
      <p:sp>
        <p:nvSpPr>
          <p:cNvPr id="753690" name="Rectangle 26"/>
          <p:cNvSpPr>
            <a:spLocks noChangeArrowheads="1"/>
          </p:cNvSpPr>
          <p:nvPr/>
        </p:nvSpPr>
        <p:spPr bwMode="auto">
          <a:xfrm>
            <a:off x="755650" y="4556125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由于</a:t>
            </a:r>
          </a:p>
        </p:txBody>
      </p:sp>
      <p:sp>
        <p:nvSpPr>
          <p:cNvPr id="753691" name="Rectangle 27"/>
          <p:cNvSpPr>
            <a:spLocks noChangeArrowheads="1"/>
          </p:cNvSpPr>
          <p:nvPr/>
        </p:nvSpPr>
        <p:spPr bwMode="auto">
          <a:xfrm>
            <a:off x="755650" y="5589588"/>
            <a:ext cx="2332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l" eaLnBrk="1" hangingPunct="1"/>
            <a:r>
              <a:rPr lang="zh-CN" altLang="en-US" b="1">
                <a:solidFill>
                  <a:schemeClr val="bg1"/>
                </a:solidFill>
              </a:rPr>
              <a:t>同样得到</a:t>
            </a:r>
          </a:p>
        </p:txBody>
      </p:sp>
      <p:sp>
        <p:nvSpPr>
          <p:cNvPr id="31756" name="AutoShape 28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7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8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59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5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5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5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5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5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5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88" grpId="0"/>
      <p:bldP spid="753689" grpId="0"/>
      <p:bldP spid="753690" grpId="0"/>
      <p:bldP spid="753691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09090">
                <a:gamma/>
                <a:shade val="42353"/>
                <a:invGamma/>
              </a:srgbClr>
            </a:gs>
            <a:gs pos="100000">
              <a:srgbClr val="909090"/>
            </a:gs>
          </a:gsLst>
          <a:lin ang="189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15547</TotalTime>
  <Words>2007</Words>
  <Application>Microsoft Office PowerPoint</Application>
  <PresentationFormat>全屏显示(4:3)</PresentationFormat>
  <Paragraphs>250</Paragraphs>
  <Slides>30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1_默认设计模板</vt:lpstr>
      <vt:lpstr>公式</vt:lpstr>
      <vt:lpstr>Equation</vt:lpstr>
      <vt:lpstr>剪辑</vt:lpstr>
      <vt:lpstr>位图图像</vt:lpstr>
      <vt:lpstr>PowerPoint 演示文稿</vt:lpstr>
      <vt:lpstr>PowerPoint 演示文稿</vt:lpstr>
      <vt:lpstr>3.1   静电场分析 </vt:lpstr>
      <vt:lpstr>3.1.1  静电场的基本方程和边界条件</vt:lpstr>
      <vt:lpstr>PowerPoint 演示文稿</vt:lpstr>
      <vt:lpstr>3.1.2 电位函数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3.1.3  导体系统的电容</vt:lpstr>
      <vt:lpstr>PowerPoint 演示文稿</vt:lpstr>
      <vt:lpstr>PowerPoint 演示文稿</vt:lpstr>
      <vt:lpstr>PowerPoint 演示文稿</vt:lpstr>
      <vt:lpstr>PowerPoint 演示文稿</vt:lpstr>
      <vt:lpstr>3.1.4   静电场的能量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China</cp:lastModifiedBy>
  <cp:revision>613</cp:revision>
  <dcterms:created xsi:type="dcterms:W3CDTF">2004-02-10T07:06:32Z</dcterms:created>
  <dcterms:modified xsi:type="dcterms:W3CDTF">2026-04-16T05:08:11Z</dcterms:modified>
</cp:coreProperties>
</file>