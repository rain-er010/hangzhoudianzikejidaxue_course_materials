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handoutMasterIdLst>
    <p:handoutMasterId r:id="rId28"/>
  </p:handoutMasterIdLst>
  <p:sldIdLst>
    <p:sldId id="256" r:id="rId2"/>
    <p:sldId id="455" r:id="rId3"/>
    <p:sldId id="357" r:id="rId4"/>
    <p:sldId id="358" r:id="rId5"/>
    <p:sldId id="397" r:id="rId6"/>
    <p:sldId id="457" r:id="rId7"/>
    <p:sldId id="363" r:id="rId8"/>
    <p:sldId id="398" r:id="rId9"/>
    <p:sldId id="394" r:id="rId10"/>
    <p:sldId id="399" r:id="rId11"/>
    <p:sldId id="400" r:id="rId12"/>
    <p:sldId id="368" r:id="rId13"/>
    <p:sldId id="411" r:id="rId14"/>
    <p:sldId id="391" r:id="rId15"/>
    <p:sldId id="392" r:id="rId16"/>
    <p:sldId id="402" r:id="rId17"/>
    <p:sldId id="393" r:id="rId18"/>
    <p:sldId id="403" r:id="rId19"/>
    <p:sldId id="429" r:id="rId20"/>
    <p:sldId id="430" r:id="rId21"/>
    <p:sldId id="454" r:id="rId22"/>
    <p:sldId id="414" r:id="rId23"/>
    <p:sldId id="458" r:id="rId24"/>
    <p:sldId id="408" r:id="rId25"/>
    <p:sldId id="415" r:id="rId2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AB7F"/>
    <a:srgbClr val="CCCCFF"/>
    <a:srgbClr val="6600FF"/>
    <a:srgbClr val="FF9900"/>
    <a:srgbClr val="D60093"/>
    <a:srgbClr val="FFFF66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5" autoAdjust="0"/>
    <p:restoredTop sz="98801" autoAdjust="0"/>
  </p:normalViewPr>
  <p:slideViewPr>
    <p:cSldViewPr>
      <p:cViewPr>
        <p:scale>
          <a:sx n="90" d="100"/>
          <a:sy n="90" d="100"/>
        </p:scale>
        <p:origin x="-2244" y="-6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56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4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8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5" Type="http://schemas.openxmlformats.org/officeDocument/2006/relationships/image" Target="../media/image66.emf"/><Relationship Id="rId4" Type="http://schemas.openxmlformats.org/officeDocument/2006/relationships/image" Target="../media/image6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4" Type="http://schemas.openxmlformats.org/officeDocument/2006/relationships/image" Target="../media/image7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image" Target="../media/image74.emf"/><Relationship Id="rId6" Type="http://schemas.openxmlformats.org/officeDocument/2006/relationships/image" Target="../media/image79.wmf"/><Relationship Id="rId5" Type="http://schemas.openxmlformats.org/officeDocument/2006/relationships/image" Target="../media/image78.emf"/><Relationship Id="rId4" Type="http://schemas.openxmlformats.org/officeDocument/2006/relationships/image" Target="../media/image77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4" Type="http://schemas.openxmlformats.org/officeDocument/2006/relationships/image" Target="../media/image85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855318AA-1E81-4CA3-A79B-2430E9003303}" type="datetime1">
              <a:rPr lang="zh-CN" altLang="en-US"/>
              <a:pPr>
                <a:defRPr/>
              </a:pPr>
              <a:t>2026/5/7</a:t>
            </a:fld>
            <a:endParaRPr lang="en-US" altLang="zh-CN"/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A8E40D1F-B917-404D-9FB6-666A25E689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2350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39E873A6-CF4A-41E2-AB55-8B4E1AFAC6AE}" type="datetime1">
              <a:rPr lang="zh-CN" altLang="en-US"/>
              <a:pPr>
                <a:defRPr/>
              </a:pPr>
              <a:t>2026/5/7</a:t>
            </a:fld>
            <a:endParaRPr lang="en-US" altLang="zh-CN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21E552D0-B72D-4A0E-AFA1-1FD8C3538F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533283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47734-DE4C-4C2A-90D3-57AA78A91B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9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3349A-2089-4C04-A989-A8B6E6E8D3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35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9C248-8422-4E86-84D9-33859305B6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114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127E55-1AFD-4A2A-91AD-99C781090E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356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9E894-F0AC-4C6E-9C40-50B609B744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401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BD1D8-A981-4316-BFFB-D8AA2D6D9E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432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7A649-1633-44D4-B80F-69BFF81AE3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703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45DA5A-8958-4003-B0CC-3C9FC760E8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71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E8164-D70F-42F3-B949-3E4E32B0E6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0343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85EFA-B8A6-4494-8B64-CBABACC395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844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74CE2-B44E-47AB-A5A6-49757D5567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3017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D05E7-794D-46E2-B9FB-FDE7B052F6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974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ChangeArrowheads="1"/>
          </p:cNvSpPr>
          <p:nvPr userDrawn="1"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defRPr/>
            </a:pPr>
            <a:endParaRPr lang="zh-CN" altLang="zh-CN" sz="2800" b="0" smtClean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2843213" y="53975"/>
            <a:ext cx="3744912" cy="350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algn="ctr">
              <a:lnSpc>
                <a:spcPct val="60000"/>
              </a:lnSpc>
              <a:spcBef>
                <a:spcPct val="0"/>
              </a:spcBef>
              <a:defRPr/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隶书" pitchFamily="49" charset="-122"/>
              </a:rPr>
              <a:t>第 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隶书" pitchFamily="49" charset="-122"/>
              </a:rPr>
              <a:t>4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隶书" pitchFamily="49" charset="-122"/>
              </a:rPr>
              <a:t>章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 时变电磁场</a:t>
            </a:r>
            <a:endParaRPr lang="zh-CN" altLang="en-US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1028" name="Rectangle 6"/>
          <p:cNvSpPr>
            <a:spLocks noChangeArrowheads="1"/>
          </p:cNvSpPr>
          <p:nvPr userDrawn="1"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tIns="10800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smtClean="0">
                <a:solidFill>
                  <a:srgbClr val="573CFC"/>
                </a:solidFill>
                <a:ea typeface="华文行楷" pitchFamily="2" charset="-122"/>
              </a:rPr>
              <a:t>电磁场与电磁波</a:t>
            </a:r>
          </a:p>
        </p:txBody>
      </p:sp>
      <p:sp>
        <p:nvSpPr>
          <p:cNvPr id="1029" name="Rectangle 10" descr="深色横线"/>
          <p:cNvSpPr>
            <a:spLocks noChangeArrowheads="1"/>
          </p:cNvSpPr>
          <p:nvPr userDrawn="1"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6932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0">
                <a:ea typeface="+mn-ea"/>
              </a:defRPr>
            </a:lvl1pPr>
          </a:lstStyle>
          <a:p>
            <a:pPr>
              <a:defRPr/>
            </a:pPr>
            <a:fld id="{15491529-281D-4B4F-951B-4129BAB4FA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21" descr="栎木"/>
          <p:cNvSpPr>
            <a:spLocks noChangeArrowheads="1"/>
          </p:cNvSpPr>
          <p:nvPr userDrawn="1"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33" name="Rectangle 23" descr="深色横线"/>
          <p:cNvSpPr>
            <a:spLocks noChangeArrowheads="1"/>
          </p:cNvSpPr>
          <p:nvPr userDrawn="1"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8.xml"/><Relationship Id="rId5" Type="http://schemas.openxmlformats.org/officeDocument/2006/relationships/slide" Target="slide24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Relationship Id="rId9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5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slide" Target="slide2.xml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5.emf"/><Relationship Id="rId3" Type="http://schemas.openxmlformats.org/officeDocument/2006/relationships/image" Target="../media/image4.png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e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5" Type="http://schemas.openxmlformats.org/officeDocument/2006/relationships/oleObject" Target="../embeddings/oleObject13.bin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3.emf"/><Relationship Id="rId1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1.emf"/><Relationship Id="rId3" Type="http://schemas.openxmlformats.org/officeDocument/2006/relationships/image" Target="../media/image4.png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9.emf"/><Relationship Id="rId1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4.png"/><Relationship Id="rId7" Type="http://schemas.openxmlformats.org/officeDocument/2006/relationships/image" Target="../media/image23.emf"/><Relationship Id="rId12" Type="http://schemas.openxmlformats.org/officeDocument/2006/relationships/image" Target="../media/image25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0.bin"/><Relationship Id="rId11" Type="http://schemas.openxmlformats.org/officeDocument/2006/relationships/oleObject" Target="../embeddings/oleObject22.bin"/><Relationship Id="rId5" Type="http://schemas.openxmlformats.org/officeDocument/2006/relationships/image" Target="../media/image22.emf"/><Relationship Id="rId10" Type="http://schemas.openxmlformats.org/officeDocument/2006/relationships/image" Target="../media/image24.emf"/><Relationship Id="rId4" Type="http://schemas.openxmlformats.org/officeDocument/2006/relationships/oleObject" Target="../embeddings/oleObject19.bin"/><Relationship Id="rId9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4.png"/><Relationship Id="rId18" Type="http://schemas.openxmlformats.org/officeDocument/2006/relationships/oleObject" Target="../embeddings/oleObject30.bin"/><Relationship Id="rId3" Type="http://schemas.openxmlformats.org/officeDocument/2006/relationships/oleObject" Target="../embeddings/oleObject23.bin"/><Relationship Id="rId21" Type="http://schemas.openxmlformats.org/officeDocument/2006/relationships/image" Target="../media/image34.emf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0.emf"/><Relationship Id="rId17" Type="http://schemas.openxmlformats.org/officeDocument/2006/relationships/image" Target="../media/image32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9.bin"/><Relationship Id="rId20" Type="http://schemas.openxmlformats.org/officeDocument/2006/relationships/oleObject" Target="../embeddings/oleObject31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image" Target="../media/image31.emf"/><Relationship Id="rId10" Type="http://schemas.openxmlformats.org/officeDocument/2006/relationships/image" Target="../media/image29.emf"/><Relationship Id="rId19" Type="http://schemas.openxmlformats.org/officeDocument/2006/relationships/image" Target="../media/image33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6.bin"/><Relationship Id="rId14" Type="http://schemas.openxmlformats.org/officeDocument/2006/relationships/oleObject" Target="../embeddings/oleObject28.bin"/><Relationship Id="rId22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slide" Target="slide2.xml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9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image" Target="../media/image40.emf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3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slide" Target="slide2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3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8.e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.png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7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e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5.emf"/><Relationship Id="rId19" Type="http://schemas.openxmlformats.org/officeDocument/2006/relationships/slide" Target="slide12.xml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image" Target="../media/image4.png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e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2.emf"/><Relationship Id="rId4" Type="http://schemas.openxmlformats.org/officeDocument/2006/relationships/image" Target="../media/image49.emf"/><Relationship Id="rId9" Type="http://schemas.openxmlformats.org/officeDocument/2006/relationships/oleObject" Target="../embeddings/oleObject49.bin"/><Relationship Id="rId1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image" Target="../media/image5.png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5.e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7.e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54.bin"/><Relationship Id="rId14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9.emf"/><Relationship Id="rId9" Type="http://schemas.openxmlformats.org/officeDocument/2006/relationships/slide" Target="slide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oleObject" Target="../embeddings/oleObject63.bin"/><Relationship Id="rId3" Type="http://schemas.openxmlformats.org/officeDocument/2006/relationships/image" Target="../media/image5.png"/><Relationship Id="rId7" Type="http://schemas.openxmlformats.org/officeDocument/2006/relationships/image" Target="../media/image63.emf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60.bin"/><Relationship Id="rId11" Type="http://schemas.openxmlformats.org/officeDocument/2006/relationships/oleObject" Target="../embeddings/oleObject62.bin"/><Relationship Id="rId5" Type="http://schemas.openxmlformats.org/officeDocument/2006/relationships/image" Target="../media/image62.emf"/><Relationship Id="rId15" Type="http://schemas.openxmlformats.org/officeDocument/2006/relationships/slide" Target="slide12.xml"/><Relationship Id="rId10" Type="http://schemas.openxmlformats.org/officeDocument/2006/relationships/image" Target="../media/image4.png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4.emf"/><Relationship Id="rId14" Type="http://schemas.openxmlformats.org/officeDocument/2006/relationships/image" Target="../media/image6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slide" Target="slide12.xml"/><Relationship Id="rId4" Type="http://schemas.openxmlformats.org/officeDocument/2006/relationships/image" Target="../media/image6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9.emf"/><Relationship Id="rId11" Type="http://schemas.openxmlformats.org/officeDocument/2006/relationships/slide" Target="slide12.xml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71.emf"/><Relationship Id="rId4" Type="http://schemas.openxmlformats.org/officeDocument/2006/relationships/image" Target="../media/image68.emf"/><Relationship Id="rId9" Type="http://schemas.openxmlformats.org/officeDocument/2006/relationships/oleObject" Target="../embeddings/oleObject6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7" Type="http://schemas.openxmlformats.org/officeDocument/2006/relationships/slide" Target="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5.e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slide" Target="slide12.xml"/><Relationship Id="rId10" Type="http://schemas.openxmlformats.org/officeDocument/2006/relationships/image" Target="../media/image77.emf"/><Relationship Id="rId4" Type="http://schemas.openxmlformats.org/officeDocument/2006/relationships/image" Target="../media/image74.e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1.e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80.emf"/><Relationship Id="rId9" Type="http://schemas.openxmlformats.org/officeDocument/2006/relationships/slide" Target="slide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oleObject" Target="../embeddings/oleObject80.bin"/><Relationship Id="rId7" Type="http://schemas.openxmlformats.org/officeDocument/2006/relationships/image" Target="../media/image83.emf"/><Relationship Id="rId12" Type="http://schemas.openxmlformats.org/officeDocument/2006/relationships/image" Target="../media/image8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85.emf"/><Relationship Id="rId5" Type="http://schemas.openxmlformats.org/officeDocument/2006/relationships/slide" Target="slide12.xml"/><Relationship Id="rId10" Type="http://schemas.openxmlformats.org/officeDocument/2006/relationships/oleObject" Target="../embeddings/oleObject83.bin"/><Relationship Id="rId4" Type="http://schemas.openxmlformats.org/officeDocument/2006/relationships/image" Target="../media/image82.emf"/><Relationship Id="rId9" Type="http://schemas.openxmlformats.org/officeDocument/2006/relationships/image" Target="../media/image84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5.png"/><Relationship Id="rId7" Type="http://schemas.openxmlformats.org/officeDocument/2006/relationships/image" Target="../media/image8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87.emf"/><Relationship Id="rId4" Type="http://schemas.openxmlformats.org/officeDocument/2006/relationships/oleObject" Target="../embeddings/oleObject8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93276D-E55B-4B62-BD42-5AE23456D789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428038" name="WordArt 6"/>
          <p:cNvSpPr>
            <a:spLocks noChangeArrowheads="1" noChangeShapeType="1" noTextEdit="1"/>
          </p:cNvSpPr>
          <p:nvPr/>
        </p:nvSpPr>
        <p:spPr bwMode="auto">
          <a:xfrm>
            <a:off x="1001713" y="2636838"/>
            <a:ext cx="7315200" cy="923925"/>
          </a:xfrm>
          <a:prstGeom prst="rect">
            <a:avLst/>
          </a:prstGeom>
          <a:extLst/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zh-CN" altLang="en-US" sz="7200" kern="10"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隶书"/>
                <a:ea typeface="隶书"/>
              </a:rPr>
              <a:t>第</a:t>
            </a:r>
            <a:r>
              <a:rPr lang="en-US" altLang="zh-CN" sz="7200" kern="10"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隶书"/>
                <a:ea typeface="隶书"/>
              </a:rPr>
              <a:t>4</a:t>
            </a:r>
            <a:r>
              <a:rPr lang="zh-CN" altLang="en-US" sz="7200" kern="10"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隶书"/>
                <a:ea typeface="隶书"/>
              </a:rPr>
              <a:t>章 时变电磁场</a:t>
            </a:r>
          </a:p>
        </p:txBody>
      </p:sp>
      <p:sp>
        <p:nvSpPr>
          <p:cNvPr id="2052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3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4" name="AutoShape 1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5" name="AutoShape 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CA145A-5617-4231-B4E5-9391346525AB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2268538" y="1557338"/>
            <a:ext cx="4895850" cy="3502025"/>
          </a:xfrm>
          <a:prstGeom prst="rect">
            <a:avLst/>
          </a:prstGeom>
          <a:solidFill>
            <a:srgbClr val="CCFFFF"/>
          </a:solidFill>
          <a:ln w="222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3200">
                <a:solidFill>
                  <a:srgbClr val="FF33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kumimoji="1" lang="zh-CN" altLang="en-US" sz="3200">
                <a:solidFill>
                  <a:srgbClr val="FF3300"/>
                </a:solidFill>
                <a:latin typeface="隶书" pitchFamily="49" charset="-122"/>
                <a:ea typeface="隶书" pitchFamily="49" charset="-122"/>
              </a:rPr>
              <a:t>本章内容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4.1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hlinkClick r:id="rId2" action="ppaction://hlinksldjump"/>
              </a:rPr>
              <a:t>波动方程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4.2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hlinkClick r:id="rId3" action="ppaction://hlinksldjump"/>
              </a:rPr>
              <a:t>电磁场的位函数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4.3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hlinkClick r:id="rId4" action="ppaction://hlinksldjump"/>
              </a:rPr>
              <a:t>电磁能量守恒定律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4.4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hlinkClick r:id="rId5" action="ppaction://hlinksldjump"/>
              </a:rPr>
              <a:t>时变电磁场的唯一性定理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4.5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hlinkClick r:id="rId6" action="ppaction://hlinksldjump"/>
              </a:rPr>
              <a:t>时谐电磁场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07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8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C78684-CC1D-43EC-A4C1-90D1BC92B41B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566303" name="Rectangle 31"/>
          <p:cNvSpPr>
            <a:spLocks noChangeArrowheads="1"/>
          </p:cNvSpPr>
          <p:nvPr/>
        </p:nvSpPr>
        <p:spPr bwMode="auto">
          <a:xfrm>
            <a:off x="73025" y="450850"/>
            <a:ext cx="8459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4.1   </a:t>
            </a:r>
            <a:r>
              <a:rPr lang="zh-CN" altLang="en-US" sz="280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波动方程</a:t>
            </a:r>
          </a:p>
        </p:txBody>
      </p:sp>
      <p:sp>
        <p:nvSpPr>
          <p:cNvPr id="566311" name="Rectangle 39"/>
          <p:cNvSpPr>
            <a:spLocks noChangeArrowheads="1"/>
          </p:cNvSpPr>
          <p:nvPr/>
        </p:nvSpPr>
        <p:spPr bwMode="auto">
          <a:xfrm>
            <a:off x="0" y="3933825"/>
            <a:ext cx="87852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</a:rPr>
              <a:t>       </a:t>
            </a:r>
            <a:r>
              <a:rPr lang="zh-CN" altLang="en-US">
                <a:solidFill>
                  <a:schemeClr val="bg1"/>
                </a:solidFill>
              </a:rPr>
              <a:t>在无源空间中，设媒质是线性、各向同性且无损耗的均匀媒质，则有</a:t>
            </a:r>
            <a:endParaRPr lang="zh-CN" altLang="en-US">
              <a:solidFill>
                <a:schemeClr val="bg1"/>
              </a:solidFill>
              <a:latin typeface="黑体" pitchFamily="2" charset="-122"/>
            </a:endParaRPr>
          </a:p>
        </p:txBody>
      </p:sp>
      <p:sp>
        <p:nvSpPr>
          <p:cNvPr id="566313" name="Text Box 41"/>
          <p:cNvSpPr txBox="1">
            <a:spLocks noChangeArrowheads="1"/>
          </p:cNvSpPr>
          <p:nvPr/>
        </p:nvSpPr>
        <p:spPr bwMode="auto">
          <a:xfrm>
            <a:off x="69850" y="3502025"/>
            <a:ext cx="407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无源区的波动方程</a:t>
            </a:r>
            <a:endParaRPr kumimoji="1" lang="zh-CN" altLang="en-US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566314" name="Text Box 42"/>
          <p:cNvSpPr txBox="1">
            <a:spLocks noChangeArrowheads="1"/>
          </p:cNvSpPr>
          <p:nvPr/>
        </p:nvSpPr>
        <p:spPr bwMode="auto">
          <a:xfrm>
            <a:off x="217488" y="2349500"/>
            <a:ext cx="889158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4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波动方程 </a:t>
            </a:r>
            <a:r>
              <a:rPr lang="en-US" altLang="zh-CN">
                <a:solidFill>
                  <a:schemeClr val="bg1"/>
                </a:solidFill>
              </a:rPr>
              <a:t>——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二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阶矢量微分方程，</a:t>
            </a:r>
            <a:r>
              <a:rPr lang="zh-CN" altLang="en-US">
                <a:solidFill>
                  <a:schemeClr val="bg1"/>
                </a:solidFill>
              </a:rPr>
              <a:t>揭示电磁场的波动性</a:t>
            </a:r>
            <a:endParaRPr lang="zh-CN" altLang="en-US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566315" name="Text Box 43"/>
          <p:cNvSpPr txBox="1">
            <a:spLocks noChangeArrowheads="1"/>
          </p:cNvSpPr>
          <p:nvPr/>
        </p:nvSpPr>
        <p:spPr bwMode="auto">
          <a:xfrm>
            <a:off x="250825" y="1412875"/>
            <a:ext cx="88931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4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麦克斯韦方程 </a:t>
            </a:r>
            <a:r>
              <a:rPr lang="en-US" altLang="zh-CN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——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一阶矢量微分方程组，描述电场与磁场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                                          间的相互作用关系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252413" y="2852738"/>
            <a:ext cx="8640762" cy="561975"/>
            <a:chOff x="159" y="1797"/>
            <a:chExt cx="5443" cy="354"/>
          </a:xfrm>
        </p:grpSpPr>
        <p:sp>
          <p:nvSpPr>
            <p:cNvPr id="4116" name="AutoShape 36"/>
            <p:cNvSpPr>
              <a:spLocks noChangeArrowheads="1"/>
            </p:cNvSpPr>
            <p:nvPr/>
          </p:nvSpPr>
          <p:spPr bwMode="auto">
            <a:xfrm>
              <a:off x="1973" y="1933"/>
              <a:ext cx="544" cy="136"/>
            </a:xfrm>
            <a:prstGeom prst="rightArrow">
              <a:avLst>
                <a:gd name="adj1" fmla="val 50000"/>
                <a:gd name="adj2" fmla="val 100000"/>
              </a:avLst>
            </a:prstGeom>
            <a:noFill/>
            <a:ln w="22225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17" name="Text Box 44"/>
            <p:cNvSpPr txBox="1">
              <a:spLocks noChangeArrowheads="1"/>
            </p:cNvSpPr>
            <p:nvPr/>
          </p:nvSpPr>
          <p:spPr bwMode="auto">
            <a:xfrm>
              <a:off x="159" y="1797"/>
              <a:ext cx="5443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buFontTx/>
                <a:buBlip>
                  <a:blip r:embed="rId4"/>
                </a:buBlip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sz="2800">
                  <a:solidFill>
                    <a:schemeClr val="bg1"/>
                  </a:solidFill>
                  <a:ea typeface="黑体" pitchFamily="2" charset="-122"/>
                </a:rPr>
                <a:t>  </a:t>
              </a:r>
              <a:r>
                <a:rPr lang="zh-CN" altLang="en-US">
                  <a:solidFill>
                    <a:schemeClr val="bg1"/>
                  </a:solidFill>
                </a:rPr>
                <a:t>麦克斯韦方程组              </a:t>
              </a: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波动方程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566317" name="Text Box 45"/>
          <p:cNvSpPr txBox="1">
            <a:spLocks noChangeArrowheads="1"/>
          </p:cNvSpPr>
          <p:nvPr/>
        </p:nvSpPr>
        <p:spPr bwMode="auto">
          <a:xfrm>
            <a:off x="69850" y="955675"/>
            <a:ext cx="2773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问题的提出</a:t>
            </a:r>
            <a:endParaRPr kumimoji="1" lang="zh-CN" altLang="en-US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566318" name="Object 46"/>
          <p:cNvGraphicFramePr>
            <a:graphicFrameLocks noChangeAspect="1"/>
          </p:cNvGraphicFramePr>
          <p:nvPr/>
        </p:nvGraphicFramePr>
        <p:xfrm>
          <a:off x="4859338" y="4941888"/>
          <a:ext cx="24844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5" imgW="1143087" imgH="352399" progId="Equation.DSMT4">
                  <p:embed/>
                </p:oleObj>
              </mc:Choice>
              <mc:Fallback>
                <p:oleObj name="Equation" r:id="rId5" imgW="1143087" imgH="352399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941888"/>
                        <a:ext cx="248443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319" name="Object 47"/>
          <p:cNvGraphicFramePr>
            <a:graphicFrameLocks noChangeAspect="1"/>
          </p:cNvGraphicFramePr>
          <p:nvPr/>
        </p:nvGraphicFramePr>
        <p:xfrm>
          <a:off x="1619250" y="4941888"/>
          <a:ext cx="23542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公式" r:id="rId7" imgW="1076459" imgH="352399" progId="Equation.3">
                  <p:embed/>
                </p:oleObj>
              </mc:Choice>
              <mc:Fallback>
                <p:oleObj name="公式" r:id="rId7" imgW="1076459" imgH="352399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941888"/>
                        <a:ext cx="235426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3276600" y="5589588"/>
            <a:ext cx="2447925" cy="863600"/>
            <a:chOff x="2064" y="3521"/>
            <a:chExt cx="1542" cy="544"/>
          </a:xfrm>
        </p:grpSpPr>
        <p:sp>
          <p:nvSpPr>
            <p:cNvPr id="4113" name="Rectangle 33"/>
            <p:cNvSpPr>
              <a:spLocks noChangeArrowheads="1"/>
            </p:cNvSpPr>
            <p:nvPr/>
          </p:nvSpPr>
          <p:spPr bwMode="auto">
            <a:xfrm>
              <a:off x="2064" y="3763"/>
              <a:ext cx="1542" cy="302"/>
            </a:xfrm>
            <a:prstGeom prst="rect">
              <a:avLst/>
            </a:prstGeom>
            <a:noFill/>
            <a:ln w="22225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电磁波动方程</a:t>
              </a:r>
            </a:p>
          </p:txBody>
        </p:sp>
        <p:sp>
          <p:nvSpPr>
            <p:cNvPr id="4114" name="Line 49"/>
            <p:cNvSpPr>
              <a:spLocks noChangeShapeType="1"/>
            </p:cNvSpPr>
            <p:nvPr/>
          </p:nvSpPr>
          <p:spPr bwMode="auto">
            <a:xfrm flipV="1">
              <a:off x="2971" y="3521"/>
              <a:ext cx="227" cy="227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Line 50"/>
            <p:cNvSpPr>
              <a:spLocks noChangeShapeType="1"/>
            </p:cNvSpPr>
            <p:nvPr/>
          </p:nvSpPr>
          <p:spPr bwMode="auto">
            <a:xfrm flipH="1" flipV="1">
              <a:off x="2336" y="3521"/>
              <a:ext cx="226" cy="227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9" name="AutoShape 52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10" name="AutoShape 5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11" name="AutoShape 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12" name="AutoShape 5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6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6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6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6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6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56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6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6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303" grpId="0"/>
      <p:bldP spid="566311" grpId="0"/>
      <p:bldP spid="566313" grpId="0"/>
      <p:bldP spid="566314" grpId="0"/>
      <p:bldP spid="566315" grpId="0"/>
      <p:bldP spid="5663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600E63-9F51-4E84-97D2-03BDB4F6190F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graphicFrame>
        <p:nvGraphicFramePr>
          <p:cNvPr id="661513" name="Object 9"/>
          <p:cNvGraphicFramePr>
            <a:graphicFrameLocks noChangeAspect="1"/>
          </p:cNvGraphicFramePr>
          <p:nvPr/>
        </p:nvGraphicFramePr>
        <p:xfrm>
          <a:off x="5292725" y="3357563"/>
          <a:ext cx="25431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" name="公式" r:id="rId3" imgW="1143087" imgH="352399" progId="Equation.3">
                  <p:embed/>
                </p:oleObj>
              </mc:Choice>
              <mc:Fallback>
                <p:oleObj name="公式" r:id="rId3" imgW="1143087" imgH="35239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357563"/>
                        <a:ext cx="254317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4" name="Object 10"/>
          <p:cNvGraphicFramePr>
            <a:graphicFrameLocks noChangeAspect="1"/>
          </p:cNvGraphicFramePr>
          <p:nvPr/>
        </p:nvGraphicFramePr>
        <p:xfrm>
          <a:off x="1979613" y="4221163"/>
          <a:ext cx="2449512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公式" r:id="rId5" imgW="1076459" imgH="352399" progId="Equation.3">
                  <p:embed/>
                </p:oleObj>
              </mc:Choice>
              <mc:Fallback>
                <p:oleObj name="公式" r:id="rId5" imgW="1076459" imgH="35239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21163"/>
                        <a:ext cx="2449512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5" name="Object 11"/>
          <p:cNvGraphicFramePr>
            <a:graphicFrameLocks noChangeAspect="1"/>
          </p:cNvGraphicFramePr>
          <p:nvPr/>
        </p:nvGraphicFramePr>
        <p:xfrm>
          <a:off x="4692650" y="2060575"/>
          <a:ext cx="39116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7" name="公式" r:id="rId7" imgW="1828800" imgH="352399" progId="Equation.3">
                  <p:embed/>
                </p:oleObj>
              </mc:Choice>
              <mc:Fallback>
                <p:oleObj name="公式" r:id="rId7" imgW="1828800" imgH="35239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0" y="2060575"/>
                        <a:ext cx="39116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23" name="Object 19"/>
          <p:cNvGraphicFramePr>
            <a:graphicFrameLocks noChangeAspect="1"/>
          </p:cNvGraphicFramePr>
          <p:nvPr/>
        </p:nvGraphicFramePr>
        <p:xfrm>
          <a:off x="4932363" y="981075"/>
          <a:ext cx="34559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8" name="公式" r:id="rId9" imgW="1352687" imgH="352399" progId="Equation.3">
                  <p:embed/>
                </p:oleObj>
              </mc:Choice>
              <mc:Fallback>
                <p:oleObj name="公式" r:id="rId9" imgW="1352687" imgH="35239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981075"/>
                        <a:ext cx="34559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36" name="Object 32"/>
          <p:cNvGraphicFramePr>
            <a:graphicFrameLocks noChangeAspect="1"/>
          </p:cNvGraphicFramePr>
          <p:nvPr/>
        </p:nvGraphicFramePr>
        <p:xfrm>
          <a:off x="1416050" y="908050"/>
          <a:ext cx="2363788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9" name="公式" r:id="rId11" imgW="971658" imgH="1333487" progId="Equation.3">
                  <p:embed/>
                </p:oleObj>
              </mc:Choice>
              <mc:Fallback>
                <p:oleObj name="公式" r:id="rId11" imgW="971658" imgH="1333487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908050"/>
                        <a:ext cx="2363788" cy="309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38" name="Text Box 34"/>
          <p:cNvSpPr txBox="1">
            <a:spLocks noChangeArrowheads="1"/>
          </p:cNvSpPr>
          <p:nvPr/>
        </p:nvSpPr>
        <p:spPr bwMode="auto">
          <a:xfrm>
            <a:off x="107950" y="4375150"/>
            <a:ext cx="864076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lang="zh-CN" altLang="en-US">
                <a:solidFill>
                  <a:schemeClr val="bg1"/>
                </a:solidFill>
              </a:rPr>
              <a:t>同理可得</a:t>
            </a:r>
          </a:p>
        </p:txBody>
      </p:sp>
      <p:sp>
        <p:nvSpPr>
          <p:cNvPr id="661539" name="Text Box 35"/>
          <p:cNvSpPr txBox="1">
            <a:spLocks noChangeArrowheads="1"/>
          </p:cNvSpPr>
          <p:nvPr/>
        </p:nvSpPr>
        <p:spPr bwMode="auto">
          <a:xfrm>
            <a:off x="107950" y="476250"/>
            <a:ext cx="864076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13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黑体" pitchFamily="2" charset="-122"/>
              </a:rPr>
              <a:t> </a:t>
            </a:r>
            <a:r>
              <a:rPr lang="en-US" altLang="zh-CN" sz="2800">
                <a:solidFill>
                  <a:schemeClr val="bg1"/>
                </a:solidFill>
                <a:ea typeface="黑体" pitchFamily="2" charset="-122"/>
              </a:rPr>
              <a:t>  </a:t>
            </a:r>
            <a:r>
              <a:rPr lang="zh-CN" altLang="en-US">
                <a:solidFill>
                  <a:srgbClr val="FF9900"/>
                </a:solidFill>
                <a:ea typeface="宋体" pitchFamily="2" charset="-122"/>
              </a:rPr>
              <a:t>推证</a:t>
            </a:r>
          </a:p>
        </p:txBody>
      </p:sp>
      <p:sp>
        <p:nvSpPr>
          <p:cNvPr id="661540" name="Text Box 36"/>
          <p:cNvSpPr txBox="1">
            <a:spLocks noChangeArrowheads="1"/>
          </p:cNvSpPr>
          <p:nvPr/>
        </p:nvSpPr>
        <p:spPr bwMode="auto">
          <a:xfrm>
            <a:off x="69850" y="5013325"/>
            <a:ext cx="2773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14"/>
              </a:buBlip>
            </a:pP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思考题</a:t>
            </a:r>
            <a:endParaRPr kumimoji="1" lang="zh-CN" altLang="en-US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61541" name="AutoShape 37"/>
          <p:cNvSpPr>
            <a:spLocks noChangeArrowheads="1"/>
          </p:cNvSpPr>
          <p:nvPr/>
        </p:nvSpPr>
        <p:spPr bwMode="auto">
          <a:xfrm>
            <a:off x="3946525" y="1341438"/>
            <a:ext cx="841375" cy="215900"/>
          </a:xfrm>
          <a:prstGeom prst="rightArrow">
            <a:avLst>
              <a:gd name="adj1" fmla="val 50000"/>
              <a:gd name="adj2" fmla="val 97426"/>
            </a:avLst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61542" name="AutoShape 38"/>
          <p:cNvSpPr>
            <a:spLocks noChangeArrowheads="1"/>
          </p:cNvSpPr>
          <p:nvPr/>
        </p:nvSpPr>
        <p:spPr bwMode="auto">
          <a:xfrm rot="5400000">
            <a:off x="6132513" y="1844675"/>
            <a:ext cx="539750" cy="250825"/>
          </a:xfrm>
          <a:prstGeom prst="rightArrow">
            <a:avLst>
              <a:gd name="adj1" fmla="val 50000"/>
              <a:gd name="adj2" fmla="val 53797"/>
            </a:avLst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61543" name="AutoShape 39"/>
          <p:cNvSpPr>
            <a:spLocks noChangeArrowheads="1"/>
          </p:cNvSpPr>
          <p:nvPr/>
        </p:nvSpPr>
        <p:spPr bwMode="auto">
          <a:xfrm rot="5400000">
            <a:off x="6132513" y="2997200"/>
            <a:ext cx="539750" cy="250825"/>
          </a:xfrm>
          <a:prstGeom prst="rightArrow">
            <a:avLst>
              <a:gd name="adj1" fmla="val 50000"/>
              <a:gd name="adj2" fmla="val 53797"/>
            </a:avLst>
          </a:prstGeom>
          <a:noFill/>
          <a:ln w="222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61544" name="Text Box 40"/>
          <p:cNvSpPr txBox="1">
            <a:spLocks noChangeArrowheads="1"/>
          </p:cNvSpPr>
          <p:nvPr/>
        </p:nvSpPr>
        <p:spPr bwMode="auto">
          <a:xfrm>
            <a:off x="323850" y="5445125"/>
            <a:ext cx="43195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13"/>
              </a:buBlip>
            </a:pPr>
            <a:r>
              <a:rPr lang="en-US" altLang="zh-CN">
                <a:solidFill>
                  <a:schemeClr val="bg1"/>
                </a:solidFill>
                <a:ea typeface="黑体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若为有源空间，结果如何？</a:t>
            </a:r>
          </a:p>
        </p:txBody>
      </p:sp>
      <p:sp>
        <p:nvSpPr>
          <p:cNvPr id="661545" name="Text Box 41"/>
          <p:cNvSpPr txBox="1">
            <a:spLocks noChangeArrowheads="1"/>
          </p:cNvSpPr>
          <p:nvPr/>
        </p:nvSpPr>
        <p:spPr bwMode="auto">
          <a:xfrm>
            <a:off x="323850" y="5949950"/>
            <a:ext cx="43195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13"/>
              </a:buBlip>
            </a:pPr>
            <a:r>
              <a:rPr lang="en-US" altLang="zh-CN">
                <a:solidFill>
                  <a:schemeClr val="bg1"/>
                </a:solidFill>
                <a:ea typeface="黑体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若为导电媒质，结果如何？</a:t>
            </a:r>
          </a:p>
        </p:txBody>
      </p:sp>
      <p:sp>
        <p:nvSpPr>
          <p:cNvPr id="5136" name="AutoShape 42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7" name="AutoShape 4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8" name="AutoShape 4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9" name="AutoShape 4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6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66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6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6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6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6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66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66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66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6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66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66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66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38" grpId="0"/>
      <p:bldP spid="661539" grpId="0"/>
      <p:bldP spid="661540" grpId="0"/>
      <p:bldP spid="661541" grpId="0" animBg="1"/>
      <p:bldP spid="661542" grpId="0" animBg="1"/>
      <p:bldP spid="661543" grpId="0" animBg="1"/>
      <p:bldP spid="661544" grpId="0"/>
      <p:bldP spid="6615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3C6AC0-1F4B-4B54-91CA-8AD069CCED93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3213" y="779463"/>
            <a:ext cx="8229600" cy="6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4.2     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电磁场的位函数</a:t>
            </a:r>
            <a:endParaRPr lang="zh-CN" altLang="en-US" sz="2800" smtClean="0">
              <a:solidFill>
                <a:schemeClr val="bg1"/>
              </a:solidFill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2484438" y="1476375"/>
            <a:ext cx="352742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1938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</a:t>
            </a: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本节内容</a:t>
            </a:r>
          </a:p>
        </p:txBody>
      </p:sp>
      <p:sp>
        <p:nvSpPr>
          <p:cNvPr id="6152" name="Text Box 10"/>
          <p:cNvSpPr txBox="1">
            <a:spLocks noChangeArrowheads="1"/>
          </p:cNvSpPr>
          <p:nvPr/>
        </p:nvSpPr>
        <p:spPr bwMode="auto">
          <a:xfrm>
            <a:off x="2844800" y="3213100"/>
            <a:ext cx="3638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4.2.2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达朗贝尔方程</a:t>
            </a:r>
          </a:p>
        </p:txBody>
      </p:sp>
      <p:sp>
        <p:nvSpPr>
          <p:cNvPr id="6153" name="Text Box 11"/>
          <p:cNvSpPr txBox="1">
            <a:spLocks noChangeArrowheads="1"/>
          </p:cNvSpPr>
          <p:nvPr/>
        </p:nvSpPr>
        <p:spPr bwMode="auto">
          <a:xfrm>
            <a:off x="2844800" y="2492375"/>
            <a:ext cx="3638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4.2.1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矢量位和标量位</a:t>
            </a:r>
          </a:p>
        </p:txBody>
      </p:sp>
      <p:sp>
        <p:nvSpPr>
          <p:cNvPr id="6154" name="AutoShape 2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5" name="AutoShape 2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6" name="AutoShape 2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7" name="AutoShape 2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C8E968-D6F7-4995-BD9C-0BE8274671C4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798722" name="Rectangle 2"/>
          <p:cNvSpPr>
            <a:spLocks noChangeArrowheads="1"/>
          </p:cNvSpPr>
          <p:nvPr/>
        </p:nvSpPr>
        <p:spPr bwMode="auto">
          <a:xfrm>
            <a:off x="250825" y="1412875"/>
            <a:ext cx="87852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1938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cs typeface="Times New Roman" pitchFamily="18" charset="0"/>
              </a:rPr>
              <a:t>引入位函数来描述</a:t>
            </a:r>
            <a:r>
              <a:rPr lang="zh-CN" altLang="en-US">
                <a:solidFill>
                  <a:srgbClr val="FF6600"/>
                </a:solidFill>
                <a:latin typeface="楷体_GB2312" pitchFamily="49" charset="-122"/>
                <a:cs typeface="Times New Roman" pitchFamily="18" charset="0"/>
              </a:rPr>
              <a:t>时变电磁场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cs typeface="Times New Roman" pitchFamily="18" charset="0"/>
              </a:rPr>
              <a:t>，使一些问题的分析得到简化。</a:t>
            </a:r>
          </a:p>
        </p:txBody>
      </p:sp>
      <p:sp>
        <p:nvSpPr>
          <p:cNvPr id="798723" name="Text Box 3"/>
          <p:cNvSpPr txBox="1">
            <a:spLocks noChangeArrowheads="1"/>
          </p:cNvSpPr>
          <p:nvPr/>
        </p:nvSpPr>
        <p:spPr bwMode="auto">
          <a:xfrm>
            <a:off x="63500" y="836613"/>
            <a:ext cx="363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引入位函数的意义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宋体" pitchFamily="2" charset="-122"/>
            </a:endParaRPr>
          </a:p>
        </p:txBody>
      </p:sp>
      <p:sp>
        <p:nvSpPr>
          <p:cNvPr id="798724" name="Text Box 4"/>
          <p:cNvSpPr txBox="1">
            <a:spLocks noChangeArrowheads="1"/>
          </p:cNvSpPr>
          <p:nvPr/>
        </p:nvSpPr>
        <p:spPr bwMode="auto">
          <a:xfrm>
            <a:off x="69850" y="2708275"/>
            <a:ext cx="363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位函数的定义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宋体" pitchFamily="2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489200" y="4241800"/>
            <a:ext cx="3173413" cy="915988"/>
            <a:chOff x="1568" y="2672"/>
            <a:chExt cx="1999" cy="577"/>
          </a:xfrm>
        </p:grpSpPr>
        <p:sp>
          <p:nvSpPr>
            <p:cNvPr id="7190" name="AutoShape 6"/>
            <p:cNvSpPr>
              <a:spLocks noChangeArrowheads="1"/>
            </p:cNvSpPr>
            <p:nvPr/>
          </p:nvSpPr>
          <p:spPr bwMode="auto">
            <a:xfrm flipH="1">
              <a:off x="1568" y="2853"/>
              <a:ext cx="544" cy="182"/>
            </a:xfrm>
            <a:prstGeom prst="leftArrow">
              <a:avLst>
                <a:gd name="adj1" fmla="val 50000"/>
                <a:gd name="adj2" fmla="val 74725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7191" name="Object 7"/>
            <p:cNvGraphicFramePr>
              <a:graphicFrameLocks noChangeAspect="1"/>
            </p:cNvGraphicFramePr>
            <p:nvPr/>
          </p:nvGraphicFramePr>
          <p:xfrm>
            <a:off x="2164" y="2672"/>
            <a:ext cx="1403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6" name="公式" r:id="rId4" imgW="961942" imgH="352399" progId="Equation.3">
                    <p:embed/>
                  </p:oleObj>
                </mc:Choice>
                <mc:Fallback>
                  <p:oleObj name="公式" r:id="rId4" imgW="961942" imgH="352399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4" y="2672"/>
                          <a:ext cx="1403" cy="5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8728" name="Object 8"/>
          <p:cNvGraphicFramePr>
            <a:graphicFrameLocks noChangeAspect="1"/>
          </p:cNvGraphicFramePr>
          <p:nvPr/>
        </p:nvGraphicFramePr>
        <p:xfrm>
          <a:off x="611188" y="3355975"/>
          <a:ext cx="12969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7" name="公式" r:id="rId6" imgW="495199" imgH="152567" progId="Equation.3">
                  <p:embed/>
                </p:oleObj>
              </mc:Choice>
              <mc:Fallback>
                <p:oleObj name="公式" r:id="rId6" imgW="495199" imgH="15256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355975"/>
                        <a:ext cx="12969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514600" y="3355975"/>
            <a:ext cx="2387600" cy="504825"/>
            <a:chOff x="1474" y="2114"/>
            <a:chExt cx="1504" cy="318"/>
          </a:xfrm>
        </p:grpSpPr>
        <p:graphicFrame>
          <p:nvGraphicFramePr>
            <p:cNvPr id="7188" name="Object 10"/>
            <p:cNvGraphicFramePr>
              <a:graphicFrameLocks noChangeAspect="1"/>
            </p:cNvGraphicFramePr>
            <p:nvPr/>
          </p:nvGraphicFramePr>
          <p:xfrm>
            <a:off x="2044" y="2114"/>
            <a:ext cx="93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48" name="公式" r:id="rId8" imgW="571543" imgH="152567" progId="Equation.3">
                    <p:embed/>
                  </p:oleObj>
                </mc:Choice>
                <mc:Fallback>
                  <p:oleObj name="公式" r:id="rId8" imgW="571543" imgH="152567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4" y="2114"/>
                          <a:ext cx="93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9" name="AutoShape 11"/>
            <p:cNvSpPr>
              <a:spLocks noChangeArrowheads="1"/>
            </p:cNvSpPr>
            <p:nvPr/>
          </p:nvSpPr>
          <p:spPr bwMode="auto">
            <a:xfrm flipH="1">
              <a:off x="1474" y="2205"/>
              <a:ext cx="544" cy="182"/>
            </a:xfrm>
            <a:prstGeom prst="leftArrow">
              <a:avLst>
                <a:gd name="adj1" fmla="val 50000"/>
                <a:gd name="adj2" fmla="val 74725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798732" name="Object 12"/>
          <p:cNvGraphicFramePr>
            <a:graphicFrameLocks noChangeAspect="1"/>
          </p:cNvGraphicFramePr>
          <p:nvPr/>
        </p:nvGraphicFramePr>
        <p:xfrm>
          <a:off x="617538" y="4168775"/>
          <a:ext cx="181451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9" name="公式" r:id="rId10" imgW="771427" imgH="352399" progId="Equation.3">
                  <p:embed/>
                </p:oleObj>
              </mc:Choice>
              <mc:Fallback>
                <p:oleObj name="公式" r:id="rId10" imgW="771427" imgH="35239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38" y="4168775"/>
                        <a:ext cx="1814512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800725" y="4319588"/>
            <a:ext cx="2947988" cy="838200"/>
            <a:chOff x="3654" y="2671"/>
            <a:chExt cx="1857" cy="528"/>
          </a:xfrm>
        </p:grpSpPr>
        <p:graphicFrame>
          <p:nvGraphicFramePr>
            <p:cNvPr id="7186" name="Object 5"/>
            <p:cNvGraphicFramePr>
              <a:graphicFrameLocks noChangeAspect="1"/>
            </p:cNvGraphicFramePr>
            <p:nvPr/>
          </p:nvGraphicFramePr>
          <p:xfrm>
            <a:off x="4290" y="2671"/>
            <a:ext cx="122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0" name="公式" r:id="rId12" imgW="876228" imgH="352399" progId="Equation.3">
                    <p:embed/>
                  </p:oleObj>
                </mc:Choice>
                <mc:Fallback>
                  <p:oleObj name="公式" r:id="rId12" imgW="876228" imgH="352399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0" y="2671"/>
                          <a:ext cx="1221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0C0C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7" name="AutoShape 15"/>
            <p:cNvSpPr>
              <a:spLocks noChangeArrowheads="1"/>
            </p:cNvSpPr>
            <p:nvPr/>
          </p:nvSpPr>
          <p:spPr bwMode="auto">
            <a:xfrm flipH="1">
              <a:off x="3654" y="2852"/>
              <a:ext cx="499" cy="182"/>
            </a:xfrm>
            <a:prstGeom prst="leftArrow">
              <a:avLst>
                <a:gd name="adj1" fmla="val 50000"/>
                <a:gd name="adj2" fmla="val 68544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179" name="AutoShape 16">
            <a:hlinkClick r:id="rId1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0" name="AutoShape 1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1" name="AutoShape 1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2" name="AutoShape 1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5800725" y="5373688"/>
            <a:ext cx="2690813" cy="858837"/>
            <a:chOff x="3654" y="2712"/>
            <a:chExt cx="1695" cy="541"/>
          </a:xfrm>
        </p:grpSpPr>
        <p:graphicFrame>
          <p:nvGraphicFramePr>
            <p:cNvPr id="7184" name="Object 14"/>
            <p:cNvGraphicFramePr>
              <a:graphicFrameLocks noChangeAspect="1"/>
            </p:cNvGraphicFramePr>
            <p:nvPr/>
          </p:nvGraphicFramePr>
          <p:xfrm>
            <a:off x="4286" y="2712"/>
            <a:ext cx="1063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1" name="Equation" r:id="rId15" imgW="762058" imgH="371514" progId="Equation.DSMT4">
                    <p:embed/>
                  </p:oleObj>
                </mc:Choice>
                <mc:Fallback>
                  <p:oleObj name="Equation" r:id="rId15" imgW="762058" imgH="371514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712"/>
                          <a:ext cx="1063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0C0C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5" name="AutoShape 15"/>
            <p:cNvSpPr>
              <a:spLocks noChangeArrowheads="1"/>
            </p:cNvSpPr>
            <p:nvPr/>
          </p:nvSpPr>
          <p:spPr bwMode="auto">
            <a:xfrm flipH="1">
              <a:off x="3654" y="2852"/>
              <a:ext cx="499" cy="182"/>
            </a:xfrm>
            <a:prstGeom prst="leftArrow">
              <a:avLst>
                <a:gd name="adj1" fmla="val 50000"/>
                <a:gd name="adj2" fmla="val 68544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9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9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9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9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9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2" grpId="0"/>
      <p:bldP spid="798723" grpId="0"/>
      <p:bldP spid="7987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DE4432-22E7-488C-B2E0-AE7A7FABFC19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66711" name="Text Box 87"/>
          <p:cNvSpPr txBox="1">
            <a:spLocks noChangeArrowheads="1"/>
          </p:cNvSpPr>
          <p:nvPr/>
        </p:nvSpPr>
        <p:spPr bwMode="auto">
          <a:xfrm>
            <a:off x="69850" y="523875"/>
            <a:ext cx="3854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位函数的不确定性</a:t>
            </a:r>
          </a:p>
        </p:txBody>
      </p:sp>
      <p:graphicFrame>
        <p:nvGraphicFramePr>
          <p:cNvPr id="666736" name="Object 112"/>
          <p:cNvGraphicFramePr>
            <a:graphicFrameLocks noChangeAspect="1"/>
          </p:cNvGraphicFramePr>
          <p:nvPr/>
        </p:nvGraphicFramePr>
        <p:xfrm>
          <a:off x="1219200" y="3914775"/>
          <a:ext cx="7529513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4" imgW="3295657" imgH="647803" progId="Equation.DSMT4">
                  <p:embed/>
                </p:oleObj>
              </mc:Choice>
              <mc:Fallback>
                <p:oleObj name="Equation" r:id="rId4" imgW="3295657" imgH="647803" progId="Equation.DSMT4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914775"/>
                        <a:ext cx="7529513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0"/>
          <p:cNvGrpSpPr>
            <a:grpSpLocks/>
          </p:cNvGrpSpPr>
          <p:nvPr/>
        </p:nvGrpSpPr>
        <p:grpSpPr bwMode="auto">
          <a:xfrm>
            <a:off x="71438" y="1092200"/>
            <a:ext cx="8964612" cy="1041400"/>
            <a:chOff x="45" y="482"/>
            <a:chExt cx="5647" cy="656"/>
          </a:xfrm>
        </p:grpSpPr>
        <p:graphicFrame>
          <p:nvGraphicFramePr>
            <p:cNvPr id="8209" name="Object 102"/>
            <p:cNvGraphicFramePr>
              <a:graphicFrameLocks noChangeAspect="1"/>
            </p:cNvGraphicFramePr>
            <p:nvPr/>
          </p:nvGraphicFramePr>
          <p:xfrm>
            <a:off x="3198" y="528"/>
            <a:ext cx="6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8" name="公式" r:id="rId6" imgW="495199" imgH="171334" progId="Equation.3">
                    <p:embed/>
                  </p:oleObj>
                </mc:Choice>
                <mc:Fallback>
                  <p:oleObj name="公式" r:id="rId6" imgW="495199" imgH="171334" progId="Equation.3">
                    <p:embed/>
                    <p:pic>
                      <p:nvPicPr>
                        <p:cNvPr id="0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528"/>
                          <a:ext cx="68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0" name="Rectangle 111"/>
            <p:cNvSpPr>
              <a:spLocks noChangeArrowheads="1"/>
            </p:cNvSpPr>
            <p:nvPr/>
          </p:nvSpPr>
          <p:spPr bwMode="auto">
            <a:xfrm>
              <a:off x="45" y="482"/>
              <a:ext cx="5647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     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满足下列变换关系的两组位函数              和                能描述同一个电磁场问题。</a:t>
              </a:r>
            </a:p>
          </p:txBody>
        </p:sp>
        <p:graphicFrame>
          <p:nvGraphicFramePr>
            <p:cNvPr id="8211" name="Object 113"/>
            <p:cNvGraphicFramePr>
              <a:graphicFrameLocks noChangeAspect="1"/>
            </p:cNvGraphicFramePr>
            <p:nvPr/>
          </p:nvGraphicFramePr>
          <p:xfrm>
            <a:off x="4105" y="528"/>
            <a:ext cx="75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9" name="公式" r:id="rId8" imgW="552457" imgH="171334" progId="Equation.3">
                    <p:embed/>
                  </p:oleObj>
                </mc:Choice>
                <mc:Fallback>
                  <p:oleObj name="公式" r:id="rId8" imgW="552457" imgH="171334" progId="Equation.3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528"/>
                          <a:ext cx="75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6739" name="Object 115"/>
          <p:cNvGraphicFramePr>
            <a:graphicFrameLocks noChangeAspect="1"/>
          </p:cNvGraphicFramePr>
          <p:nvPr/>
        </p:nvGraphicFramePr>
        <p:xfrm>
          <a:off x="2598738" y="2203450"/>
          <a:ext cx="20637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name="Equation" r:id="rId10" imgW="819316" imgH="618958" progId="Equation.DSMT4">
                  <p:embed/>
                </p:oleObj>
              </mc:Choice>
              <mc:Fallback>
                <p:oleObj name="Equation" r:id="rId10" imgW="819316" imgH="618958" progId="Equation.DSMT4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2203450"/>
                        <a:ext cx="206375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740" name="Rectangle 116"/>
          <p:cNvSpPr>
            <a:spLocks noChangeArrowheads="1"/>
          </p:cNvSpPr>
          <p:nvPr/>
        </p:nvSpPr>
        <p:spPr bwMode="auto">
          <a:xfrm>
            <a:off x="323850" y="4406900"/>
            <a:ext cx="1008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因为</a:t>
            </a:r>
          </a:p>
        </p:txBody>
      </p:sp>
      <p:sp>
        <p:nvSpPr>
          <p:cNvPr id="666741" name="Rectangle 117"/>
          <p:cNvSpPr>
            <a:spLocks noChangeArrowheads="1"/>
          </p:cNvSpPr>
          <p:nvPr/>
        </p:nvSpPr>
        <p:spPr bwMode="auto">
          <a:xfrm>
            <a:off x="685800" y="5737225"/>
            <a:ext cx="78470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也就是说，对一给定的电磁场可用不同的位函数来描述。</a:t>
            </a:r>
          </a:p>
        </p:txBody>
      </p:sp>
      <p:grpSp>
        <p:nvGrpSpPr>
          <p:cNvPr id="4" name="Group 128"/>
          <p:cNvGrpSpPr>
            <a:grpSpLocks/>
          </p:cNvGrpSpPr>
          <p:nvPr/>
        </p:nvGrpSpPr>
        <p:grpSpPr bwMode="auto">
          <a:xfrm>
            <a:off x="5076825" y="2717800"/>
            <a:ext cx="2776538" cy="493713"/>
            <a:chOff x="3420" y="1434"/>
            <a:chExt cx="1749" cy="305"/>
          </a:xfrm>
        </p:grpSpPr>
        <p:graphicFrame>
          <p:nvGraphicFramePr>
            <p:cNvPr id="8207" name="Object 125"/>
            <p:cNvGraphicFramePr>
              <a:graphicFrameLocks noChangeAspect="1"/>
            </p:cNvGraphicFramePr>
            <p:nvPr/>
          </p:nvGraphicFramePr>
          <p:xfrm>
            <a:off x="3420" y="1525"/>
            <a:ext cx="186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1" name="公式" r:id="rId12" imgW="85714" imgH="95224" progId="Equation.3">
                    <p:embed/>
                  </p:oleObj>
                </mc:Choice>
                <mc:Fallback>
                  <p:oleObj name="公式" r:id="rId12" imgW="85714" imgH="95224" progId="Equation.3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0" y="1525"/>
                          <a:ext cx="186" cy="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8" name="Text Box 126"/>
            <p:cNvSpPr txBox="1">
              <a:spLocks noChangeArrowheads="1"/>
            </p:cNvSpPr>
            <p:nvPr/>
          </p:nvSpPr>
          <p:spPr bwMode="auto">
            <a:xfrm>
              <a:off x="3445" y="1434"/>
              <a:ext cx="1724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为任意可微函数</a:t>
              </a:r>
            </a:p>
          </p:txBody>
        </p:sp>
      </p:grpSp>
      <p:sp>
        <p:nvSpPr>
          <p:cNvPr id="8202" name="AutoShape 132">
            <a:hlinkClick r:id="rId1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" name="AutoShape 13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4" name="AutoShape 13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5" name="AutoShape 13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27088" y="270827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3300"/>
                </a:solidFill>
                <a:latin typeface="Times New Roman" pitchFamily="18" charset="0"/>
              </a:rPr>
              <a:t>规范变换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6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6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66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66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66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711" grpId="0"/>
      <p:bldP spid="666740" grpId="0"/>
      <p:bldP spid="666741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1E7CC4B-DB41-41D2-B150-CDBA16F6FE3B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716806" name="Rectangle 6"/>
          <p:cNvSpPr>
            <a:spLocks noChangeArrowheads="1"/>
          </p:cNvSpPr>
          <p:nvPr/>
        </p:nvSpPr>
        <p:spPr bwMode="auto">
          <a:xfrm>
            <a:off x="611188" y="4437063"/>
            <a:ext cx="374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另一种常用的是</a:t>
            </a:r>
            <a:r>
              <a:rPr lang="zh-CN" altLang="en-US">
                <a:solidFill>
                  <a:srgbClr val="FF3300"/>
                </a:solidFill>
              </a:rPr>
              <a:t>库仑条件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16808" name="Rectangle 8"/>
          <p:cNvSpPr>
            <a:spLocks noChangeArrowheads="1"/>
          </p:cNvSpPr>
          <p:nvPr/>
        </p:nvSpPr>
        <p:spPr bwMode="auto">
          <a:xfrm>
            <a:off x="107950" y="2924175"/>
            <a:ext cx="5759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</a:rPr>
              <a:t>      </a:t>
            </a:r>
            <a:r>
              <a:rPr lang="zh-CN" altLang="en-US">
                <a:solidFill>
                  <a:schemeClr val="bg1"/>
                </a:solidFill>
              </a:rPr>
              <a:t>在电磁理论中，通常采用</a:t>
            </a:r>
            <a:r>
              <a:rPr lang="zh-CN" altLang="en-US">
                <a:solidFill>
                  <a:srgbClr val="FF3300"/>
                </a:solidFill>
              </a:rPr>
              <a:t>洛仑兹条件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16812" name="Text Box 12"/>
          <p:cNvSpPr txBox="1">
            <a:spLocks noChangeArrowheads="1"/>
          </p:cNvSpPr>
          <p:nvPr/>
        </p:nvSpPr>
        <p:spPr bwMode="auto">
          <a:xfrm>
            <a:off x="107950" y="620713"/>
            <a:ext cx="363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位函数的规范条件</a:t>
            </a:r>
          </a:p>
        </p:txBody>
      </p:sp>
      <p:graphicFrame>
        <p:nvGraphicFramePr>
          <p:cNvPr id="716816" name="Object 16"/>
          <p:cNvGraphicFramePr>
            <a:graphicFrameLocks noChangeAspect="1"/>
          </p:cNvGraphicFramePr>
          <p:nvPr/>
        </p:nvGraphicFramePr>
        <p:xfrm>
          <a:off x="2916238" y="5084763"/>
          <a:ext cx="11112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8" name="公式" r:id="rId4" imgW="495199" imgH="152567" progId="Equation.3">
                  <p:embed/>
                </p:oleObj>
              </mc:Choice>
              <mc:Fallback>
                <p:oleObj name="公式" r:id="rId4" imgW="495199" imgH="15256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084763"/>
                        <a:ext cx="11112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8" name="Object 18"/>
          <p:cNvGraphicFramePr>
            <a:graphicFrameLocks noChangeAspect="1"/>
          </p:cNvGraphicFramePr>
          <p:nvPr/>
        </p:nvGraphicFramePr>
        <p:xfrm>
          <a:off x="2825750" y="3429000"/>
          <a:ext cx="19208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9" name="Equation" r:id="rId6" imgW="905030" imgH="333285" progId="Equation.DSMT4">
                  <p:embed/>
                </p:oleObj>
              </mc:Choice>
              <mc:Fallback>
                <p:oleObj name="Equation" r:id="rId6" imgW="905030" imgH="33328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3429000"/>
                        <a:ext cx="19208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AutoShape 21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" name="AutoShape 2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" name="AutoShape 2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" name="AutoShape 2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14"/>
          <p:cNvGrpSpPr>
            <a:grpSpLocks/>
          </p:cNvGrpSpPr>
          <p:nvPr/>
        </p:nvGrpSpPr>
        <p:grpSpPr bwMode="auto">
          <a:xfrm>
            <a:off x="20638" y="1136650"/>
            <a:ext cx="9036050" cy="1531938"/>
            <a:chOff x="20638" y="1136650"/>
            <a:chExt cx="9036050" cy="1531938"/>
          </a:xfrm>
        </p:grpSpPr>
        <p:graphicFrame>
          <p:nvGraphicFramePr>
            <p:cNvPr id="9229" name="Object 15"/>
            <p:cNvGraphicFramePr>
              <a:graphicFrameLocks noChangeAspect="1"/>
            </p:cNvGraphicFramePr>
            <p:nvPr/>
          </p:nvGraphicFramePr>
          <p:xfrm>
            <a:off x="4392613" y="1685925"/>
            <a:ext cx="32067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0" name="公式" r:id="rId9" imgW="85714" imgH="133453" progId="Equation.3">
                    <p:embed/>
                  </p:oleObj>
                </mc:Choice>
                <mc:Fallback>
                  <p:oleObj name="公式" r:id="rId9" imgW="85714" imgH="133453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613" y="1685925"/>
                          <a:ext cx="32067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Object 25"/>
            <p:cNvGraphicFramePr>
              <a:graphicFrameLocks noChangeAspect="1"/>
            </p:cNvGraphicFramePr>
            <p:nvPr/>
          </p:nvGraphicFramePr>
          <p:xfrm>
            <a:off x="6538913" y="1211263"/>
            <a:ext cx="32067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1" name="公式" r:id="rId11" imgW="85714" imgH="133453" progId="Equation.3">
                    <p:embed/>
                  </p:oleObj>
                </mc:Choice>
                <mc:Fallback>
                  <p:oleObj name="公式" r:id="rId11" imgW="85714" imgH="133453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8913" y="1211263"/>
                          <a:ext cx="32067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1" name="Rectangle 27"/>
            <p:cNvSpPr>
              <a:spLocks noChangeArrowheads="1"/>
            </p:cNvSpPr>
            <p:nvPr/>
          </p:nvSpPr>
          <p:spPr bwMode="auto">
            <a:xfrm>
              <a:off x="20638" y="1136650"/>
              <a:ext cx="9036050" cy="153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    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造成位函数的不确定性的原因就是没有规定    的散度。利用位函数的不确定性，可通过规定    的散度使位函数满足的方程得以简化。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1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1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6" grpId="0"/>
      <p:bldP spid="716808" grpId="0"/>
      <p:bldP spid="7168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F0CF53-8897-47F1-AACF-60AFB8967DA7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graphicFrame>
        <p:nvGraphicFramePr>
          <p:cNvPr id="709635" name="Object 3"/>
          <p:cNvGraphicFramePr>
            <a:graphicFrameLocks noChangeAspect="1"/>
          </p:cNvGraphicFramePr>
          <p:nvPr/>
        </p:nvGraphicFramePr>
        <p:xfrm>
          <a:off x="1476375" y="1298575"/>
          <a:ext cx="19558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公式" r:id="rId3" imgW="933486" imgH="352399" progId="Equation.3">
                  <p:embed/>
                </p:oleObj>
              </mc:Choice>
              <mc:Fallback>
                <p:oleObj name="公式" r:id="rId3" imgW="933486" imgH="35239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298575"/>
                        <a:ext cx="19558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7" name="Object 5"/>
          <p:cNvGraphicFramePr>
            <a:graphicFrameLocks noChangeAspect="1"/>
          </p:cNvGraphicFramePr>
          <p:nvPr/>
        </p:nvGraphicFramePr>
        <p:xfrm>
          <a:off x="3336925" y="2933700"/>
          <a:ext cx="49625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" name="Equation" r:id="rId5" imgW="2181373" imgH="428509" progId="Equation.DSMT4">
                  <p:embed/>
                </p:oleObj>
              </mc:Choice>
              <mc:Fallback>
                <p:oleObj name="Equation" r:id="rId5" imgW="2181373" imgH="42850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925" y="2933700"/>
                        <a:ext cx="496252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9" name="Object 7"/>
          <p:cNvGraphicFramePr>
            <a:graphicFrameLocks noChangeAspect="1"/>
          </p:cNvGraphicFramePr>
          <p:nvPr/>
        </p:nvGraphicFramePr>
        <p:xfrm>
          <a:off x="2889250" y="4267200"/>
          <a:ext cx="5702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" name="Equation" r:id="rId7" imgW="2505144" imgH="390628" progId="Equation.DSMT4">
                  <p:embed/>
                </p:oleObj>
              </mc:Choice>
              <mc:Fallback>
                <p:oleObj name="Equation" r:id="rId7" imgW="2505144" imgH="39062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4267200"/>
                        <a:ext cx="5702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0" name="Object 8"/>
          <p:cNvGraphicFramePr>
            <a:graphicFrameLocks noChangeAspect="1"/>
          </p:cNvGraphicFramePr>
          <p:nvPr/>
        </p:nvGraphicFramePr>
        <p:xfrm>
          <a:off x="4821238" y="1341438"/>
          <a:ext cx="25400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3" name="Equation" r:id="rId9" imgW="1199998" imgH="361783" progId="Equation.DSMT4">
                  <p:embed/>
                </p:oleObj>
              </mc:Choice>
              <mc:Fallback>
                <p:oleObj name="Equation" r:id="rId9" imgW="1199998" imgH="36178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1341438"/>
                        <a:ext cx="254000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1" name="Object 9"/>
          <p:cNvGraphicFramePr>
            <a:graphicFrameLocks noChangeAspect="1"/>
          </p:cNvGraphicFramePr>
          <p:nvPr/>
        </p:nvGraphicFramePr>
        <p:xfrm>
          <a:off x="4689475" y="5661025"/>
          <a:ext cx="2962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4" name="Equation" r:id="rId11" imgW="1276343" imgH="361783" progId="Equation.DSMT4">
                  <p:embed/>
                </p:oleObj>
              </mc:Choice>
              <mc:Fallback>
                <p:oleObj name="Equation" r:id="rId11" imgW="1276343" imgH="36178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9475" y="5661025"/>
                        <a:ext cx="29622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9645" name="AutoShape 13"/>
          <p:cNvSpPr>
            <a:spLocks noChangeArrowheads="1"/>
          </p:cNvSpPr>
          <p:nvPr/>
        </p:nvSpPr>
        <p:spPr bwMode="auto">
          <a:xfrm flipH="1">
            <a:off x="3708400" y="1625600"/>
            <a:ext cx="936625" cy="217488"/>
          </a:xfrm>
          <a:prstGeom prst="leftArrow">
            <a:avLst>
              <a:gd name="adj1" fmla="val 50000"/>
              <a:gd name="adj2" fmla="val 107664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9648" name="Text Box 16"/>
          <p:cNvSpPr txBox="1">
            <a:spLocks noChangeArrowheads="1"/>
          </p:cNvSpPr>
          <p:nvPr/>
        </p:nvSpPr>
        <p:spPr bwMode="auto">
          <a:xfrm>
            <a:off x="107950" y="595313"/>
            <a:ext cx="374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1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位函数的微分方程</a:t>
            </a:r>
          </a:p>
        </p:txBody>
      </p:sp>
      <p:sp>
        <p:nvSpPr>
          <p:cNvPr id="709651" name="AutoShape 19"/>
          <p:cNvSpPr>
            <a:spLocks noChangeArrowheads="1"/>
          </p:cNvSpPr>
          <p:nvPr/>
        </p:nvSpPr>
        <p:spPr bwMode="auto">
          <a:xfrm rot="-5400000">
            <a:off x="5262563" y="2493963"/>
            <a:ext cx="850900" cy="273050"/>
          </a:xfrm>
          <a:prstGeom prst="leftArrow">
            <a:avLst>
              <a:gd name="adj1" fmla="val 50000"/>
              <a:gd name="adj2" fmla="val 77907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9652" name="AutoShape 20"/>
          <p:cNvSpPr>
            <a:spLocks noChangeArrowheads="1"/>
          </p:cNvSpPr>
          <p:nvPr/>
        </p:nvSpPr>
        <p:spPr bwMode="auto">
          <a:xfrm rot="-5400000">
            <a:off x="5306219" y="3975894"/>
            <a:ext cx="777875" cy="287337"/>
          </a:xfrm>
          <a:prstGeom prst="leftArrow">
            <a:avLst>
              <a:gd name="adj1" fmla="val 50000"/>
              <a:gd name="adj2" fmla="val 67680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9656" name="AutoShape 24"/>
          <p:cNvSpPr>
            <a:spLocks noChangeArrowheads="1"/>
          </p:cNvSpPr>
          <p:nvPr/>
        </p:nvSpPr>
        <p:spPr bwMode="auto">
          <a:xfrm rot="-5400000">
            <a:off x="5334000" y="5272088"/>
            <a:ext cx="779463" cy="287337"/>
          </a:xfrm>
          <a:prstGeom prst="leftArrow">
            <a:avLst>
              <a:gd name="adj1" fmla="val 50000"/>
              <a:gd name="adj2" fmla="val 67818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984625" y="404813"/>
            <a:ext cx="2027238" cy="1223962"/>
            <a:chOff x="2510" y="255"/>
            <a:chExt cx="1277" cy="771"/>
          </a:xfrm>
        </p:grpSpPr>
        <p:graphicFrame>
          <p:nvGraphicFramePr>
            <p:cNvPr id="10267" name="Object 2"/>
            <p:cNvGraphicFramePr>
              <a:graphicFrameLocks noChangeAspect="1"/>
            </p:cNvGraphicFramePr>
            <p:nvPr/>
          </p:nvGraphicFramePr>
          <p:xfrm>
            <a:off x="2510" y="255"/>
            <a:ext cx="1277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5" name="公式" r:id="rId14" imgW="971658" imgH="380897" progId="Equation.3">
                    <p:embed/>
                  </p:oleObj>
                </mc:Choice>
                <mc:Fallback>
                  <p:oleObj name="公式" r:id="rId14" imgW="971658" imgH="380897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0" y="255"/>
                          <a:ext cx="1277" cy="558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8" name="Line 25"/>
            <p:cNvSpPr>
              <a:spLocks noChangeShapeType="1"/>
            </p:cNvSpPr>
            <p:nvPr/>
          </p:nvSpPr>
          <p:spPr bwMode="auto">
            <a:xfrm flipH="1">
              <a:off x="2626" y="845"/>
              <a:ext cx="182" cy="18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949325" y="2233613"/>
            <a:ext cx="4559300" cy="835025"/>
            <a:chOff x="598" y="1407"/>
            <a:chExt cx="2872" cy="526"/>
          </a:xfrm>
        </p:grpSpPr>
        <p:graphicFrame>
          <p:nvGraphicFramePr>
            <p:cNvPr id="10265" name="Object 4"/>
            <p:cNvGraphicFramePr>
              <a:graphicFrameLocks noChangeAspect="1"/>
            </p:cNvGraphicFramePr>
            <p:nvPr/>
          </p:nvGraphicFramePr>
          <p:xfrm>
            <a:off x="598" y="1407"/>
            <a:ext cx="2027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6" name="Equation" r:id="rId16" imgW="1552571" imgH="361783" progId="Equation.DSMT4">
                    <p:embed/>
                  </p:oleObj>
                </mc:Choice>
                <mc:Fallback>
                  <p:oleObj name="Equation" r:id="rId16" imgW="1552571" imgH="361783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" y="1407"/>
                          <a:ext cx="2027" cy="526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6" name="Line 26"/>
            <p:cNvSpPr>
              <a:spLocks noChangeShapeType="1"/>
            </p:cNvSpPr>
            <p:nvPr/>
          </p:nvSpPr>
          <p:spPr bwMode="auto">
            <a:xfrm>
              <a:off x="2699" y="1661"/>
              <a:ext cx="77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611188" y="3789363"/>
            <a:ext cx="4897437" cy="481012"/>
            <a:chOff x="385" y="2387"/>
            <a:chExt cx="3085" cy="303"/>
          </a:xfrm>
        </p:grpSpPr>
        <p:graphicFrame>
          <p:nvGraphicFramePr>
            <p:cNvPr id="10263" name="Object 6"/>
            <p:cNvGraphicFramePr>
              <a:graphicFrameLocks noChangeAspect="1"/>
            </p:cNvGraphicFramePr>
            <p:nvPr/>
          </p:nvGraphicFramePr>
          <p:xfrm>
            <a:off x="385" y="2387"/>
            <a:ext cx="230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7" name="公式" r:id="rId18" imgW="1581027" imgH="171334" progId="Equation.3">
                    <p:embed/>
                  </p:oleObj>
                </mc:Choice>
                <mc:Fallback>
                  <p:oleObj name="公式" r:id="rId18" imgW="1581027" imgH="171334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2387"/>
                          <a:ext cx="2305" cy="303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4" name="Line 27"/>
            <p:cNvSpPr>
              <a:spLocks noChangeShapeType="1"/>
            </p:cNvSpPr>
            <p:nvPr/>
          </p:nvSpPr>
          <p:spPr bwMode="auto">
            <a:xfrm>
              <a:off x="2699" y="2523"/>
              <a:ext cx="77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1673225" y="5084763"/>
            <a:ext cx="3835400" cy="784225"/>
            <a:chOff x="1054" y="3208"/>
            <a:chExt cx="2416" cy="494"/>
          </a:xfrm>
        </p:grpSpPr>
        <p:graphicFrame>
          <p:nvGraphicFramePr>
            <p:cNvPr id="10261" name="Object 22"/>
            <p:cNvGraphicFramePr>
              <a:graphicFrameLocks noChangeAspect="1"/>
            </p:cNvGraphicFramePr>
            <p:nvPr/>
          </p:nvGraphicFramePr>
          <p:xfrm>
            <a:off x="1054" y="3208"/>
            <a:ext cx="1210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8" name="Equation" r:id="rId20" imgW="905030" imgH="333285" progId="Equation.DSMT4">
                    <p:embed/>
                  </p:oleObj>
                </mc:Choice>
                <mc:Fallback>
                  <p:oleObj name="Equation" r:id="rId20" imgW="905030" imgH="333285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4" y="3208"/>
                          <a:ext cx="1210" cy="494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2" name="Line 28"/>
            <p:cNvSpPr>
              <a:spLocks noChangeShapeType="1"/>
            </p:cNvSpPr>
            <p:nvPr/>
          </p:nvSpPr>
          <p:spPr bwMode="auto">
            <a:xfrm>
              <a:off x="2381" y="3435"/>
              <a:ext cx="1089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57" name="AutoShape 33">
            <a:hlinkClick r:id="rId2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8" name="AutoShape 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9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60" name="AutoShape 3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0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0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0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0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0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70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0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70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000"/>
                                        <p:tgtEl>
                                          <p:spTgt spid="70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45" grpId="0" animBg="1"/>
      <p:bldP spid="709648" grpId="0"/>
      <p:bldP spid="709651" grpId="0" animBg="1"/>
      <p:bldP spid="709652" grpId="0" animBg="1"/>
      <p:bldP spid="7096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554AD0-6B8A-4431-8335-CCA1BBF5AC42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graphicFrame>
        <p:nvGraphicFramePr>
          <p:cNvPr id="717827" name="Object 3"/>
          <p:cNvGraphicFramePr>
            <a:graphicFrameLocks noChangeAspect="1"/>
          </p:cNvGraphicFramePr>
          <p:nvPr/>
        </p:nvGraphicFramePr>
        <p:xfrm>
          <a:off x="1258888" y="692150"/>
          <a:ext cx="116363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4" name="公式" r:id="rId3" imgW="533371" imgH="171334" progId="Equation.3">
                  <p:embed/>
                </p:oleObj>
              </mc:Choice>
              <mc:Fallback>
                <p:oleObj name="公式" r:id="rId3" imgW="533371" imgH="17133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692150"/>
                        <a:ext cx="116363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28" name="Object 4"/>
          <p:cNvGraphicFramePr>
            <a:graphicFrameLocks noChangeAspect="1"/>
          </p:cNvGraphicFramePr>
          <p:nvPr/>
        </p:nvGraphicFramePr>
        <p:xfrm>
          <a:off x="1258888" y="1793875"/>
          <a:ext cx="29527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5" name="Equation" r:id="rId5" imgW="1228801" imgH="428509" progId="Equation.DSMT4">
                  <p:embed/>
                </p:oleObj>
              </mc:Choice>
              <mc:Fallback>
                <p:oleObj name="Equation" r:id="rId5" imgW="1228801" imgH="42850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793875"/>
                        <a:ext cx="29527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33" name="Object 9"/>
          <p:cNvGraphicFramePr>
            <a:graphicFrameLocks noChangeAspect="1"/>
          </p:cNvGraphicFramePr>
          <p:nvPr/>
        </p:nvGraphicFramePr>
        <p:xfrm>
          <a:off x="1233488" y="3382963"/>
          <a:ext cx="29225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" name="Equation" r:id="rId7" imgW="1209715" imgH="361783" progId="Equation.DSMT4">
                  <p:embed/>
                </p:oleObj>
              </mc:Choice>
              <mc:Fallback>
                <p:oleObj name="Equation" r:id="rId7" imgW="1209715" imgH="36178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488" y="3382963"/>
                        <a:ext cx="292258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37" name="Text Box 13"/>
          <p:cNvSpPr txBox="1">
            <a:spLocks noChangeArrowheads="1"/>
          </p:cNvSpPr>
          <p:nvPr/>
        </p:nvSpPr>
        <p:spPr bwMode="auto">
          <a:xfrm>
            <a:off x="179388" y="692696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</a:rPr>
              <a:t>同理</a:t>
            </a:r>
          </a:p>
        </p:txBody>
      </p:sp>
      <p:sp>
        <p:nvSpPr>
          <p:cNvPr id="717840" name="AutoShape 16"/>
          <p:cNvSpPr>
            <a:spLocks noChangeArrowheads="1"/>
          </p:cNvSpPr>
          <p:nvPr/>
        </p:nvSpPr>
        <p:spPr bwMode="auto">
          <a:xfrm rot="-5400000">
            <a:off x="2346325" y="2844800"/>
            <a:ext cx="561975" cy="288925"/>
          </a:xfrm>
          <a:prstGeom prst="leftArrow">
            <a:avLst>
              <a:gd name="adj1" fmla="val 50000"/>
              <a:gd name="adj2" fmla="val 48626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846" name="AutoShape 22"/>
          <p:cNvSpPr>
            <a:spLocks noChangeArrowheads="1"/>
          </p:cNvSpPr>
          <p:nvPr/>
        </p:nvSpPr>
        <p:spPr bwMode="auto">
          <a:xfrm rot="-5400000">
            <a:off x="2347913" y="1331913"/>
            <a:ext cx="561975" cy="288925"/>
          </a:xfrm>
          <a:prstGeom prst="leftArrow">
            <a:avLst>
              <a:gd name="adj1" fmla="val 50000"/>
              <a:gd name="adj2" fmla="val 48626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771775" y="1052513"/>
            <a:ext cx="4524375" cy="785812"/>
            <a:chOff x="1746" y="663"/>
            <a:chExt cx="2850" cy="495"/>
          </a:xfrm>
        </p:grpSpPr>
        <p:graphicFrame>
          <p:nvGraphicFramePr>
            <p:cNvPr id="11288" name="Object 2"/>
            <p:cNvGraphicFramePr>
              <a:graphicFrameLocks noChangeAspect="1"/>
            </p:cNvGraphicFramePr>
            <p:nvPr/>
          </p:nvGraphicFramePr>
          <p:xfrm>
            <a:off x="2607" y="663"/>
            <a:ext cx="1989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47" name="公式" r:id="rId9" imgW="1447771" imgH="352399" progId="Equation.3">
                    <p:embed/>
                  </p:oleObj>
                </mc:Choice>
                <mc:Fallback>
                  <p:oleObj name="公式" r:id="rId9" imgW="1447771" imgH="352399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7" y="663"/>
                          <a:ext cx="1989" cy="495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9" name="Line 23"/>
            <p:cNvSpPr>
              <a:spLocks noChangeShapeType="1"/>
            </p:cNvSpPr>
            <p:nvPr/>
          </p:nvSpPr>
          <p:spPr bwMode="auto">
            <a:xfrm flipH="1">
              <a:off x="1746" y="935"/>
              <a:ext cx="816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2771775" y="2565400"/>
            <a:ext cx="3702050" cy="784225"/>
            <a:chOff x="1746" y="1586"/>
            <a:chExt cx="2332" cy="494"/>
          </a:xfrm>
        </p:grpSpPr>
        <p:graphicFrame>
          <p:nvGraphicFramePr>
            <p:cNvPr id="11286" name="Object 17"/>
            <p:cNvGraphicFramePr>
              <a:graphicFrameLocks noChangeAspect="1"/>
            </p:cNvGraphicFramePr>
            <p:nvPr/>
          </p:nvGraphicFramePr>
          <p:xfrm>
            <a:off x="2868" y="1586"/>
            <a:ext cx="1210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48" name="Equation" r:id="rId11" imgW="905030" imgH="333285" progId="Equation.DSMT4">
                    <p:embed/>
                  </p:oleObj>
                </mc:Choice>
                <mc:Fallback>
                  <p:oleObj name="Equation" r:id="rId11" imgW="905030" imgH="33328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8" y="1586"/>
                          <a:ext cx="1210" cy="494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7" name="Line 24"/>
            <p:cNvSpPr>
              <a:spLocks noChangeShapeType="1"/>
            </p:cNvSpPr>
            <p:nvPr/>
          </p:nvSpPr>
          <p:spPr bwMode="auto">
            <a:xfrm flipH="1">
              <a:off x="1746" y="1842"/>
              <a:ext cx="997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75" name="AutoShape 27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6" name="AutoShape 2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7" name="AutoShape 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8" name="AutoShape 3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7856" name="Object 32"/>
          <p:cNvGraphicFramePr>
            <a:graphicFrameLocks noChangeAspect="1"/>
          </p:cNvGraphicFramePr>
          <p:nvPr/>
        </p:nvGraphicFramePr>
        <p:xfrm>
          <a:off x="1160463" y="5300663"/>
          <a:ext cx="2962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9" name="Equation" r:id="rId14" imgW="1276343" imgH="361783" progId="Equation.DSMT4">
                  <p:embed/>
                </p:oleObj>
              </mc:Choice>
              <mc:Fallback>
                <p:oleObj name="Equation" r:id="rId14" imgW="1276343" imgH="361783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5300663"/>
                        <a:ext cx="29622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2268538" y="3789363"/>
            <a:ext cx="4968875" cy="2089150"/>
            <a:chOff x="1474" y="2387"/>
            <a:chExt cx="3130" cy="1316"/>
          </a:xfrm>
        </p:grpSpPr>
        <p:sp>
          <p:nvSpPr>
            <p:cNvPr id="11281" name="Text Box 46"/>
            <p:cNvSpPr txBox="1">
              <a:spLocks noChangeArrowheads="1"/>
            </p:cNvSpPr>
            <p:nvPr/>
          </p:nvSpPr>
          <p:spPr bwMode="auto">
            <a:xfrm>
              <a:off x="3243" y="2886"/>
              <a:ext cx="1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达朗贝尔方程</a:t>
              </a:r>
            </a:p>
          </p:txBody>
        </p:sp>
        <p:grpSp>
          <p:nvGrpSpPr>
            <p:cNvPr id="11282" name="Group 47"/>
            <p:cNvGrpSpPr>
              <a:grpSpLocks/>
            </p:cNvGrpSpPr>
            <p:nvPr/>
          </p:nvGrpSpPr>
          <p:grpSpPr bwMode="auto">
            <a:xfrm>
              <a:off x="1474" y="2387"/>
              <a:ext cx="1683" cy="1316"/>
              <a:chOff x="1429" y="2387"/>
              <a:chExt cx="1683" cy="1316"/>
            </a:xfrm>
          </p:grpSpPr>
          <p:sp>
            <p:nvSpPr>
              <p:cNvPr id="11283" name="AutoShape 48"/>
              <p:cNvSpPr>
                <a:spLocks/>
              </p:cNvSpPr>
              <p:nvPr/>
            </p:nvSpPr>
            <p:spPr bwMode="auto">
              <a:xfrm>
                <a:off x="2744" y="2387"/>
                <a:ext cx="368" cy="1316"/>
              </a:xfrm>
              <a:prstGeom prst="rightBrace">
                <a:avLst>
                  <a:gd name="adj1" fmla="val 29801"/>
                  <a:gd name="adj2" fmla="val 50000"/>
                </a:avLst>
              </a:prstGeom>
              <a:noFill/>
              <a:ln w="762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4" name="Line 49"/>
              <p:cNvSpPr>
                <a:spLocks noChangeShapeType="1"/>
              </p:cNvSpPr>
              <p:nvPr/>
            </p:nvSpPr>
            <p:spPr bwMode="auto">
              <a:xfrm>
                <a:off x="1429" y="3023"/>
                <a:ext cx="499" cy="0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5" name="Line 50"/>
              <p:cNvSpPr>
                <a:spLocks noChangeShapeType="1"/>
              </p:cNvSpPr>
              <p:nvPr/>
            </p:nvSpPr>
            <p:spPr bwMode="auto">
              <a:xfrm>
                <a:off x="1656" y="2796"/>
                <a:ext cx="0" cy="454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1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71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1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71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37" grpId="0"/>
      <p:bldP spid="717840" grpId="0" animBg="1"/>
      <p:bldP spid="71784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10F280-FC1D-416E-900B-5EB50C662893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718864" name="Rectangle 16"/>
          <p:cNvSpPr>
            <a:spLocks noChangeArrowheads="1"/>
          </p:cNvSpPr>
          <p:nvPr/>
        </p:nvSpPr>
        <p:spPr bwMode="auto">
          <a:xfrm>
            <a:off x="107950" y="5564188"/>
            <a:ext cx="8964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若应用库仑条件，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位函数满足什么样的方程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具有什么特点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718865" name="Text Box 17"/>
          <p:cNvSpPr txBox="1">
            <a:spLocks noChangeArrowheads="1"/>
          </p:cNvSpPr>
          <p:nvPr/>
        </p:nvSpPr>
        <p:spPr bwMode="auto">
          <a:xfrm>
            <a:off x="49213" y="5013325"/>
            <a:ext cx="1839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思考题</a:t>
            </a:r>
          </a:p>
        </p:txBody>
      </p:sp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69850" y="836613"/>
            <a:ext cx="9039225" cy="2444750"/>
            <a:chOff x="69850" y="836613"/>
            <a:chExt cx="9039225" cy="2444750"/>
          </a:xfrm>
        </p:grpSpPr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69850" y="836613"/>
              <a:ext cx="363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Blip>
                  <a:blip r:embed="rId3"/>
                </a:buBlip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说明</a:t>
              </a:r>
            </a:p>
          </p:txBody>
        </p:sp>
        <p:sp>
          <p:nvSpPr>
            <p:cNvPr id="12302" name="Text Box 21"/>
            <p:cNvSpPr txBox="1">
              <a:spLocks noChangeArrowheads="1"/>
            </p:cNvSpPr>
            <p:nvPr/>
          </p:nvSpPr>
          <p:spPr bwMode="auto">
            <a:xfrm>
              <a:off x="73025" y="1268413"/>
              <a:ext cx="9036050" cy="201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   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应用洛仑兹条件的特点：① 位函数满足的方程在形式上是对称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     的，且比较简单，易求解；② 解的物理意义非常清楚，明确地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     反映出电磁场具有有限的传递速度；③ 矢量位只决定于</a:t>
              </a:r>
              <a:r>
                <a:rPr lang="en-US" altLang="zh-CN" i="1">
                  <a:solidFill>
                    <a:schemeClr val="bg1"/>
                  </a:solidFill>
                  <a:latin typeface="Times New Roman" pitchFamily="18" charset="0"/>
                </a:rPr>
                <a:t>J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，标      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     量位只决定于</a:t>
              </a:r>
              <a:r>
                <a:rPr lang="el-GR" altLang="zh-CN" i="1">
                  <a:solidFill>
                    <a:schemeClr val="bg1"/>
                  </a:solidFill>
                  <a:latin typeface="Times New Roman" pitchFamily="18" charset="0"/>
                </a:rPr>
                <a:t>ρ</a:t>
              </a:r>
              <a:r>
                <a:rPr lang="zh-CN" altLang="en-US" i="1">
                  <a:solidFill>
                    <a:schemeClr val="bg1"/>
                  </a:solidFill>
                  <a:latin typeface="Times New Roman" pitchFamily="18" charset="0"/>
                </a:rPr>
                <a:t>，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这对求解方程特别有利。</a:t>
              </a:r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4925" y="3357563"/>
            <a:ext cx="9072563" cy="1531937"/>
            <a:chOff x="22" y="2566"/>
            <a:chExt cx="5715" cy="965"/>
          </a:xfrm>
        </p:grpSpPr>
        <p:graphicFrame>
          <p:nvGraphicFramePr>
            <p:cNvPr id="12299" name="Object 19"/>
            <p:cNvGraphicFramePr>
              <a:graphicFrameLocks noChangeAspect="1"/>
            </p:cNvGraphicFramePr>
            <p:nvPr/>
          </p:nvGraphicFramePr>
          <p:xfrm>
            <a:off x="3574" y="2948"/>
            <a:ext cx="172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2" name="公式" r:id="rId4" imgW="76345" imgH="95224" progId="Equation.3">
                    <p:embed/>
                  </p:oleObj>
                </mc:Choice>
                <mc:Fallback>
                  <p:oleObj name="公式" r:id="rId4" imgW="76345" imgH="95224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4" y="2948"/>
                          <a:ext cx="172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0" name="Text Box 24"/>
            <p:cNvSpPr txBox="1">
              <a:spLocks noChangeArrowheads="1"/>
            </p:cNvSpPr>
            <p:nvPr/>
          </p:nvSpPr>
          <p:spPr bwMode="auto">
            <a:xfrm>
              <a:off x="22" y="2566"/>
              <a:ext cx="5715" cy="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   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电磁位函数只是简化时变电磁场分析求解的一种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辅助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函数。应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     用不同的规范条件，矢量位</a:t>
              </a:r>
              <a:r>
                <a:rPr lang="en-US" altLang="zh-CN" i="1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和标量位   的解也不相同，但最终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     得到的电磁场矢量是相同的。</a:t>
              </a:r>
            </a:p>
          </p:txBody>
        </p:sp>
      </p:grpSp>
      <p:sp>
        <p:nvSpPr>
          <p:cNvPr id="12295" name="AutoShape 27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54788"/>
            <a:ext cx="360363" cy="252412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6" name="AutoShape 2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54788"/>
            <a:ext cx="360362" cy="258762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7" name="AutoShape 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54788"/>
            <a:ext cx="360363" cy="252412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8" name="AutoShape 3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54788"/>
            <a:ext cx="360363" cy="252412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1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1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64" grpId="0"/>
      <p:bldP spid="71886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AE6301-9AA5-441C-87AF-8764F9BD5472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650" y="1054100"/>
            <a:ext cx="8229600" cy="490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4.3   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电磁能量守恒定律</a:t>
            </a:r>
            <a:r>
              <a:rPr lang="zh-CN" altLang="en-US" sz="1800" smtClean="0">
                <a:solidFill>
                  <a:schemeClr val="bg1"/>
                </a:solidFill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3316" name="Rectangle 41"/>
          <p:cNvSpPr>
            <a:spLocks noChangeArrowheads="1"/>
          </p:cNvSpPr>
          <p:nvPr/>
        </p:nvSpPr>
        <p:spPr bwMode="auto">
          <a:xfrm>
            <a:off x="179388" y="1844675"/>
            <a:ext cx="87852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1938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  <a:tab pos="1254125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                  </a:t>
            </a:r>
            <a:r>
              <a:rPr lang="zh-CN" altLang="en-US" sz="2800">
                <a:solidFill>
                  <a:schemeClr val="bg1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讨论内容</a:t>
            </a:r>
          </a:p>
        </p:txBody>
      </p:sp>
      <p:sp>
        <p:nvSpPr>
          <p:cNvPr id="13317" name="Rectangle 46"/>
          <p:cNvSpPr>
            <a:spLocks noChangeArrowheads="1"/>
          </p:cNvSpPr>
          <p:nvPr/>
        </p:nvSpPr>
        <p:spPr bwMode="auto">
          <a:xfrm>
            <a:off x="2484438" y="2708275"/>
            <a:ext cx="4319587" cy="1584325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8" name="Text Box 47"/>
          <p:cNvSpPr txBox="1">
            <a:spLocks noChangeArrowheads="1"/>
          </p:cNvSpPr>
          <p:nvPr/>
        </p:nvSpPr>
        <p:spPr bwMode="auto">
          <a:xfrm>
            <a:off x="2843213" y="3619500"/>
            <a:ext cx="363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hlinkClick r:id="rId3" action="ppaction://hlinksldjump"/>
              </a:rPr>
              <a:t>坡印廷定理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319" name="Text Box 48"/>
          <p:cNvSpPr txBox="1">
            <a:spLocks noChangeArrowheads="1"/>
          </p:cNvSpPr>
          <p:nvPr/>
        </p:nvSpPr>
        <p:spPr bwMode="auto">
          <a:xfrm>
            <a:off x="2843213" y="2898775"/>
            <a:ext cx="363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  <a:hlinkClick r:id="rId4" action="ppaction://hlinksldjump"/>
              </a:rPr>
              <a:t>电磁能量及守恒关系</a:t>
            </a:r>
            <a:endParaRPr lang="zh-CN" altLang="en-US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3320" name="AutoShape 50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1" name="AutoShape 5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2" name="AutoShape 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3" name="AutoShape 5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58ECF4-0051-4105-9E01-022181FDF7F4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731139" name="Rectangle 3"/>
          <p:cNvSpPr>
            <a:spLocks noChangeArrowheads="1"/>
          </p:cNvSpPr>
          <p:nvPr/>
        </p:nvSpPr>
        <p:spPr bwMode="auto">
          <a:xfrm>
            <a:off x="107950" y="5995988"/>
            <a:ext cx="8928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8288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font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进入体积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的能量 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内增加的能量＋体积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内损耗的能量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28638" y="981075"/>
            <a:ext cx="3898900" cy="869950"/>
            <a:chOff x="249" y="614"/>
            <a:chExt cx="2456" cy="548"/>
          </a:xfrm>
        </p:grpSpPr>
        <p:sp>
          <p:nvSpPr>
            <p:cNvPr id="14363" name="Rectangle 5"/>
            <p:cNvSpPr>
              <a:spLocks noChangeArrowheads="1"/>
            </p:cNvSpPr>
            <p:nvPr/>
          </p:nvSpPr>
          <p:spPr bwMode="auto">
            <a:xfrm>
              <a:off x="249" y="709"/>
              <a:ext cx="17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电场能量密度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：</a:t>
              </a:r>
              <a:endParaRPr lang="zh-CN" altLang="en-US" b="0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graphicFrame>
          <p:nvGraphicFramePr>
            <p:cNvPr id="14364" name="Object 6"/>
            <p:cNvGraphicFramePr>
              <a:graphicFrameLocks noChangeAspect="1"/>
            </p:cNvGraphicFramePr>
            <p:nvPr/>
          </p:nvGraphicFramePr>
          <p:xfrm>
            <a:off x="1647" y="614"/>
            <a:ext cx="1058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8" name="Equation" r:id="rId3" imgW="723886" imgH="323901" progId="Equation.DSMT4">
                    <p:embed/>
                  </p:oleObj>
                </mc:Choice>
                <mc:Fallback>
                  <p:oleObj name="Equation" r:id="rId3" imgW="723886" imgH="323901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7" y="614"/>
                          <a:ext cx="1058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39750" y="1844675"/>
            <a:ext cx="4065588" cy="869950"/>
            <a:chOff x="249" y="1158"/>
            <a:chExt cx="2561" cy="548"/>
          </a:xfrm>
        </p:grpSpPr>
        <p:sp>
          <p:nvSpPr>
            <p:cNvPr id="14361" name="Rectangle 8"/>
            <p:cNvSpPr>
              <a:spLocks noChangeArrowheads="1"/>
            </p:cNvSpPr>
            <p:nvPr/>
          </p:nvSpPr>
          <p:spPr bwMode="auto">
            <a:xfrm>
              <a:off x="249" y="1282"/>
              <a:ext cx="18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磁场能量密度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：</a:t>
              </a:r>
              <a:endParaRPr lang="zh-CN" altLang="en-US" b="0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graphicFrame>
          <p:nvGraphicFramePr>
            <p:cNvPr id="14362" name="Object 9"/>
            <p:cNvGraphicFramePr>
              <a:graphicFrameLocks noChangeAspect="1"/>
            </p:cNvGraphicFramePr>
            <p:nvPr/>
          </p:nvGraphicFramePr>
          <p:xfrm>
            <a:off x="1684" y="1158"/>
            <a:ext cx="1126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9" name="Equation" r:id="rId5" imgW="771427" imgH="323901" progId="Equation.DSMT4">
                    <p:embed/>
                  </p:oleObj>
                </mc:Choice>
                <mc:Fallback>
                  <p:oleObj name="Equation" r:id="rId5" imgW="771427" imgH="323901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1158"/>
                          <a:ext cx="1126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52450" y="2630488"/>
            <a:ext cx="6410325" cy="869950"/>
            <a:chOff x="249" y="1616"/>
            <a:chExt cx="4038" cy="548"/>
          </a:xfrm>
        </p:grpSpPr>
        <p:sp>
          <p:nvSpPr>
            <p:cNvPr id="14359" name="Rectangle 11"/>
            <p:cNvSpPr>
              <a:spLocks noChangeArrowheads="1"/>
            </p:cNvSpPr>
            <p:nvPr/>
          </p:nvSpPr>
          <p:spPr bwMode="auto">
            <a:xfrm>
              <a:off x="249" y="1736"/>
              <a:ext cx="21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电磁能量密度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：</a:t>
              </a:r>
              <a:endParaRPr lang="zh-CN" altLang="en-US" b="0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graphicFrame>
          <p:nvGraphicFramePr>
            <p:cNvPr id="14360" name="Object 12"/>
            <p:cNvGraphicFramePr>
              <a:graphicFrameLocks noChangeAspect="1"/>
            </p:cNvGraphicFramePr>
            <p:nvPr/>
          </p:nvGraphicFramePr>
          <p:xfrm>
            <a:off x="1693" y="1616"/>
            <a:ext cx="2594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0" name="Equation" r:id="rId7" imgW="1866972" imgH="323901" progId="Equation.DSMT4">
                    <p:embed/>
                  </p:oleObj>
                </mc:Choice>
                <mc:Fallback>
                  <p:oleObj name="Equation" r:id="rId7" imgW="1866972" imgH="323901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3" y="1616"/>
                          <a:ext cx="2594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498475" y="3495675"/>
            <a:ext cx="8534400" cy="869950"/>
            <a:chOff x="249" y="2160"/>
            <a:chExt cx="5376" cy="548"/>
          </a:xfrm>
        </p:grpSpPr>
        <p:sp>
          <p:nvSpPr>
            <p:cNvPr id="14357" name="Rectangle 14"/>
            <p:cNvSpPr>
              <a:spLocks noChangeArrowheads="1"/>
            </p:cNvSpPr>
            <p:nvPr/>
          </p:nvSpPr>
          <p:spPr bwMode="auto">
            <a:xfrm>
              <a:off x="249" y="2296"/>
              <a:ext cx="28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  <a:cs typeface="Times New Roman" pitchFamily="18" charset="0"/>
                </a:rPr>
                <a:t>空间区域</a:t>
              </a:r>
              <a:r>
                <a:rPr lang="en-US" altLang="zh-CN" b="0" i="1">
                  <a:solidFill>
                    <a:schemeClr val="bg1"/>
                  </a:solidFill>
                  <a:latin typeface="楷体_GB2312" pitchFamily="49" charset="-122"/>
                  <a:cs typeface="Times New Roman" pitchFamily="18" charset="0"/>
                </a:rPr>
                <a:t>V</a:t>
              </a: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  <a:cs typeface="Times New Roman" pitchFamily="18" charset="0"/>
                </a:rPr>
                <a:t>中的电磁能量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：</a:t>
              </a:r>
              <a:endParaRPr lang="zh-CN" altLang="en-US" b="0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graphicFrame>
          <p:nvGraphicFramePr>
            <p:cNvPr id="14358" name="Object 15"/>
            <p:cNvGraphicFramePr>
              <a:graphicFrameLocks noChangeAspect="1"/>
            </p:cNvGraphicFramePr>
            <p:nvPr/>
          </p:nvGraphicFramePr>
          <p:xfrm>
            <a:off x="2415" y="2160"/>
            <a:ext cx="3210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1" name="Equation" r:id="rId9" imgW="2323999" imgH="323901" progId="Equation.DSMT4">
                    <p:embed/>
                  </p:oleObj>
                </mc:Choice>
                <mc:Fallback>
                  <p:oleObj name="Equation" r:id="rId9" imgW="2323999" imgH="323901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5" y="2160"/>
                          <a:ext cx="3210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1152" name="Text Box 16"/>
          <p:cNvSpPr txBox="1">
            <a:spLocks noChangeArrowheads="1"/>
          </p:cNvSpPr>
          <p:nvPr/>
        </p:nvSpPr>
        <p:spPr bwMode="auto">
          <a:xfrm>
            <a:off x="34925" y="4405313"/>
            <a:ext cx="903605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11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黑体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特点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：当场随时间变化时，空间各点的电磁场能量密度也要随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                   时间改变，从而引起电磁能量流动。</a:t>
            </a:r>
          </a:p>
        </p:txBody>
      </p:sp>
      <p:sp>
        <p:nvSpPr>
          <p:cNvPr id="731153" name="Text Box 17"/>
          <p:cNvSpPr txBox="1">
            <a:spLocks noChangeArrowheads="1"/>
          </p:cNvSpPr>
          <p:nvPr/>
        </p:nvSpPr>
        <p:spPr bwMode="auto">
          <a:xfrm>
            <a:off x="49213" y="5445125"/>
            <a:ext cx="35147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11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黑体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电磁能量守恒关系：</a:t>
            </a:r>
          </a:p>
        </p:txBody>
      </p:sp>
      <p:sp>
        <p:nvSpPr>
          <p:cNvPr id="731155" name="Text Box 19"/>
          <p:cNvSpPr txBox="1">
            <a:spLocks noChangeArrowheads="1"/>
          </p:cNvSpPr>
          <p:nvPr/>
        </p:nvSpPr>
        <p:spPr bwMode="auto">
          <a:xfrm>
            <a:off x="69850" y="523875"/>
            <a:ext cx="363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12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电磁能量及守恒关系</a:t>
            </a:r>
          </a:p>
        </p:txBody>
      </p: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5868988" y="476250"/>
            <a:ext cx="3240087" cy="2160588"/>
            <a:chOff x="3697" y="300"/>
            <a:chExt cx="2041" cy="1361"/>
          </a:xfrm>
        </p:grpSpPr>
        <p:sp>
          <p:nvSpPr>
            <p:cNvPr id="14352" name="Rectangle 26"/>
            <p:cNvSpPr>
              <a:spLocks noChangeArrowheads="1"/>
            </p:cNvSpPr>
            <p:nvPr/>
          </p:nvSpPr>
          <p:spPr bwMode="auto">
            <a:xfrm>
              <a:off x="3697" y="300"/>
              <a:ext cx="2041" cy="136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3" name="Freeform 30"/>
            <p:cNvSpPr>
              <a:spLocks/>
            </p:cNvSpPr>
            <p:nvPr/>
          </p:nvSpPr>
          <p:spPr bwMode="auto">
            <a:xfrm>
              <a:off x="3878" y="300"/>
              <a:ext cx="1678" cy="1286"/>
            </a:xfrm>
            <a:custGeom>
              <a:avLst/>
              <a:gdLst>
                <a:gd name="T0" fmla="*/ 169 w 1650"/>
                <a:gd name="T1" fmla="*/ 879 h 1286"/>
                <a:gd name="T2" fmla="*/ 73 w 1650"/>
                <a:gd name="T3" fmla="*/ 494 h 1286"/>
                <a:gd name="T4" fmla="*/ 618 w 1650"/>
                <a:gd name="T5" fmla="*/ 57 h 1286"/>
                <a:gd name="T6" fmla="*/ 1543 w 1650"/>
                <a:gd name="T7" fmla="*/ 154 h 1286"/>
                <a:gd name="T8" fmla="*/ 1976 w 1650"/>
                <a:gd name="T9" fmla="*/ 590 h 1286"/>
                <a:gd name="T10" fmla="*/ 1596 w 1650"/>
                <a:gd name="T11" fmla="*/ 1173 h 1286"/>
                <a:gd name="T12" fmla="*/ 835 w 1650"/>
                <a:gd name="T13" fmla="*/ 1269 h 1286"/>
                <a:gd name="T14" fmla="*/ 495 w 1650"/>
                <a:gd name="T15" fmla="*/ 1183 h 1286"/>
                <a:gd name="T16" fmla="*/ 323 w 1650"/>
                <a:gd name="T17" fmla="*/ 1044 h 1286"/>
                <a:gd name="T18" fmla="*/ 169 w 1650"/>
                <a:gd name="T19" fmla="*/ 879 h 12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50"/>
                <a:gd name="T31" fmla="*/ 0 h 1286"/>
                <a:gd name="T32" fmla="*/ 1650 w 1650"/>
                <a:gd name="T33" fmla="*/ 1286 h 128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50" h="1286">
                  <a:moveTo>
                    <a:pt x="140" y="879"/>
                  </a:moveTo>
                  <a:cubicBezTo>
                    <a:pt x="106" y="787"/>
                    <a:pt x="0" y="631"/>
                    <a:pt x="62" y="494"/>
                  </a:cubicBezTo>
                  <a:cubicBezTo>
                    <a:pt x="124" y="357"/>
                    <a:pt x="311" y="113"/>
                    <a:pt x="514" y="57"/>
                  </a:cubicBezTo>
                  <a:cubicBezTo>
                    <a:pt x="717" y="0"/>
                    <a:pt x="1093" y="65"/>
                    <a:pt x="1282" y="154"/>
                  </a:cubicBezTo>
                  <a:cubicBezTo>
                    <a:pt x="1470" y="243"/>
                    <a:pt x="1636" y="420"/>
                    <a:pt x="1643" y="590"/>
                  </a:cubicBezTo>
                  <a:cubicBezTo>
                    <a:pt x="1650" y="760"/>
                    <a:pt x="1485" y="1059"/>
                    <a:pt x="1326" y="1173"/>
                  </a:cubicBezTo>
                  <a:cubicBezTo>
                    <a:pt x="1168" y="1286"/>
                    <a:pt x="846" y="1267"/>
                    <a:pt x="694" y="1269"/>
                  </a:cubicBezTo>
                  <a:cubicBezTo>
                    <a:pt x="542" y="1271"/>
                    <a:pt x="483" y="1220"/>
                    <a:pt x="412" y="1183"/>
                  </a:cubicBezTo>
                  <a:cubicBezTo>
                    <a:pt x="341" y="1146"/>
                    <a:pt x="313" y="1095"/>
                    <a:pt x="268" y="1044"/>
                  </a:cubicBezTo>
                  <a:cubicBezTo>
                    <a:pt x="223" y="993"/>
                    <a:pt x="174" y="971"/>
                    <a:pt x="140" y="879"/>
                  </a:cubicBezTo>
                  <a:close/>
                </a:path>
              </a:pathLst>
            </a:custGeom>
            <a:gradFill rotWithShape="1">
              <a:gsLst>
                <a:gs pos="0">
                  <a:srgbClr val="213E2E"/>
                </a:gs>
                <a:gs pos="100000">
                  <a:srgbClr val="5BAB7F"/>
                </a:gs>
              </a:gsLst>
              <a:lin ang="18900000" scaled="1"/>
            </a:gra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54" name="Object 31"/>
            <p:cNvGraphicFramePr>
              <a:graphicFrameLocks noChangeAspect="1"/>
            </p:cNvGraphicFramePr>
            <p:nvPr/>
          </p:nvGraphicFramePr>
          <p:xfrm>
            <a:off x="4422" y="572"/>
            <a:ext cx="449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2" name="Equation" r:id="rId13" imgW="228687" imgH="323901" progId="Equation.DSMT4">
                    <p:embed/>
                  </p:oleObj>
                </mc:Choice>
                <mc:Fallback>
                  <p:oleObj name="Equation" r:id="rId13" imgW="228687" imgH="323901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572"/>
                          <a:ext cx="449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5" name="Object 32"/>
            <p:cNvGraphicFramePr>
              <a:graphicFrameLocks noChangeAspect="1"/>
            </p:cNvGraphicFramePr>
            <p:nvPr/>
          </p:nvGraphicFramePr>
          <p:xfrm>
            <a:off x="5103" y="1026"/>
            <a:ext cx="23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3" name="Equation" r:id="rId15" imgW="85714" imgH="114339" progId="Equation.DSMT4">
                    <p:embed/>
                  </p:oleObj>
                </mc:Choice>
                <mc:Fallback>
                  <p:oleObj name="Equation" r:id="rId15" imgW="85714" imgH="114339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1026"/>
                          <a:ext cx="234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6" name="Object 33"/>
            <p:cNvGraphicFramePr>
              <a:graphicFrameLocks noChangeAspect="1"/>
            </p:cNvGraphicFramePr>
            <p:nvPr/>
          </p:nvGraphicFramePr>
          <p:xfrm>
            <a:off x="3878" y="1237"/>
            <a:ext cx="21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4" name="Equation" r:id="rId17" imgW="76345" imgH="114339" progId="Equation.DSMT4">
                    <p:embed/>
                  </p:oleObj>
                </mc:Choice>
                <mc:Fallback>
                  <p:oleObj name="Equation" r:id="rId17" imgW="76345" imgH="114339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1237"/>
                          <a:ext cx="214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8" name="AutoShape 35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9" name="AutoShape 3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50" name="AutoShape 3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51" name="AutoShape 3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73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73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73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39" grpId="0"/>
      <p:bldP spid="731152" grpId="0"/>
      <p:bldP spid="731153" grpId="0"/>
      <p:bldP spid="7311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29EFB8-C95E-4939-AB43-1FE3492FA268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706590" name="Rectangle 30"/>
          <p:cNvSpPr>
            <a:spLocks noChangeArrowheads="1"/>
          </p:cNvSpPr>
          <p:nvPr/>
        </p:nvSpPr>
        <p:spPr bwMode="auto">
          <a:xfrm>
            <a:off x="34925" y="3757613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cs typeface="Times New Roman" pitchFamily="18" charset="0"/>
              </a:rPr>
              <a:t>其中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endParaRPr lang="zh-CN" altLang="en-US" b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706591" name="Rectangle 31"/>
          <p:cNvSpPr>
            <a:spLocks noChangeArrowheads="1"/>
          </p:cNvSpPr>
          <p:nvPr/>
        </p:nvSpPr>
        <p:spPr bwMode="auto">
          <a:xfrm>
            <a:off x="3651250" y="3579813"/>
            <a:ext cx="54356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8001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cs typeface="Times New Roman" pitchFamily="18" charset="0"/>
              </a:rPr>
              <a:t>——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单位时间内体积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中所增加</a:t>
            </a:r>
          </a:p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的电磁能量。</a:t>
            </a:r>
          </a:p>
        </p:txBody>
      </p:sp>
      <p:sp>
        <p:nvSpPr>
          <p:cNvPr id="706592" name="Rectangle 32"/>
          <p:cNvSpPr>
            <a:spLocks noChangeArrowheads="1"/>
          </p:cNvSpPr>
          <p:nvPr/>
        </p:nvSpPr>
        <p:spPr bwMode="auto">
          <a:xfrm>
            <a:off x="481013" y="4652963"/>
            <a:ext cx="866298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7335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b="0">
                <a:solidFill>
                  <a:schemeClr val="bg1"/>
                </a:solidFill>
                <a:ea typeface="宋体" pitchFamily="2" charset="-122"/>
                <a:cs typeface="Times New Roman" pitchFamily="18" charset="0"/>
              </a:rPr>
              <a:t>——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单位时间内电场对体积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中的电流所做的功； </a:t>
            </a:r>
          </a:p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在导电媒质中，即为体积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内总的损耗功率。</a:t>
            </a:r>
          </a:p>
        </p:txBody>
      </p:sp>
      <p:sp>
        <p:nvSpPr>
          <p:cNvPr id="706594" name="Rectangle 34"/>
          <p:cNvSpPr>
            <a:spLocks noChangeArrowheads="1"/>
          </p:cNvSpPr>
          <p:nvPr/>
        </p:nvSpPr>
        <p:spPr bwMode="auto">
          <a:xfrm>
            <a:off x="2987675" y="5876925"/>
            <a:ext cx="5976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en-US" altLang="zh-CN" b="0">
                <a:solidFill>
                  <a:schemeClr val="bg1"/>
                </a:solidFill>
                <a:ea typeface="宋体" pitchFamily="2" charset="-122"/>
                <a:cs typeface="Times New Roman" pitchFamily="18" charset="0"/>
              </a:rPr>
              <a:t>——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通过曲面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 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进入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的电磁功率。</a:t>
            </a:r>
          </a:p>
        </p:txBody>
      </p:sp>
      <p:sp>
        <p:nvSpPr>
          <p:cNvPr id="706608" name="Rectangle 48"/>
          <p:cNvSpPr>
            <a:spLocks noChangeArrowheads="1"/>
          </p:cNvSpPr>
          <p:nvPr/>
        </p:nvSpPr>
        <p:spPr bwMode="auto">
          <a:xfrm>
            <a:off x="107950" y="955675"/>
            <a:ext cx="8928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8288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font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表征电磁能量守恒关系的定理</a:t>
            </a:r>
            <a:endParaRPr lang="zh-CN" altLang="en-US">
              <a:solidFill>
                <a:schemeClr val="bg1"/>
              </a:solidFill>
              <a:cs typeface="Times New Roman" pitchFamily="18" charset="0"/>
            </a:endParaRP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250825" y="1557338"/>
            <a:ext cx="8893175" cy="854075"/>
            <a:chOff x="158" y="981"/>
            <a:chExt cx="5602" cy="538"/>
          </a:xfrm>
        </p:grpSpPr>
        <p:sp>
          <p:nvSpPr>
            <p:cNvPr id="15379" name="Rectangle 50"/>
            <p:cNvSpPr>
              <a:spLocks noChangeArrowheads="1"/>
            </p:cNvSpPr>
            <p:nvPr/>
          </p:nvSpPr>
          <p:spPr bwMode="auto">
            <a:xfrm>
              <a:off x="158" y="1083"/>
              <a:ext cx="18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积分形式</a:t>
              </a:r>
              <a:r>
                <a:rPr lang="zh-CN" altLang="en-US">
                  <a:solidFill>
                    <a:schemeClr val="bg1"/>
                  </a:solidFill>
                  <a:ea typeface="宋体" pitchFamily="2" charset="-122"/>
                </a:rPr>
                <a:t>：</a:t>
              </a:r>
            </a:p>
          </p:txBody>
        </p:sp>
        <p:graphicFrame>
          <p:nvGraphicFramePr>
            <p:cNvPr id="15380" name="Object 52"/>
            <p:cNvGraphicFramePr>
              <a:graphicFrameLocks noChangeAspect="1"/>
            </p:cNvGraphicFramePr>
            <p:nvPr/>
          </p:nvGraphicFramePr>
          <p:xfrm>
            <a:off x="1087" y="981"/>
            <a:ext cx="4673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6" name="公式" r:id="rId3" imgW="3476455" imgH="323901" progId="Equation.3">
                    <p:embed/>
                  </p:oleObj>
                </mc:Choice>
                <mc:Fallback>
                  <p:oleObj name="公式" r:id="rId3" imgW="3476455" imgH="323901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7" y="981"/>
                          <a:ext cx="4673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06613" name="Object 53"/>
          <p:cNvGraphicFramePr>
            <a:graphicFrameLocks noChangeAspect="1"/>
          </p:cNvGraphicFramePr>
          <p:nvPr/>
        </p:nvGraphicFramePr>
        <p:xfrm>
          <a:off x="827088" y="4764088"/>
          <a:ext cx="143668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7" name="公式" r:id="rId5" imgW="609716" imgH="247792" progId="Equation.3">
                  <p:embed/>
                </p:oleObj>
              </mc:Choice>
              <mc:Fallback>
                <p:oleObj name="公式" r:id="rId5" imgW="609716" imgH="247792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64088"/>
                        <a:ext cx="1436687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4" name="Object 54"/>
          <p:cNvGraphicFramePr>
            <a:graphicFrameLocks noChangeAspect="1"/>
          </p:cNvGraphicFramePr>
          <p:nvPr/>
        </p:nvGraphicFramePr>
        <p:xfrm>
          <a:off x="971550" y="3573463"/>
          <a:ext cx="35512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8" name="公式" r:id="rId7" imgW="1600113" imgH="323901" progId="Equation.3">
                  <p:embed/>
                </p:oleObj>
              </mc:Choice>
              <mc:Fallback>
                <p:oleObj name="公式" r:id="rId7" imgW="1600113" imgH="323901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73463"/>
                        <a:ext cx="355123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5" name="Object 55"/>
          <p:cNvGraphicFramePr>
            <a:graphicFrameLocks noChangeAspect="1"/>
          </p:cNvGraphicFramePr>
          <p:nvPr/>
        </p:nvGraphicFramePr>
        <p:xfrm>
          <a:off x="827088" y="5822950"/>
          <a:ext cx="21399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9" name="公式" r:id="rId9" imgW="933486" imgH="247792" progId="Equation.3">
                  <p:embed/>
                </p:oleObj>
              </mc:Choice>
              <mc:Fallback>
                <p:oleObj name="公式" r:id="rId9" imgW="933486" imgH="247792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822950"/>
                        <a:ext cx="213995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6" name="Object 56"/>
          <p:cNvGraphicFramePr>
            <a:graphicFrameLocks noChangeAspect="1"/>
          </p:cNvGraphicFramePr>
          <p:nvPr/>
        </p:nvGraphicFramePr>
        <p:xfrm>
          <a:off x="1908175" y="2492375"/>
          <a:ext cx="56086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0" name="公式" r:id="rId11" imgW="2562055" imgH="323901" progId="Equation.3">
                  <p:embed/>
                </p:oleObj>
              </mc:Choice>
              <mc:Fallback>
                <p:oleObj name="公式" r:id="rId11" imgW="2562055" imgH="323901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492375"/>
                        <a:ext cx="560863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7" name="Text Box 57"/>
          <p:cNvSpPr txBox="1">
            <a:spLocks noChangeArrowheads="1"/>
          </p:cNvSpPr>
          <p:nvPr/>
        </p:nvSpPr>
        <p:spPr bwMode="auto">
          <a:xfrm>
            <a:off x="69850" y="476250"/>
            <a:ext cx="363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13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坡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印廷定理</a:t>
            </a:r>
          </a:p>
        </p:txBody>
      </p:sp>
      <p:sp>
        <p:nvSpPr>
          <p:cNvPr id="706619" name="Rectangle 59"/>
          <p:cNvSpPr>
            <a:spLocks noChangeArrowheads="1"/>
          </p:cNvSpPr>
          <p:nvPr/>
        </p:nvSpPr>
        <p:spPr bwMode="auto">
          <a:xfrm>
            <a:off x="250825" y="2684463"/>
            <a:ext cx="4105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fontAlgn="ctr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</a:rPr>
              <a:t>微分形式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：</a:t>
            </a:r>
          </a:p>
        </p:txBody>
      </p:sp>
      <p:sp>
        <p:nvSpPr>
          <p:cNvPr id="15375" name="AutoShape 60">
            <a:hlinkClick r:id="rId1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6" name="AutoShape 6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7" name="AutoShape 6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8" name="AutoShape 6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0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0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0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06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70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0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70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706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70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7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0" grpId="0"/>
      <p:bldP spid="706591" grpId="0"/>
      <p:bldP spid="706592" grpId="0"/>
      <p:bldP spid="706594" grpId="0"/>
      <p:bldP spid="7066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8BD769-F1AB-4337-B855-ABEAA519A6BB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707630" name="Rectangle 46"/>
          <p:cNvSpPr>
            <a:spLocks noChangeArrowheads="1"/>
          </p:cNvSpPr>
          <p:nvPr/>
        </p:nvSpPr>
        <p:spPr bwMode="auto">
          <a:xfrm>
            <a:off x="179388" y="4124325"/>
            <a:ext cx="8713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在线性和各向同性的媒质中，当参数都不随时间变化时，则有</a:t>
            </a:r>
          </a:p>
        </p:txBody>
      </p:sp>
      <p:sp>
        <p:nvSpPr>
          <p:cNvPr id="707632" name="Rectangle 48"/>
          <p:cNvSpPr>
            <a:spLocks noChangeArrowheads="1"/>
          </p:cNvSpPr>
          <p:nvPr/>
        </p:nvSpPr>
        <p:spPr bwMode="auto">
          <a:xfrm>
            <a:off x="115888" y="2755900"/>
            <a:ext cx="517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将以上两式相减，得到</a:t>
            </a:r>
          </a:p>
        </p:txBody>
      </p:sp>
      <p:graphicFrame>
        <p:nvGraphicFramePr>
          <p:cNvPr id="707636" name="Object 52"/>
          <p:cNvGraphicFramePr>
            <a:graphicFrameLocks noChangeAspect="1"/>
          </p:cNvGraphicFramePr>
          <p:nvPr/>
        </p:nvGraphicFramePr>
        <p:xfrm>
          <a:off x="1403350" y="692150"/>
          <a:ext cx="2479675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公式" r:id="rId3" imgW="1009484" imgH="819137" progId="Equation.3">
                  <p:embed/>
                </p:oleObj>
              </mc:Choice>
              <mc:Fallback>
                <p:oleObj name="公式" r:id="rId3" imgW="1009484" imgH="819137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692150"/>
                        <a:ext cx="2479675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637" name="AutoShape 53"/>
          <p:cNvSpPr>
            <a:spLocks noChangeArrowheads="1"/>
          </p:cNvSpPr>
          <p:nvPr/>
        </p:nvSpPr>
        <p:spPr bwMode="auto">
          <a:xfrm>
            <a:off x="4067175" y="1628775"/>
            <a:ext cx="865188" cy="215900"/>
          </a:xfrm>
          <a:prstGeom prst="rightArrow">
            <a:avLst>
              <a:gd name="adj1" fmla="val 50000"/>
              <a:gd name="adj2" fmla="val 100184"/>
            </a:avLst>
          </a:prstGeom>
          <a:solidFill>
            <a:srgbClr val="FF99CC"/>
          </a:solidFill>
          <a:ln w="222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07638" name="Object 54"/>
          <p:cNvGraphicFramePr>
            <a:graphicFrameLocks noChangeAspect="1"/>
          </p:cNvGraphicFramePr>
          <p:nvPr/>
        </p:nvGraphicFramePr>
        <p:xfrm>
          <a:off x="5219700" y="765175"/>
          <a:ext cx="3673475" cy="191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公式" r:id="rId5" imgW="1561941" imgH="819137" progId="Equation.3">
                  <p:embed/>
                </p:oleObj>
              </mc:Choice>
              <mc:Fallback>
                <p:oleObj name="公式" r:id="rId5" imgW="1561941" imgH="819137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765175"/>
                        <a:ext cx="3673475" cy="191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639" name="Object 55"/>
          <p:cNvGraphicFramePr>
            <a:graphicFrameLocks noChangeAspect="1"/>
          </p:cNvGraphicFramePr>
          <p:nvPr/>
        </p:nvGraphicFramePr>
        <p:xfrm>
          <a:off x="1619250" y="3213100"/>
          <a:ext cx="56435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公式" r:id="rId7" imgW="2705028" imgH="352399" progId="Equation.3">
                  <p:embed/>
                </p:oleObj>
              </mc:Choice>
              <mc:Fallback>
                <p:oleObj name="公式" r:id="rId7" imgW="2705028" imgH="352399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213100"/>
                        <a:ext cx="564356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640" name="Object 56"/>
          <p:cNvGraphicFramePr>
            <a:graphicFrameLocks noChangeAspect="1"/>
          </p:cNvGraphicFramePr>
          <p:nvPr/>
        </p:nvGraphicFramePr>
        <p:xfrm>
          <a:off x="1331913" y="4699000"/>
          <a:ext cx="634841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Equation" r:id="rId9" imgW="2752570" imgH="390628" progId="Equation.DSMT4">
                  <p:embed/>
                </p:oleObj>
              </mc:Choice>
              <mc:Fallback>
                <p:oleObj name="Equation" r:id="rId9" imgW="2752570" imgH="390628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699000"/>
                        <a:ext cx="6348412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641" name="Object 57"/>
          <p:cNvGraphicFramePr>
            <a:graphicFrameLocks noChangeAspect="1"/>
          </p:cNvGraphicFramePr>
          <p:nvPr/>
        </p:nvGraphicFramePr>
        <p:xfrm>
          <a:off x="1349375" y="5673725"/>
          <a:ext cx="63007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name="Equation" r:id="rId11" imgW="2924345" imgH="390628" progId="Equation.DSMT4">
                  <p:embed/>
                </p:oleObj>
              </mc:Choice>
              <mc:Fallback>
                <p:oleObj name="Equation" r:id="rId11" imgW="2924345" imgH="390628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5673725"/>
                        <a:ext cx="630078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642" name="Text Box 58"/>
          <p:cNvSpPr txBox="1">
            <a:spLocks noChangeArrowheads="1"/>
          </p:cNvSpPr>
          <p:nvPr/>
        </p:nvSpPr>
        <p:spPr bwMode="auto">
          <a:xfrm>
            <a:off x="34925" y="414338"/>
            <a:ext cx="80645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13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黑体" pitchFamily="2" charset="-122"/>
              </a:rPr>
              <a:t>   </a:t>
            </a:r>
            <a:r>
              <a:rPr lang="zh-CN" altLang="en-US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推证</a:t>
            </a:r>
            <a:endParaRPr lang="zh-CN" altLang="en-US">
              <a:solidFill>
                <a:srgbClr val="FF6600"/>
              </a:solidFill>
              <a:latin typeface="Times New Roman" pitchFamily="18" charset="0"/>
            </a:endParaRPr>
          </a:p>
        </p:txBody>
      </p:sp>
      <p:sp>
        <p:nvSpPr>
          <p:cNvPr id="16396" name="AutoShape 59">
            <a:hlinkClick r:id="rId1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7" name="AutoShape 6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8" name="AutoShape 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9" name="AutoShape 6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0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0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0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0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0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0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0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0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70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30" grpId="0"/>
      <p:bldP spid="707632" grpId="0"/>
      <p:bldP spid="707637" grpId="0" animBg="1"/>
      <p:bldP spid="7076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22E31D-81A7-4477-9B23-98C5B262F4C1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720902" name="Rectangle 6"/>
          <p:cNvSpPr>
            <a:spLocks noChangeArrowheads="1"/>
          </p:cNvSpPr>
          <p:nvPr/>
        </p:nvSpPr>
        <p:spPr bwMode="auto">
          <a:xfrm>
            <a:off x="107950" y="1341438"/>
            <a:ext cx="568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即可得到坡印廷定理的微分形式</a:t>
            </a:r>
          </a:p>
        </p:txBody>
      </p:sp>
      <p:sp>
        <p:nvSpPr>
          <p:cNvPr id="720903" name="Rectangle 7"/>
          <p:cNvSpPr>
            <a:spLocks noChangeArrowheads="1"/>
          </p:cNvSpPr>
          <p:nvPr/>
        </p:nvSpPr>
        <p:spPr bwMode="auto">
          <a:xfrm>
            <a:off x="107950" y="549275"/>
            <a:ext cx="333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再利用矢量恒等式</a:t>
            </a:r>
            <a:r>
              <a:rPr lang="zh-CN" altLang="en-US" b="0">
                <a:solidFill>
                  <a:schemeClr val="bg1"/>
                </a:solidFill>
                <a:ea typeface="黑体" pitchFamily="2" charset="-122"/>
              </a:rPr>
              <a:t>：</a:t>
            </a:r>
          </a:p>
        </p:txBody>
      </p:sp>
      <p:graphicFrame>
        <p:nvGraphicFramePr>
          <p:cNvPr id="720910" name="Object 14"/>
          <p:cNvGraphicFramePr>
            <a:graphicFrameLocks noChangeAspect="1"/>
          </p:cNvGraphicFramePr>
          <p:nvPr/>
        </p:nvGraphicFramePr>
        <p:xfrm>
          <a:off x="2987675" y="549275"/>
          <a:ext cx="46736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name="公式" r:id="rId3" imgW="2095659" imgH="171334" progId="Equation.3">
                  <p:embed/>
                </p:oleObj>
              </mc:Choice>
              <mc:Fallback>
                <p:oleObj name="公式" r:id="rId3" imgW="2095659" imgH="17133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49275"/>
                        <a:ext cx="46736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11" name="Object 15"/>
          <p:cNvGraphicFramePr>
            <a:graphicFrameLocks noChangeAspect="1"/>
          </p:cNvGraphicFramePr>
          <p:nvPr/>
        </p:nvGraphicFramePr>
        <p:xfrm>
          <a:off x="1331913" y="1989138"/>
          <a:ext cx="569118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name="公式" r:id="rId5" imgW="2562055" imgH="323901" progId="Equation.3">
                  <p:embed/>
                </p:oleObj>
              </mc:Choice>
              <mc:Fallback>
                <p:oleObj name="公式" r:id="rId5" imgW="2562055" imgH="32390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89138"/>
                        <a:ext cx="569118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914" name="Text Box 18"/>
          <p:cNvSpPr txBox="1">
            <a:spLocks noChangeArrowheads="1"/>
          </p:cNvSpPr>
          <p:nvPr/>
        </p:nvSpPr>
        <p:spPr bwMode="auto">
          <a:xfrm>
            <a:off x="142875" y="3035300"/>
            <a:ext cx="666115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应用散度定理，即可得到坡印廷定理的积分形式</a:t>
            </a:r>
          </a:p>
        </p:txBody>
      </p:sp>
      <p:graphicFrame>
        <p:nvGraphicFramePr>
          <p:cNvPr id="720916" name="Object 20"/>
          <p:cNvGraphicFramePr>
            <a:graphicFrameLocks noChangeAspect="1"/>
          </p:cNvGraphicFramePr>
          <p:nvPr/>
        </p:nvGraphicFramePr>
        <p:xfrm>
          <a:off x="754063" y="3789363"/>
          <a:ext cx="756126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name="公式" r:id="rId7" imgW="3476455" imgH="323901" progId="Equation.3">
                  <p:embed/>
                </p:oleObj>
              </mc:Choice>
              <mc:Fallback>
                <p:oleObj name="公式" r:id="rId7" imgW="3476455" imgH="32390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3789363"/>
                        <a:ext cx="756126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918" name="Text Box 22"/>
          <p:cNvSpPr txBox="1">
            <a:spLocks noChangeArrowheads="1"/>
          </p:cNvSpPr>
          <p:nvPr/>
        </p:nvSpPr>
        <p:spPr bwMode="auto">
          <a:xfrm>
            <a:off x="34925" y="4941888"/>
            <a:ext cx="9072563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物理意义：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单位时间内，通过曲面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S 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</a:rPr>
              <a:t>进入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V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的电磁能量等于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                     体积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V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中所增加的电磁场能量与损耗的能量之和。</a:t>
            </a:r>
          </a:p>
        </p:txBody>
      </p:sp>
      <p:sp>
        <p:nvSpPr>
          <p:cNvPr id="17418" name="AutoShape 23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9" name="AutoShape 2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0" name="AutoShape 2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1" name="AutoShape 2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2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2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2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2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2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02" grpId="0"/>
      <p:bldP spid="720903" grpId="0"/>
      <p:bldP spid="720914" grpId="0"/>
      <p:bldP spid="7209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4B98E-6803-49F7-82B2-4C941AA5486D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0" y="1989138"/>
            <a:ext cx="6121400" cy="647700"/>
            <a:chOff x="67" y="1117"/>
            <a:chExt cx="3856" cy="408"/>
          </a:xfrm>
        </p:grpSpPr>
        <p:sp>
          <p:nvSpPr>
            <p:cNvPr id="18452" name="Text Box 14"/>
            <p:cNvSpPr txBox="1">
              <a:spLocks noChangeArrowheads="1"/>
            </p:cNvSpPr>
            <p:nvPr/>
          </p:nvSpPr>
          <p:spPr bwMode="auto">
            <a:xfrm>
              <a:off x="67" y="1117"/>
              <a:ext cx="3856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Tx/>
                <a:buBlip>
                  <a:blip r:embed="rId3"/>
                </a:buBlip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    </a:t>
              </a:r>
              <a:r>
                <a:rPr lang="zh-CN" altLang="en-US">
                  <a:solidFill>
                    <a:schemeClr val="bg1"/>
                  </a:solidFill>
                  <a:ea typeface="宋体" pitchFamily="2" charset="-122"/>
                </a:rPr>
                <a:t>定义：                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( 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W/m</a:t>
              </a:r>
              <a:r>
                <a:rPr lang="en-US" altLang="zh-CN" baseline="3000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2</a:t>
              </a:r>
              <a:r>
                <a:rPr lang="en-US" altLang="zh-CN" sz="2800">
                  <a:solidFill>
                    <a:schemeClr val="bg1"/>
                  </a:solidFill>
                  <a:ea typeface="黑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)</a:t>
              </a:r>
            </a:p>
          </p:txBody>
        </p:sp>
        <p:graphicFrame>
          <p:nvGraphicFramePr>
            <p:cNvPr id="18453" name="Object 16"/>
            <p:cNvGraphicFramePr>
              <a:graphicFrameLocks noChangeAspect="1"/>
            </p:cNvGraphicFramePr>
            <p:nvPr/>
          </p:nvGraphicFramePr>
          <p:xfrm>
            <a:off x="975" y="1207"/>
            <a:ext cx="84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9" name="公式" r:id="rId4" imgW="590630" imgH="152567" progId="Equation.3">
                    <p:embed/>
                  </p:oleObj>
                </mc:Choice>
                <mc:Fallback>
                  <p:oleObj name="公式" r:id="rId4" imgW="590630" imgH="152567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207"/>
                          <a:ext cx="84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8625" name="Text Box 17"/>
          <p:cNvSpPr txBox="1">
            <a:spLocks noChangeArrowheads="1"/>
          </p:cNvSpPr>
          <p:nvPr/>
        </p:nvSpPr>
        <p:spPr bwMode="auto">
          <a:xfrm>
            <a:off x="34925" y="3078163"/>
            <a:ext cx="4392613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黑体" pitchFamily="2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物理意义</a:t>
            </a:r>
            <a:r>
              <a:rPr lang="zh-CN" altLang="en-US" b="0">
                <a:solidFill>
                  <a:schemeClr val="bg1"/>
                </a:solidFill>
                <a:ea typeface="宋体" pitchFamily="2" charset="-122"/>
              </a:rPr>
              <a:t>：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 </a:t>
            </a:r>
            <a:endParaRPr lang="zh-CN" altLang="en-US" b="0">
              <a:solidFill>
                <a:schemeClr val="bg1"/>
              </a:solidFill>
              <a:latin typeface="Times New Roman" pitchFamily="18" charset="0"/>
              <a:ea typeface="黑体" pitchFamily="2" charset="-122"/>
            </a:endParaRP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468313" y="3819525"/>
            <a:ext cx="5761037" cy="473075"/>
            <a:chOff x="295" y="1953"/>
            <a:chExt cx="3629" cy="298"/>
          </a:xfrm>
        </p:grpSpPr>
        <p:sp>
          <p:nvSpPr>
            <p:cNvPr id="18450" name="Rectangle 18"/>
            <p:cNvSpPr>
              <a:spLocks noChangeArrowheads="1"/>
            </p:cNvSpPr>
            <p:nvPr/>
          </p:nvSpPr>
          <p:spPr bwMode="auto">
            <a:xfrm>
              <a:off x="295" y="1963"/>
              <a:ext cx="36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的方向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——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电磁能量传输的方向</a:t>
              </a:r>
            </a:p>
          </p:txBody>
        </p:sp>
        <p:graphicFrame>
          <p:nvGraphicFramePr>
            <p:cNvPr id="18451" name="Object 19"/>
            <p:cNvGraphicFramePr>
              <a:graphicFrameLocks noChangeAspect="1"/>
            </p:cNvGraphicFramePr>
            <p:nvPr/>
          </p:nvGraphicFramePr>
          <p:xfrm>
            <a:off x="358" y="1953"/>
            <a:ext cx="18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0" name="公式" r:id="rId6" imgW="76345" imgH="152567" progId="Equation.3">
                    <p:embed/>
                  </p:oleObj>
                </mc:Choice>
                <mc:Fallback>
                  <p:oleObj name="公式" r:id="rId6" imgW="76345" imgH="152567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" y="1953"/>
                          <a:ext cx="180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468313" y="4475163"/>
            <a:ext cx="8675687" cy="1041400"/>
            <a:chOff x="295" y="2251"/>
            <a:chExt cx="5465" cy="656"/>
          </a:xfrm>
        </p:grpSpPr>
        <p:sp>
          <p:nvSpPr>
            <p:cNvPr id="18448" name="Rectangle 20"/>
            <p:cNvSpPr>
              <a:spLocks noChangeArrowheads="1"/>
            </p:cNvSpPr>
            <p:nvPr/>
          </p:nvSpPr>
          <p:spPr bwMode="auto">
            <a:xfrm>
              <a:off x="295" y="2251"/>
              <a:ext cx="5465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的大小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——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通过垂直于能量传输方</a:t>
              </a: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                         向的单位面积的电磁</a:t>
              </a:r>
              <a:r>
                <a:rPr lang="zh-CN" altLang="en-US">
                  <a:solidFill>
                    <a:srgbClr val="FF3300"/>
                  </a:solidFill>
                  <a:latin typeface="Times New Roman" pitchFamily="18" charset="0"/>
                </a:rPr>
                <a:t>功率</a:t>
              </a:r>
            </a:p>
          </p:txBody>
        </p:sp>
        <p:graphicFrame>
          <p:nvGraphicFramePr>
            <p:cNvPr id="18449" name="Object 21"/>
            <p:cNvGraphicFramePr>
              <a:graphicFrameLocks noChangeAspect="1"/>
            </p:cNvGraphicFramePr>
            <p:nvPr/>
          </p:nvGraphicFramePr>
          <p:xfrm>
            <a:off x="358" y="2296"/>
            <a:ext cx="18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1" name="公式" r:id="rId8" imgW="76345" imgH="152567" progId="Equation.3">
                    <p:embed/>
                  </p:oleObj>
                </mc:Choice>
                <mc:Fallback>
                  <p:oleObj name="公式" r:id="rId8" imgW="76345" imgH="15256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" y="2296"/>
                          <a:ext cx="180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8630" name="Rectangle 22"/>
          <p:cNvSpPr>
            <a:spLocks noChangeArrowheads="1"/>
          </p:cNvSpPr>
          <p:nvPr/>
        </p:nvSpPr>
        <p:spPr bwMode="auto">
          <a:xfrm>
            <a:off x="107950" y="1387475"/>
            <a:ext cx="842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      </a:t>
            </a:r>
            <a:r>
              <a:rPr lang="zh-CN" altLang="en-US">
                <a:solidFill>
                  <a:schemeClr val="bg1"/>
                </a:solidFill>
              </a:rPr>
              <a:t>描述时变电磁场中电磁能量传输的一个重要物理量。</a:t>
            </a:r>
          </a:p>
        </p:txBody>
      </p:sp>
      <p:sp>
        <p:nvSpPr>
          <p:cNvPr id="708644" name="Text Box 36"/>
          <p:cNvSpPr txBox="1">
            <a:spLocks noChangeArrowheads="1"/>
          </p:cNvSpPr>
          <p:nvPr/>
        </p:nvSpPr>
        <p:spPr bwMode="auto">
          <a:xfrm>
            <a:off x="69850" y="692150"/>
            <a:ext cx="7526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10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坡印廷矢量（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电磁能流密度矢量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）</a:t>
            </a:r>
          </a:p>
        </p:txBody>
      </p: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5653088" y="2043113"/>
            <a:ext cx="3311525" cy="2681287"/>
            <a:chOff x="3561" y="1151"/>
            <a:chExt cx="2086" cy="1689"/>
          </a:xfrm>
        </p:grpSpPr>
        <p:graphicFrame>
          <p:nvGraphicFramePr>
            <p:cNvPr id="18446" name="Object 42"/>
            <p:cNvGraphicFramePr>
              <a:graphicFrameLocks noChangeAspect="1"/>
            </p:cNvGraphicFramePr>
            <p:nvPr/>
          </p:nvGraphicFramePr>
          <p:xfrm>
            <a:off x="3561" y="1151"/>
            <a:ext cx="2086" cy="1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2" name="图片" r:id="rId11" imgW="1825752" imgH="1420368" progId="Word.Picture.8">
                    <p:embed/>
                  </p:oleObj>
                </mc:Choice>
                <mc:Fallback>
                  <p:oleObj name="图片" r:id="rId11" imgW="1825752" imgH="1420368" progId="Word.Picture.8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1" y="1151"/>
                          <a:ext cx="2086" cy="16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44"/>
            <p:cNvGraphicFramePr>
              <a:graphicFrameLocks noChangeAspect="1"/>
            </p:cNvGraphicFramePr>
            <p:nvPr/>
          </p:nvGraphicFramePr>
          <p:xfrm>
            <a:off x="4408" y="1877"/>
            <a:ext cx="17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3" name="公式" r:id="rId13" imgW="85714" imgH="114339" progId="Equation.3">
                    <p:embed/>
                  </p:oleObj>
                </mc:Choice>
                <mc:Fallback>
                  <p:oleObj name="公式" r:id="rId13" imgW="85714" imgH="114339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8" y="1877"/>
                          <a:ext cx="17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42" name="AutoShape 47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3" name="AutoShape 4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4" name="AutoShape 4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5" name="AutoShape 5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0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0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25" grpId="0"/>
      <p:bldP spid="708630" grpId="0"/>
      <p:bldP spid="7086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CAF514-B82A-4CC8-8B4C-1DC5C7A26B2E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721930" name="Rectangle 10"/>
          <p:cNvSpPr>
            <a:spLocks noChangeArrowheads="1"/>
          </p:cNvSpPr>
          <p:nvPr/>
        </p:nvSpPr>
        <p:spPr bwMode="auto">
          <a:xfrm>
            <a:off x="90488" y="420688"/>
            <a:ext cx="9053512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     </a:t>
            </a:r>
            <a:r>
              <a:rPr lang="zh-CN" altLang="en-US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例</a:t>
            </a:r>
            <a:r>
              <a:rPr lang="en-US" altLang="zh-CN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4.3.1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同轴线的内导体半径为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a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、外导体的内半径为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b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，其间填充均匀的理想介质。设内外导体间的电压为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U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，导体中流过的电流为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I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。（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）在导体为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理想导体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的情况下，计算同轴线中传输的功率；（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）当导体的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电导率</a:t>
            </a:r>
            <a:r>
              <a:rPr lang="el-GR" altLang="zh-CN" i="1">
                <a:solidFill>
                  <a:srgbClr val="FF3300"/>
                </a:solidFill>
                <a:latin typeface="楷体_GB2312" pitchFamily="49" charset="-122"/>
                <a:ea typeface="幼圆" pitchFamily="49" charset="-122"/>
                <a:cs typeface="Times New Roman" pitchFamily="18" charset="0"/>
              </a:rPr>
              <a:t>σ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为有限值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时，计算通过内导体表面进入每单位长度内导体的功率。</a:t>
            </a:r>
            <a:endParaRPr lang="zh-CN" altLang="en-US" b="0">
              <a:solidFill>
                <a:schemeClr val="bg1"/>
              </a:solidFill>
              <a:ea typeface="黑体" pitchFamily="2" charset="-122"/>
              <a:cs typeface="Times New Roman" pitchFamily="18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690688" y="3344863"/>
            <a:ext cx="5545137" cy="2747962"/>
            <a:chOff x="1065" y="1926"/>
            <a:chExt cx="3493" cy="1731"/>
          </a:xfrm>
        </p:grpSpPr>
        <p:sp>
          <p:nvSpPr>
            <p:cNvPr id="19465" name="Rectangle 23"/>
            <p:cNvSpPr>
              <a:spLocks noChangeArrowheads="1"/>
            </p:cNvSpPr>
            <p:nvPr/>
          </p:nvSpPr>
          <p:spPr bwMode="auto">
            <a:xfrm>
              <a:off x="1065" y="1933"/>
              <a:ext cx="3493" cy="172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9466" name="Object 24"/>
            <p:cNvGraphicFramePr>
              <a:graphicFrameLocks noChangeAspect="1"/>
            </p:cNvGraphicFramePr>
            <p:nvPr/>
          </p:nvGraphicFramePr>
          <p:xfrm>
            <a:off x="1065" y="1926"/>
            <a:ext cx="3448" cy="1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7" name="图片" r:id="rId3" imgW="3733927" imgH="1289930" progId="Word.Picture.8">
                    <p:embed/>
                  </p:oleObj>
                </mc:Choice>
                <mc:Fallback>
                  <p:oleObj name="图片" r:id="rId3" imgW="3733927" imgH="1289930" progId="Word.Picture.8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5" y="1926"/>
                          <a:ext cx="3448" cy="1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7" name="Text Box 26"/>
            <p:cNvSpPr txBox="1">
              <a:spLocks noChangeArrowheads="1"/>
            </p:cNvSpPr>
            <p:nvPr/>
          </p:nvSpPr>
          <p:spPr bwMode="auto">
            <a:xfrm>
              <a:off x="1383" y="3290"/>
              <a:ext cx="28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</a:pPr>
              <a:r>
                <a:rPr lang="zh-CN" altLang="en-US" sz="200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同轴线</a:t>
              </a:r>
              <a:endParaRPr lang="zh-CN" altLang="en-US" sz="2000"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19461" name="AutoShape 28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2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3" name="AutoShape 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4" name="AutoShape 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72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FF38F4-C4D5-40D9-A354-924099A992B6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754690" name="Rectangle 2"/>
          <p:cNvSpPr>
            <a:spLocks noChangeArrowheads="1"/>
          </p:cNvSpPr>
          <p:nvPr/>
        </p:nvSpPr>
        <p:spPr bwMode="auto">
          <a:xfrm>
            <a:off x="106363" y="561975"/>
            <a:ext cx="9037637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rgbClr val="FF9900"/>
                </a:solidFill>
                <a:latin typeface="幼圆" pitchFamily="49" charset="-122"/>
                <a:ea typeface="幼圆" pitchFamily="49" charset="-122"/>
              </a:rPr>
              <a:t>   </a:t>
            </a:r>
            <a:r>
              <a:rPr lang="zh-CN" altLang="en-US">
                <a:solidFill>
                  <a:srgbClr val="FF9900"/>
                </a:solidFill>
                <a:latin typeface="幼圆" pitchFamily="49" charset="-122"/>
                <a:ea typeface="幼圆" pitchFamily="49" charset="-122"/>
              </a:rPr>
              <a:t>解：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）在内外导体为理想导体的情况下，电场和磁场只存在于内外导体之间的理想介质中，内外导体表面的电场无切向分量，只有电场的径向分量。利用高斯定理和安培环路定理，容易求得内外导体之间的电场和磁场分别为</a:t>
            </a:r>
          </a:p>
        </p:txBody>
      </p:sp>
      <p:graphicFrame>
        <p:nvGraphicFramePr>
          <p:cNvPr id="754691" name="Object 3"/>
          <p:cNvGraphicFramePr>
            <a:graphicFrameLocks noChangeAspect="1"/>
          </p:cNvGraphicFramePr>
          <p:nvPr/>
        </p:nvGraphicFramePr>
        <p:xfrm>
          <a:off x="1331913" y="2779713"/>
          <a:ext cx="22526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Equation" r:id="rId3" imgW="1028570" imgH="361783" progId="Equation.DSMT4">
                  <p:embed/>
                </p:oleObj>
              </mc:Choice>
              <mc:Fallback>
                <p:oleObj name="Equation" r:id="rId3" imgW="1028570" imgH="36178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79713"/>
                        <a:ext cx="22526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2" name="Object 4"/>
          <p:cNvGraphicFramePr>
            <a:graphicFrameLocks noChangeAspect="1"/>
          </p:cNvGraphicFramePr>
          <p:nvPr/>
        </p:nvGraphicFramePr>
        <p:xfrm>
          <a:off x="5962650" y="2997200"/>
          <a:ext cx="15843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0" name="Equation" r:id="rId5" imgW="647541" imgH="133453" progId="Equation.DSMT4">
                  <p:embed/>
                </p:oleObj>
              </mc:Choice>
              <mc:Fallback>
                <p:oleObj name="Equation" r:id="rId5" imgW="647541" imgH="13345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2997200"/>
                        <a:ext cx="15843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3" name="Object 5"/>
          <p:cNvGraphicFramePr>
            <a:graphicFrameLocks noChangeAspect="1"/>
          </p:cNvGraphicFramePr>
          <p:nvPr/>
        </p:nvGraphicFramePr>
        <p:xfrm>
          <a:off x="3995738" y="2781300"/>
          <a:ext cx="16049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name="Equation" r:id="rId7" imgW="695430" imgH="352399" progId="Equation.DSMT4">
                  <p:embed/>
                </p:oleObj>
              </mc:Choice>
              <mc:Fallback>
                <p:oleObj name="Equation" r:id="rId7" imgW="695430" imgH="35239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781300"/>
                        <a:ext cx="16049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4" name="Object 6"/>
          <p:cNvGraphicFramePr>
            <a:graphicFrameLocks noChangeAspect="1"/>
          </p:cNvGraphicFramePr>
          <p:nvPr/>
        </p:nvGraphicFramePr>
        <p:xfrm>
          <a:off x="1166813" y="4456113"/>
          <a:ext cx="71532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2" name="Equation" r:id="rId9" imgW="3390741" imgH="419126" progId="Equation.DSMT4">
                  <p:embed/>
                </p:oleObj>
              </mc:Choice>
              <mc:Fallback>
                <p:oleObj name="Equation" r:id="rId9" imgW="3390741" imgH="41912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4456113"/>
                        <a:ext cx="715327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6" name="Rectangle 8"/>
          <p:cNvSpPr>
            <a:spLocks noChangeArrowheads="1"/>
          </p:cNvSpPr>
          <p:nvPr/>
        </p:nvSpPr>
        <p:spPr bwMode="auto">
          <a:xfrm>
            <a:off x="107950" y="3763963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内外导体之间任意横截面上的坡印廷矢量</a:t>
            </a:r>
          </a:p>
        </p:txBody>
      </p:sp>
      <p:sp>
        <p:nvSpPr>
          <p:cNvPr id="20489" name="AutoShape 10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0" name="AutoShape 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1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2" name="AutoShape 1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75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5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5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5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5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5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0" grpId="0"/>
      <p:bldP spid="75469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93A0C7-B11D-4F55-A46C-9FE9805DD8F7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755719" name="Rectangle 7"/>
          <p:cNvSpPr>
            <a:spLocks noChangeArrowheads="1"/>
          </p:cNvSpPr>
          <p:nvPr/>
        </p:nvSpPr>
        <p:spPr bwMode="auto">
          <a:xfrm>
            <a:off x="179388" y="549275"/>
            <a:ext cx="885666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电磁能量在内外导体之间的介质中沿轴方向流动，即由电源流向负载，如图所示。</a:t>
            </a:r>
          </a:p>
        </p:txBody>
      </p:sp>
      <p:graphicFrame>
        <p:nvGraphicFramePr>
          <p:cNvPr id="755721" name="Object 9"/>
          <p:cNvGraphicFramePr>
            <a:graphicFrameLocks noChangeAspect="1"/>
          </p:cNvGraphicFramePr>
          <p:nvPr/>
        </p:nvGraphicFramePr>
        <p:xfrm>
          <a:off x="1217613" y="5405438"/>
          <a:ext cx="5843587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6" name="Equation" r:id="rId3" imgW="2648116" imgH="361783" progId="Equation.DSMT4">
                  <p:embed/>
                </p:oleObj>
              </mc:Choice>
              <mc:Fallback>
                <p:oleObj name="Equation" r:id="rId3" imgW="2648116" imgH="36178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5405438"/>
                        <a:ext cx="5843587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22" name="Rectangle 10"/>
          <p:cNvSpPr>
            <a:spLocks noChangeArrowheads="1"/>
          </p:cNvSpPr>
          <p:nvPr/>
        </p:nvSpPr>
        <p:spPr bwMode="auto">
          <a:xfrm>
            <a:off x="107950" y="4733925"/>
            <a:ext cx="885666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穿过任意横截面的功率为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476375" y="1720850"/>
            <a:ext cx="5759450" cy="2932113"/>
            <a:chOff x="885" y="1039"/>
            <a:chExt cx="3628" cy="1847"/>
          </a:xfrm>
        </p:grpSpPr>
        <p:sp>
          <p:nvSpPr>
            <p:cNvPr id="21515" name="Rectangle 13"/>
            <p:cNvSpPr>
              <a:spLocks noChangeArrowheads="1"/>
            </p:cNvSpPr>
            <p:nvPr/>
          </p:nvSpPr>
          <p:spPr bwMode="auto">
            <a:xfrm>
              <a:off x="885" y="1071"/>
              <a:ext cx="3628" cy="181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16" name="Text Box 14"/>
            <p:cNvSpPr txBox="1">
              <a:spLocks noChangeArrowheads="1"/>
            </p:cNvSpPr>
            <p:nvPr/>
          </p:nvSpPr>
          <p:spPr bwMode="auto">
            <a:xfrm>
              <a:off x="1156" y="2296"/>
              <a:ext cx="3039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Times New Roman" pitchFamily="18" charset="0"/>
                  <a:ea typeface="宋体" pitchFamily="2" charset="-122"/>
                </a:rPr>
                <a:t>同轴线中的电场、磁场和坡印廷矢量</a:t>
              </a:r>
            </a:p>
            <a:p>
              <a:pPr algn="ctr" eaLnBrk="1" hangingPunct="1"/>
              <a:r>
                <a:rPr lang="zh-CN" altLang="en-US" sz="2000">
                  <a:latin typeface="Times New Roman" pitchFamily="18" charset="0"/>
                  <a:ea typeface="宋体" pitchFamily="2" charset="-122"/>
                </a:rPr>
                <a:t>（理想导体情况）</a:t>
              </a:r>
              <a:endParaRPr lang="zh-CN" altLang="en-US" sz="2000">
                <a:ea typeface="黑体" pitchFamily="2" charset="-122"/>
              </a:endParaRPr>
            </a:p>
          </p:txBody>
        </p:sp>
        <p:graphicFrame>
          <p:nvGraphicFramePr>
            <p:cNvPr id="21517" name="Object 15"/>
            <p:cNvGraphicFramePr>
              <a:graphicFrameLocks noChangeAspect="1"/>
            </p:cNvGraphicFramePr>
            <p:nvPr/>
          </p:nvGraphicFramePr>
          <p:xfrm>
            <a:off x="975" y="1039"/>
            <a:ext cx="3537" cy="1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7" name="图片" r:id="rId5" imgW="3733927" imgH="1289930" progId="Word.Picture.8">
                    <p:embed/>
                  </p:oleObj>
                </mc:Choice>
                <mc:Fallback>
                  <p:oleObj name="图片" r:id="rId5" imgW="3733927" imgH="1289930" progId="Word.Picture.8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039"/>
                          <a:ext cx="3537" cy="1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1" name="AutoShape 17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2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3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4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5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5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19" grpId="0"/>
      <p:bldP spid="7557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38C9EB-A1C8-458E-B57F-E9C0A3D829A6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793608" name="Rectangle 8"/>
          <p:cNvSpPr>
            <a:spLocks noChangeArrowheads="1"/>
          </p:cNvSpPr>
          <p:nvPr/>
        </p:nvSpPr>
        <p:spPr bwMode="auto">
          <a:xfrm>
            <a:off x="107950" y="404813"/>
            <a:ext cx="8964613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）当导体的电导率</a:t>
            </a:r>
            <a:r>
              <a:rPr lang="el-GR" altLang="zh-CN" i="1">
                <a:solidFill>
                  <a:schemeClr val="bg1"/>
                </a:solidFill>
                <a:latin typeface="楷体_GB2312" pitchFamily="49" charset="-122"/>
                <a:cs typeface="Times New Roman" pitchFamily="18" charset="0"/>
              </a:rPr>
              <a:t>σ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为有限值时，导体内部存在沿电流方向的电场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927350" y="1052513"/>
            <a:ext cx="2209800" cy="865187"/>
            <a:chOff x="3023" y="709"/>
            <a:chExt cx="1346" cy="500"/>
          </a:xfrm>
        </p:grpSpPr>
        <p:sp>
          <p:nvSpPr>
            <p:cNvPr id="22551" name="Rectangle 10"/>
            <p:cNvSpPr>
              <a:spLocks noChangeArrowheads="1"/>
            </p:cNvSpPr>
            <p:nvPr/>
          </p:nvSpPr>
          <p:spPr bwMode="auto">
            <a:xfrm>
              <a:off x="3107" y="953"/>
              <a:ext cx="220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</a:pPr>
              <a:r>
                <a:rPr lang="zh-CN" altLang="en-US" sz="1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内</a:t>
              </a:r>
              <a:endParaRPr lang="zh-CN" altLang="en-US" sz="1400">
                <a:solidFill>
                  <a:schemeClr val="bg1"/>
                </a:solidFill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22552" name="Object 11"/>
            <p:cNvGraphicFramePr>
              <a:graphicFrameLocks noChangeAspect="1"/>
            </p:cNvGraphicFramePr>
            <p:nvPr/>
          </p:nvGraphicFramePr>
          <p:xfrm>
            <a:off x="3023" y="709"/>
            <a:ext cx="1346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7" name="Equation" r:id="rId3" imgW="1047656" imgH="352399" progId="Equation.DSMT4">
                    <p:embed/>
                  </p:oleObj>
                </mc:Choice>
                <mc:Fallback>
                  <p:oleObj name="Equation" r:id="rId3" imgW="1047656" imgH="352399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3" y="709"/>
                          <a:ext cx="1346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4925" y="1916113"/>
            <a:ext cx="8893175" cy="1035050"/>
            <a:chOff x="58" y="1252"/>
            <a:chExt cx="5602" cy="652"/>
          </a:xfrm>
        </p:grpSpPr>
        <p:sp>
          <p:nvSpPr>
            <p:cNvPr id="22547" name="Rectangle 13"/>
            <p:cNvSpPr>
              <a:spLocks noChangeArrowheads="1"/>
            </p:cNvSpPr>
            <p:nvPr/>
          </p:nvSpPr>
          <p:spPr bwMode="auto">
            <a:xfrm>
              <a:off x="58" y="1298"/>
              <a:ext cx="5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根据边界条件，在内导体表面上电场的切向分量连续，</a:t>
              </a:r>
              <a:endParaRPr lang="zh-CN" altLang="en-US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sp>
          <p:nvSpPr>
            <p:cNvPr id="22548" name="Rectangle 14"/>
            <p:cNvSpPr>
              <a:spLocks noChangeArrowheads="1"/>
            </p:cNvSpPr>
            <p:nvPr/>
          </p:nvSpPr>
          <p:spPr bwMode="auto">
            <a:xfrm>
              <a:off x="67" y="1616"/>
              <a:ext cx="25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在内导体表面外侧的电场为</a:t>
              </a:r>
            </a:p>
          </p:txBody>
        </p:sp>
        <p:graphicFrame>
          <p:nvGraphicFramePr>
            <p:cNvPr id="22549" name="Object 15"/>
            <p:cNvGraphicFramePr>
              <a:graphicFrameLocks noChangeAspect="1"/>
            </p:cNvGraphicFramePr>
            <p:nvPr/>
          </p:nvGraphicFramePr>
          <p:xfrm>
            <a:off x="4685" y="1252"/>
            <a:ext cx="85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8" name="Equation" r:id="rId5" imgW="580913" imgH="200179" progId="Equation.DSMT4">
                    <p:embed/>
                  </p:oleObj>
                </mc:Choice>
                <mc:Fallback>
                  <p:oleObj name="Equation" r:id="rId5" imgW="580913" imgH="200179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1252"/>
                          <a:ext cx="85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0" name="Rectangle 16"/>
            <p:cNvSpPr>
              <a:spLocks noChangeArrowheads="1"/>
            </p:cNvSpPr>
            <p:nvPr/>
          </p:nvSpPr>
          <p:spPr bwMode="auto">
            <a:xfrm>
              <a:off x="5302" y="1407"/>
              <a:ext cx="27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zh-CN" altLang="en-US" sz="1400" b="0">
                  <a:solidFill>
                    <a:schemeClr val="bg1"/>
                  </a:solidFill>
                  <a:ea typeface="宋体" pitchFamily="2" charset="-122"/>
                </a:rPr>
                <a:t>内</a:t>
              </a:r>
            </a:p>
          </p:txBody>
        </p:sp>
      </p:grpSp>
      <p:graphicFrame>
        <p:nvGraphicFramePr>
          <p:cNvPr id="793617" name="Object 17"/>
          <p:cNvGraphicFramePr>
            <a:graphicFrameLocks noChangeAspect="1"/>
          </p:cNvGraphicFramePr>
          <p:nvPr/>
        </p:nvGraphicFramePr>
        <p:xfrm>
          <a:off x="406400" y="3141663"/>
          <a:ext cx="37211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9" name="Equation" r:id="rId7" imgW="1876342" imgH="361783" progId="Equation.DSMT4">
                  <p:embed/>
                </p:oleObj>
              </mc:Choice>
              <mc:Fallback>
                <p:oleObj name="Equation" r:id="rId7" imgW="1876342" imgH="36178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141663"/>
                        <a:ext cx="372110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18" name="Object 18"/>
          <p:cNvGraphicFramePr>
            <a:graphicFrameLocks noChangeAspect="1"/>
          </p:cNvGraphicFramePr>
          <p:nvPr/>
        </p:nvGraphicFramePr>
        <p:xfrm>
          <a:off x="1860550" y="4076700"/>
          <a:ext cx="217963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0" name="Equation" r:id="rId9" imgW="971658" imgH="323901" progId="Equation.DSMT4">
                  <p:embed/>
                </p:oleObj>
              </mc:Choice>
              <mc:Fallback>
                <p:oleObj name="Equation" r:id="rId9" imgW="971658" imgH="32390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4076700"/>
                        <a:ext cx="217963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19" name="Rectangle 19"/>
          <p:cNvSpPr>
            <a:spLocks noChangeArrowheads="1"/>
          </p:cNvSpPr>
          <p:nvPr/>
        </p:nvSpPr>
        <p:spPr bwMode="auto">
          <a:xfrm>
            <a:off x="119063" y="4221163"/>
            <a:ext cx="2940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磁场则仍为</a:t>
            </a:r>
          </a:p>
        </p:txBody>
      </p:sp>
      <p:sp>
        <p:nvSpPr>
          <p:cNvPr id="793620" name="Rectangle 20"/>
          <p:cNvSpPr>
            <a:spLocks noChangeArrowheads="1"/>
          </p:cNvSpPr>
          <p:nvPr/>
        </p:nvSpPr>
        <p:spPr bwMode="auto">
          <a:xfrm>
            <a:off x="107950" y="5132388"/>
            <a:ext cx="6408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内导体表面外侧的坡印廷矢量为</a:t>
            </a:r>
            <a:endParaRPr lang="zh-CN" altLang="en-US">
              <a:solidFill>
                <a:schemeClr val="bg1"/>
              </a:solidFill>
              <a:cs typeface="Times New Roman" pitchFamily="18" charset="0"/>
            </a:endParaRPr>
          </a:p>
        </p:txBody>
      </p:sp>
      <p:graphicFrame>
        <p:nvGraphicFramePr>
          <p:cNvPr id="793621" name="Object 21"/>
          <p:cNvGraphicFramePr>
            <a:graphicFrameLocks noChangeAspect="1"/>
          </p:cNvGraphicFramePr>
          <p:nvPr/>
        </p:nvGraphicFramePr>
        <p:xfrm>
          <a:off x="1141413" y="5588000"/>
          <a:ext cx="68881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1" name="Equation" r:id="rId11" imgW="3324113" imgH="390628" progId="Equation.DSMT4">
                  <p:embed/>
                </p:oleObj>
              </mc:Choice>
              <mc:Fallback>
                <p:oleObj name="Equation" r:id="rId11" imgW="3324113" imgH="390628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5588000"/>
                        <a:ext cx="68881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4572000" y="3068638"/>
            <a:ext cx="4537075" cy="2447925"/>
            <a:chOff x="2880" y="1933"/>
            <a:chExt cx="2858" cy="1542"/>
          </a:xfrm>
        </p:grpSpPr>
        <p:sp>
          <p:nvSpPr>
            <p:cNvPr id="22544" name="Rectangle 22"/>
            <p:cNvSpPr>
              <a:spLocks noChangeArrowheads="1"/>
            </p:cNvSpPr>
            <p:nvPr/>
          </p:nvSpPr>
          <p:spPr bwMode="auto">
            <a:xfrm>
              <a:off x="2903" y="1933"/>
              <a:ext cx="2835" cy="15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2545" name="Object 23"/>
            <p:cNvGraphicFramePr>
              <a:graphicFrameLocks noChangeAspect="1"/>
            </p:cNvGraphicFramePr>
            <p:nvPr/>
          </p:nvGraphicFramePr>
          <p:xfrm>
            <a:off x="2881" y="1933"/>
            <a:ext cx="2857" cy="1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12" name="图片" r:id="rId13" imgW="3733927" imgH="1289930" progId="Word.Picture.8">
                    <p:embed/>
                  </p:oleObj>
                </mc:Choice>
                <mc:Fallback>
                  <p:oleObj name="图片" r:id="rId13" imgW="3733927" imgH="1289930" progId="Word.Picture.8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1" y="1933"/>
                          <a:ext cx="2857" cy="1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Text Box 24"/>
            <p:cNvSpPr txBox="1">
              <a:spLocks noChangeArrowheads="1"/>
            </p:cNvSpPr>
            <p:nvPr/>
          </p:nvSpPr>
          <p:spPr bwMode="auto">
            <a:xfrm>
              <a:off x="2880" y="3022"/>
              <a:ext cx="285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</a:pPr>
              <a:r>
                <a:rPr lang="zh-CN" altLang="en-US" sz="180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同轴线中的电场、磁场和坡印廷矢量</a:t>
              </a:r>
            </a:p>
            <a:p>
              <a:pPr algn="ctr" eaLnBrk="1" fontAlgn="ctr" hangingPunct="1">
                <a:spcBef>
                  <a:spcPct val="0"/>
                </a:spcBef>
              </a:pPr>
              <a:r>
                <a:rPr lang="zh-CN" altLang="en-US" sz="180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（非理想导体情况）</a:t>
              </a:r>
              <a:endParaRPr lang="zh-CN" altLang="en-US" sz="1800"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2540" name="AutoShape 26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1" name="AutoShape 2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2" name="AutoShape 2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3" name="AutoShape 2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79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9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9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9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9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9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3608" grpId="0"/>
      <p:bldP spid="793619" grpId="0"/>
      <p:bldP spid="7936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1C4581-4826-4EF0-BACC-808A2E5D760C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graphicFrame>
        <p:nvGraphicFramePr>
          <p:cNvPr id="734225" name="Object 17"/>
          <p:cNvGraphicFramePr>
            <a:graphicFrameLocks noChangeAspect="1"/>
          </p:cNvGraphicFramePr>
          <p:nvPr/>
        </p:nvGraphicFramePr>
        <p:xfrm>
          <a:off x="850900" y="2852738"/>
          <a:ext cx="7091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6" name="Equation" r:id="rId3" imgW="3352916" imgH="352399" progId="Equation.DSMT4">
                  <p:embed/>
                </p:oleObj>
              </mc:Choice>
              <mc:Fallback>
                <p:oleObj name="Equation" r:id="rId3" imgW="3352916" imgH="35239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2852738"/>
                        <a:ext cx="7091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07950" y="3643313"/>
            <a:ext cx="8964613" cy="1298575"/>
            <a:chOff x="68" y="1750"/>
            <a:chExt cx="5647" cy="818"/>
          </a:xfrm>
        </p:grpSpPr>
        <p:graphicFrame>
          <p:nvGraphicFramePr>
            <p:cNvPr id="23567" name="Object 15"/>
            <p:cNvGraphicFramePr>
              <a:graphicFrameLocks noChangeAspect="1"/>
            </p:cNvGraphicFramePr>
            <p:nvPr/>
          </p:nvGraphicFramePr>
          <p:xfrm>
            <a:off x="529" y="1762"/>
            <a:ext cx="890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97" name="Equation" r:id="rId5" imgW="580913" imgH="323901" progId="Equation.DSMT4">
                    <p:embed/>
                  </p:oleObj>
                </mc:Choice>
                <mc:Fallback>
                  <p:oleObj name="Equation" r:id="rId5" imgW="580913" imgH="323901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" y="1762"/>
                          <a:ext cx="890" cy="5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8" name="Rectangle 21"/>
            <p:cNvSpPr>
              <a:spLocks noChangeArrowheads="1"/>
            </p:cNvSpPr>
            <p:nvPr/>
          </p:nvSpPr>
          <p:spPr bwMode="auto">
            <a:xfrm>
              <a:off x="68" y="1750"/>
              <a:ext cx="5647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65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式中                    是单位长度内导体的电阻。</a:t>
              </a:r>
              <a:endPara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eaLnBrk="1" fontAlgn="ctr" hangingPunct="1">
                <a:lnSpc>
                  <a:spcPct val="165000"/>
                </a:lnSpc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    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可见，进入内导体中的功率等于这段导体的焦耳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损耗功率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。</a:t>
              </a:r>
              <a:endParaRPr lang="zh-CN" altLang="en-US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</p:grpSp>
      <p:sp>
        <p:nvSpPr>
          <p:cNvPr id="734232" name="Rectangle 24"/>
          <p:cNvSpPr>
            <a:spLocks noChangeArrowheads="1"/>
          </p:cNvSpPr>
          <p:nvPr/>
        </p:nvSpPr>
        <p:spPr bwMode="auto">
          <a:xfrm>
            <a:off x="250825" y="623888"/>
            <a:ext cx="3816350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内导体表面外侧的坡印廷矢量既有轴向分量，也有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径向分量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r>
              <a:rPr lang="zh-CN" altLang="en-US">
                <a:solidFill>
                  <a:schemeClr val="bg1"/>
                </a:solidFill>
                <a:cs typeface="Times New Roman" pitchFamily="18" charset="0"/>
              </a:rPr>
              <a:t>进入每单位长度内导体的功率为</a:t>
            </a:r>
            <a:endParaRPr lang="zh-CN" altLang="en-US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4234" name="Rectangle 26"/>
          <p:cNvSpPr>
            <a:spLocks noChangeArrowheads="1"/>
          </p:cNvSpPr>
          <p:nvPr/>
        </p:nvSpPr>
        <p:spPr bwMode="auto">
          <a:xfrm>
            <a:off x="107950" y="4899025"/>
            <a:ext cx="8964613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以上分析表明电磁能量是由电磁场传输的，导体仅起着定向引导电磁能流的作用。当导体的电导率为有限值时，进入导体中的功率全部被导体所吸收，成为导体中的焦耳热损耗功率。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4211638" y="404813"/>
            <a:ext cx="4679950" cy="2376487"/>
            <a:chOff x="2744" y="255"/>
            <a:chExt cx="2948" cy="1497"/>
          </a:xfrm>
        </p:grpSpPr>
        <p:sp>
          <p:nvSpPr>
            <p:cNvPr id="23564" name="Rectangle 30"/>
            <p:cNvSpPr>
              <a:spLocks noChangeArrowheads="1"/>
            </p:cNvSpPr>
            <p:nvPr/>
          </p:nvSpPr>
          <p:spPr bwMode="auto">
            <a:xfrm>
              <a:off x="2744" y="346"/>
              <a:ext cx="2948" cy="140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3565" name="Object 31"/>
            <p:cNvGraphicFramePr>
              <a:graphicFrameLocks noChangeAspect="1"/>
            </p:cNvGraphicFramePr>
            <p:nvPr/>
          </p:nvGraphicFramePr>
          <p:xfrm>
            <a:off x="2789" y="255"/>
            <a:ext cx="2857" cy="1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98" name="图片" r:id="rId7" imgW="3733927" imgH="1289930" progId="Word.Picture.8">
                    <p:embed/>
                  </p:oleObj>
                </mc:Choice>
                <mc:Fallback>
                  <p:oleObj name="图片" r:id="rId7" imgW="3733927" imgH="1289930" progId="Word.Picture.8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55"/>
                          <a:ext cx="2857" cy="1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6" name="Text Box 32"/>
            <p:cNvSpPr txBox="1">
              <a:spLocks noChangeArrowheads="1"/>
            </p:cNvSpPr>
            <p:nvPr/>
          </p:nvSpPr>
          <p:spPr bwMode="auto">
            <a:xfrm>
              <a:off x="2744" y="1298"/>
              <a:ext cx="285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</a:pPr>
              <a:r>
                <a:rPr lang="zh-CN" altLang="en-US" sz="180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同轴线中的电场、磁场和坡印廷矢量</a:t>
              </a:r>
            </a:p>
            <a:p>
              <a:pPr algn="ctr" eaLnBrk="1" fontAlgn="ctr" hangingPunct="1">
                <a:spcBef>
                  <a:spcPct val="0"/>
                </a:spcBef>
              </a:pPr>
              <a:r>
                <a:rPr lang="zh-CN" altLang="en-US" sz="180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（非理想导体情况）</a:t>
              </a:r>
              <a:endParaRPr lang="zh-CN" altLang="en-US" sz="1800"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3560" name="AutoShape 34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1" name="AutoShape 3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2" name="AutoShape 3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3" name="AutoShape 3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0"/>
                                        <p:tgtEl>
                                          <p:spTgt spid="73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73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000"/>
                                        <p:tgtEl>
                                          <p:spTgt spid="734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32" grpId="0"/>
      <p:bldP spid="7342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2F0818-6DBA-4230-AF43-4C0FA714CC58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11188" y="2830513"/>
            <a:ext cx="7180262" cy="762000"/>
            <a:chOff x="611560" y="2831270"/>
            <a:chExt cx="7179534" cy="760589"/>
          </a:xfrm>
        </p:grpSpPr>
        <p:graphicFrame>
          <p:nvGraphicFramePr>
            <p:cNvPr id="24590" name="Object 17"/>
            <p:cNvGraphicFramePr>
              <a:graphicFrameLocks noChangeAspect="1"/>
            </p:cNvGraphicFramePr>
            <p:nvPr/>
          </p:nvGraphicFramePr>
          <p:xfrm>
            <a:off x="5219344" y="3052109"/>
            <a:ext cx="2571750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37" name="Equation" r:id="rId3" imgW="1209715" imgH="218946" progId="Equation.DSMT4">
                    <p:embed/>
                  </p:oleObj>
                </mc:Choice>
                <mc:Fallback>
                  <p:oleObj name="Equation" r:id="rId3" imgW="1209715" imgH="218946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344" y="3052109"/>
                          <a:ext cx="2571750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Rectangle 21"/>
            <p:cNvSpPr>
              <a:spLocks noChangeArrowheads="1"/>
            </p:cNvSpPr>
            <p:nvPr/>
          </p:nvSpPr>
          <p:spPr bwMode="auto">
            <a:xfrm>
              <a:off x="611560" y="2831270"/>
              <a:ext cx="4968552" cy="701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65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输入功率 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=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损耗功率 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+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负载功率</a:t>
              </a:r>
              <a:endParaRPr lang="zh-CN" altLang="en-US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</p:grpSp>
      <p:sp>
        <p:nvSpPr>
          <p:cNvPr id="24580" name="AutoShape 34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1" name="AutoShape 3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2" name="AutoShape 3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3" name="AutoShape 3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8" name="Rectangle 24"/>
          <p:cNvSpPr>
            <a:spLocks noChangeArrowheads="1"/>
          </p:cNvSpPr>
          <p:nvPr/>
        </p:nvSpPr>
        <p:spPr bwMode="auto">
          <a:xfrm>
            <a:off x="0" y="333375"/>
            <a:ext cx="2555650" cy="572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【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电路分析结果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】</a:t>
            </a:r>
            <a:endParaRPr lang="zh-CN" altLang="en-US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35150" y="3716338"/>
          <a:ext cx="450373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8" name="Equation" r:id="rId6" imgW="2124115" imgH="228677" progId="Equation.DSMT4">
                  <p:embed/>
                </p:oleObj>
              </mc:Choice>
              <mc:Fallback>
                <p:oleObj name="Equation" r:id="rId6" imgW="2124115" imgH="228677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716338"/>
                        <a:ext cx="4503738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28625" y="4365625"/>
          <a:ext cx="68072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Equation" r:id="rId8" imgW="3219313" imgH="447624" progId="Equation.DSMT4">
                  <p:embed/>
                </p:oleObj>
              </mc:Choice>
              <mc:Fallback>
                <p:oleObj name="Equation" r:id="rId8" imgW="3219313" imgH="447624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4365625"/>
                        <a:ext cx="68072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09575" y="5373688"/>
          <a:ext cx="812165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name="Equation" r:id="rId10" imgW="3838745" imgH="447624" progId="Equation.DSMT4">
                  <p:embed/>
                </p:oleObj>
              </mc:Choice>
              <mc:Fallback>
                <p:oleObj name="Equation" r:id="rId10" imgW="3838745" imgH="447624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" y="5373688"/>
                        <a:ext cx="8121650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620" name="Picture 4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857731"/>
            <a:ext cx="29241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50AC4F-C0F9-480E-84CA-1BD1B7B754A3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04813"/>
            <a:ext cx="5926138" cy="503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4. 4    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时变电磁场的唯一性定理</a:t>
            </a:r>
            <a:r>
              <a:rPr lang="zh-CN" altLang="en-US" sz="1800" b="1" smtClean="0"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728067" name="Rectangle 3"/>
          <p:cNvSpPr>
            <a:spLocks noChangeArrowheads="1"/>
          </p:cNvSpPr>
          <p:nvPr/>
        </p:nvSpPr>
        <p:spPr bwMode="auto">
          <a:xfrm>
            <a:off x="93663" y="4092575"/>
            <a:ext cx="903605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在以闭曲面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S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为边界的有界区域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V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内，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如果给定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＝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0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时刻的电场强度</a:t>
            </a:r>
            <a:r>
              <a:rPr lang="zh-CN" altLang="en-US">
                <a:solidFill>
                  <a:srgbClr val="5BAB7F"/>
                </a:solidFill>
                <a:latin typeface="Times New Roman" pitchFamily="18" charset="0"/>
              </a:rPr>
              <a:t>和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磁场强度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初始值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，并且在 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 0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时，给定边界面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S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上的电场强度的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</a:rPr>
              <a:t>切向分量</a:t>
            </a:r>
            <a:r>
              <a:rPr lang="zh-CN" altLang="en-US">
                <a:solidFill>
                  <a:srgbClr val="5BAB7F"/>
                </a:solidFill>
                <a:latin typeface="Times New Roman" pitchFamily="18" charset="0"/>
              </a:rPr>
              <a:t>或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磁场强度的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</a:rPr>
              <a:t>切向分量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，那么，在 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t 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&gt; 0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时，区域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V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内的电磁场由麦克斯韦方程唯一地确定。</a:t>
            </a:r>
            <a:r>
              <a:rPr lang="zh-CN" altLang="en-US" b="0">
                <a:latin typeface="Times New Roman" pitchFamily="18" charset="0"/>
              </a:rPr>
              <a:t> </a:t>
            </a:r>
          </a:p>
        </p:txBody>
      </p:sp>
      <p:sp>
        <p:nvSpPr>
          <p:cNvPr id="728068" name="Text Box 4"/>
          <p:cNvSpPr txBox="1">
            <a:spLocks noChangeArrowheads="1"/>
          </p:cNvSpPr>
          <p:nvPr/>
        </p:nvSpPr>
        <p:spPr bwMode="auto">
          <a:xfrm>
            <a:off x="107950" y="3500438"/>
            <a:ext cx="338455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  <a:defRPr/>
            </a:pPr>
            <a:r>
              <a:rPr lang="en-US" altLang="zh-CN" dirty="0" smtClean="0">
                <a:solidFill>
                  <a:schemeClr val="bg1"/>
                </a:solidFill>
                <a:latin typeface="Times New Roman" pitchFamily="18" charset="0"/>
                <a:ea typeface="黑体" pitchFamily="2" charset="-122"/>
              </a:rPr>
              <a:t>  </a:t>
            </a:r>
            <a:r>
              <a:rPr lang="en-US" altLang="zh-CN" dirty="0" smtClean="0">
                <a:solidFill>
                  <a:schemeClr val="bg1"/>
                </a:solidFill>
                <a:ea typeface="黑体" pitchFamily="2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  <a:ea typeface="+mn-ea"/>
              </a:rPr>
              <a:t>唯一性定理的内容</a:t>
            </a:r>
            <a:endParaRPr lang="zh-CN" altLang="en-US" b="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28069" name="Rectangle 5"/>
          <p:cNvSpPr>
            <a:spLocks noChangeArrowheads="1"/>
          </p:cNvSpPr>
          <p:nvPr/>
        </p:nvSpPr>
        <p:spPr bwMode="auto">
          <a:xfrm>
            <a:off x="73025" y="1330325"/>
            <a:ext cx="8963025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在分析有界区域的时变电磁场问题时，常常需要在给定的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</a:rPr>
              <a:t>初始条件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和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</a:rPr>
              <a:t>边界条件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下，求解麦克斯韦方程。那么，在什么定解条件下，有界区域中的麦克斯韦方程的解才是唯一的呢？这就是麦克斯韦方程的解的唯一问题。</a:t>
            </a:r>
          </a:p>
        </p:txBody>
      </p:sp>
      <p:sp>
        <p:nvSpPr>
          <p:cNvPr id="728070" name="Text Box 6"/>
          <p:cNvSpPr txBox="1">
            <a:spLocks noChangeArrowheads="1"/>
          </p:cNvSpPr>
          <p:nvPr/>
        </p:nvSpPr>
        <p:spPr bwMode="auto">
          <a:xfrm>
            <a:off x="107950" y="908050"/>
            <a:ext cx="2519363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  <a:defRPr/>
            </a:pPr>
            <a:r>
              <a:rPr lang="zh-CN" altLang="en-US" dirty="0" smtClean="0">
                <a:solidFill>
                  <a:schemeClr val="bg1"/>
                </a:solidFill>
                <a:latin typeface="+mn-ea"/>
                <a:ea typeface="+mn-ea"/>
              </a:rPr>
              <a:t> 唯一性问题</a:t>
            </a:r>
            <a:endParaRPr lang="zh-CN" altLang="en-US" b="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940425" y="3068638"/>
            <a:ext cx="2879725" cy="2305050"/>
            <a:chOff x="3833" y="1978"/>
            <a:chExt cx="1814" cy="1452"/>
          </a:xfrm>
        </p:grpSpPr>
        <p:sp>
          <p:nvSpPr>
            <p:cNvPr id="25613" name="Rectangle 8"/>
            <p:cNvSpPr>
              <a:spLocks noChangeArrowheads="1"/>
            </p:cNvSpPr>
            <p:nvPr/>
          </p:nvSpPr>
          <p:spPr bwMode="auto">
            <a:xfrm>
              <a:off x="3833" y="1978"/>
              <a:ext cx="1814" cy="145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4" name="Freeform 9"/>
            <p:cNvSpPr>
              <a:spLocks/>
            </p:cNvSpPr>
            <p:nvPr/>
          </p:nvSpPr>
          <p:spPr bwMode="auto">
            <a:xfrm>
              <a:off x="3923" y="2099"/>
              <a:ext cx="1678" cy="1286"/>
            </a:xfrm>
            <a:custGeom>
              <a:avLst/>
              <a:gdLst>
                <a:gd name="T0" fmla="*/ 169 w 1650"/>
                <a:gd name="T1" fmla="*/ 879 h 1286"/>
                <a:gd name="T2" fmla="*/ 73 w 1650"/>
                <a:gd name="T3" fmla="*/ 494 h 1286"/>
                <a:gd name="T4" fmla="*/ 618 w 1650"/>
                <a:gd name="T5" fmla="*/ 57 h 1286"/>
                <a:gd name="T6" fmla="*/ 1543 w 1650"/>
                <a:gd name="T7" fmla="*/ 154 h 1286"/>
                <a:gd name="T8" fmla="*/ 1976 w 1650"/>
                <a:gd name="T9" fmla="*/ 590 h 1286"/>
                <a:gd name="T10" fmla="*/ 1596 w 1650"/>
                <a:gd name="T11" fmla="*/ 1173 h 1286"/>
                <a:gd name="T12" fmla="*/ 835 w 1650"/>
                <a:gd name="T13" fmla="*/ 1269 h 1286"/>
                <a:gd name="T14" fmla="*/ 495 w 1650"/>
                <a:gd name="T15" fmla="*/ 1183 h 1286"/>
                <a:gd name="T16" fmla="*/ 323 w 1650"/>
                <a:gd name="T17" fmla="*/ 1044 h 1286"/>
                <a:gd name="T18" fmla="*/ 169 w 1650"/>
                <a:gd name="T19" fmla="*/ 879 h 12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50"/>
                <a:gd name="T31" fmla="*/ 0 h 1286"/>
                <a:gd name="T32" fmla="*/ 1650 w 1650"/>
                <a:gd name="T33" fmla="*/ 1286 h 128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50" h="1286">
                  <a:moveTo>
                    <a:pt x="140" y="879"/>
                  </a:moveTo>
                  <a:cubicBezTo>
                    <a:pt x="106" y="787"/>
                    <a:pt x="0" y="631"/>
                    <a:pt x="62" y="494"/>
                  </a:cubicBezTo>
                  <a:cubicBezTo>
                    <a:pt x="124" y="357"/>
                    <a:pt x="311" y="113"/>
                    <a:pt x="514" y="57"/>
                  </a:cubicBezTo>
                  <a:cubicBezTo>
                    <a:pt x="717" y="0"/>
                    <a:pt x="1093" y="65"/>
                    <a:pt x="1282" y="154"/>
                  </a:cubicBezTo>
                  <a:cubicBezTo>
                    <a:pt x="1470" y="243"/>
                    <a:pt x="1636" y="420"/>
                    <a:pt x="1643" y="590"/>
                  </a:cubicBezTo>
                  <a:cubicBezTo>
                    <a:pt x="1650" y="760"/>
                    <a:pt x="1485" y="1059"/>
                    <a:pt x="1326" y="1173"/>
                  </a:cubicBezTo>
                  <a:cubicBezTo>
                    <a:pt x="1168" y="1286"/>
                    <a:pt x="846" y="1267"/>
                    <a:pt x="694" y="1269"/>
                  </a:cubicBezTo>
                  <a:cubicBezTo>
                    <a:pt x="542" y="1271"/>
                    <a:pt x="483" y="1220"/>
                    <a:pt x="412" y="1183"/>
                  </a:cubicBezTo>
                  <a:cubicBezTo>
                    <a:pt x="341" y="1146"/>
                    <a:pt x="313" y="1095"/>
                    <a:pt x="268" y="1044"/>
                  </a:cubicBezTo>
                  <a:cubicBezTo>
                    <a:pt x="223" y="993"/>
                    <a:pt x="174" y="971"/>
                    <a:pt x="140" y="879"/>
                  </a:cubicBezTo>
                  <a:close/>
                </a:path>
              </a:pathLst>
            </a:custGeom>
            <a:gradFill rotWithShape="1">
              <a:gsLst>
                <a:gs pos="0">
                  <a:srgbClr val="213E2E"/>
                </a:gs>
                <a:gs pos="100000">
                  <a:srgbClr val="5BAB7F"/>
                </a:gs>
              </a:gsLst>
              <a:lin ang="18900000" scaled="1"/>
            </a:gra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15" name="Object 11"/>
            <p:cNvGraphicFramePr>
              <a:graphicFrameLocks noChangeAspect="1"/>
            </p:cNvGraphicFramePr>
            <p:nvPr/>
          </p:nvGraphicFramePr>
          <p:xfrm>
            <a:off x="4921" y="2614"/>
            <a:ext cx="23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5" name="Equation" r:id="rId4" imgW="85714" imgH="114339" progId="Equation.DSMT4">
                    <p:embed/>
                  </p:oleObj>
                </mc:Choice>
                <mc:Fallback>
                  <p:oleObj name="Equation" r:id="rId4" imgW="85714" imgH="114339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2614"/>
                          <a:ext cx="234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6" name="Object 12"/>
            <p:cNvGraphicFramePr>
              <a:graphicFrameLocks noChangeAspect="1"/>
            </p:cNvGraphicFramePr>
            <p:nvPr/>
          </p:nvGraphicFramePr>
          <p:xfrm>
            <a:off x="3923" y="3006"/>
            <a:ext cx="21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6" name="Equation" r:id="rId6" imgW="76345" imgH="114339" progId="Equation.DSMT4">
                    <p:embed/>
                  </p:oleObj>
                </mc:Choice>
                <mc:Fallback>
                  <p:oleObj name="Equation" r:id="rId6" imgW="76345" imgH="114339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3006"/>
                          <a:ext cx="214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9" name="AutoShape 14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0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1" name="AutoShape 1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2" name="AutoShape 1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2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0"/>
                                        <p:tgtEl>
                                          <p:spTgt spid="72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2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0"/>
                                        <p:tgtEl>
                                          <p:spTgt spid="72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66" grpId="0"/>
      <p:bldP spid="728067" grpId="0"/>
      <p:bldP spid="728068" grpId="0"/>
      <p:bldP spid="728069" grpId="0"/>
      <p:bldP spid="72807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625684-02BA-4376-8C36-EF1D72D3578E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735275" name="Text Box 43"/>
          <p:cNvSpPr txBox="1">
            <a:spLocks noChangeArrowheads="1"/>
          </p:cNvSpPr>
          <p:nvPr/>
        </p:nvSpPr>
        <p:spPr bwMode="auto">
          <a:xfrm>
            <a:off x="107950" y="636588"/>
            <a:ext cx="3311525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黑体" pitchFamily="2" charset="-122"/>
              </a:rPr>
              <a:t>  </a:t>
            </a:r>
            <a:r>
              <a:rPr lang="en-US" altLang="zh-CN">
                <a:solidFill>
                  <a:schemeClr val="bg1"/>
                </a:solidFill>
                <a:ea typeface="黑体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唯一性定理的证明</a:t>
            </a:r>
            <a:endParaRPr lang="zh-CN" altLang="en-US" b="0">
              <a:solidFill>
                <a:schemeClr val="bg1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25625" name="Rectangle 24"/>
          <p:cNvSpPr>
            <a:spLocks noChangeArrowheads="1"/>
          </p:cNvSpPr>
          <p:nvPr/>
        </p:nvSpPr>
        <p:spPr bwMode="auto">
          <a:xfrm>
            <a:off x="107950" y="1152525"/>
            <a:ext cx="5903913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利用反证法可对唯一性定理进行证明。</a:t>
            </a:r>
            <a:endParaRPr lang="en-US" altLang="zh-CN">
              <a:solidFill>
                <a:schemeClr val="bg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此处从略。</a:t>
            </a:r>
          </a:p>
        </p:txBody>
      </p:sp>
      <p:sp>
        <p:nvSpPr>
          <p:cNvPr id="26629" name="AutoShape 6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0" name="AutoShape 6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1" name="AutoShape 6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2" name="AutoShape 7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71438" y="2708275"/>
            <a:ext cx="8893175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唯一性定理的意义</a:t>
            </a:r>
            <a:endParaRPr lang="en-US" altLang="zh-CN">
              <a:solidFill>
                <a:schemeClr val="bg1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指出了获得唯一解所必须满足的条件，为电磁场问题的求解    </a:t>
            </a:r>
            <a:endParaRPr lang="en-US" altLang="zh-CN">
              <a:solidFill>
                <a:schemeClr val="bg1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提供了理论依据，具有非常重要的意义和广泛的应用。</a:t>
            </a:r>
            <a:r>
              <a:rPr lang="zh-CN" altLang="en-US">
                <a:latin typeface="楷体_GB2312" pitchFamily="49" charset="-122"/>
              </a:rPr>
              <a:t> 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71438" y="4581525"/>
            <a:ext cx="8893175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 注意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：</a:t>
            </a:r>
            <a:endParaRPr lang="en-US" altLang="zh-CN" dirty="0">
              <a:solidFill>
                <a:schemeClr val="bg1"/>
              </a:solidFill>
              <a:latin typeface="楷体_GB2312" pitchFamily="49" charset="-122"/>
            </a:endParaRPr>
          </a:p>
          <a:p>
            <a:pPr marL="36000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   </a:t>
            </a:r>
            <a:r>
              <a:rPr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区别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于静态场的唯一性定理。</a:t>
            </a:r>
            <a:r>
              <a:rPr lang="zh-CN" altLang="en-US" dirty="0">
                <a:latin typeface="楷体_GB2312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73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75" grpId="0"/>
      <p:bldP spid="25625" grpId="0"/>
      <p:bldP spid="30" grpId="0"/>
      <p:bldP spid="31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9793</TotalTime>
  <Words>1369</Words>
  <Application>Microsoft Office PowerPoint</Application>
  <PresentationFormat>全屏显示(4:3)</PresentationFormat>
  <Paragraphs>155</Paragraphs>
  <Slides>25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1_默认设计模板</vt:lpstr>
      <vt:lpstr>Equation</vt:lpstr>
      <vt:lpstr>公式</vt:lpstr>
      <vt:lpstr>图片</vt:lpstr>
      <vt:lpstr>PowerPoint 演示文稿</vt:lpstr>
      <vt:lpstr>PowerPoint 演示文稿</vt:lpstr>
      <vt:lpstr>PowerPoint 演示文稿</vt:lpstr>
      <vt:lpstr>PowerPoint 演示文稿</vt:lpstr>
      <vt:lpstr>4.2     电磁场的位函数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   电磁能量守恒定律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4    时变电磁场的唯一性定理 </vt:lpstr>
      <vt:lpstr>PowerPoint 演示文稿</vt:lpstr>
    </vt:vector>
  </TitlesOfParts>
  <Company>武汉大学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China</cp:lastModifiedBy>
  <cp:revision>522</cp:revision>
  <dcterms:created xsi:type="dcterms:W3CDTF">2004-02-10T07:06:32Z</dcterms:created>
  <dcterms:modified xsi:type="dcterms:W3CDTF">2026-05-07T04:21:28Z</dcterms:modified>
</cp:coreProperties>
</file>