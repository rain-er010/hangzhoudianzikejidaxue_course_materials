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3"/>
  </p:notesMasterIdLst>
  <p:handoutMasterIdLst>
    <p:handoutMasterId r:id="rId44"/>
  </p:handoutMasterIdLst>
  <p:sldIdLst>
    <p:sldId id="404" r:id="rId2"/>
    <p:sldId id="428" r:id="rId3"/>
    <p:sldId id="447" r:id="rId4"/>
    <p:sldId id="431" r:id="rId5"/>
    <p:sldId id="418" r:id="rId6"/>
    <p:sldId id="432" r:id="rId7"/>
    <p:sldId id="419" r:id="rId8"/>
    <p:sldId id="425" r:id="rId9"/>
    <p:sldId id="456" r:id="rId10"/>
    <p:sldId id="381" r:id="rId11"/>
    <p:sldId id="383" r:id="rId12"/>
    <p:sldId id="436" r:id="rId13"/>
    <p:sldId id="437" r:id="rId14"/>
    <p:sldId id="438" r:id="rId15"/>
    <p:sldId id="439" r:id="rId16"/>
    <p:sldId id="450" r:id="rId17"/>
    <p:sldId id="440" r:id="rId18"/>
    <p:sldId id="441" r:id="rId19"/>
    <p:sldId id="442" r:id="rId20"/>
    <p:sldId id="451" r:id="rId21"/>
    <p:sldId id="443" r:id="rId22"/>
    <p:sldId id="452" r:id="rId23"/>
    <p:sldId id="444" r:id="rId24"/>
    <p:sldId id="445" r:id="rId25"/>
    <p:sldId id="457" r:id="rId26"/>
    <p:sldId id="458" r:id="rId27"/>
    <p:sldId id="459" r:id="rId28"/>
    <p:sldId id="460" r:id="rId29"/>
    <p:sldId id="461" r:id="rId30"/>
    <p:sldId id="462" r:id="rId31"/>
    <p:sldId id="463" r:id="rId32"/>
    <p:sldId id="464" r:id="rId33"/>
    <p:sldId id="465" r:id="rId34"/>
    <p:sldId id="466" r:id="rId35"/>
    <p:sldId id="467" r:id="rId36"/>
    <p:sldId id="468" r:id="rId37"/>
    <p:sldId id="469" r:id="rId38"/>
    <p:sldId id="470" r:id="rId39"/>
    <p:sldId id="471" r:id="rId40"/>
    <p:sldId id="472" r:id="rId41"/>
    <p:sldId id="473" r:id="rId4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1pPr>
    <a:lvl2pPr marL="4572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2pPr>
    <a:lvl3pPr marL="9144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3pPr>
    <a:lvl4pPr marL="13716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4pPr>
    <a:lvl5pPr marL="1828800" algn="l" rtl="0" fontAlgn="base">
      <a:spcBef>
        <a:spcPct val="2000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5BAB7F"/>
    <a:srgbClr val="CCCCFF"/>
    <a:srgbClr val="6600FF"/>
    <a:srgbClr val="FF9900"/>
    <a:srgbClr val="D60093"/>
    <a:srgbClr val="FFFF6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5" autoAdjust="0"/>
    <p:restoredTop sz="98801" autoAdjust="0"/>
  </p:normalViewPr>
  <p:slideViewPr>
    <p:cSldViewPr>
      <p:cViewPr>
        <p:scale>
          <a:sx n="95" d="100"/>
          <a:sy n="95" d="100"/>
        </p:scale>
        <p:origin x="-2094" y="-4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9" d="100"/>
          <a:sy n="39" d="100"/>
        </p:scale>
        <p:origin x="-156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4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30.emf"/><Relationship Id="rId7" Type="http://schemas.openxmlformats.org/officeDocument/2006/relationships/image" Target="../media/image34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10" Type="http://schemas.openxmlformats.org/officeDocument/2006/relationships/image" Target="../media/image37.emf"/><Relationship Id="rId4" Type="http://schemas.openxmlformats.org/officeDocument/2006/relationships/image" Target="../media/image31.emf"/><Relationship Id="rId9" Type="http://schemas.openxmlformats.org/officeDocument/2006/relationships/image" Target="../media/image3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3" Type="http://schemas.openxmlformats.org/officeDocument/2006/relationships/image" Target="../media/image64.emf"/><Relationship Id="rId7" Type="http://schemas.openxmlformats.org/officeDocument/2006/relationships/image" Target="../media/image68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Relationship Id="rId6" Type="http://schemas.openxmlformats.org/officeDocument/2006/relationships/image" Target="../media/image67.emf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71.emf"/><Relationship Id="rId1" Type="http://schemas.openxmlformats.org/officeDocument/2006/relationships/image" Target="../media/image70.emf"/><Relationship Id="rId6" Type="http://schemas.openxmlformats.org/officeDocument/2006/relationships/image" Target="../media/image75.emf"/><Relationship Id="rId5" Type="http://schemas.openxmlformats.org/officeDocument/2006/relationships/image" Target="../media/image74.emf"/><Relationship Id="rId4" Type="http://schemas.openxmlformats.org/officeDocument/2006/relationships/image" Target="../media/image7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5" Type="http://schemas.openxmlformats.org/officeDocument/2006/relationships/image" Target="../media/image81.emf"/><Relationship Id="rId4" Type="http://schemas.openxmlformats.org/officeDocument/2006/relationships/image" Target="../media/image80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image" Target="../media/image84.emf"/><Relationship Id="rId6" Type="http://schemas.openxmlformats.org/officeDocument/2006/relationships/image" Target="../media/image89.emf"/><Relationship Id="rId5" Type="http://schemas.openxmlformats.org/officeDocument/2006/relationships/image" Target="../media/image88.emf"/><Relationship Id="rId4" Type="http://schemas.openxmlformats.org/officeDocument/2006/relationships/image" Target="../media/image87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91.emf"/><Relationship Id="rId1" Type="http://schemas.openxmlformats.org/officeDocument/2006/relationships/image" Target="../media/image90.emf"/><Relationship Id="rId6" Type="http://schemas.openxmlformats.org/officeDocument/2006/relationships/image" Target="../media/image95.emf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emf"/><Relationship Id="rId13" Type="http://schemas.openxmlformats.org/officeDocument/2006/relationships/image" Target="../media/image108.emf"/><Relationship Id="rId18" Type="http://schemas.openxmlformats.org/officeDocument/2006/relationships/image" Target="../media/image113.emf"/><Relationship Id="rId3" Type="http://schemas.openxmlformats.org/officeDocument/2006/relationships/image" Target="../media/image98.emf"/><Relationship Id="rId7" Type="http://schemas.openxmlformats.org/officeDocument/2006/relationships/image" Target="../media/image102.emf"/><Relationship Id="rId12" Type="http://schemas.openxmlformats.org/officeDocument/2006/relationships/image" Target="../media/image107.emf"/><Relationship Id="rId17" Type="http://schemas.openxmlformats.org/officeDocument/2006/relationships/image" Target="../media/image112.emf"/><Relationship Id="rId2" Type="http://schemas.openxmlformats.org/officeDocument/2006/relationships/image" Target="../media/image97.emf"/><Relationship Id="rId16" Type="http://schemas.openxmlformats.org/officeDocument/2006/relationships/image" Target="../media/image111.emf"/><Relationship Id="rId1" Type="http://schemas.openxmlformats.org/officeDocument/2006/relationships/image" Target="../media/image96.emf"/><Relationship Id="rId6" Type="http://schemas.openxmlformats.org/officeDocument/2006/relationships/image" Target="../media/image101.emf"/><Relationship Id="rId11" Type="http://schemas.openxmlformats.org/officeDocument/2006/relationships/image" Target="../media/image106.emf"/><Relationship Id="rId5" Type="http://schemas.openxmlformats.org/officeDocument/2006/relationships/image" Target="../media/image100.emf"/><Relationship Id="rId15" Type="http://schemas.openxmlformats.org/officeDocument/2006/relationships/image" Target="../media/image110.emf"/><Relationship Id="rId10" Type="http://schemas.openxmlformats.org/officeDocument/2006/relationships/image" Target="../media/image105.emf"/><Relationship Id="rId4" Type="http://schemas.openxmlformats.org/officeDocument/2006/relationships/image" Target="../media/image99.emf"/><Relationship Id="rId9" Type="http://schemas.openxmlformats.org/officeDocument/2006/relationships/image" Target="../media/image104.emf"/><Relationship Id="rId14" Type="http://schemas.openxmlformats.org/officeDocument/2006/relationships/image" Target="../media/image109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emf"/><Relationship Id="rId3" Type="http://schemas.openxmlformats.org/officeDocument/2006/relationships/image" Target="../media/image116.emf"/><Relationship Id="rId7" Type="http://schemas.openxmlformats.org/officeDocument/2006/relationships/image" Target="../media/image120.emf"/><Relationship Id="rId2" Type="http://schemas.openxmlformats.org/officeDocument/2006/relationships/image" Target="../media/image115.emf"/><Relationship Id="rId1" Type="http://schemas.openxmlformats.org/officeDocument/2006/relationships/image" Target="../media/image114.emf"/><Relationship Id="rId6" Type="http://schemas.openxmlformats.org/officeDocument/2006/relationships/image" Target="../media/image119.emf"/><Relationship Id="rId5" Type="http://schemas.openxmlformats.org/officeDocument/2006/relationships/image" Target="../media/image118.emf"/><Relationship Id="rId4" Type="http://schemas.openxmlformats.org/officeDocument/2006/relationships/image" Target="../media/image11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image" Target="../media/image123.emf"/><Relationship Id="rId1" Type="http://schemas.openxmlformats.org/officeDocument/2006/relationships/image" Target="../media/image122.emf"/><Relationship Id="rId4" Type="http://schemas.openxmlformats.org/officeDocument/2006/relationships/image" Target="../media/image125.e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3" Type="http://schemas.openxmlformats.org/officeDocument/2006/relationships/image" Target="../media/image128.emf"/><Relationship Id="rId7" Type="http://schemas.openxmlformats.org/officeDocument/2006/relationships/image" Target="../media/image132.wmf"/><Relationship Id="rId2" Type="http://schemas.openxmlformats.org/officeDocument/2006/relationships/image" Target="../media/image127.emf"/><Relationship Id="rId1" Type="http://schemas.openxmlformats.org/officeDocument/2006/relationships/image" Target="../media/image126.emf"/><Relationship Id="rId6" Type="http://schemas.openxmlformats.org/officeDocument/2006/relationships/image" Target="../media/image131.emf"/><Relationship Id="rId5" Type="http://schemas.openxmlformats.org/officeDocument/2006/relationships/image" Target="../media/image130.emf"/><Relationship Id="rId4" Type="http://schemas.openxmlformats.org/officeDocument/2006/relationships/image" Target="../media/image129.emf"/><Relationship Id="rId9" Type="http://schemas.openxmlformats.org/officeDocument/2006/relationships/image" Target="../media/image134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3" Type="http://schemas.openxmlformats.org/officeDocument/2006/relationships/image" Target="../media/image137.emf"/><Relationship Id="rId7" Type="http://schemas.openxmlformats.org/officeDocument/2006/relationships/image" Target="../media/image140.wmf"/><Relationship Id="rId2" Type="http://schemas.openxmlformats.org/officeDocument/2006/relationships/image" Target="../media/image136.emf"/><Relationship Id="rId1" Type="http://schemas.openxmlformats.org/officeDocument/2006/relationships/image" Target="../media/image135.emf"/><Relationship Id="rId6" Type="http://schemas.openxmlformats.org/officeDocument/2006/relationships/image" Target="../media/image139.emf"/><Relationship Id="rId5" Type="http://schemas.openxmlformats.org/officeDocument/2006/relationships/image" Target="../media/image132.wmf"/><Relationship Id="rId10" Type="http://schemas.openxmlformats.org/officeDocument/2006/relationships/image" Target="../media/image143.emf"/><Relationship Id="rId4" Type="http://schemas.openxmlformats.org/officeDocument/2006/relationships/image" Target="../media/image138.emf"/><Relationship Id="rId9" Type="http://schemas.openxmlformats.org/officeDocument/2006/relationships/image" Target="../media/image142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emf"/><Relationship Id="rId2" Type="http://schemas.openxmlformats.org/officeDocument/2006/relationships/image" Target="../media/image146.emf"/><Relationship Id="rId1" Type="http://schemas.openxmlformats.org/officeDocument/2006/relationships/image" Target="../media/image145.emf"/><Relationship Id="rId6" Type="http://schemas.openxmlformats.org/officeDocument/2006/relationships/image" Target="../media/image150.emf"/><Relationship Id="rId5" Type="http://schemas.openxmlformats.org/officeDocument/2006/relationships/image" Target="../media/image149.emf"/><Relationship Id="rId4" Type="http://schemas.openxmlformats.org/officeDocument/2006/relationships/image" Target="../media/image148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emf"/><Relationship Id="rId2" Type="http://schemas.openxmlformats.org/officeDocument/2006/relationships/image" Target="../media/image152.wmf"/><Relationship Id="rId1" Type="http://schemas.openxmlformats.org/officeDocument/2006/relationships/image" Target="../media/image151.emf"/><Relationship Id="rId4" Type="http://schemas.openxmlformats.org/officeDocument/2006/relationships/image" Target="../media/image154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4" Type="http://schemas.openxmlformats.org/officeDocument/2006/relationships/image" Target="../media/image158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emf"/><Relationship Id="rId2" Type="http://schemas.openxmlformats.org/officeDocument/2006/relationships/image" Target="../media/image160.emf"/><Relationship Id="rId1" Type="http://schemas.openxmlformats.org/officeDocument/2006/relationships/image" Target="../media/image159.emf"/><Relationship Id="rId4" Type="http://schemas.openxmlformats.org/officeDocument/2006/relationships/image" Target="../media/image162.e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emf"/><Relationship Id="rId7" Type="http://schemas.openxmlformats.org/officeDocument/2006/relationships/image" Target="../media/image169.emf"/><Relationship Id="rId2" Type="http://schemas.openxmlformats.org/officeDocument/2006/relationships/image" Target="../media/image164.emf"/><Relationship Id="rId1" Type="http://schemas.openxmlformats.org/officeDocument/2006/relationships/image" Target="../media/image163.emf"/><Relationship Id="rId6" Type="http://schemas.openxmlformats.org/officeDocument/2006/relationships/image" Target="../media/image168.emf"/><Relationship Id="rId5" Type="http://schemas.openxmlformats.org/officeDocument/2006/relationships/image" Target="../media/image167.emf"/><Relationship Id="rId4" Type="http://schemas.openxmlformats.org/officeDocument/2006/relationships/image" Target="../media/image166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emf"/><Relationship Id="rId2" Type="http://schemas.openxmlformats.org/officeDocument/2006/relationships/image" Target="../media/image171.emf"/><Relationship Id="rId1" Type="http://schemas.openxmlformats.org/officeDocument/2006/relationships/image" Target="../media/image170.emf"/><Relationship Id="rId4" Type="http://schemas.openxmlformats.org/officeDocument/2006/relationships/image" Target="../media/image173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emf"/><Relationship Id="rId3" Type="http://schemas.openxmlformats.org/officeDocument/2006/relationships/image" Target="../media/image176.emf"/><Relationship Id="rId7" Type="http://schemas.openxmlformats.org/officeDocument/2006/relationships/image" Target="../media/image180.emf"/><Relationship Id="rId2" Type="http://schemas.openxmlformats.org/officeDocument/2006/relationships/image" Target="../media/image175.emf"/><Relationship Id="rId1" Type="http://schemas.openxmlformats.org/officeDocument/2006/relationships/image" Target="../media/image174.emf"/><Relationship Id="rId6" Type="http://schemas.openxmlformats.org/officeDocument/2006/relationships/image" Target="../media/image179.emf"/><Relationship Id="rId11" Type="http://schemas.openxmlformats.org/officeDocument/2006/relationships/image" Target="../media/image184.emf"/><Relationship Id="rId5" Type="http://schemas.openxmlformats.org/officeDocument/2006/relationships/image" Target="../media/image178.emf"/><Relationship Id="rId10" Type="http://schemas.openxmlformats.org/officeDocument/2006/relationships/image" Target="../media/image183.emf"/><Relationship Id="rId4" Type="http://schemas.openxmlformats.org/officeDocument/2006/relationships/image" Target="../media/image177.emf"/><Relationship Id="rId9" Type="http://schemas.openxmlformats.org/officeDocument/2006/relationships/image" Target="../media/image182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emf"/><Relationship Id="rId2" Type="http://schemas.openxmlformats.org/officeDocument/2006/relationships/image" Target="../media/image186.emf"/><Relationship Id="rId1" Type="http://schemas.openxmlformats.org/officeDocument/2006/relationships/image" Target="../media/image185.emf"/><Relationship Id="rId6" Type="http://schemas.openxmlformats.org/officeDocument/2006/relationships/image" Target="../media/image190.emf"/><Relationship Id="rId5" Type="http://schemas.openxmlformats.org/officeDocument/2006/relationships/image" Target="../media/image189.wmf"/><Relationship Id="rId4" Type="http://schemas.openxmlformats.org/officeDocument/2006/relationships/image" Target="../media/image188.e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emf"/><Relationship Id="rId2" Type="http://schemas.openxmlformats.org/officeDocument/2006/relationships/image" Target="../media/image192.emf"/><Relationship Id="rId1" Type="http://schemas.openxmlformats.org/officeDocument/2006/relationships/image" Target="../media/image191.emf"/><Relationship Id="rId4" Type="http://schemas.openxmlformats.org/officeDocument/2006/relationships/image" Target="../media/image194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emf"/><Relationship Id="rId2" Type="http://schemas.openxmlformats.org/officeDocument/2006/relationships/image" Target="../media/image196.emf"/><Relationship Id="rId1" Type="http://schemas.openxmlformats.org/officeDocument/2006/relationships/image" Target="../media/image195.emf"/><Relationship Id="rId5" Type="http://schemas.openxmlformats.org/officeDocument/2006/relationships/image" Target="../media/image199.emf"/><Relationship Id="rId4" Type="http://schemas.openxmlformats.org/officeDocument/2006/relationships/image" Target="../media/image19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96B63889-2C81-4808-AAA3-878C0D8A25D5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6210C4EE-0B7A-456D-B195-B6DC44D826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65627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A9AFEBF0-947F-458D-90B0-4C009F9B03B3}" type="datetime1">
              <a:rPr lang="zh-CN" altLang="en-US"/>
              <a:pPr>
                <a:defRPr/>
              </a:pPr>
              <a:t>2026/5/14</a:t>
            </a:fld>
            <a:endParaRPr lang="en-US" altLang="zh-CN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EE01C40A-E00A-42C6-BCB5-87CE3A7F3C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174167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09325-4A11-4476-98A2-D91D1E9C29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7579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7B3D3-8C2E-4D3E-B711-A6A6454E9E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4534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963B5-4EDA-49A8-913F-025E4010A5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73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C6356-19AC-4E55-8607-E8D84BDE2E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267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A8D54-DE01-4DC9-BF69-581251C05C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0821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38A55-EB13-4112-9310-1012005F03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48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9F6EC-1139-47D6-9AC2-B9E5396B408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568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0B7C4-6F0E-45F8-944A-055F06E416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619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635107-0230-485E-9AC2-8AE7904438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1098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82B8C-7108-48E0-B42D-56EE9CD069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542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05E197-D329-4F97-BF6B-5163413C2F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4357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1ED851-5532-45D6-AC8D-AE9B9A0BE2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185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1" name="Rectangle 3"/>
          <p:cNvSpPr>
            <a:spLocks noChangeArrowheads="1"/>
          </p:cNvSpPr>
          <p:nvPr userDrawn="1"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20000"/>
              </a:spcBef>
              <a:defRPr/>
            </a:pPr>
            <a:endParaRPr lang="zh-CN" altLang="zh-CN" sz="2800" b="0" smtClean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93253" name="Rectangle 5"/>
          <p:cNvSpPr>
            <a:spLocks noChangeArrowheads="1"/>
          </p:cNvSpPr>
          <p:nvPr/>
        </p:nvSpPr>
        <p:spPr bwMode="auto">
          <a:xfrm>
            <a:off x="2843213" y="53975"/>
            <a:ext cx="3744912" cy="350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algn="ctr">
              <a:lnSpc>
                <a:spcPct val="60000"/>
              </a:lnSpc>
              <a:spcBef>
                <a:spcPct val="0"/>
              </a:spcBef>
              <a:defRPr/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隶书" pitchFamily="49" charset="-122"/>
              </a:rPr>
              <a:t>第 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隶书" pitchFamily="49" charset="-122"/>
              </a:rPr>
              <a:t>4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隶书" pitchFamily="49" charset="-122"/>
              </a:rPr>
              <a:t>章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隶书" pitchFamily="49" charset="-122"/>
              </a:rPr>
              <a:t> 时变电磁场</a:t>
            </a:r>
            <a:endParaRPr lang="zh-CN" altLang="en-US"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latin typeface="Times New Roman" pitchFamily="18" charset="0"/>
              <a:ea typeface="隶书" pitchFamily="49" charset="-122"/>
            </a:endParaRPr>
          </a:p>
        </p:txBody>
      </p:sp>
      <p:sp>
        <p:nvSpPr>
          <p:cNvPr id="1028" name="Rectangle 6"/>
          <p:cNvSpPr>
            <a:spLocks noChangeArrowheads="1"/>
          </p:cNvSpPr>
          <p:nvPr userDrawn="1"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tIns="10800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defRPr/>
            </a:pPr>
            <a:r>
              <a:rPr lang="zh-CN" altLang="en-US" sz="2000" smtClean="0">
                <a:solidFill>
                  <a:srgbClr val="573CFC"/>
                </a:solidFill>
                <a:ea typeface="华文行楷" pitchFamily="2" charset="-122"/>
              </a:rPr>
              <a:t>电磁场与电磁波</a:t>
            </a:r>
          </a:p>
        </p:txBody>
      </p:sp>
      <p:sp>
        <p:nvSpPr>
          <p:cNvPr id="1029" name="Rectangle 10" descr="深色横线"/>
          <p:cNvSpPr>
            <a:spLocks noChangeArrowheads="1"/>
          </p:cNvSpPr>
          <p:nvPr userDrawn="1"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69325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b="0">
                <a:ea typeface="+mn-ea"/>
              </a:defRPr>
            </a:lvl1pPr>
          </a:lstStyle>
          <a:p>
            <a:pPr>
              <a:defRPr/>
            </a:pPr>
            <a:fld id="{3C2047CC-F74C-46E8-A8BC-C2F442C181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Rectangle 21" descr="栎木"/>
          <p:cNvSpPr>
            <a:spLocks noChangeArrowheads="1"/>
          </p:cNvSpPr>
          <p:nvPr userDrawn="1"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  <p:sp>
        <p:nvSpPr>
          <p:cNvPr id="1033" name="Rectangle 23" descr="深色横线"/>
          <p:cNvSpPr>
            <a:spLocks noChangeArrowheads="1"/>
          </p:cNvSpPr>
          <p:nvPr userDrawn="1"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/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charset="0"/>
          <a:ea typeface="宋体" pitchFamily="2" charset="-122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17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2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emf"/><Relationship Id="rId4" Type="http://schemas.openxmlformats.org/officeDocument/2006/relationships/image" Target="../media/image4.emf"/><Relationship Id="rId9" Type="http://schemas.openxmlformats.org/officeDocument/2006/relationships/oleObject" Target="../embeddings/oleObject4.bin"/><Relationship Id="rId14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emf"/><Relationship Id="rId9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e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5" Type="http://schemas.openxmlformats.org/officeDocument/2006/relationships/slide" Target="slide1.xml"/><Relationship Id="rId10" Type="http://schemas.openxmlformats.org/officeDocument/2006/relationships/image" Target="../media/image15.e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slide" Target="slide1.xml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2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e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image" Target="../media/image23.emf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oleObject" Target="../embeddings/oleObject18.bin"/><Relationship Id="rId14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emf"/><Relationship Id="rId11" Type="http://schemas.openxmlformats.org/officeDocument/2006/relationships/slide" Target="slide1.xml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5.e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2.e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4.emf"/><Relationship Id="rId20" Type="http://schemas.openxmlformats.org/officeDocument/2006/relationships/image" Target="../media/image36.e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slide" Target="slide1.xml"/><Relationship Id="rId10" Type="http://schemas.openxmlformats.org/officeDocument/2006/relationships/image" Target="../media/image31.e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8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3.emf"/><Relationship Id="rId22" Type="http://schemas.openxmlformats.org/officeDocument/2006/relationships/image" Target="../media/image3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oleObject" Target="../embeddings/oleObject40.bin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2.emf"/><Relationship Id="rId17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9.e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10" Type="http://schemas.openxmlformats.org/officeDocument/2006/relationships/image" Target="../media/image41.emf"/><Relationship Id="rId4" Type="http://schemas.openxmlformats.org/officeDocument/2006/relationships/image" Target="../media/image38.e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oleObject" Target="../embeddings/oleObject42.bin"/><Relationship Id="rId7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5.emf"/><Relationship Id="rId9" Type="http://schemas.openxmlformats.org/officeDocument/2006/relationships/image" Target="../media/image4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8.emf"/><Relationship Id="rId9" Type="http://schemas.openxmlformats.org/officeDocument/2006/relationships/slide" Target="slide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slide" Target="slide1.xml"/><Relationship Id="rId5" Type="http://schemas.openxmlformats.org/officeDocument/2006/relationships/image" Target="../media/image2.png"/><Relationship Id="rId4" Type="http://schemas.openxmlformats.org/officeDocument/2006/relationships/image" Target="../media/image5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2.png"/><Relationship Id="rId7" Type="http://schemas.openxmlformats.org/officeDocument/2006/relationships/image" Target="../media/image5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53.emf"/><Relationship Id="rId10" Type="http://schemas.openxmlformats.org/officeDocument/2006/relationships/slide" Target="slide1.xml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5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60.emf"/><Relationship Id="rId3" Type="http://schemas.openxmlformats.org/officeDocument/2006/relationships/image" Target="../media/image2.png"/><Relationship Id="rId7" Type="http://schemas.openxmlformats.org/officeDocument/2006/relationships/image" Target="../media/image57.emf"/><Relationship Id="rId12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6" Type="http://schemas.openxmlformats.org/officeDocument/2006/relationships/slide" Target="slide1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59.emf"/><Relationship Id="rId5" Type="http://schemas.openxmlformats.org/officeDocument/2006/relationships/image" Target="../media/image56.emf"/><Relationship Id="rId15" Type="http://schemas.openxmlformats.org/officeDocument/2006/relationships/image" Target="../media/image61.e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58.emf"/><Relationship Id="rId14" Type="http://schemas.openxmlformats.org/officeDocument/2006/relationships/oleObject" Target="../embeddings/oleObject5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69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6.emf"/><Relationship Id="rId17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8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3.e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10" Type="http://schemas.openxmlformats.org/officeDocument/2006/relationships/image" Target="../media/image65.emf"/><Relationship Id="rId19" Type="http://schemas.openxmlformats.org/officeDocument/2006/relationships/slide" Target="slide1.xml"/><Relationship Id="rId4" Type="http://schemas.openxmlformats.org/officeDocument/2006/relationships/image" Target="../media/image62.e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6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13" Type="http://schemas.openxmlformats.org/officeDocument/2006/relationships/oleObject" Target="../embeddings/oleObject72.bin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1.e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slide" Target="slide1.xml"/><Relationship Id="rId10" Type="http://schemas.openxmlformats.org/officeDocument/2006/relationships/image" Target="../media/image73.emf"/><Relationship Id="rId4" Type="http://schemas.openxmlformats.org/officeDocument/2006/relationships/image" Target="../media/image70.e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slide" Target="slide1.xml"/><Relationship Id="rId5" Type="http://schemas.openxmlformats.org/officeDocument/2006/relationships/image" Target="../media/image2.png"/><Relationship Id="rId4" Type="http://schemas.openxmlformats.org/officeDocument/2006/relationships/image" Target="../media/image76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image" Target="../media/image81.e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oleObject" Target="../embeddings/oleObject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8.emf"/><Relationship Id="rId11" Type="http://schemas.openxmlformats.org/officeDocument/2006/relationships/image" Target="../media/image82.wmf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80.emf"/><Relationship Id="rId4" Type="http://schemas.openxmlformats.org/officeDocument/2006/relationships/image" Target="../media/image77.emf"/><Relationship Id="rId9" Type="http://schemas.openxmlformats.org/officeDocument/2006/relationships/oleObject" Target="../embeddings/oleObject77.bin"/><Relationship Id="rId14" Type="http://schemas.openxmlformats.org/officeDocument/2006/relationships/slide" Target="sl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13" Type="http://schemas.openxmlformats.org/officeDocument/2006/relationships/oleObject" Target="../embeddings/oleObject83.bin"/><Relationship Id="rId3" Type="http://schemas.openxmlformats.org/officeDocument/2006/relationships/image" Target="../media/image2.png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7.emf"/><Relationship Id="rId17" Type="http://schemas.openxmlformats.org/officeDocument/2006/relationships/slide" Target="slide1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e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4.e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10" Type="http://schemas.openxmlformats.org/officeDocument/2006/relationships/image" Target="../media/image86.e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8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1.e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slide" Target="slide1.xml"/><Relationship Id="rId10" Type="http://schemas.openxmlformats.org/officeDocument/2006/relationships/image" Target="../media/image93.emf"/><Relationship Id="rId4" Type="http://schemas.openxmlformats.org/officeDocument/2006/relationships/image" Target="../media/image90.e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5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100.emf"/><Relationship Id="rId18" Type="http://schemas.openxmlformats.org/officeDocument/2006/relationships/oleObject" Target="../embeddings/oleObject98.bin"/><Relationship Id="rId26" Type="http://schemas.openxmlformats.org/officeDocument/2006/relationships/oleObject" Target="../embeddings/oleObject102.bin"/><Relationship Id="rId39" Type="http://schemas.openxmlformats.org/officeDocument/2006/relationships/image" Target="../media/image113.emf"/><Relationship Id="rId3" Type="http://schemas.openxmlformats.org/officeDocument/2006/relationships/image" Target="../media/image83.png"/><Relationship Id="rId21" Type="http://schemas.openxmlformats.org/officeDocument/2006/relationships/image" Target="../media/image104.emf"/><Relationship Id="rId34" Type="http://schemas.openxmlformats.org/officeDocument/2006/relationships/oleObject" Target="../embeddings/oleObject106.bin"/><Relationship Id="rId7" Type="http://schemas.openxmlformats.org/officeDocument/2006/relationships/image" Target="../media/image97.e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102.emf"/><Relationship Id="rId25" Type="http://schemas.openxmlformats.org/officeDocument/2006/relationships/image" Target="../media/image106.emf"/><Relationship Id="rId33" Type="http://schemas.openxmlformats.org/officeDocument/2006/relationships/image" Target="../media/image110.emf"/><Relationship Id="rId38" Type="http://schemas.openxmlformats.org/officeDocument/2006/relationships/oleObject" Target="../embeddings/oleObject10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7.bin"/><Relationship Id="rId20" Type="http://schemas.openxmlformats.org/officeDocument/2006/relationships/oleObject" Target="../embeddings/oleObject99.bin"/><Relationship Id="rId29" Type="http://schemas.openxmlformats.org/officeDocument/2006/relationships/image" Target="../media/image108.e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99.emf"/><Relationship Id="rId24" Type="http://schemas.openxmlformats.org/officeDocument/2006/relationships/oleObject" Target="../embeddings/oleObject101.bin"/><Relationship Id="rId32" Type="http://schemas.openxmlformats.org/officeDocument/2006/relationships/oleObject" Target="../embeddings/oleObject105.bin"/><Relationship Id="rId37" Type="http://schemas.openxmlformats.org/officeDocument/2006/relationships/image" Target="../media/image112.emf"/><Relationship Id="rId40" Type="http://schemas.openxmlformats.org/officeDocument/2006/relationships/slide" Target="slide1.xml"/><Relationship Id="rId5" Type="http://schemas.openxmlformats.org/officeDocument/2006/relationships/image" Target="../media/image96.emf"/><Relationship Id="rId15" Type="http://schemas.openxmlformats.org/officeDocument/2006/relationships/image" Target="../media/image101.emf"/><Relationship Id="rId23" Type="http://schemas.openxmlformats.org/officeDocument/2006/relationships/image" Target="../media/image105.emf"/><Relationship Id="rId28" Type="http://schemas.openxmlformats.org/officeDocument/2006/relationships/oleObject" Target="../embeddings/oleObject103.bin"/><Relationship Id="rId36" Type="http://schemas.openxmlformats.org/officeDocument/2006/relationships/oleObject" Target="../embeddings/oleObject107.bin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103.emf"/><Relationship Id="rId31" Type="http://schemas.openxmlformats.org/officeDocument/2006/relationships/image" Target="../media/image109.e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98.emf"/><Relationship Id="rId14" Type="http://schemas.openxmlformats.org/officeDocument/2006/relationships/oleObject" Target="../embeddings/oleObject96.bin"/><Relationship Id="rId22" Type="http://schemas.openxmlformats.org/officeDocument/2006/relationships/oleObject" Target="../embeddings/oleObject100.bin"/><Relationship Id="rId27" Type="http://schemas.openxmlformats.org/officeDocument/2006/relationships/image" Target="../media/image107.emf"/><Relationship Id="rId30" Type="http://schemas.openxmlformats.org/officeDocument/2006/relationships/oleObject" Target="../embeddings/oleObject104.bin"/><Relationship Id="rId35" Type="http://schemas.openxmlformats.org/officeDocument/2006/relationships/image" Target="../media/image111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21.e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18.emf"/><Relationship Id="rId17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0.e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5.e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10" Type="http://schemas.openxmlformats.org/officeDocument/2006/relationships/image" Target="../media/image117.emf"/><Relationship Id="rId19" Type="http://schemas.openxmlformats.org/officeDocument/2006/relationships/slide" Target="slide1.xml"/><Relationship Id="rId4" Type="http://schemas.openxmlformats.org/officeDocument/2006/relationships/image" Target="../media/image114.e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19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e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3.emf"/><Relationship Id="rId11" Type="http://schemas.openxmlformats.org/officeDocument/2006/relationships/slide" Target="slide1.xml"/><Relationship Id="rId5" Type="http://schemas.openxmlformats.org/officeDocument/2006/relationships/oleObject" Target="../embeddings/oleObject118.bin"/><Relationship Id="rId10" Type="http://schemas.openxmlformats.org/officeDocument/2006/relationships/image" Target="../media/image125.emf"/><Relationship Id="rId4" Type="http://schemas.openxmlformats.org/officeDocument/2006/relationships/image" Target="../media/image122.emf"/><Relationship Id="rId9" Type="http://schemas.openxmlformats.org/officeDocument/2006/relationships/oleObject" Target="../embeddings/oleObject120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emf"/><Relationship Id="rId13" Type="http://schemas.openxmlformats.org/officeDocument/2006/relationships/oleObject" Target="../embeddings/oleObject126.bin"/><Relationship Id="rId18" Type="http://schemas.openxmlformats.org/officeDocument/2006/relationships/image" Target="../media/image133.emf"/><Relationship Id="rId3" Type="http://schemas.openxmlformats.org/officeDocument/2006/relationships/oleObject" Target="../embeddings/oleObject121.bin"/><Relationship Id="rId21" Type="http://schemas.openxmlformats.org/officeDocument/2006/relationships/image" Target="../media/image83.png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30.emf"/><Relationship Id="rId17" Type="http://schemas.openxmlformats.org/officeDocument/2006/relationships/oleObject" Target="../embeddings/oleObject12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2.wmf"/><Relationship Id="rId20" Type="http://schemas.openxmlformats.org/officeDocument/2006/relationships/image" Target="../media/image134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7.e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5" Type="http://schemas.openxmlformats.org/officeDocument/2006/relationships/oleObject" Target="../embeddings/oleObject127.bin"/><Relationship Id="rId10" Type="http://schemas.openxmlformats.org/officeDocument/2006/relationships/image" Target="../media/image129.emf"/><Relationship Id="rId19" Type="http://schemas.openxmlformats.org/officeDocument/2006/relationships/oleObject" Target="../embeddings/oleObject129.bin"/><Relationship Id="rId4" Type="http://schemas.openxmlformats.org/officeDocument/2006/relationships/image" Target="../media/image126.e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31.emf"/><Relationship Id="rId22" Type="http://schemas.openxmlformats.org/officeDocument/2006/relationships/slide" Target="slide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emf"/><Relationship Id="rId13" Type="http://schemas.openxmlformats.org/officeDocument/2006/relationships/oleObject" Target="../embeddings/oleObject135.bin"/><Relationship Id="rId18" Type="http://schemas.openxmlformats.org/officeDocument/2006/relationships/image" Target="../media/image140.wmf"/><Relationship Id="rId26" Type="http://schemas.openxmlformats.org/officeDocument/2006/relationships/image" Target="../media/image143.emf"/><Relationship Id="rId3" Type="http://schemas.openxmlformats.org/officeDocument/2006/relationships/oleObject" Target="../embeddings/oleObject130.bin"/><Relationship Id="rId21" Type="http://schemas.openxmlformats.org/officeDocument/2006/relationships/image" Target="../media/image141.emf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32.wmf"/><Relationship Id="rId17" Type="http://schemas.openxmlformats.org/officeDocument/2006/relationships/oleObject" Target="../embeddings/oleObject136.bin"/><Relationship Id="rId25" Type="http://schemas.openxmlformats.org/officeDocument/2006/relationships/oleObject" Target="../embeddings/oleObject13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44.gif"/><Relationship Id="rId20" Type="http://schemas.openxmlformats.org/officeDocument/2006/relationships/oleObject" Target="../embeddings/oleObject137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36.emf"/><Relationship Id="rId11" Type="http://schemas.openxmlformats.org/officeDocument/2006/relationships/oleObject" Target="../embeddings/oleObject134.bin"/><Relationship Id="rId24" Type="http://schemas.openxmlformats.org/officeDocument/2006/relationships/slide" Target="slide4.xml"/><Relationship Id="rId5" Type="http://schemas.openxmlformats.org/officeDocument/2006/relationships/oleObject" Target="../embeddings/oleObject131.bin"/><Relationship Id="rId15" Type="http://schemas.openxmlformats.org/officeDocument/2006/relationships/hyperlink" Target="file:///G:\kejian.exe" TargetMode="External"/><Relationship Id="rId23" Type="http://schemas.openxmlformats.org/officeDocument/2006/relationships/image" Target="../media/image142.emf"/><Relationship Id="rId10" Type="http://schemas.openxmlformats.org/officeDocument/2006/relationships/image" Target="../media/image138.emf"/><Relationship Id="rId19" Type="http://schemas.openxmlformats.org/officeDocument/2006/relationships/image" Target="../media/image2.png"/><Relationship Id="rId4" Type="http://schemas.openxmlformats.org/officeDocument/2006/relationships/image" Target="../media/image135.e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39.emf"/><Relationship Id="rId22" Type="http://schemas.openxmlformats.org/officeDocument/2006/relationships/oleObject" Target="../embeddings/oleObject138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13" Type="http://schemas.openxmlformats.org/officeDocument/2006/relationships/image" Target="../media/image149.emf"/><Relationship Id="rId3" Type="http://schemas.openxmlformats.org/officeDocument/2006/relationships/oleObject" Target="../embeddings/oleObject140.bin"/><Relationship Id="rId7" Type="http://schemas.openxmlformats.org/officeDocument/2006/relationships/oleObject" Target="../embeddings/oleObject142.bin"/><Relationship Id="rId12" Type="http://schemas.openxmlformats.org/officeDocument/2006/relationships/oleObject" Target="../embeddings/oleObject144.bin"/><Relationship Id="rId2" Type="http://schemas.openxmlformats.org/officeDocument/2006/relationships/slideLayout" Target="../slideLayouts/slideLayout2.xml"/><Relationship Id="rId16" Type="http://schemas.openxmlformats.org/officeDocument/2006/relationships/slide" Target="slide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46.emf"/><Relationship Id="rId11" Type="http://schemas.openxmlformats.org/officeDocument/2006/relationships/image" Target="../media/image2.png"/><Relationship Id="rId5" Type="http://schemas.openxmlformats.org/officeDocument/2006/relationships/oleObject" Target="../embeddings/oleObject141.bin"/><Relationship Id="rId15" Type="http://schemas.openxmlformats.org/officeDocument/2006/relationships/image" Target="../media/image150.emf"/><Relationship Id="rId10" Type="http://schemas.openxmlformats.org/officeDocument/2006/relationships/image" Target="../media/image148.emf"/><Relationship Id="rId4" Type="http://schemas.openxmlformats.org/officeDocument/2006/relationships/image" Target="../media/image145.emf"/><Relationship Id="rId9" Type="http://schemas.openxmlformats.org/officeDocument/2006/relationships/oleObject" Target="../embeddings/oleObject143.bin"/><Relationship Id="rId14" Type="http://schemas.openxmlformats.org/officeDocument/2006/relationships/oleObject" Target="../embeddings/oleObject14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52.wmf"/><Relationship Id="rId11" Type="http://schemas.openxmlformats.org/officeDocument/2006/relationships/slide" Target="slide4.xml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54.emf"/><Relationship Id="rId4" Type="http://schemas.openxmlformats.org/officeDocument/2006/relationships/image" Target="../media/image151.emf"/><Relationship Id="rId9" Type="http://schemas.openxmlformats.org/officeDocument/2006/relationships/oleObject" Target="../embeddings/oleObject149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56.wmf"/><Relationship Id="rId11" Type="http://schemas.openxmlformats.org/officeDocument/2006/relationships/slide" Target="slide4.xml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58.emf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5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emf"/><Relationship Id="rId13" Type="http://schemas.openxmlformats.org/officeDocument/2006/relationships/slide" Target="slide4.xml"/><Relationship Id="rId3" Type="http://schemas.openxmlformats.org/officeDocument/2006/relationships/hyperlink" Target="file:///G:\kejian.exe" TargetMode="External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62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59.e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0" Type="http://schemas.openxmlformats.org/officeDocument/2006/relationships/image" Target="../media/image161.emf"/><Relationship Id="rId4" Type="http://schemas.openxmlformats.org/officeDocument/2006/relationships/image" Target="../media/image144.gif"/><Relationship Id="rId9" Type="http://schemas.openxmlformats.org/officeDocument/2006/relationships/oleObject" Target="../embeddings/oleObject156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emf"/><Relationship Id="rId13" Type="http://schemas.openxmlformats.org/officeDocument/2006/relationships/oleObject" Target="../embeddings/oleObject163.bin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67.emf"/><Relationship Id="rId17" Type="http://schemas.openxmlformats.org/officeDocument/2006/relationships/slide" Target="slide4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9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64.emf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4.bin"/><Relationship Id="rId10" Type="http://schemas.openxmlformats.org/officeDocument/2006/relationships/image" Target="../media/image166.emf"/><Relationship Id="rId4" Type="http://schemas.openxmlformats.org/officeDocument/2006/relationships/image" Target="../media/image163.emf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68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emf"/><Relationship Id="rId3" Type="http://schemas.openxmlformats.org/officeDocument/2006/relationships/oleObject" Target="../embeddings/oleObject165.bin"/><Relationship Id="rId7" Type="http://schemas.openxmlformats.org/officeDocument/2006/relationships/oleObject" Target="../embeddings/oleObject16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71.emf"/><Relationship Id="rId11" Type="http://schemas.openxmlformats.org/officeDocument/2006/relationships/slide" Target="slide4.xml"/><Relationship Id="rId5" Type="http://schemas.openxmlformats.org/officeDocument/2006/relationships/oleObject" Target="../embeddings/oleObject166.bin"/><Relationship Id="rId10" Type="http://schemas.openxmlformats.org/officeDocument/2006/relationships/image" Target="../media/image173.emf"/><Relationship Id="rId4" Type="http://schemas.openxmlformats.org/officeDocument/2006/relationships/image" Target="../media/image170.emf"/><Relationship Id="rId9" Type="http://schemas.openxmlformats.org/officeDocument/2006/relationships/oleObject" Target="../embeddings/oleObject168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e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81.e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78.emf"/><Relationship Id="rId17" Type="http://schemas.openxmlformats.org/officeDocument/2006/relationships/oleObject" Target="../embeddings/oleObject176.bin"/><Relationship Id="rId25" Type="http://schemas.openxmlformats.org/officeDocument/2006/relationships/image" Target="../media/image184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0.emf"/><Relationship Id="rId20" Type="http://schemas.openxmlformats.org/officeDocument/2006/relationships/image" Target="../media/image182.e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75.emf"/><Relationship Id="rId11" Type="http://schemas.openxmlformats.org/officeDocument/2006/relationships/oleObject" Target="../embeddings/oleObject173.bin"/><Relationship Id="rId24" Type="http://schemas.openxmlformats.org/officeDocument/2006/relationships/oleObject" Target="../embeddings/oleObject179.bin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slide" Target="slide4.xml"/><Relationship Id="rId10" Type="http://schemas.openxmlformats.org/officeDocument/2006/relationships/image" Target="../media/image177.e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74.e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79.emf"/><Relationship Id="rId22" Type="http://schemas.openxmlformats.org/officeDocument/2006/relationships/image" Target="../media/image183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emf"/><Relationship Id="rId13" Type="http://schemas.openxmlformats.org/officeDocument/2006/relationships/image" Target="../media/image189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oleObject" Target="../embeddings/oleObject18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86.emf"/><Relationship Id="rId11" Type="http://schemas.openxmlformats.org/officeDocument/2006/relationships/slide" Target="slide4.xml"/><Relationship Id="rId5" Type="http://schemas.openxmlformats.org/officeDocument/2006/relationships/oleObject" Target="../embeddings/oleObject181.bin"/><Relationship Id="rId15" Type="http://schemas.openxmlformats.org/officeDocument/2006/relationships/image" Target="../media/image190.emf"/><Relationship Id="rId10" Type="http://schemas.openxmlformats.org/officeDocument/2006/relationships/image" Target="../media/image188.emf"/><Relationship Id="rId4" Type="http://schemas.openxmlformats.org/officeDocument/2006/relationships/image" Target="../media/image185.emf"/><Relationship Id="rId9" Type="http://schemas.openxmlformats.org/officeDocument/2006/relationships/oleObject" Target="../embeddings/oleObject183.bin"/><Relationship Id="rId14" Type="http://schemas.openxmlformats.org/officeDocument/2006/relationships/oleObject" Target="../embeddings/oleObject18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emf"/><Relationship Id="rId3" Type="http://schemas.openxmlformats.org/officeDocument/2006/relationships/oleObject" Target="../embeddings/oleObject186.bin"/><Relationship Id="rId7" Type="http://schemas.openxmlformats.org/officeDocument/2006/relationships/oleObject" Target="../embeddings/oleObject1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92.emf"/><Relationship Id="rId11" Type="http://schemas.openxmlformats.org/officeDocument/2006/relationships/slide" Target="slide4.xml"/><Relationship Id="rId5" Type="http://schemas.openxmlformats.org/officeDocument/2006/relationships/oleObject" Target="../embeddings/oleObject187.bin"/><Relationship Id="rId10" Type="http://schemas.openxmlformats.org/officeDocument/2006/relationships/image" Target="../media/image194.emf"/><Relationship Id="rId4" Type="http://schemas.openxmlformats.org/officeDocument/2006/relationships/image" Target="../media/image191.emf"/><Relationship Id="rId9" Type="http://schemas.openxmlformats.org/officeDocument/2006/relationships/oleObject" Target="../embeddings/oleObject189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emf"/><Relationship Id="rId13" Type="http://schemas.openxmlformats.org/officeDocument/2006/relationships/slide" Target="slide4.xml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12" Type="http://schemas.openxmlformats.org/officeDocument/2006/relationships/image" Target="../media/image19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96.emf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91.bin"/><Relationship Id="rId10" Type="http://schemas.openxmlformats.org/officeDocument/2006/relationships/image" Target="../media/image198.emf"/><Relationship Id="rId4" Type="http://schemas.openxmlformats.org/officeDocument/2006/relationships/image" Target="../media/image195.emf"/><Relationship Id="rId9" Type="http://schemas.openxmlformats.org/officeDocument/2006/relationships/oleObject" Target="../embeddings/oleObject19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86213B-2C3F-405C-B081-B336D33B82B8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7313" y="836613"/>
            <a:ext cx="8229600" cy="431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4. 5    </a:t>
            </a:r>
            <a:r>
              <a:rPr lang="zh-CN" altLang="en-US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时谐电磁场</a:t>
            </a:r>
            <a:r>
              <a:rPr lang="zh-CN" altLang="en-US" sz="1800" smtClean="0"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2052" name="Rectangle 16"/>
          <p:cNvSpPr>
            <a:spLocks noChangeArrowheads="1"/>
          </p:cNvSpPr>
          <p:nvPr/>
        </p:nvSpPr>
        <p:spPr bwMode="auto">
          <a:xfrm>
            <a:off x="1692275" y="1844675"/>
            <a:ext cx="6623050" cy="4032250"/>
          </a:xfrm>
          <a:prstGeom prst="rect">
            <a:avLst/>
          </a:prstGeom>
          <a:solidFill>
            <a:srgbClr val="CCFFFF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53" name="Text Box 17"/>
          <p:cNvSpPr txBox="1">
            <a:spLocks noChangeArrowheads="1"/>
          </p:cNvSpPr>
          <p:nvPr/>
        </p:nvSpPr>
        <p:spPr bwMode="auto">
          <a:xfrm>
            <a:off x="2339975" y="2684463"/>
            <a:ext cx="446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Times New Roman" pitchFamily="18" charset="0"/>
                <a:ea typeface="宋体" pitchFamily="2" charset="-122"/>
              </a:rPr>
              <a:t>4.5.2</a:t>
            </a: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 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  <a:hlinkClick r:id="rId2" action="ppaction://hlinksldjump"/>
              </a:rPr>
              <a:t>复矢量的麦克斯韦方程</a:t>
            </a:r>
            <a:endParaRPr lang="zh-CN" altLang="en-US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2054" name="Text Box 18"/>
          <p:cNvSpPr txBox="1">
            <a:spLocks noChangeArrowheads="1"/>
          </p:cNvSpPr>
          <p:nvPr/>
        </p:nvSpPr>
        <p:spPr bwMode="auto">
          <a:xfrm>
            <a:off x="2339975" y="2060575"/>
            <a:ext cx="446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Times New Roman" pitchFamily="18" charset="0"/>
                <a:ea typeface="宋体" pitchFamily="2" charset="-122"/>
              </a:rPr>
              <a:t>4.5.1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hlinkClick r:id="rId3" action="ppaction://hlinksldjump"/>
              </a:rPr>
              <a:t>时谐电磁场的复数表示</a:t>
            </a:r>
            <a:endParaRPr lang="zh-CN" altLang="en-US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55" name="Text Box 19"/>
          <p:cNvSpPr txBox="1">
            <a:spLocks noChangeArrowheads="1"/>
          </p:cNvSpPr>
          <p:nvPr/>
        </p:nvSpPr>
        <p:spPr bwMode="auto">
          <a:xfrm>
            <a:off x="2339975" y="3332163"/>
            <a:ext cx="467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Times New Roman" pitchFamily="18" charset="0"/>
                <a:ea typeface="宋体" pitchFamily="2" charset="-122"/>
              </a:rPr>
              <a:t>4.5.3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hlinkClick r:id="rId4" action="ppaction://hlinksldjump"/>
              </a:rPr>
              <a:t>复电容率和复磁导率</a:t>
            </a:r>
            <a:endParaRPr lang="zh-CN" altLang="en-US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56" name="Text Box 20"/>
          <p:cNvSpPr txBox="1">
            <a:spLocks noChangeArrowheads="1"/>
          </p:cNvSpPr>
          <p:nvPr/>
        </p:nvSpPr>
        <p:spPr bwMode="auto">
          <a:xfrm>
            <a:off x="2339975" y="4556125"/>
            <a:ext cx="446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Times New Roman" pitchFamily="18" charset="0"/>
                <a:ea typeface="宋体" pitchFamily="2" charset="-122"/>
              </a:rPr>
              <a:t>4.5.5</a:t>
            </a:r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 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  <a:hlinkClick r:id="rId5" action="ppaction://hlinksldjump"/>
              </a:rPr>
              <a:t>时谐场的位函数</a:t>
            </a:r>
            <a:endParaRPr lang="zh-CN" altLang="en-US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2057" name="Text Box 21"/>
          <p:cNvSpPr txBox="1">
            <a:spLocks noChangeArrowheads="1"/>
          </p:cNvSpPr>
          <p:nvPr/>
        </p:nvSpPr>
        <p:spPr bwMode="auto">
          <a:xfrm>
            <a:off x="2339975" y="3932238"/>
            <a:ext cx="446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Times New Roman" pitchFamily="18" charset="0"/>
                <a:ea typeface="宋体" pitchFamily="2" charset="-122"/>
              </a:rPr>
              <a:t>4.5.4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hlinkClick r:id="rId6" action="ppaction://hlinksldjump"/>
              </a:rPr>
              <a:t>亥姆霍兹方程</a:t>
            </a:r>
            <a:endParaRPr lang="zh-CN" altLang="en-US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58" name="Text Box 22"/>
          <p:cNvSpPr txBox="1">
            <a:spLocks noChangeArrowheads="1"/>
          </p:cNvSpPr>
          <p:nvPr/>
        </p:nvSpPr>
        <p:spPr bwMode="auto">
          <a:xfrm>
            <a:off x="2339975" y="5203825"/>
            <a:ext cx="5557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latin typeface="Times New Roman" pitchFamily="18" charset="0"/>
                <a:ea typeface="宋体" pitchFamily="2" charset="-122"/>
              </a:rPr>
              <a:t>4.5.6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lang="en-US" altLang="zh-CN">
                <a:latin typeface="Times New Roman" pitchFamily="18" charset="0"/>
                <a:ea typeface="宋体" pitchFamily="2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hlinkClick r:id="rId7" action="ppaction://hlinksldjump"/>
              </a:rPr>
              <a:t>平均坡印廷矢量和复坡印廷定理</a:t>
            </a:r>
            <a:endParaRPr lang="zh-CN" altLang="en-US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59" name="AutoShape 23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60" name="AutoShape 2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61" name="AutoShape 2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62" name="AutoShape 2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F74D38-3E6D-4684-99A9-FCE9E67FD181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748550" name="Text Box 6"/>
          <p:cNvSpPr txBox="1">
            <a:spLocks noChangeArrowheads="1"/>
          </p:cNvSpPr>
          <p:nvPr/>
        </p:nvSpPr>
        <p:spPr bwMode="auto">
          <a:xfrm>
            <a:off x="107950" y="1243013"/>
            <a:ext cx="3527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时谐电磁场的概念</a:t>
            </a:r>
          </a:p>
        </p:txBody>
      </p:sp>
      <p:sp>
        <p:nvSpPr>
          <p:cNvPr id="748553" name="Rectangle 9"/>
          <p:cNvSpPr>
            <a:spLocks noChangeArrowheads="1"/>
          </p:cNvSpPr>
          <p:nvPr/>
        </p:nvSpPr>
        <p:spPr bwMode="auto">
          <a:xfrm>
            <a:off x="71438" y="1811737"/>
            <a:ext cx="8964612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dirty="0">
                <a:solidFill>
                  <a:schemeClr val="bg1"/>
                </a:solidFill>
                <a:latin typeface="Times New Roman" pitchFamily="18" charset="0"/>
              </a:rPr>
              <a:t>        </a:t>
            </a:r>
            <a:r>
              <a:rPr lang="zh-CN" altLang="en-US" dirty="0">
                <a:solidFill>
                  <a:schemeClr val="bg1"/>
                </a:solidFill>
                <a:latin typeface="Times New Roman" pitchFamily="18" charset="0"/>
              </a:rPr>
              <a:t>如果场源以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一定的</a:t>
            </a:r>
            <a:r>
              <a:rPr lang="zh-CN" altLang="en-US" dirty="0">
                <a:solidFill>
                  <a:schemeClr val="bg1"/>
                </a:solidFill>
                <a:latin typeface="Times New Roman" pitchFamily="18" charset="0"/>
              </a:rPr>
              <a:t>角频率随时间呈时谐（正弦或余弦）变化，则所产生的电磁场也以同样的角频率随时间呈时谐变化。这种以一定角频率作时谐变化的电磁场，称为</a:t>
            </a:r>
            <a:r>
              <a:rPr lang="zh-CN" altLang="en-US" dirty="0">
                <a:solidFill>
                  <a:srgbClr val="FF3300"/>
                </a:solidFill>
                <a:latin typeface="Times New Roman" pitchFamily="18" charset="0"/>
              </a:rPr>
              <a:t>时谐电磁场</a:t>
            </a:r>
            <a:r>
              <a:rPr lang="zh-CN" altLang="en-US" dirty="0">
                <a:solidFill>
                  <a:schemeClr val="bg1"/>
                </a:solidFill>
                <a:latin typeface="Times New Roman" pitchFamily="18" charset="0"/>
              </a:rPr>
              <a:t>或</a:t>
            </a:r>
            <a:r>
              <a:rPr lang="zh-CN" altLang="en-US" dirty="0">
                <a:solidFill>
                  <a:srgbClr val="FF3300"/>
                </a:solidFill>
                <a:latin typeface="Times New Roman" pitchFamily="18" charset="0"/>
              </a:rPr>
              <a:t>正弦电磁场</a:t>
            </a:r>
            <a:r>
              <a:rPr lang="zh-CN" altLang="en-US" dirty="0">
                <a:solidFill>
                  <a:schemeClr val="bg1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748556" name="Text Box 12"/>
          <p:cNvSpPr txBox="1">
            <a:spLocks noChangeArrowheads="1"/>
          </p:cNvSpPr>
          <p:nvPr/>
        </p:nvSpPr>
        <p:spPr bwMode="auto">
          <a:xfrm>
            <a:off x="63500" y="3716338"/>
            <a:ext cx="5256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2"/>
              </a:buBlip>
            </a:pPr>
            <a:r>
              <a:rPr lang="en-US" altLang="zh-CN">
                <a:solidFill>
                  <a:schemeClr val="bg1"/>
                </a:solidFill>
              </a:rPr>
              <a:t> 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研究时谐电磁场具有重要意义</a:t>
            </a:r>
          </a:p>
        </p:txBody>
      </p:sp>
      <p:sp>
        <p:nvSpPr>
          <p:cNvPr id="748557" name="Text Box 13"/>
          <p:cNvSpPr txBox="1">
            <a:spLocks noChangeArrowheads="1"/>
          </p:cNvSpPr>
          <p:nvPr/>
        </p:nvSpPr>
        <p:spPr bwMode="auto">
          <a:xfrm>
            <a:off x="93663" y="4302125"/>
            <a:ext cx="8856662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在工程上，应用最多的就是时谐电磁场。</a:t>
            </a:r>
            <a:r>
              <a:rPr kumimoji="1" lang="zh-CN" altLang="en-US">
                <a:solidFill>
                  <a:schemeClr val="bg1"/>
                </a:solidFill>
              </a:rPr>
              <a:t>广播、电视、通信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</a:rPr>
              <a:t>      的载波等都是时谐电磁场。</a:t>
            </a:r>
          </a:p>
        </p:txBody>
      </p:sp>
      <p:sp>
        <p:nvSpPr>
          <p:cNvPr id="748558" name="Text Box 14"/>
          <p:cNvSpPr txBox="1">
            <a:spLocks noChangeArrowheads="1"/>
          </p:cNvSpPr>
          <p:nvPr/>
        </p:nvSpPr>
        <p:spPr bwMode="auto">
          <a:xfrm>
            <a:off x="79375" y="5340350"/>
            <a:ext cx="903605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lang="zh-CN" altLang="en-US">
                <a:solidFill>
                  <a:schemeClr val="bg1"/>
                </a:solidFill>
              </a:rPr>
              <a:t>任意的时变场在一定的条件下可通过</a:t>
            </a:r>
            <a:r>
              <a:rPr lang="zh-CN" altLang="en-US">
                <a:solidFill>
                  <a:srgbClr val="FF3300"/>
                </a:solidFill>
              </a:rPr>
              <a:t>傅里叶分析</a:t>
            </a:r>
            <a:r>
              <a:rPr lang="zh-CN" altLang="en-US">
                <a:solidFill>
                  <a:schemeClr val="bg1"/>
                </a:solidFill>
              </a:rPr>
              <a:t>方法展开为不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</a:rPr>
              <a:t>      同频率的时谐场的叠加。</a:t>
            </a:r>
          </a:p>
        </p:txBody>
      </p:sp>
      <p:sp>
        <p:nvSpPr>
          <p:cNvPr id="748559" name="Text Box 15"/>
          <p:cNvSpPr txBox="1">
            <a:spLocks noChangeArrowheads="1"/>
          </p:cNvSpPr>
          <p:nvPr/>
        </p:nvSpPr>
        <p:spPr bwMode="auto">
          <a:xfrm>
            <a:off x="107950" y="668338"/>
            <a:ext cx="424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4.5.1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时谐电磁场的复数表示</a:t>
            </a:r>
          </a:p>
        </p:txBody>
      </p:sp>
      <p:sp>
        <p:nvSpPr>
          <p:cNvPr id="3081" name="AutoShape 16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2" name="AutoShape 1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3" name="AutoShape 1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84" name="AutoShape 1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4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74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4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4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4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74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550" grpId="0"/>
      <p:bldP spid="748553" grpId="0"/>
      <p:bldP spid="748556" grpId="0"/>
      <p:bldP spid="748557" grpId="0"/>
      <p:bldP spid="748558" grpId="0"/>
      <p:bldP spid="74855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D391C83-E36D-420C-A9D2-CE1B79A92C95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773129" name="Rectangle 9"/>
          <p:cNvSpPr>
            <a:spLocks noChangeArrowheads="1"/>
          </p:cNvSpPr>
          <p:nvPr/>
        </p:nvSpPr>
        <p:spPr bwMode="auto">
          <a:xfrm>
            <a:off x="179388" y="902452"/>
            <a:ext cx="8964612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dirty="0">
                <a:solidFill>
                  <a:schemeClr val="bg1"/>
                </a:solidFill>
              </a:rPr>
              <a:t>       </a:t>
            </a:r>
            <a:r>
              <a:rPr kumimoji="1" lang="zh-CN" altLang="en-US" dirty="0">
                <a:solidFill>
                  <a:schemeClr val="bg1"/>
                </a:solidFill>
              </a:rPr>
              <a:t>时谐电磁场可用复数方法来表示，使得大多数时谐电磁场问题的分析得以</a:t>
            </a:r>
            <a:r>
              <a:rPr kumimoji="1" lang="zh-CN" altLang="en-US" dirty="0">
                <a:solidFill>
                  <a:srgbClr val="FF0000"/>
                </a:solidFill>
              </a:rPr>
              <a:t>简化</a:t>
            </a:r>
            <a:r>
              <a:rPr kumimoji="1" lang="zh-CN" altLang="en-US" dirty="0">
                <a:solidFill>
                  <a:schemeClr val="bg1"/>
                </a:solidFill>
              </a:rPr>
              <a:t>。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07950" y="1912938"/>
            <a:ext cx="8893175" cy="1516062"/>
            <a:chOff x="68" y="1207"/>
            <a:chExt cx="5602" cy="955"/>
          </a:xfrm>
        </p:grpSpPr>
        <p:sp>
          <p:nvSpPr>
            <p:cNvPr id="4129" name="Text Box 11"/>
            <p:cNvSpPr txBox="1">
              <a:spLocks noChangeArrowheads="1"/>
            </p:cNvSpPr>
            <p:nvPr/>
          </p:nvSpPr>
          <p:spPr bwMode="auto">
            <a:xfrm>
              <a:off x="68" y="1207"/>
              <a:ext cx="5602" cy="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　   </a:t>
              </a: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设　　　 是一个以角频率</a:t>
              </a:r>
              <a:r>
                <a:rPr kumimoji="1" lang="zh-CN" altLang="en-US" i="1">
                  <a:solidFill>
                    <a:schemeClr val="bg1"/>
                  </a:solidFill>
                  <a:latin typeface="楷体_GB2312" pitchFamily="49" charset="-122"/>
                  <a:sym typeface="Symbol" pitchFamily="18" charset="2"/>
                </a:rPr>
                <a:t> </a:t>
              </a: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随时间</a:t>
              </a:r>
              <a:r>
                <a:rPr kumimoji="1" lang="en-US" altLang="zh-CN" i="1">
                  <a:solidFill>
                    <a:schemeClr val="bg1"/>
                  </a:solidFill>
                  <a:latin typeface="楷体_GB2312" pitchFamily="49" charset="-122"/>
                </a:rPr>
                <a:t>t </a:t>
              </a: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作正弦变化的场量，它可以是电场和磁场的任意一个分量，也可以是电荷或电流等变量，它与时间的关系可以表示成</a:t>
              </a:r>
            </a:p>
          </p:txBody>
        </p:sp>
        <p:graphicFrame>
          <p:nvGraphicFramePr>
            <p:cNvPr id="4130" name="Object 12"/>
            <p:cNvGraphicFramePr>
              <a:graphicFrameLocks noChangeAspect="1"/>
            </p:cNvGraphicFramePr>
            <p:nvPr/>
          </p:nvGraphicFramePr>
          <p:xfrm>
            <a:off x="767" y="1274"/>
            <a:ext cx="725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1" name="Equation" r:id="rId3" imgW="428571" imgH="142836" progId="Equation.DSMT4">
                    <p:embed/>
                  </p:oleObj>
                </mc:Choice>
                <mc:Fallback>
                  <p:oleObj name="Equation" r:id="rId3" imgW="428571" imgH="142836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7" y="1274"/>
                          <a:ext cx="725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73133" name="Object 13"/>
          <p:cNvGraphicFramePr>
            <a:graphicFrameLocks noChangeAspect="1"/>
          </p:cNvGraphicFramePr>
          <p:nvPr/>
        </p:nvGraphicFramePr>
        <p:xfrm>
          <a:off x="1806575" y="3479800"/>
          <a:ext cx="37846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2" name="Equation" r:id="rId5" imgW="1552571" imgH="171334" progId="Equation.DSMT4">
                  <p:embed/>
                </p:oleObj>
              </mc:Choice>
              <mc:Fallback>
                <p:oleObj name="Equation" r:id="rId5" imgW="1552571" imgH="171334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3479800"/>
                        <a:ext cx="3784600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38" name="Object 18"/>
          <p:cNvGraphicFramePr>
            <a:graphicFrameLocks noChangeAspect="1"/>
          </p:cNvGraphicFramePr>
          <p:nvPr/>
        </p:nvGraphicFramePr>
        <p:xfrm>
          <a:off x="2916238" y="4702175"/>
          <a:ext cx="612933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3" name="Equation" r:id="rId7" imgW="2409713" imgH="218946" progId="Equation.DSMT4">
                  <p:embed/>
                </p:oleObj>
              </mc:Choice>
              <mc:Fallback>
                <p:oleObj name="Equation" r:id="rId7" imgW="2409713" imgH="218946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702175"/>
                        <a:ext cx="612933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80963" y="5456238"/>
            <a:ext cx="4243387" cy="693737"/>
            <a:chOff x="51" y="3437"/>
            <a:chExt cx="2673" cy="437"/>
          </a:xfrm>
        </p:grpSpPr>
        <p:sp>
          <p:nvSpPr>
            <p:cNvPr id="4127" name="Text Box 19"/>
            <p:cNvSpPr txBox="1">
              <a:spLocks noChangeArrowheads="1"/>
            </p:cNvSpPr>
            <p:nvPr/>
          </p:nvSpPr>
          <p:spPr bwMode="auto">
            <a:xfrm>
              <a:off x="51" y="3437"/>
              <a:ext cx="697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其中</a:t>
              </a:r>
            </a:p>
          </p:txBody>
        </p:sp>
        <p:graphicFrame>
          <p:nvGraphicFramePr>
            <p:cNvPr id="4128" name="Object 20"/>
            <p:cNvGraphicFramePr>
              <a:graphicFrameLocks noChangeAspect="1"/>
            </p:cNvGraphicFramePr>
            <p:nvPr/>
          </p:nvGraphicFramePr>
          <p:xfrm>
            <a:off x="1285" y="3488"/>
            <a:ext cx="1439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4" name="Equation" r:id="rId9" imgW="857142" imgH="181065" progId="Equation.DSMT4">
                    <p:embed/>
                  </p:oleObj>
                </mc:Choice>
                <mc:Fallback>
                  <p:oleObj name="Equation" r:id="rId9" imgW="857142" imgH="181065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5" y="3488"/>
                          <a:ext cx="1439" cy="3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3143" name="AutoShape 23"/>
          <p:cNvSpPr>
            <a:spLocks noChangeArrowheads="1"/>
          </p:cNvSpPr>
          <p:nvPr/>
        </p:nvSpPr>
        <p:spPr bwMode="auto">
          <a:xfrm>
            <a:off x="8359775" y="4797425"/>
            <a:ext cx="574675" cy="420688"/>
          </a:xfrm>
          <a:prstGeom prst="wedgeRoundRectCallout">
            <a:avLst>
              <a:gd name="adj1" fmla="val -64639"/>
              <a:gd name="adj2" fmla="val 153773"/>
              <a:gd name="adj3" fmla="val 16667"/>
            </a:avLst>
          </a:prstGeom>
          <a:noFill/>
          <a:ln w="2857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zh-CN" altLang="zh-CN" sz="1800" b="0">
              <a:solidFill>
                <a:schemeClr val="bg1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73144" name="Text Box 24"/>
          <p:cNvSpPr txBox="1">
            <a:spLocks noChangeArrowheads="1"/>
          </p:cNvSpPr>
          <p:nvPr/>
        </p:nvSpPr>
        <p:spPr bwMode="auto">
          <a:xfrm>
            <a:off x="7596188" y="5624513"/>
            <a:ext cx="1519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50000"/>
              </a:spcBef>
            </a:pPr>
            <a:r>
              <a:rPr kumimoji="1" lang="zh-CN" altLang="en-US" sz="2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时间因子</a:t>
            </a:r>
          </a:p>
        </p:txBody>
      </p: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3563938" y="5621338"/>
            <a:ext cx="2808287" cy="903287"/>
            <a:chOff x="2245" y="3541"/>
            <a:chExt cx="1769" cy="569"/>
          </a:xfrm>
        </p:grpSpPr>
        <p:sp>
          <p:nvSpPr>
            <p:cNvPr id="4125" name="AutoShape 27"/>
            <p:cNvSpPr>
              <a:spLocks noChangeArrowheads="1"/>
            </p:cNvSpPr>
            <p:nvPr/>
          </p:nvSpPr>
          <p:spPr bwMode="auto">
            <a:xfrm>
              <a:off x="2245" y="3541"/>
              <a:ext cx="499" cy="265"/>
            </a:xfrm>
            <a:prstGeom prst="wedgeRoundRectCallout">
              <a:avLst>
                <a:gd name="adj1" fmla="val 61625"/>
                <a:gd name="adj2" fmla="val 88491"/>
                <a:gd name="adj3" fmla="val 16667"/>
              </a:avLst>
            </a:prstGeom>
            <a:noFill/>
            <a:ln w="28575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Verdana" pitchFamily="34" charset="0"/>
                <a:ea typeface="宋体" pitchFamily="2" charset="-122"/>
              </a:endParaRPr>
            </a:p>
          </p:txBody>
        </p:sp>
        <p:sp>
          <p:nvSpPr>
            <p:cNvPr id="4126" name="Text Box 28"/>
            <p:cNvSpPr txBox="1">
              <a:spLocks noChangeArrowheads="1"/>
            </p:cNvSpPr>
            <p:nvPr/>
          </p:nvSpPr>
          <p:spPr bwMode="auto">
            <a:xfrm>
              <a:off x="2562" y="3860"/>
              <a:ext cx="14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kumimoji="1"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空间相位因子</a:t>
              </a:r>
            </a:p>
          </p:txBody>
        </p:sp>
      </p:grpSp>
      <p:sp>
        <p:nvSpPr>
          <p:cNvPr id="773151" name="Text Box 31"/>
          <p:cNvSpPr txBox="1">
            <a:spLocks noChangeArrowheads="1"/>
          </p:cNvSpPr>
          <p:nvPr/>
        </p:nvSpPr>
        <p:spPr bwMode="auto">
          <a:xfrm>
            <a:off x="285750" y="4735513"/>
            <a:ext cx="25590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en-US" altLang="zh-CN">
                <a:solidFill>
                  <a:schemeClr val="bg1"/>
                </a:solidFill>
                <a:latin typeface="楷体_GB2312" pitchFamily="49" charset="-122"/>
              </a:rPr>
              <a:t>   </a:t>
            </a: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</a:rPr>
              <a:t>利用三角公式</a:t>
            </a:r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0" y="4076700"/>
            <a:ext cx="8534400" cy="493713"/>
            <a:chOff x="68" y="2575"/>
            <a:chExt cx="5376" cy="311"/>
          </a:xfrm>
        </p:grpSpPr>
        <p:sp>
          <p:nvSpPr>
            <p:cNvPr id="4123" name="Text Box 14"/>
            <p:cNvSpPr txBox="1">
              <a:spLocks noChangeArrowheads="1"/>
            </p:cNvSpPr>
            <p:nvPr/>
          </p:nvSpPr>
          <p:spPr bwMode="auto">
            <a:xfrm>
              <a:off x="68" y="2575"/>
              <a:ext cx="5376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式中的</a:t>
              </a:r>
              <a:r>
                <a:rPr kumimoji="1" lang="en-US" altLang="zh-CN" i="1">
                  <a:solidFill>
                    <a:schemeClr val="bg1"/>
                  </a:solidFill>
                  <a:latin typeface="Times New Roman" pitchFamily="18" charset="0"/>
                </a:rPr>
                <a:t>A</a:t>
              </a:r>
              <a:r>
                <a:rPr kumimoji="1" lang="en-US" altLang="zh-CN" baseline="-30000">
                  <a:solidFill>
                    <a:schemeClr val="bg1"/>
                  </a:solidFill>
                  <a:latin typeface="Times New Roman" pitchFamily="18" charset="0"/>
                </a:rPr>
                <a:t>0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为振幅、       为与坐标有关的</a:t>
              </a:r>
              <a:r>
                <a:rPr kumimoji="1" lang="zh-CN" altLang="en-US">
                  <a:solidFill>
                    <a:srgbClr val="FF3300"/>
                  </a:solidFill>
                  <a:latin typeface="Times New Roman" pitchFamily="18" charset="0"/>
                </a:rPr>
                <a:t>相位因子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。</a:t>
              </a:r>
              <a:endParaRPr kumimoji="1"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4124" name="Object 34"/>
            <p:cNvGraphicFramePr>
              <a:graphicFrameLocks noChangeAspect="1"/>
            </p:cNvGraphicFramePr>
            <p:nvPr/>
          </p:nvGraphicFramePr>
          <p:xfrm>
            <a:off x="1619" y="2614"/>
            <a:ext cx="419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95" name="Equation" r:id="rId11" imgW="257142" imgH="142836" progId="Equation.DSMT4">
                    <p:embed/>
                  </p:oleObj>
                </mc:Choice>
                <mc:Fallback>
                  <p:oleObj name="Equation" r:id="rId11" imgW="257142" imgH="142836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9" y="2614"/>
                          <a:ext cx="419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5711825" y="3352800"/>
            <a:ext cx="3036888" cy="708025"/>
            <a:chOff x="3598" y="2112"/>
            <a:chExt cx="1913" cy="446"/>
          </a:xfrm>
        </p:grpSpPr>
        <p:sp>
          <p:nvSpPr>
            <p:cNvPr id="4121" name="Text Box 15"/>
            <p:cNvSpPr txBox="1">
              <a:spLocks noChangeArrowheads="1"/>
            </p:cNvSpPr>
            <p:nvPr/>
          </p:nvSpPr>
          <p:spPr bwMode="auto">
            <a:xfrm>
              <a:off x="4278" y="2112"/>
              <a:ext cx="1233" cy="446"/>
            </a:xfrm>
            <a:prstGeom prst="rect">
              <a:avLst/>
            </a:prstGeom>
            <a:noFill/>
            <a:ln w="25400">
              <a:solidFill>
                <a:srgbClr val="FF66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fontAlgn="ctr" hangingPunct="1">
                <a:spcBef>
                  <a:spcPct val="0"/>
                </a:spcBef>
              </a:pPr>
              <a:r>
                <a:rPr kumimoji="1"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实数表示法</a:t>
              </a:r>
              <a:endParaRPr kumimoji="1" lang="en-US" altLang="zh-CN" sz="2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endParaRPr>
            </a:p>
            <a:p>
              <a:pPr algn="just" eaLnBrk="1" fontAlgn="ctr" hangingPunct="1">
                <a:spcBef>
                  <a:spcPct val="0"/>
                </a:spcBef>
              </a:pPr>
              <a:r>
                <a:rPr kumimoji="1"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或瞬时表示法</a:t>
              </a:r>
            </a:p>
          </p:txBody>
        </p:sp>
        <p:sp>
          <p:nvSpPr>
            <p:cNvPr id="4122" name="Line 36"/>
            <p:cNvSpPr>
              <a:spLocks noChangeShapeType="1"/>
            </p:cNvSpPr>
            <p:nvPr/>
          </p:nvSpPr>
          <p:spPr bwMode="auto">
            <a:xfrm flipH="1">
              <a:off x="3598" y="2341"/>
              <a:ext cx="680" cy="45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42"/>
          <p:cNvGrpSpPr>
            <a:grpSpLocks/>
          </p:cNvGrpSpPr>
          <p:nvPr/>
        </p:nvGrpSpPr>
        <p:grpSpPr bwMode="auto">
          <a:xfrm>
            <a:off x="4932363" y="4724400"/>
            <a:ext cx="2263775" cy="1189038"/>
            <a:chOff x="3107" y="2976"/>
            <a:chExt cx="1426" cy="749"/>
          </a:xfrm>
        </p:grpSpPr>
        <p:sp>
          <p:nvSpPr>
            <p:cNvPr id="4119" name="Text Box 21"/>
            <p:cNvSpPr txBox="1">
              <a:spLocks noChangeArrowheads="1"/>
            </p:cNvSpPr>
            <p:nvPr/>
          </p:nvSpPr>
          <p:spPr bwMode="auto">
            <a:xfrm>
              <a:off x="3424" y="3475"/>
              <a:ext cx="11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kumimoji="1"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复数表示法</a:t>
              </a:r>
            </a:p>
          </p:txBody>
        </p:sp>
        <p:sp>
          <p:nvSpPr>
            <p:cNvPr id="4120" name="AutoShape 38"/>
            <p:cNvSpPr>
              <a:spLocks noChangeArrowheads="1"/>
            </p:cNvSpPr>
            <p:nvPr/>
          </p:nvSpPr>
          <p:spPr bwMode="auto">
            <a:xfrm>
              <a:off x="3107" y="2976"/>
              <a:ext cx="1043" cy="363"/>
            </a:xfrm>
            <a:prstGeom prst="wedgeRoundRectCallout">
              <a:avLst>
                <a:gd name="adj1" fmla="val -5991"/>
                <a:gd name="adj2" fmla="val 108125"/>
                <a:gd name="adj3" fmla="val 16667"/>
              </a:avLst>
            </a:prstGeom>
            <a:noFill/>
            <a:ln w="25400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zh-CN" altLang="zh-CN" sz="1400">
                <a:ea typeface="黑体" pitchFamily="2" charset="-122"/>
              </a:endParaRPr>
            </a:p>
          </p:txBody>
        </p:sp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404813" y="5549900"/>
            <a:ext cx="2439987" cy="939800"/>
            <a:chOff x="255" y="3496"/>
            <a:chExt cx="1537" cy="592"/>
          </a:xfrm>
        </p:grpSpPr>
        <p:sp>
          <p:nvSpPr>
            <p:cNvPr id="4117" name="Text Box 26"/>
            <p:cNvSpPr txBox="1">
              <a:spLocks noChangeArrowheads="1"/>
            </p:cNvSpPr>
            <p:nvPr/>
          </p:nvSpPr>
          <p:spPr bwMode="auto">
            <a:xfrm>
              <a:off x="255" y="3838"/>
              <a:ext cx="81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fontAlgn="ctr" hangingPunct="1">
                <a:spcBef>
                  <a:spcPct val="50000"/>
                </a:spcBef>
              </a:pPr>
              <a:r>
                <a:rPr kumimoji="1"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复振幅</a:t>
              </a:r>
            </a:p>
          </p:txBody>
        </p:sp>
        <p:sp>
          <p:nvSpPr>
            <p:cNvPr id="4118" name="AutoShape 40"/>
            <p:cNvSpPr>
              <a:spLocks noChangeArrowheads="1"/>
            </p:cNvSpPr>
            <p:nvPr/>
          </p:nvSpPr>
          <p:spPr bwMode="auto">
            <a:xfrm>
              <a:off x="1247" y="3496"/>
              <a:ext cx="545" cy="363"/>
            </a:xfrm>
            <a:prstGeom prst="wedgeRoundRectCallout">
              <a:avLst>
                <a:gd name="adj1" fmla="val -103579"/>
                <a:gd name="adj2" fmla="val 55787"/>
                <a:gd name="adj3" fmla="val 16667"/>
              </a:avLst>
            </a:prstGeom>
            <a:noFill/>
            <a:ln w="28575">
              <a:solidFill>
                <a:srgbClr val="FF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endParaRPr lang="zh-CN" altLang="zh-CN" sz="1800" b="0">
                <a:solidFill>
                  <a:schemeClr val="bg1"/>
                </a:solidFill>
                <a:latin typeface="Verdana" pitchFamily="34" charset="0"/>
                <a:ea typeface="宋体" pitchFamily="2" charset="-122"/>
              </a:endParaRPr>
            </a:p>
          </p:txBody>
        </p:sp>
      </p:grpSp>
      <p:sp>
        <p:nvSpPr>
          <p:cNvPr id="773166" name="Text Box 46"/>
          <p:cNvSpPr txBox="1">
            <a:spLocks noChangeArrowheads="1"/>
          </p:cNvSpPr>
          <p:nvPr/>
        </p:nvSpPr>
        <p:spPr bwMode="auto">
          <a:xfrm>
            <a:off x="107950" y="523875"/>
            <a:ext cx="446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Blip>
                <a:blip r:embed="rId13"/>
              </a:buBlip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时谐电磁场的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复数表示</a:t>
            </a:r>
          </a:p>
        </p:txBody>
      </p:sp>
      <p:sp>
        <p:nvSpPr>
          <p:cNvPr id="4113" name="AutoShape 47">
            <a:hlinkClick r:id="rId1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14" name="AutoShape 4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15" name="AutoShape 4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16" name="AutoShape 5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73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7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7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7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7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73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7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29" grpId="0"/>
      <p:bldP spid="773143" grpId="0" animBg="1"/>
      <p:bldP spid="773144" grpId="0"/>
      <p:bldP spid="773151" grpId="0"/>
      <p:bldP spid="7731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687A44F-30C7-4879-95C1-0A8A842EE80E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756743" name="Text Box 7"/>
          <p:cNvSpPr txBox="1">
            <a:spLocks noChangeArrowheads="1"/>
          </p:cNvSpPr>
          <p:nvPr/>
        </p:nvSpPr>
        <p:spPr bwMode="auto">
          <a:xfrm>
            <a:off x="467544" y="4462463"/>
            <a:ext cx="6696075" cy="520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</a:rPr>
              <a:t>复数式只是</a:t>
            </a:r>
            <a:r>
              <a:rPr kumimoji="1" lang="zh-CN" altLang="en-US" dirty="0">
                <a:solidFill>
                  <a:srgbClr val="FF0000"/>
                </a:solidFill>
                <a:latin typeface="Times New Roman" pitchFamily="18" charset="0"/>
              </a:rPr>
              <a:t>数学表示</a:t>
            </a: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</a:rPr>
              <a:t>方式，不代表</a:t>
            </a:r>
            <a:r>
              <a:rPr kumimoji="1" lang="zh-CN" altLang="en-US" dirty="0">
                <a:solidFill>
                  <a:srgbClr val="FF3300"/>
                </a:solidFill>
                <a:latin typeface="Times New Roman" pitchFamily="18" charset="0"/>
              </a:rPr>
              <a:t>真实的场</a:t>
            </a: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756746" name="Text Box 10"/>
          <p:cNvSpPr txBox="1">
            <a:spLocks noChangeArrowheads="1"/>
          </p:cNvSpPr>
          <p:nvPr/>
        </p:nvSpPr>
        <p:spPr bwMode="auto">
          <a:xfrm>
            <a:off x="107950" y="487363"/>
            <a:ext cx="6551613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矢量场的各分量</a:t>
            </a:r>
            <a:r>
              <a:rPr kumimoji="1" lang="en-US" altLang="zh-CN" b="0" i="1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kumimoji="1" lang="en-US" altLang="zh-CN" i="1" baseline="-30000">
                <a:solidFill>
                  <a:schemeClr val="bg1"/>
                </a:solidFill>
                <a:latin typeface="Times New Roman" pitchFamily="18" charset="0"/>
              </a:rPr>
              <a:t>i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（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i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表示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x</a:t>
            </a:r>
            <a:r>
              <a:rPr kumimoji="1" lang="zh-CN" altLang="en-US" i="1">
                <a:solidFill>
                  <a:schemeClr val="bg1"/>
                </a:solidFill>
                <a:latin typeface="Times New Roman" pitchFamily="18" charset="0"/>
              </a:rPr>
              <a:t>、</a:t>
            </a:r>
            <a:r>
              <a:rPr kumimoji="1" lang="en-US" altLang="zh-CN" b="0" i="1">
                <a:solidFill>
                  <a:schemeClr val="bg1"/>
                </a:solidFill>
                <a:latin typeface="Times New Roman" pitchFamily="18" charset="0"/>
              </a:rPr>
              <a:t>y</a:t>
            </a:r>
            <a:r>
              <a:rPr kumimoji="1" lang="en-US" altLang="zh-CN" i="1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或 </a:t>
            </a:r>
            <a:r>
              <a:rPr kumimoji="1" lang="en-US" altLang="zh-CN" b="0" i="1">
                <a:solidFill>
                  <a:schemeClr val="bg1"/>
                </a:solidFill>
                <a:latin typeface="Times New Roman" pitchFamily="18" charset="0"/>
              </a:rPr>
              <a:t>z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）可表示成 </a:t>
            </a:r>
          </a:p>
        </p:txBody>
      </p:sp>
      <p:graphicFrame>
        <p:nvGraphicFramePr>
          <p:cNvPr id="756747" name="Object 11"/>
          <p:cNvGraphicFramePr>
            <a:graphicFrameLocks noChangeAspect="1"/>
          </p:cNvGraphicFramePr>
          <p:nvPr/>
        </p:nvGraphicFramePr>
        <p:xfrm>
          <a:off x="1203325" y="1125538"/>
          <a:ext cx="67373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9" name="Equation" r:id="rId3" imgW="2562055" imgH="218946" progId="Equation.DSMT4">
                  <p:embed/>
                </p:oleObj>
              </mc:Choice>
              <mc:Fallback>
                <p:oleObj name="Equation" r:id="rId3" imgW="2562055" imgH="218946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325" y="1125538"/>
                        <a:ext cx="673735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6748" name="Object 12"/>
          <p:cNvGraphicFramePr>
            <a:graphicFrameLocks noChangeAspect="1"/>
          </p:cNvGraphicFramePr>
          <p:nvPr/>
        </p:nvGraphicFramePr>
        <p:xfrm>
          <a:off x="1258888" y="2206625"/>
          <a:ext cx="40322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0" name="Equation" r:id="rId5" imgW="1390513" imgH="218946" progId="Equation.DSMT4">
                  <p:embed/>
                </p:oleObj>
              </mc:Choice>
              <mc:Fallback>
                <p:oleObj name="Equation" r:id="rId5" imgW="1390513" imgH="21894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206625"/>
                        <a:ext cx="403225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9" name="AutoShape 13"/>
          <p:cNvSpPr>
            <a:spLocks noChangeArrowheads="1"/>
          </p:cNvSpPr>
          <p:nvPr/>
        </p:nvSpPr>
        <p:spPr bwMode="auto">
          <a:xfrm>
            <a:off x="3492500" y="2271713"/>
            <a:ext cx="1079500" cy="750887"/>
          </a:xfrm>
          <a:prstGeom prst="wedgeRectCallout">
            <a:avLst>
              <a:gd name="adj1" fmla="val -116028"/>
              <a:gd name="adj2" fmla="val 65222"/>
            </a:avLst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zh-CN" altLang="zh-CN" sz="1800" b="0">
              <a:latin typeface="Verdana" pitchFamily="34" charset="0"/>
              <a:ea typeface="宋体" pitchFamily="2" charset="-122"/>
            </a:endParaRPr>
          </a:p>
        </p:txBody>
      </p:sp>
      <p:graphicFrame>
        <p:nvGraphicFramePr>
          <p:cNvPr id="756750" name="Object 14"/>
          <p:cNvGraphicFramePr>
            <a:graphicFrameLocks noChangeAspect="1"/>
          </p:cNvGraphicFramePr>
          <p:nvPr/>
        </p:nvGraphicFramePr>
        <p:xfrm>
          <a:off x="669925" y="3190875"/>
          <a:ext cx="8021638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1" name="Equation" r:id="rId7" imgW="3362285" imgH="238061" progId="Equation.DSMT4">
                  <p:embed/>
                </p:oleObj>
              </mc:Choice>
              <mc:Fallback>
                <p:oleObj name="Equation" r:id="rId7" imgW="3362285" imgH="23806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3190875"/>
                        <a:ext cx="8021638" cy="6699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CC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51" name="Text Box 15"/>
          <p:cNvSpPr txBox="1">
            <a:spLocks noChangeArrowheads="1"/>
          </p:cNvSpPr>
          <p:nvPr/>
        </p:nvSpPr>
        <p:spPr bwMode="auto">
          <a:xfrm>
            <a:off x="141288" y="1773238"/>
            <a:ext cx="3998912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楷体_GB2312" pitchFamily="49" charset="-122"/>
              </a:rPr>
              <a:t>各分量合成后的电场强度为</a:t>
            </a:r>
            <a:r>
              <a:rPr kumimoji="1" lang="zh-CN" altLang="en-US">
                <a:solidFill>
                  <a:srgbClr val="000066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756752" name="Text Box 16"/>
          <p:cNvSpPr txBox="1">
            <a:spLocks noChangeArrowheads="1"/>
          </p:cNvSpPr>
          <p:nvPr/>
        </p:nvSpPr>
        <p:spPr bwMode="auto">
          <a:xfrm>
            <a:off x="34925" y="4005263"/>
            <a:ext cx="432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有关复数表示的进一步说明：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724525" y="3889375"/>
            <a:ext cx="3008313" cy="763588"/>
            <a:chOff x="-807" y="1280"/>
            <a:chExt cx="1895" cy="481"/>
          </a:xfrm>
        </p:grpSpPr>
        <p:sp>
          <p:nvSpPr>
            <p:cNvPr id="5138" name="Text Box 17"/>
            <p:cNvSpPr txBox="1">
              <a:spLocks noChangeArrowheads="1"/>
            </p:cNvSpPr>
            <p:nvPr/>
          </p:nvSpPr>
          <p:spPr bwMode="auto">
            <a:xfrm>
              <a:off x="249" y="1434"/>
              <a:ext cx="839" cy="327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复矢量</a:t>
              </a:r>
              <a:endParaRPr kumimoji="1" lang="zh-CN" altLang="en-US">
                <a:solidFill>
                  <a:srgbClr val="000066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139" name="Line 18"/>
            <p:cNvSpPr>
              <a:spLocks noChangeShapeType="1"/>
            </p:cNvSpPr>
            <p:nvPr/>
          </p:nvSpPr>
          <p:spPr bwMode="auto">
            <a:xfrm flipH="1" flipV="1">
              <a:off x="-807" y="1280"/>
              <a:ext cx="1063" cy="47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56756" name="Text Box 20"/>
          <p:cNvSpPr txBox="1">
            <a:spLocks noChangeArrowheads="1"/>
          </p:cNvSpPr>
          <p:nvPr/>
        </p:nvSpPr>
        <p:spPr bwMode="auto">
          <a:xfrm>
            <a:off x="250824" y="4941888"/>
            <a:ext cx="6553423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dirty="0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 dirty="0" smtClean="0">
                <a:solidFill>
                  <a:schemeClr val="bg1"/>
                </a:solidFill>
                <a:latin typeface="Times New Roman" pitchFamily="18" charset="0"/>
              </a:rPr>
              <a:t>真实的场</a:t>
            </a: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</a:rPr>
              <a:t>是复数式的实部，即</a:t>
            </a:r>
            <a:r>
              <a:rPr kumimoji="1" lang="zh-CN" altLang="en-US" dirty="0">
                <a:solidFill>
                  <a:srgbClr val="FF3300"/>
                </a:solidFill>
                <a:latin typeface="Times New Roman" pitchFamily="18" charset="0"/>
              </a:rPr>
              <a:t>瞬时表达式</a:t>
            </a: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756757" name="Text Box 21"/>
          <p:cNvSpPr txBox="1">
            <a:spLocks noChangeArrowheads="1"/>
          </p:cNvSpPr>
          <p:nvPr/>
        </p:nvSpPr>
        <p:spPr bwMode="auto">
          <a:xfrm>
            <a:off x="250825" y="5445125"/>
            <a:ext cx="880110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由于时间因子是默认的，有时它不用写出来，只用与坐标有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    关的部分就可表示复矢量。</a:t>
            </a:r>
          </a:p>
        </p:txBody>
      </p:sp>
      <p:sp>
        <p:nvSpPr>
          <p:cNvPr id="5134" name="AutoShape 22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35" name="AutoShape 2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36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37" name="AutoShape 2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5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5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5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5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5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5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75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000"/>
                                        <p:tgtEl>
                                          <p:spTgt spid="75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75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000"/>
                                        <p:tgtEl>
                                          <p:spTgt spid="75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43" grpId="0"/>
      <p:bldP spid="756746" grpId="0"/>
      <p:bldP spid="756749" grpId="0" animBg="1" autoUpdateAnimBg="0"/>
      <p:bldP spid="756751" grpId="0"/>
      <p:bldP spid="756752" grpId="0"/>
      <p:bldP spid="756756" grpId="0"/>
      <p:bldP spid="7567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D2A557-44AE-4796-8A1E-BFA30CF9D640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738319" name="Rectangle 15"/>
          <p:cNvSpPr>
            <a:spLocks noChangeArrowheads="1"/>
          </p:cNvSpPr>
          <p:nvPr/>
        </p:nvSpPr>
        <p:spPr bwMode="auto">
          <a:xfrm>
            <a:off x="-107950" y="523875"/>
            <a:ext cx="7847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zh-CN" altLang="en-US">
                <a:solidFill>
                  <a:srgbClr val="FF99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例</a:t>
            </a:r>
            <a:r>
              <a:rPr lang="en-US" altLang="zh-CN">
                <a:solidFill>
                  <a:srgbClr val="FF99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4.5.1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将下列场矢量的瞬时值形式改写为复数形式。</a:t>
            </a:r>
            <a:endParaRPr lang="zh-CN" altLang="en-US" b="0">
              <a:solidFill>
                <a:schemeClr val="bg1"/>
              </a:solidFill>
              <a:ea typeface="幼圆" pitchFamily="49" charset="-122"/>
              <a:cs typeface="Times New Roman" pitchFamily="18" charset="0"/>
            </a:endParaRPr>
          </a:p>
        </p:txBody>
      </p:sp>
      <p:graphicFrame>
        <p:nvGraphicFramePr>
          <p:cNvPr id="738318" name="Object 14"/>
          <p:cNvGraphicFramePr>
            <a:graphicFrameLocks noChangeAspect="1"/>
          </p:cNvGraphicFramePr>
          <p:nvPr/>
        </p:nvGraphicFramePr>
        <p:xfrm>
          <a:off x="1187450" y="1023938"/>
          <a:ext cx="735488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" name="Equation" r:id="rId3" imgW="3372002" imgH="209563" progId="Equation.DSMT4">
                  <p:embed/>
                </p:oleObj>
              </mc:Choice>
              <mc:Fallback>
                <p:oleObj name="Equation" r:id="rId3" imgW="3372002" imgH="209563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023938"/>
                        <a:ext cx="7354888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20" name="Rectangle 16"/>
          <p:cNvSpPr>
            <a:spLocks noChangeArrowheads="1"/>
          </p:cNvSpPr>
          <p:nvPr/>
        </p:nvSpPr>
        <p:spPr bwMode="auto">
          <a:xfrm>
            <a:off x="323850" y="1747838"/>
            <a:ext cx="1871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  <a:endParaRPr lang="zh-CN" altLang="en-US" b="0">
              <a:solidFill>
                <a:schemeClr val="bg1"/>
              </a:solidFill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738317" name="Object 13"/>
          <p:cNvGraphicFramePr>
            <a:graphicFrameLocks noChangeAspect="1"/>
          </p:cNvGraphicFramePr>
          <p:nvPr/>
        </p:nvGraphicFramePr>
        <p:xfrm>
          <a:off x="1187450" y="1544638"/>
          <a:ext cx="5653088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5" name="Equation" r:id="rId5" imgW="2524230" imgH="771525" progId="Equation.DSMT4">
                  <p:embed/>
                </p:oleObj>
              </mc:Choice>
              <mc:Fallback>
                <p:oleObj name="Equation" r:id="rId5" imgW="2524230" imgH="77152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544638"/>
                        <a:ext cx="5653088" cy="168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21" name="Rectangle 17"/>
          <p:cNvSpPr>
            <a:spLocks noChangeArrowheads="1"/>
          </p:cNvSpPr>
          <p:nvPr/>
        </p:nvSpPr>
        <p:spPr bwMode="auto">
          <a:xfrm>
            <a:off x="179388" y="3187700"/>
            <a:ext cx="1296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zh-CN" altLang="en-US">
                <a:solidFill>
                  <a:srgbClr val="FF99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解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（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1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）</a:t>
            </a:r>
          </a:p>
        </p:txBody>
      </p:sp>
      <p:graphicFrame>
        <p:nvGraphicFramePr>
          <p:cNvPr id="738316" name="Object 12"/>
          <p:cNvGraphicFramePr>
            <a:graphicFrameLocks noChangeAspect="1"/>
          </p:cNvGraphicFramePr>
          <p:nvPr/>
        </p:nvGraphicFramePr>
        <p:xfrm>
          <a:off x="1358900" y="3208338"/>
          <a:ext cx="75342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6" name="Equation" r:id="rId7" imgW="3771770" imgH="228677" progId="Equation.DSMT4">
                  <p:embed/>
                </p:oleObj>
              </mc:Choice>
              <mc:Fallback>
                <p:oleObj name="Equation" r:id="rId7" imgW="3771770" imgH="228677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3208338"/>
                        <a:ext cx="75342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5" name="Object 11"/>
          <p:cNvGraphicFramePr>
            <a:graphicFrameLocks noChangeAspect="1"/>
          </p:cNvGraphicFramePr>
          <p:nvPr/>
        </p:nvGraphicFramePr>
        <p:xfrm>
          <a:off x="2128838" y="3927475"/>
          <a:ext cx="5756275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7" name="Equation" r:id="rId9" imgW="2562055" imgH="266558" progId="Equation.DSMT4">
                  <p:embed/>
                </p:oleObj>
              </mc:Choice>
              <mc:Fallback>
                <p:oleObj name="Equation" r:id="rId9" imgW="2562055" imgH="266558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838" y="3927475"/>
                        <a:ext cx="5756275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4" name="Object 10"/>
          <p:cNvGraphicFramePr>
            <a:graphicFrameLocks noChangeAspect="1"/>
          </p:cNvGraphicFramePr>
          <p:nvPr/>
        </p:nvGraphicFramePr>
        <p:xfrm>
          <a:off x="1320800" y="4879975"/>
          <a:ext cx="56356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8" name="Equation" r:id="rId11" imgW="2428799" imgH="238061" progId="Equation.DSMT4">
                  <p:embed/>
                </p:oleObj>
              </mc:Choice>
              <mc:Fallback>
                <p:oleObj name="Equation" r:id="rId11" imgW="2428799" imgH="23806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4879975"/>
                        <a:ext cx="563562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313" name="Object 9"/>
          <p:cNvGraphicFramePr>
            <a:graphicFrameLocks noChangeAspect="1"/>
          </p:cNvGraphicFramePr>
          <p:nvPr/>
        </p:nvGraphicFramePr>
        <p:xfrm>
          <a:off x="2195513" y="5732463"/>
          <a:ext cx="393223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9" name="Equation" r:id="rId13" imgW="1733716" imgH="209563" progId="Equation.DSMT4">
                  <p:embed/>
                </p:oleObj>
              </mc:Choice>
              <mc:Fallback>
                <p:oleObj name="Equation" r:id="rId13" imgW="1733716" imgH="20956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732463"/>
                        <a:ext cx="3932237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329" name="Rectangle 25"/>
          <p:cNvSpPr>
            <a:spLocks noChangeArrowheads="1"/>
          </p:cNvSpPr>
          <p:nvPr/>
        </p:nvSpPr>
        <p:spPr bwMode="auto">
          <a:xfrm>
            <a:off x="323850" y="1027113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</a:t>
            </a:r>
            <a:r>
              <a:rPr lang="en-US" altLang="zh-CN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b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</a:t>
            </a:r>
            <a:endParaRPr lang="zh-CN" altLang="en-US" b="0">
              <a:solidFill>
                <a:schemeClr val="bg1"/>
              </a:solidFill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6157" name="AutoShape 27">
            <a:hlinkClick r:id="rId1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8" name="AutoShape 2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59" name="AutoShape 2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160" name="AutoShape 3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" name="AutoShape 13"/>
          <p:cNvSpPr>
            <a:spLocks noChangeArrowheads="1"/>
          </p:cNvSpPr>
          <p:nvPr/>
        </p:nvSpPr>
        <p:spPr bwMode="auto">
          <a:xfrm flipH="1">
            <a:off x="773113" y="5156200"/>
            <a:ext cx="468312" cy="217488"/>
          </a:xfrm>
          <a:prstGeom prst="leftArrow">
            <a:avLst>
              <a:gd name="adj1" fmla="val 50000"/>
              <a:gd name="adj2" fmla="val 107664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3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3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3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738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73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3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38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3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19" grpId="0"/>
      <p:bldP spid="738320" grpId="0"/>
      <p:bldP spid="738321" grpId="0"/>
      <p:bldP spid="738329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318E38-EB52-43D0-96DF-44B7F69055F1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757771" name="Rectangle 11"/>
          <p:cNvSpPr>
            <a:spLocks noChangeArrowheads="1"/>
          </p:cNvSpPr>
          <p:nvPr/>
        </p:nvSpPr>
        <p:spPr bwMode="auto">
          <a:xfrm>
            <a:off x="-36513" y="692150"/>
            <a:ext cx="171450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）因为  </a:t>
            </a:r>
          </a:p>
        </p:txBody>
      </p:sp>
      <p:graphicFrame>
        <p:nvGraphicFramePr>
          <p:cNvPr id="757772" name="Object 12"/>
          <p:cNvGraphicFramePr>
            <a:graphicFrameLocks noChangeAspect="1"/>
          </p:cNvGraphicFramePr>
          <p:nvPr/>
        </p:nvGraphicFramePr>
        <p:xfrm>
          <a:off x="1619250" y="692150"/>
          <a:ext cx="337661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6" name="Equation" r:id="rId3" imgW="1609830" imgH="142836" progId="Equation.DSMT4">
                  <p:embed/>
                </p:oleObj>
              </mc:Choice>
              <mc:Fallback>
                <p:oleObj name="Equation" r:id="rId3" imgW="1609830" imgH="14283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692150"/>
                        <a:ext cx="3376613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3" name="Object 13"/>
          <p:cNvGraphicFramePr>
            <a:graphicFrameLocks noChangeAspect="1"/>
          </p:cNvGraphicFramePr>
          <p:nvPr/>
        </p:nvGraphicFramePr>
        <p:xfrm>
          <a:off x="1646238" y="1325563"/>
          <a:ext cx="6489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7" name="Equation" r:id="rId5" imgW="3209943" imgH="181065" progId="Equation.DSMT4">
                  <p:embed/>
                </p:oleObj>
              </mc:Choice>
              <mc:Fallback>
                <p:oleObj name="Equation" r:id="rId5" imgW="3209943" imgH="18106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38" y="1325563"/>
                        <a:ext cx="64897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75" name="Object 15"/>
          <p:cNvGraphicFramePr>
            <a:graphicFrameLocks noChangeAspect="1"/>
          </p:cNvGraphicFramePr>
          <p:nvPr/>
        </p:nvGraphicFramePr>
        <p:xfrm>
          <a:off x="1606550" y="4941888"/>
          <a:ext cx="6765925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8" name="Equation" r:id="rId7" imgW="3438630" imgH="333285" progId="Equation.DSMT4">
                  <p:embed/>
                </p:oleObj>
              </mc:Choice>
              <mc:Fallback>
                <p:oleObj name="Equation" r:id="rId7" imgW="3438630" imgH="33328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4941888"/>
                        <a:ext cx="6765925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80" name="Object 20"/>
          <p:cNvGraphicFramePr>
            <a:graphicFrameLocks noChangeAspect="1"/>
          </p:cNvGraphicFramePr>
          <p:nvPr/>
        </p:nvGraphicFramePr>
        <p:xfrm>
          <a:off x="1731963" y="1922463"/>
          <a:ext cx="5692775" cy="157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9" name="Equation" r:id="rId9" imgW="2524230" imgH="771525" progId="Equation.DSMT4">
                  <p:embed/>
                </p:oleObj>
              </mc:Choice>
              <mc:Fallback>
                <p:oleObj name="Equation" r:id="rId9" imgW="2524230" imgH="771525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1963" y="1922463"/>
                        <a:ext cx="5692775" cy="157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81" name="Rectangle 21"/>
          <p:cNvSpPr>
            <a:spLocks noChangeArrowheads="1"/>
          </p:cNvSpPr>
          <p:nvPr/>
        </p:nvSpPr>
        <p:spPr bwMode="auto">
          <a:xfrm>
            <a:off x="755650" y="2108200"/>
            <a:ext cx="1512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所以  </a:t>
            </a:r>
          </a:p>
        </p:txBody>
      </p:sp>
      <p:graphicFrame>
        <p:nvGraphicFramePr>
          <p:cNvPr id="757782" name="Object 22"/>
          <p:cNvGraphicFramePr>
            <a:graphicFrameLocks noChangeAspect="1"/>
          </p:cNvGraphicFramePr>
          <p:nvPr/>
        </p:nvGraphicFramePr>
        <p:xfrm>
          <a:off x="3049588" y="3482975"/>
          <a:ext cx="4978400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Equation" r:id="rId11" imgW="2333715" imgH="771525" progId="Equation.DSMT4">
                  <p:embed/>
                </p:oleObj>
              </mc:Choice>
              <mc:Fallback>
                <p:oleObj name="Equation" r:id="rId11" imgW="2333715" imgH="77152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9588" y="3482975"/>
                        <a:ext cx="4978400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AutoShape 23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79" name="AutoShape 2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0" name="AutoShape 2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1" name="AutoShape 2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57814" name="Object 54"/>
          <p:cNvGraphicFramePr>
            <a:graphicFrameLocks noGrp="1" noChangeAspect="1"/>
          </p:cNvGraphicFramePr>
          <p:nvPr>
            <p:ph/>
          </p:nvPr>
        </p:nvGraphicFramePr>
        <p:xfrm>
          <a:off x="2700338" y="5661025"/>
          <a:ext cx="51212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" name="Equation" r:id="rId14" imgW="2609944" imgH="371514" progId="Equation.DSMT4">
                  <p:embed/>
                </p:oleObj>
              </mc:Choice>
              <mc:Fallback>
                <p:oleObj name="Equation" r:id="rId14" imgW="2609944" imgH="371514" progId="Equation.DSMT4">
                  <p:embed/>
                  <p:pic>
                    <p:nvPicPr>
                      <p:cNvPr id="0" name="Object 5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5661025"/>
                        <a:ext cx="5121275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AutoShape 13"/>
          <p:cNvSpPr>
            <a:spLocks noChangeArrowheads="1"/>
          </p:cNvSpPr>
          <p:nvPr/>
        </p:nvSpPr>
        <p:spPr bwMode="auto">
          <a:xfrm flipH="1">
            <a:off x="1006475" y="5216525"/>
            <a:ext cx="468313" cy="217488"/>
          </a:xfrm>
          <a:prstGeom prst="leftArrow">
            <a:avLst>
              <a:gd name="adj1" fmla="val 50000"/>
              <a:gd name="adj2" fmla="val 107664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5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5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5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57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757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57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757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757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71" grpId="0"/>
      <p:bldP spid="757781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D4B421-53AE-4F6F-816D-86767BAE3BB1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739350" name="Rectangle 22"/>
          <p:cNvSpPr>
            <a:spLocks noChangeArrowheads="1"/>
          </p:cNvSpPr>
          <p:nvPr/>
        </p:nvSpPr>
        <p:spPr bwMode="auto">
          <a:xfrm>
            <a:off x="215900" y="619125"/>
            <a:ext cx="8099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zh-CN" altLang="en-US">
                <a:solidFill>
                  <a:srgbClr val="FF99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例</a:t>
            </a:r>
            <a:r>
              <a:rPr lang="en-US" altLang="zh-CN">
                <a:solidFill>
                  <a:srgbClr val="FF99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4.5.2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已知电场强度的复矢量                                            ，</a:t>
            </a:r>
            <a:endParaRPr lang="zh-CN" altLang="en-US" b="0">
              <a:solidFill>
                <a:schemeClr val="bg1"/>
              </a:solidFill>
              <a:latin typeface="Times New Roman" pitchFamily="18" charset="0"/>
              <a:ea typeface="幼圆" pitchFamily="49" charset="-122"/>
              <a:cs typeface="Times New Roman" pitchFamily="18" charset="0"/>
            </a:endParaRPr>
          </a:p>
        </p:txBody>
      </p:sp>
      <p:graphicFrame>
        <p:nvGraphicFramePr>
          <p:cNvPr id="739349" name="Object 21"/>
          <p:cNvGraphicFramePr>
            <a:graphicFrameLocks noChangeAspect="1"/>
          </p:cNvGraphicFramePr>
          <p:nvPr/>
        </p:nvGraphicFramePr>
        <p:xfrm>
          <a:off x="4598988" y="544513"/>
          <a:ext cx="314166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4" name="Equation" r:id="rId3" imgW="1428685" imgH="218946" progId="Equation.DSMT4">
                  <p:embed/>
                </p:oleObj>
              </mc:Choice>
              <mc:Fallback>
                <p:oleObj name="Equation" r:id="rId3" imgW="1428685" imgH="218946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988" y="544513"/>
                        <a:ext cx="3141662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51" name="Rectangle 23"/>
          <p:cNvSpPr>
            <a:spLocks noChangeArrowheads="1"/>
          </p:cNvSpPr>
          <p:nvPr/>
        </p:nvSpPr>
        <p:spPr bwMode="auto">
          <a:xfrm>
            <a:off x="250825" y="2216150"/>
            <a:ext cx="720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zh-CN" altLang="en-US">
                <a:solidFill>
                  <a:srgbClr val="FF9900"/>
                </a:solidFill>
                <a:latin typeface="Times New Roman" pitchFamily="18" charset="0"/>
                <a:ea typeface="幼圆" pitchFamily="49" charset="-122"/>
                <a:cs typeface="Times New Roman" pitchFamily="18" charset="0"/>
              </a:rPr>
              <a:t>解</a:t>
            </a:r>
            <a:endParaRPr lang="zh-CN" altLang="en-US">
              <a:solidFill>
                <a:srgbClr val="FF9900"/>
              </a:solidFill>
              <a:ea typeface="幼圆" pitchFamily="49" charset="-122"/>
              <a:cs typeface="Times New Roman" pitchFamily="18" charset="0"/>
            </a:endParaRPr>
          </a:p>
        </p:txBody>
      </p:sp>
      <p:graphicFrame>
        <p:nvGraphicFramePr>
          <p:cNvPr id="739346" name="Object 18"/>
          <p:cNvGraphicFramePr>
            <a:graphicFrameLocks noChangeAspect="1"/>
          </p:cNvGraphicFramePr>
          <p:nvPr/>
        </p:nvGraphicFramePr>
        <p:xfrm>
          <a:off x="971550" y="2133600"/>
          <a:ext cx="511175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5" name="Equation" r:id="rId5" imgW="2219198" imgH="904978" progId="Equation.DSMT4">
                  <p:embed/>
                </p:oleObj>
              </mc:Choice>
              <mc:Fallback>
                <p:oleObj name="Equation" r:id="rId5" imgW="2219198" imgH="904978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133600"/>
                        <a:ext cx="5111750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9345" name="Object 17"/>
          <p:cNvGraphicFramePr>
            <a:graphicFrameLocks noChangeAspect="1"/>
          </p:cNvGraphicFramePr>
          <p:nvPr/>
        </p:nvGraphicFramePr>
        <p:xfrm>
          <a:off x="1900238" y="4389438"/>
          <a:ext cx="42560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6" name="Equation" r:id="rId7" imgW="1838170" imgH="190449" progId="Equation.DSMT4">
                  <p:embed/>
                </p:oleObj>
              </mc:Choice>
              <mc:Fallback>
                <p:oleObj name="Equation" r:id="rId7" imgW="1838170" imgH="19044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8" y="4389438"/>
                        <a:ext cx="42560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9356" name="Rectangle 28"/>
          <p:cNvSpPr>
            <a:spLocks noChangeArrowheads="1"/>
          </p:cNvSpPr>
          <p:nvPr/>
        </p:nvSpPr>
        <p:spPr bwMode="auto">
          <a:xfrm>
            <a:off x="1274763" y="1160463"/>
            <a:ext cx="7097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其中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k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z </a:t>
            </a:r>
            <a:r>
              <a:rPr lang="zh-CN" altLang="en-US">
                <a:solidFill>
                  <a:schemeClr val="bg1"/>
                </a:solidFill>
              </a:rPr>
              <a:t>和 </a:t>
            </a:r>
            <a:r>
              <a:rPr lang="en-US" altLang="zh-CN" b="0" i="1">
                <a:solidFill>
                  <a:schemeClr val="bg1"/>
                </a:solidFill>
                <a:latin typeface="Times New Roman" pitchFamily="18" charset="0"/>
              </a:rPr>
              <a:t>E</a:t>
            </a:r>
            <a:r>
              <a:rPr lang="en-US" altLang="zh-CN" b="0" i="1" baseline="-25000">
                <a:solidFill>
                  <a:schemeClr val="bg1"/>
                </a:solidFill>
                <a:latin typeface="Times New Roman" pitchFamily="18" charset="0"/>
              </a:rPr>
              <a:t>x</a:t>
            </a:r>
            <a:r>
              <a:rPr lang="en-US" altLang="zh-CN" b="0" baseline="-25000">
                <a:solidFill>
                  <a:schemeClr val="bg1"/>
                </a:solidFill>
                <a:latin typeface="Times New Roman" pitchFamily="18" charset="0"/>
              </a:rPr>
              <a:t>m </a:t>
            </a:r>
            <a:r>
              <a:rPr lang="zh-CN" altLang="en-US">
                <a:solidFill>
                  <a:schemeClr val="bg1"/>
                </a:solidFill>
              </a:rPr>
              <a:t>为实常数。写出电场强度的瞬时矢量。</a:t>
            </a:r>
          </a:p>
        </p:txBody>
      </p:sp>
      <p:graphicFrame>
        <p:nvGraphicFramePr>
          <p:cNvPr id="739357" name="Object 29"/>
          <p:cNvGraphicFramePr>
            <a:graphicFrameLocks noChangeAspect="1"/>
          </p:cNvGraphicFramePr>
          <p:nvPr/>
        </p:nvGraphicFramePr>
        <p:xfrm>
          <a:off x="1908175" y="5157788"/>
          <a:ext cx="36750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" name="Equation" r:id="rId9" imgW="1514399" imgH="171334" progId="Equation.DSMT4">
                  <p:embed/>
                </p:oleObj>
              </mc:Choice>
              <mc:Fallback>
                <p:oleObj name="Equation" r:id="rId9" imgW="1514399" imgH="171334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157788"/>
                        <a:ext cx="36750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AutoShape 30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3" name="AutoShape 3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4" name="AutoShape 3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205" name="AutoShape 3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3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3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73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3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73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39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3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9350" grpId="0"/>
      <p:bldP spid="739351" grpId="0"/>
      <p:bldP spid="73935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E998C8-38C5-4AEE-8E76-A610A81E5DA6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96850" y="1125538"/>
            <a:ext cx="8839200" cy="812800"/>
            <a:chOff x="158" y="618"/>
            <a:chExt cx="5568" cy="512"/>
          </a:xfrm>
        </p:grpSpPr>
        <p:sp>
          <p:nvSpPr>
            <p:cNvPr id="9241" name="Rectangle 9"/>
            <p:cNvSpPr>
              <a:spLocks noChangeArrowheads="1"/>
            </p:cNvSpPr>
            <p:nvPr/>
          </p:nvSpPr>
          <p:spPr bwMode="auto">
            <a:xfrm>
              <a:off x="158" y="728"/>
              <a:ext cx="55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以电场旋度方程                     为例，代入相应场量的复矢量</a:t>
              </a:r>
            </a:p>
          </p:txBody>
        </p:sp>
        <p:graphicFrame>
          <p:nvGraphicFramePr>
            <p:cNvPr id="9242" name="Object 10"/>
            <p:cNvGraphicFramePr>
              <a:graphicFrameLocks noChangeAspect="1"/>
            </p:cNvGraphicFramePr>
            <p:nvPr/>
          </p:nvGraphicFramePr>
          <p:xfrm>
            <a:off x="1610" y="618"/>
            <a:ext cx="949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63" name="公式" r:id="rId3" imgW="895314" imgH="428509" progId="Equation.3">
                    <p:embed/>
                  </p:oleObj>
                </mc:Choice>
                <mc:Fallback>
                  <p:oleObj name="公式" r:id="rId3" imgW="895314" imgH="428509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0" y="618"/>
                          <a:ext cx="949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45483" name="Object 11"/>
          <p:cNvGraphicFramePr>
            <a:graphicFrameLocks noChangeAspect="1"/>
          </p:cNvGraphicFramePr>
          <p:nvPr/>
        </p:nvGraphicFramePr>
        <p:xfrm>
          <a:off x="2076450" y="1916113"/>
          <a:ext cx="4775200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4" name="Equation" r:id="rId5" imgW="2238285" imgH="333285" progId="Equation.DSMT4">
                  <p:embed/>
                </p:oleObj>
              </mc:Choice>
              <mc:Fallback>
                <p:oleObj name="Equation" r:id="rId5" imgW="2238285" imgH="33328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1916113"/>
                        <a:ext cx="4775200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84" name="Object 12"/>
          <p:cNvGraphicFramePr>
            <a:graphicFrameLocks noChangeAspect="1"/>
          </p:cNvGraphicFramePr>
          <p:nvPr/>
        </p:nvGraphicFramePr>
        <p:xfrm>
          <a:off x="1008063" y="3249613"/>
          <a:ext cx="6992937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5" name="Equation" r:id="rId7" imgW="3400458" imgH="371514" progId="Equation.DSMT4">
                  <p:embed/>
                </p:oleObj>
              </mc:Choice>
              <mc:Fallback>
                <p:oleObj name="Equation" r:id="rId7" imgW="3400458" imgH="37151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249613"/>
                        <a:ext cx="6992937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485" name="Object 13"/>
          <p:cNvGraphicFramePr>
            <a:graphicFrameLocks noChangeAspect="1"/>
          </p:cNvGraphicFramePr>
          <p:nvPr/>
        </p:nvGraphicFramePr>
        <p:xfrm>
          <a:off x="6084888" y="5661025"/>
          <a:ext cx="230028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6" name="Equation" r:id="rId9" imgW="971658" imgH="218946" progId="Equation.DSMT4">
                  <p:embed/>
                </p:oleObj>
              </mc:Choice>
              <mc:Fallback>
                <p:oleObj name="Equation" r:id="rId9" imgW="971658" imgH="218946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5661025"/>
                        <a:ext cx="2300287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07950" y="2528888"/>
            <a:ext cx="8443913" cy="757237"/>
            <a:chOff x="158" y="1547"/>
            <a:chExt cx="5319" cy="477"/>
          </a:xfrm>
        </p:grpSpPr>
        <p:graphicFrame>
          <p:nvGraphicFramePr>
            <p:cNvPr id="9237" name="Object 15"/>
            <p:cNvGraphicFramePr>
              <a:graphicFrameLocks noChangeAspect="1"/>
            </p:cNvGraphicFramePr>
            <p:nvPr/>
          </p:nvGraphicFramePr>
          <p:xfrm>
            <a:off x="481" y="1707"/>
            <a:ext cx="176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67" name="公式" r:id="rId11" imgW="104800" imgH="133453" progId="Equation.3">
                    <p:embed/>
                  </p:oleObj>
                </mc:Choice>
                <mc:Fallback>
                  <p:oleObj name="公式" r:id="rId11" imgW="104800" imgH="133453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" y="1707"/>
                          <a:ext cx="176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8" name="Object 16"/>
            <p:cNvGraphicFramePr>
              <a:graphicFrameLocks noChangeAspect="1"/>
            </p:cNvGraphicFramePr>
            <p:nvPr/>
          </p:nvGraphicFramePr>
          <p:xfrm>
            <a:off x="808" y="1547"/>
            <a:ext cx="212" cy="4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68" name="公式" r:id="rId13" imgW="162059" imgH="400011" progId="Equation.3">
                    <p:embed/>
                  </p:oleObj>
                </mc:Choice>
                <mc:Fallback>
                  <p:oleObj name="公式" r:id="rId13" imgW="162059" imgH="400011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8" y="1547"/>
                          <a:ext cx="212" cy="4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9" name="Object 17"/>
            <p:cNvGraphicFramePr>
              <a:graphicFrameLocks noChangeAspect="1"/>
            </p:cNvGraphicFramePr>
            <p:nvPr/>
          </p:nvGraphicFramePr>
          <p:xfrm>
            <a:off x="1247" y="1706"/>
            <a:ext cx="26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69" name="公式" r:id="rId15" imgW="181145" imgH="133453" progId="Equation.3">
                    <p:embed/>
                  </p:oleObj>
                </mc:Choice>
                <mc:Fallback>
                  <p:oleObj name="公式" r:id="rId15" imgW="181145" imgH="133453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1706"/>
                          <a:ext cx="268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0" name="Rectangle 18"/>
            <p:cNvSpPr>
              <a:spLocks noChangeArrowheads="1"/>
            </p:cNvSpPr>
            <p:nvPr/>
          </p:nvSpPr>
          <p:spPr bwMode="auto">
            <a:xfrm>
              <a:off x="158" y="1661"/>
              <a:ext cx="5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</a:pPr>
              <a:r>
                <a:rPr lang="en-US" altLang="zh-CN">
                  <a:solidFill>
                    <a:schemeClr val="bg1"/>
                  </a:solidFill>
                  <a:latin typeface="Times New Roman" pitchFamily="18" charset="0"/>
                </a:rPr>
                <a:t> </a:t>
              </a: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将     、    与     交换次序，得</a:t>
              </a:r>
            </a:p>
          </p:txBody>
        </p:sp>
      </p:grpSp>
      <p:sp>
        <p:nvSpPr>
          <p:cNvPr id="745494" name="Rectangle 22"/>
          <p:cNvSpPr>
            <a:spLocks noChangeArrowheads="1"/>
          </p:cNvSpPr>
          <p:nvPr/>
        </p:nvSpPr>
        <p:spPr bwMode="auto">
          <a:xfrm>
            <a:off x="107950" y="4014788"/>
            <a:ext cx="88392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上式对任意 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均成立。令 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＝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0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，得</a:t>
            </a:r>
          </a:p>
        </p:txBody>
      </p:sp>
      <p:sp>
        <p:nvSpPr>
          <p:cNvPr id="745496" name="Rectangle 24"/>
          <p:cNvSpPr>
            <a:spLocks noChangeArrowheads="1"/>
          </p:cNvSpPr>
          <p:nvPr/>
        </p:nvSpPr>
        <p:spPr bwMode="auto">
          <a:xfrm>
            <a:off x="107950" y="617538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tabLst>
                <a:tab pos="180975" algn="l"/>
                <a:tab pos="2667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180975" algn="l"/>
                <a:tab pos="2667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180975" algn="l"/>
                <a:tab pos="2667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180975" algn="l"/>
                <a:tab pos="2667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180975" algn="l"/>
                <a:tab pos="2667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180975" algn="l"/>
                <a:tab pos="2667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180975" algn="l"/>
                <a:tab pos="2667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180975" algn="l"/>
                <a:tab pos="2667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180975" algn="l"/>
                <a:tab pos="2667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4.5.2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复矢量的麦克斯韦方程</a:t>
            </a:r>
          </a:p>
        </p:txBody>
      </p:sp>
      <p:graphicFrame>
        <p:nvGraphicFramePr>
          <p:cNvPr id="745500" name="Object 28"/>
          <p:cNvGraphicFramePr>
            <a:graphicFrameLocks noChangeAspect="1"/>
          </p:cNvGraphicFramePr>
          <p:nvPr/>
        </p:nvGraphicFramePr>
        <p:xfrm>
          <a:off x="4818063" y="4008438"/>
          <a:ext cx="3443287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0" name="Equation" r:id="rId17" imgW="1647655" imgH="295404" progId="Equation.DSMT4">
                  <p:embed/>
                </p:oleObj>
              </mc:Choice>
              <mc:Fallback>
                <p:oleObj name="Equation" r:id="rId17" imgW="1647655" imgH="295404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063" y="4008438"/>
                        <a:ext cx="3443287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5501" name="Rectangle 29"/>
          <p:cNvSpPr>
            <a:spLocks noChangeArrowheads="1"/>
          </p:cNvSpPr>
          <p:nvPr/>
        </p:nvSpPr>
        <p:spPr bwMode="auto">
          <a:xfrm>
            <a:off x="179388" y="4797425"/>
            <a:ext cx="63373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令</a:t>
            </a:r>
            <a:r>
              <a:rPr lang="el-GR" altLang="zh-CN" i="1">
                <a:solidFill>
                  <a:schemeClr val="bg1"/>
                </a:solidFill>
                <a:latin typeface="Times New Roman" pitchFamily="18" charset="0"/>
              </a:rPr>
              <a:t>ω</a:t>
            </a:r>
            <a:r>
              <a:rPr lang="en-US" altLang="zh-CN" i="1">
                <a:solidFill>
                  <a:schemeClr val="bg1"/>
                </a:solidFill>
                <a:latin typeface="Times New Roman" pitchFamily="18" charset="0"/>
              </a:rPr>
              <a:t>t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＝</a:t>
            </a:r>
            <a:r>
              <a:rPr lang="el-GR" altLang="zh-CN">
                <a:solidFill>
                  <a:schemeClr val="bg1"/>
                </a:solidFill>
                <a:latin typeface="Times New Roman" pitchFamily="18" charset="0"/>
              </a:rPr>
              <a:t>π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/2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，得</a:t>
            </a:r>
          </a:p>
        </p:txBody>
      </p:sp>
      <p:graphicFrame>
        <p:nvGraphicFramePr>
          <p:cNvPr id="745502" name="Object 30"/>
          <p:cNvGraphicFramePr>
            <a:graphicFrameLocks noChangeAspect="1"/>
          </p:cNvGraphicFramePr>
          <p:nvPr/>
        </p:nvGraphicFramePr>
        <p:xfrm>
          <a:off x="2511425" y="4800600"/>
          <a:ext cx="388461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1" name="Equation" r:id="rId19" imgW="1857256" imgH="295404" progId="Equation.DSMT4">
                  <p:embed/>
                </p:oleObj>
              </mc:Choice>
              <mc:Fallback>
                <p:oleObj name="Equation" r:id="rId19" imgW="1857256" imgH="29540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4800600"/>
                        <a:ext cx="388461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5503" name="Object 31"/>
          <p:cNvGraphicFramePr>
            <a:graphicFrameLocks noChangeAspect="1"/>
          </p:cNvGraphicFramePr>
          <p:nvPr/>
        </p:nvGraphicFramePr>
        <p:xfrm>
          <a:off x="1116013" y="5662613"/>
          <a:ext cx="3652837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2" name="Equation" r:id="rId21" imgW="1743086" imgH="295404" progId="Equation.DSMT4">
                  <p:embed/>
                </p:oleObj>
              </mc:Choice>
              <mc:Fallback>
                <p:oleObj name="Equation" r:id="rId21" imgW="1743086" imgH="295404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662613"/>
                        <a:ext cx="3652837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5504" name="Rectangle 32"/>
          <p:cNvSpPr>
            <a:spLocks noChangeArrowheads="1"/>
          </p:cNvSpPr>
          <p:nvPr/>
        </p:nvSpPr>
        <p:spPr bwMode="auto">
          <a:xfrm>
            <a:off x="196850" y="5670550"/>
            <a:ext cx="4303713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4572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即</a:t>
            </a:r>
          </a:p>
        </p:txBody>
      </p:sp>
      <p:sp>
        <p:nvSpPr>
          <p:cNvPr id="745505" name="AutoShape 33"/>
          <p:cNvSpPr>
            <a:spLocks noChangeArrowheads="1"/>
          </p:cNvSpPr>
          <p:nvPr/>
        </p:nvSpPr>
        <p:spPr bwMode="auto">
          <a:xfrm flipH="1">
            <a:off x="4932363" y="5948363"/>
            <a:ext cx="936625" cy="217487"/>
          </a:xfrm>
          <a:prstGeom prst="leftArrow">
            <a:avLst>
              <a:gd name="adj1" fmla="val 50000"/>
              <a:gd name="adj2" fmla="val 107664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45506" name="AutoShape 34"/>
          <p:cNvSpPr>
            <a:spLocks noChangeArrowheads="1"/>
          </p:cNvSpPr>
          <p:nvPr/>
        </p:nvSpPr>
        <p:spPr bwMode="auto">
          <a:xfrm rot="5400000" flipH="1">
            <a:off x="6804818" y="5012532"/>
            <a:ext cx="792163" cy="215900"/>
          </a:xfrm>
          <a:prstGeom prst="leftArrow">
            <a:avLst>
              <a:gd name="adj1" fmla="val 50000"/>
              <a:gd name="adj2" fmla="val 91728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33" name="AutoShape 35">
            <a:hlinkClick r:id="rId2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34" name="AutoShape 3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35" name="AutoShape 3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36" name="AutoShape 3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45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4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4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745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745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745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745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745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74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745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74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745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5494" grpId="0"/>
      <p:bldP spid="745496" grpId="0"/>
      <p:bldP spid="745501" grpId="0"/>
      <p:bldP spid="745504" grpId="0"/>
      <p:bldP spid="745505" grpId="0" animBg="1"/>
      <p:bldP spid="74550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6A2650-E0D9-463D-87D8-8B928E8D0492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graphicFrame>
        <p:nvGraphicFramePr>
          <p:cNvPr id="797698" name="Object 2"/>
          <p:cNvGraphicFramePr>
            <a:graphicFrameLocks noChangeAspect="1"/>
          </p:cNvGraphicFramePr>
          <p:nvPr/>
        </p:nvGraphicFramePr>
        <p:xfrm>
          <a:off x="3152775" y="2492375"/>
          <a:ext cx="3133725" cy="273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0" name="Equation" r:id="rId3" imgW="1342971" imgH="1114541" progId="Equation.DSMT4">
                  <p:embed/>
                </p:oleObj>
              </mc:Choice>
              <mc:Fallback>
                <p:oleObj name="Equation" r:id="rId3" imgW="1342971" imgH="111454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2492375"/>
                        <a:ext cx="3133725" cy="273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7699" name="Object 3"/>
          <p:cNvGraphicFramePr>
            <a:graphicFrameLocks noChangeAspect="1"/>
          </p:cNvGraphicFramePr>
          <p:nvPr/>
        </p:nvGraphicFramePr>
        <p:xfrm>
          <a:off x="115888" y="2411413"/>
          <a:ext cx="2633662" cy="284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" name="Equation" r:id="rId5" imgW="1038286" imgH="1333487" progId="Equation.DSMT4">
                  <p:embed/>
                </p:oleObj>
              </mc:Choice>
              <mc:Fallback>
                <p:oleObj name="Equation" r:id="rId5" imgW="1038286" imgH="1333487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8" y="2411413"/>
                        <a:ext cx="2633662" cy="284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7700" name="Object 4"/>
          <p:cNvGraphicFramePr>
            <a:graphicFrameLocks noChangeAspect="1"/>
          </p:cNvGraphicFramePr>
          <p:nvPr/>
        </p:nvGraphicFramePr>
        <p:xfrm>
          <a:off x="6659563" y="2636838"/>
          <a:ext cx="2484437" cy="263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2" name="Equation" r:id="rId7" imgW="1095545" imgH="961974" progId="Equation.DSMT4">
                  <p:embed/>
                </p:oleObj>
              </mc:Choice>
              <mc:Fallback>
                <p:oleObj name="Equation" r:id="rId7" imgW="1095545" imgH="96197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636838"/>
                        <a:ext cx="2484437" cy="263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22238" y="514350"/>
            <a:ext cx="8856662" cy="1673225"/>
            <a:chOff x="77" y="324"/>
            <a:chExt cx="5579" cy="1054"/>
          </a:xfrm>
        </p:grpSpPr>
        <p:sp>
          <p:nvSpPr>
            <p:cNvPr id="10263" name="Rectangle 6"/>
            <p:cNvSpPr>
              <a:spLocks noChangeArrowheads="1"/>
            </p:cNvSpPr>
            <p:nvPr/>
          </p:nvSpPr>
          <p:spPr bwMode="auto">
            <a:xfrm>
              <a:off x="77" y="343"/>
              <a:ext cx="5579" cy="10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tabLst>
                  <a:tab pos="457200" algn="l"/>
                </a:tabLs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从形式上讲，只要把微分算子      用       代替，就可以把时谐电磁场的场量之间的关系，转换为复矢量之间的关系。  </a:t>
              </a:r>
            </a:p>
            <a:p>
              <a:pPr algn="just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  <a:latin typeface="Times New Roman" pitchFamily="18" charset="0"/>
                </a:rPr>
                <a:t>         复矢量的麦克斯韦方程</a:t>
              </a:r>
            </a:p>
          </p:txBody>
        </p:sp>
        <p:graphicFrame>
          <p:nvGraphicFramePr>
            <p:cNvPr id="10264" name="Object 7"/>
            <p:cNvGraphicFramePr>
              <a:graphicFrameLocks noChangeAspect="1"/>
            </p:cNvGraphicFramePr>
            <p:nvPr/>
          </p:nvGraphicFramePr>
          <p:xfrm>
            <a:off x="3166" y="433"/>
            <a:ext cx="272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3" name="Equation" r:id="rId9" imgW="162059" imgH="142836" progId="Equation.DSMT4">
                    <p:embed/>
                  </p:oleObj>
                </mc:Choice>
                <mc:Fallback>
                  <p:oleObj name="Equation" r:id="rId9" imgW="162059" imgH="142836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6" y="433"/>
                          <a:ext cx="272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5" name="Object 8"/>
            <p:cNvGraphicFramePr>
              <a:graphicFrameLocks noChangeAspect="1"/>
            </p:cNvGraphicFramePr>
            <p:nvPr/>
          </p:nvGraphicFramePr>
          <p:xfrm>
            <a:off x="2681" y="324"/>
            <a:ext cx="254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54" name="公式" r:id="rId11" imgW="162059" imgH="400011" progId="Equation.3">
                    <p:embed/>
                  </p:oleObj>
                </mc:Choice>
                <mc:Fallback>
                  <p:oleObj name="公式" r:id="rId11" imgW="162059" imgH="400011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1" y="324"/>
                          <a:ext cx="254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908175" y="3695700"/>
            <a:ext cx="1512888" cy="2232025"/>
            <a:chOff x="1292" y="2341"/>
            <a:chExt cx="953" cy="1406"/>
          </a:xfrm>
        </p:grpSpPr>
        <p:sp>
          <p:nvSpPr>
            <p:cNvPr id="10257" name="AutoShape 10"/>
            <p:cNvSpPr>
              <a:spLocks noChangeArrowheads="1"/>
            </p:cNvSpPr>
            <p:nvPr/>
          </p:nvSpPr>
          <p:spPr bwMode="auto">
            <a:xfrm flipH="1">
              <a:off x="1743" y="2341"/>
              <a:ext cx="250" cy="120"/>
            </a:xfrm>
            <a:prstGeom prst="leftArrow">
              <a:avLst>
                <a:gd name="adj1" fmla="val 50000"/>
                <a:gd name="adj2" fmla="val 91725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0258" name="Group 11"/>
            <p:cNvGrpSpPr>
              <a:grpSpLocks/>
            </p:cNvGrpSpPr>
            <p:nvPr/>
          </p:nvGrpSpPr>
          <p:grpSpPr bwMode="auto">
            <a:xfrm>
              <a:off x="1292" y="2523"/>
              <a:ext cx="953" cy="1224"/>
              <a:chOff x="1292" y="2614"/>
              <a:chExt cx="953" cy="1224"/>
            </a:xfrm>
          </p:grpSpPr>
          <p:sp>
            <p:nvSpPr>
              <p:cNvPr id="10259" name="Line 12"/>
              <p:cNvSpPr>
                <a:spLocks noChangeShapeType="1"/>
              </p:cNvSpPr>
              <p:nvPr/>
            </p:nvSpPr>
            <p:spPr bwMode="auto">
              <a:xfrm flipV="1">
                <a:off x="1867" y="2614"/>
                <a:ext cx="0" cy="771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60" name="Object 13"/>
              <p:cNvGraphicFramePr>
                <a:graphicFrameLocks noChangeAspect="1"/>
              </p:cNvGraphicFramePr>
              <p:nvPr/>
            </p:nvGraphicFramePr>
            <p:xfrm>
              <a:off x="1837" y="3524"/>
              <a:ext cx="272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55" name="Equation" r:id="rId13" imgW="162059" imgH="142836" progId="Equation.DSMT4">
                      <p:embed/>
                    </p:oleObj>
                  </mc:Choice>
                  <mc:Fallback>
                    <p:oleObj name="Equation" r:id="rId13" imgW="162059" imgH="142836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37" y="3524"/>
                            <a:ext cx="272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1" name="Object 14"/>
              <p:cNvGraphicFramePr>
                <a:graphicFrameLocks noChangeAspect="1"/>
              </p:cNvGraphicFramePr>
              <p:nvPr/>
            </p:nvGraphicFramePr>
            <p:xfrm>
              <a:off x="1292" y="3392"/>
              <a:ext cx="254" cy="4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56" name="公式" r:id="rId15" imgW="162059" imgH="400011" progId="Equation.3">
                      <p:embed/>
                    </p:oleObj>
                  </mc:Choice>
                  <mc:Fallback>
                    <p:oleObj name="公式" r:id="rId15" imgW="162059" imgH="400011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2" y="3392"/>
                            <a:ext cx="254" cy="4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62" name="Text Box 15"/>
              <p:cNvSpPr txBox="1">
                <a:spLocks noChangeArrowheads="1"/>
              </p:cNvSpPr>
              <p:nvPr/>
            </p:nvSpPr>
            <p:spPr bwMode="auto">
              <a:xfrm>
                <a:off x="1346" y="3414"/>
                <a:ext cx="899" cy="420"/>
              </a:xfrm>
              <a:prstGeom prst="rect">
                <a:avLst/>
              </a:prstGeom>
              <a:noFill/>
              <a:ln w="25400">
                <a:solidFill>
                  <a:srgbClr val="FF66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30000"/>
                  </a:spcBef>
                  <a:spcAft>
                    <a:spcPct val="30000"/>
                  </a:spcAft>
                </a:pPr>
                <a:r>
                  <a:rPr lang="en-US" altLang="zh-CN" sz="3600">
                    <a:solidFill>
                      <a:schemeClr val="bg1"/>
                    </a:solidFill>
                    <a:latin typeface="Times New Roman" pitchFamily="18" charset="0"/>
                    <a:ea typeface="宋体" pitchFamily="2" charset="-122"/>
                  </a:rPr>
                  <a:t>  —</a:t>
                </a:r>
              </a:p>
            </p:txBody>
          </p:sp>
        </p:grp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4808538" y="3860800"/>
            <a:ext cx="2859087" cy="2016125"/>
            <a:chOff x="3029" y="2432"/>
            <a:chExt cx="1801" cy="1270"/>
          </a:xfrm>
        </p:grpSpPr>
        <p:sp>
          <p:nvSpPr>
            <p:cNvPr id="10253" name="AutoShape 17"/>
            <p:cNvSpPr>
              <a:spLocks noChangeArrowheads="1"/>
            </p:cNvSpPr>
            <p:nvPr/>
          </p:nvSpPr>
          <p:spPr bwMode="auto">
            <a:xfrm flipH="1">
              <a:off x="3823" y="2432"/>
              <a:ext cx="263" cy="136"/>
            </a:xfrm>
            <a:prstGeom prst="leftArrow">
              <a:avLst>
                <a:gd name="adj1" fmla="val 50000"/>
                <a:gd name="adj2" fmla="val 91731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0254" name="Group 18"/>
            <p:cNvGrpSpPr>
              <a:grpSpLocks/>
            </p:cNvGrpSpPr>
            <p:nvPr/>
          </p:nvGrpSpPr>
          <p:grpSpPr bwMode="auto">
            <a:xfrm>
              <a:off x="3029" y="2614"/>
              <a:ext cx="1801" cy="1088"/>
              <a:chOff x="3047" y="2494"/>
              <a:chExt cx="1801" cy="1088"/>
            </a:xfrm>
          </p:grpSpPr>
          <p:sp>
            <p:nvSpPr>
              <p:cNvPr id="10255" name="Line 19"/>
              <p:cNvSpPr>
                <a:spLocks noChangeShapeType="1"/>
              </p:cNvSpPr>
              <p:nvPr/>
            </p:nvSpPr>
            <p:spPr bwMode="auto">
              <a:xfrm flipV="1">
                <a:off x="3941" y="2494"/>
                <a:ext cx="0" cy="709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6" name="Rectangle 20"/>
              <p:cNvSpPr>
                <a:spLocks noChangeArrowheads="1"/>
              </p:cNvSpPr>
              <p:nvPr/>
            </p:nvSpPr>
            <p:spPr bwMode="auto">
              <a:xfrm>
                <a:off x="3047" y="3276"/>
                <a:ext cx="1801" cy="306"/>
              </a:xfrm>
              <a:prstGeom prst="rect">
                <a:avLst/>
              </a:prstGeom>
              <a:noFill/>
              <a:ln w="28575">
                <a:solidFill>
                  <a:srgbClr val="FF66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>
                    <a:solidFill>
                      <a:schemeClr val="bg1"/>
                    </a:solidFill>
                    <a:latin typeface="Times New Roman" pitchFamily="18" charset="0"/>
                  </a:rPr>
                  <a:t>略去“</a:t>
                </a:r>
                <a:r>
                  <a:rPr lang="zh-CN" altLang="en-US">
                    <a:solidFill>
                      <a:schemeClr val="bg1"/>
                    </a:solidFill>
                    <a:latin typeface="Times New Roman" pitchFamily="18" charset="0"/>
                    <a:sym typeface="Wingdings 2" pitchFamily="18" charset="2"/>
                  </a:rPr>
                  <a:t></a:t>
                </a:r>
                <a:r>
                  <a:rPr lang="zh-CN" altLang="en-US">
                    <a:solidFill>
                      <a:schemeClr val="bg1"/>
                    </a:solidFill>
                    <a:latin typeface="Times New Roman" pitchFamily="18" charset="0"/>
                  </a:rPr>
                  <a:t>”和下标</a:t>
                </a:r>
                <a:r>
                  <a:rPr lang="en-US" altLang="zh-CN" b="0">
                    <a:solidFill>
                      <a:schemeClr val="bg1"/>
                    </a:solidFill>
                    <a:latin typeface="Times New Roman" pitchFamily="18" charset="0"/>
                  </a:rPr>
                  <a:t>m</a:t>
                </a:r>
              </a:p>
            </p:txBody>
          </p:sp>
        </p:grpSp>
      </p:grpSp>
      <p:sp>
        <p:nvSpPr>
          <p:cNvPr id="10249" name="AutoShape 21">
            <a:hlinkClick r:id="rId1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50" name="AutoShape 2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51" name="AutoShape 2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52" name="AutoShape 2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79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3000"/>
                                        <p:tgtEl>
                                          <p:spTgt spid="797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3000"/>
                                        <p:tgtEl>
                                          <p:spTgt spid="79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AE9433-F912-4CE2-99F3-356607978233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685060" name="Rectangle 4"/>
          <p:cNvSpPr>
            <a:spLocks noChangeArrowheads="1"/>
          </p:cNvSpPr>
          <p:nvPr/>
        </p:nvSpPr>
        <p:spPr bwMode="auto">
          <a:xfrm>
            <a:off x="-323850" y="581025"/>
            <a:ext cx="5688013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 eaLnBrk="0" hangingPunct="0"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rgbClr val="FF9900"/>
                </a:solidFill>
                <a:latin typeface="幼圆" pitchFamily="49" charset="-122"/>
                <a:ea typeface="幼圆" pitchFamily="49" charset="-122"/>
              </a:rPr>
              <a:t>  </a:t>
            </a:r>
            <a:r>
              <a:rPr lang="zh-CN" altLang="en-US">
                <a:solidFill>
                  <a:srgbClr val="FF9900"/>
                </a:solidFill>
                <a:latin typeface="幼圆" pitchFamily="49" charset="-122"/>
                <a:ea typeface="幼圆" pitchFamily="49" charset="-122"/>
              </a:rPr>
              <a:t>例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已知时谐电磁场的电场瞬时值为</a:t>
            </a:r>
          </a:p>
        </p:txBody>
      </p:sp>
      <p:graphicFrame>
        <p:nvGraphicFramePr>
          <p:cNvPr id="685067" name="Object 11"/>
          <p:cNvGraphicFramePr>
            <a:graphicFrameLocks noChangeAspect="1"/>
          </p:cNvGraphicFramePr>
          <p:nvPr/>
        </p:nvGraphicFramePr>
        <p:xfrm>
          <a:off x="1325563" y="2681288"/>
          <a:ext cx="7926387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4" name="Equation" r:id="rId3" imgW="4114974" imgH="1228879" progId="Equation.DSMT4">
                  <p:embed/>
                </p:oleObj>
              </mc:Choice>
              <mc:Fallback>
                <p:oleObj name="Equation" r:id="rId3" imgW="4114974" imgH="122887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563" y="2681288"/>
                        <a:ext cx="7926387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5068" name="Rectangle 12"/>
          <p:cNvSpPr>
            <a:spLocks noChangeArrowheads="1"/>
          </p:cNvSpPr>
          <p:nvPr/>
        </p:nvSpPr>
        <p:spPr bwMode="auto">
          <a:xfrm>
            <a:off x="-180975" y="2684463"/>
            <a:ext cx="172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     </a:t>
            </a:r>
            <a:r>
              <a:rPr lang="zh-CN" altLang="en-US">
                <a:solidFill>
                  <a:srgbClr val="FF9900"/>
                </a:solidFill>
                <a:latin typeface="Times New Roman" pitchFamily="18" charset="0"/>
                <a:ea typeface="幼圆" pitchFamily="49" charset="-122"/>
              </a:rPr>
              <a:t>解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（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）</a:t>
            </a:r>
          </a:p>
        </p:txBody>
      </p:sp>
      <p:graphicFrame>
        <p:nvGraphicFramePr>
          <p:cNvPr id="685069" name="Object 13"/>
          <p:cNvGraphicFramePr>
            <a:graphicFrameLocks noChangeAspect="1"/>
          </p:cNvGraphicFramePr>
          <p:nvPr/>
        </p:nvGraphicFramePr>
        <p:xfrm>
          <a:off x="1476375" y="5599113"/>
          <a:ext cx="4706938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" name="Equation" r:id="rId5" imgW="2238285" imgH="218946" progId="Equation.DSMT4">
                  <p:embed/>
                </p:oleObj>
              </mc:Choice>
              <mc:Fallback>
                <p:oleObj name="Equation" r:id="rId5" imgW="2238285" imgH="218946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599113"/>
                        <a:ext cx="4706938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5071" name="Rectangle 15"/>
          <p:cNvSpPr>
            <a:spLocks noChangeArrowheads="1"/>
          </p:cNvSpPr>
          <p:nvPr/>
        </p:nvSpPr>
        <p:spPr bwMode="auto">
          <a:xfrm>
            <a:off x="731838" y="1854200"/>
            <a:ext cx="794385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试求：（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）电场的复矢量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;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（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）磁场的复矢量和瞬时值。</a:t>
            </a:r>
          </a:p>
        </p:txBody>
      </p:sp>
      <p:sp>
        <p:nvSpPr>
          <p:cNvPr id="11272" name="AutoShape 17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3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4" name="AutoShape 1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5" name="AutoShape 2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281113" y="1206500"/>
          <a:ext cx="7754937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" name="Equation" r:id="rId8" imgW="3695772" imgH="238061" progId="Equation.DSMT4">
                  <p:embed/>
                </p:oleObj>
              </mc:Choice>
              <mc:Fallback>
                <p:oleObj name="Equation" r:id="rId8" imgW="3695772" imgH="238061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1206500"/>
                        <a:ext cx="7754937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utoShape 10"/>
          <p:cNvSpPr>
            <a:spLocks noChangeArrowheads="1"/>
          </p:cNvSpPr>
          <p:nvPr/>
        </p:nvSpPr>
        <p:spPr bwMode="auto">
          <a:xfrm flipH="1">
            <a:off x="736600" y="5703888"/>
            <a:ext cx="636588" cy="287337"/>
          </a:xfrm>
          <a:prstGeom prst="leftArrow">
            <a:avLst>
              <a:gd name="adj1" fmla="val 50000"/>
              <a:gd name="adj2" fmla="val 91994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8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68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68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0"/>
                                        <p:tgtEl>
                                          <p:spTgt spid="68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8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060" grpId="0"/>
      <p:bldP spid="685068" grpId="0"/>
      <p:bldP spid="685071" grpId="0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796379-E776-498F-B3C6-12BB2DACCF4B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687108" name="Rectangle 4"/>
          <p:cNvSpPr>
            <a:spLocks noChangeArrowheads="1"/>
          </p:cNvSpPr>
          <p:nvPr/>
        </p:nvSpPr>
        <p:spPr bwMode="auto">
          <a:xfrm>
            <a:off x="-138113" y="620713"/>
            <a:ext cx="7824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 eaLnBrk="0" hangingPunct="0"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990600" algn="l"/>
              </a:tabLs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（</a:t>
            </a: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</a:rPr>
              <a:t>）由复数形式的麦克斯韦方程，得到磁场的复矢量</a:t>
            </a:r>
          </a:p>
        </p:txBody>
      </p:sp>
      <p:graphicFrame>
        <p:nvGraphicFramePr>
          <p:cNvPr id="687109" name="Object 5"/>
          <p:cNvGraphicFramePr>
            <a:graphicFrameLocks noChangeAspect="1"/>
          </p:cNvGraphicFramePr>
          <p:nvPr/>
        </p:nvGraphicFramePr>
        <p:xfrm>
          <a:off x="1003300" y="1098550"/>
          <a:ext cx="6881813" cy="355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9" name="Equation" r:id="rId3" imgW="3010059" imgH="1590662" progId="Equation.DSMT4">
                  <p:embed/>
                </p:oleObj>
              </mc:Choice>
              <mc:Fallback>
                <p:oleObj name="Equation" r:id="rId3" imgW="3010059" imgH="159066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1098550"/>
                        <a:ext cx="6881813" cy="355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1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551073"/>
              </p:ext>
            </p:extLst>
          </p:nvPr>
        </p:nvGraphicFramePr>
        <p:xfrm>
          <a:off x="1177999" y="4940340"/>
          <a:ext cx="7374657" cy="602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0" name="Equation" r:id="rId5" imgW="3479760" imgH="279360" progId="Equation.DSMT4">
                  <p:embed/>
                </p:oleObj>
              </mc:Choice>
              <mc:Fallback>
                <p:oleObj name="Equation" r:id="rId5" imgW="3479760" imgH="2793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99" y="4940340"/>
                        <a:ext cx="7374657" cy="6022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3360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024535"/>
              </p:ext>
            </p:extLst>
          </p:nvPr>
        </p:nvGraphicFramePr>
        <p:xfrm>
          <a:off x="4860032" y="5662932"/>
          <a:ext cx="4126806" cy="57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1" name="Equation" r:id="rId7" imgW="2044440" imgH="279360" progId="Equation.DSMT4">
                  <p:embed/>
                </p:oleObj>
              </mc:Choice>
              <mc:Fallback>
                <p:oleObj name="Equation" r:id="rId7" imgW="2044440" imgH="279360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5662932"/>
                        <a:ext cx="4126806" cy="574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AutoShape 1026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6" name="AutoShape 102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7" name="AutoShape 102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298" name="AutoShape 102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 flipH="1">
            <a:off x="317500" y="5054600"/>
            <a:ext cx="636588" cy="287338"/>
          </a:xfrm>
          <a:prstGeom prst="leftArrow">
            <a:avLst>
              <a:gd name="adj1" fmla="val 50000"/>
              <a:gd name="adj2" fmla="val 91993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8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68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8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8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08" grpId="0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CDC638-C870-4D1F-87BC-0629E57CE2BD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761858" name="Text Box 2"/>
          <p:cNvSpPr txBox="1">
            <a:spLocks noChangeArrowheads="1"/>
          </p:cNvSpPr>
          <p:nvPr/>
        </p:nvSpPr>
        <p:spPr bwMode="auto">
          <a:xfrm>
            <a:off x="304800" y="1012825"/>
            <a:ext cx="8534400" cy="28257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defRPr/>
            </a:pPr>
            <a:r>
              <a:rPr kumimoji="1"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　 实际的介质都存在损耗：</a:t>
            </a:r>
          </a:p>
          <a:p>
            <a:pPr algn="just" eaLnBrk="1" hangingPunct="1">
              <a:lnSpc>
                <a:spcPct val="110000"/>
              </a:lnSpc>
              <a:defRPr/>
            </a:pPr>
            <a:r>
              <a:rPr kumimoji="1" lang="zh-CN" altLang="en-US" dirty="0" smtClean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      导电媒质</a:t>
            </a:r>
            <a:r>
              <a:rPr kumimoji="1" lang="en-US" altLang="zh-CN" dirty="0" smtClean="0">
                <a:solidFill>
                  <a:schemeClr val="bg1"/>
                </a:solidFill>
                <a:latin typeface="Times New Roman" pitchFamily="18" charset="0"/>
              </a:rPr>
              <a:t>——</a:t>
            </a:r>
            <a:r>
              <a:rPr kumimoji="1"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当电导率有限时，存在</a:t>
            </a:r>
            <a:r>
              <a:rPr kumimoji="1" lang="zh-CN" altLang="en-US" dirty="0" smtClean="0">
                <a:solidFill>
                  <a:srgbClr val="FF3300"/>
                </a:solidFill>
                <a:latin typeface="楷体_GB2312" pitchFamily="49" charset="-122"/>
              </a:rPr>
              <a:t>欧姆损耗</a:t>
            </a:r>
            <a:r>
              <a:rPr kumimoji="1"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。</a:t>
            </a:r>
            <a:endParaRPr kumimoji="1" lang="en-US" altLang="zh-CN" dirty="0" smtClean="0">
              <a:solidFill>
                <a:schemeClr val="bg1"/>
              </a:solidFill>
              <a:latin typeface="宋体" pitchFamily="2" charset="-122"/>
            </a:endParaRPr>
          </a:p>
          <a:p>
            <a:pPr algn="just" eaLnBrk="1" hangingPunct="1">
              <a:lnSpc>
                <a:spcPct val="110000"/>
              </a:lnSpc>
              <a:defRPr/>
            </a:pPr>
            <a:r>
              <a:rPr kumimoji="1" lang="zh-CN" altLang="en-US" dirty="0" smtClean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      电介质</a:t>
            </a:r>
            <a:r>
              <a:rPr kumimoji="1" lang="en-US" altLang="zh-CN" dirty="0" smtClean="0">
                <a:solidFill>
                  <a:schemeClr val="bg1"/>
                </a:solidFill>
                <a:latin typeface="Times New Roman" pitchFamily="18" charset="0"/>
              </a:rPr>
              <a:t>——</a:t>
            </a:r>
            <a:r>
              <a:rPr kumimoji="1"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受到极化时，存在</a:t>
            </a:r>
            <a:r>
              <a:rPr kumimoji="1" lang="zh-CN" altLang="en-US" dirty="0" smtClean="0">
                <a:solidFill>
                  <a:srgbClr val="FF3300"/>
                </a:solidFill>
                <a:latin typeface="楷体_GB2312" pitchFamily="49" charset="-122"/>
              </a:rPr>
              <a:t>电极化损耗</a:t>
            </a:r>
            <a:r>
              <a:rPr kumimoji="1"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。</a:t>
            </a:r>
          </a:p>
          <a:p>
            <a:pPr algn="just" eaLnBrk="1" hangingPunct="1">
              <a:lnSpc>
                <a:spcPct val="110000"/>
              </a:lnSpc>
              <a:defRPr/>
            </a:pPr>
            <a:r>
              <a:rPr kumimoji="1" lang="zh-CN" altLang="en-US" dirty="0" smtClean="0">
                <a:solidFill>
                  <a:schemeClr val="bg1"/>
                </a:solidFill>
                <a:latin typeface="宋体" pitchFamily="2" charset="-122"/>
              </a:rPr>
              <a:t>       </a:t>
            </a:r>
            <a:r>
              <a:rPr kumimoji="1" lang="zh-CN" altLang="en-US" dirty="0" smtClean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磁介质</a:t>
            </a:r>
            <a:r>
              <a:rPr kumimoji="1" lang="en-US" altLang="zh-CN" dirty="0" smtClean="0">
                <a:solidFill>
                  <a:schemeClr val="bg1"/>
                </a:solidFill>
                <a:latin typeface="Times New Roman" pitchFamily="18" charset="0"/>
              </a:rPr>
              <a:t>——</a:t>
            </a:r>
            <a:r>
              <a:rPr kumimoji="1"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受到磁化时，存在</a:t>
            </a:r>
            <a:r>
              <a:rPr kumimoji="1" lang="zh-CN" altLang="en-US" dirty="0" smtClean="0">
                <a:solidFill>
                  <a:srgbClr val="FF3300"/>
                </a:solidFill>
                <a:latin typeface="楷体_GB2312" pitchFamily="49" charset="-122"/>
              </a:rPr>
              <a:t>磁化损耗</a:t>
            </a:r>
            <a:r>
              <a:rPr kumimoji="1"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。</a:t>
            </a:r>
            <a:endParaRPr kumimoji="1" lang="en-US" altLang="zh-CN" dirty="0" smtClean="0">
              <a:solidFill>
                <a:schemeClr val="bg1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110000"/>
              </a:lnSpc>
              <a:defRPr/>
            </a:pPr>
            <a:r>
              <a:rPr kumimoji="1"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   损耗的大小与</a:t>
            </a:r>
            <a:r>
              <a:rPr kumimoji="1" lang="zh-CN" altLang="en-US" dirty="0" smtClean="0">
                <a:solidFill>
                  <a:schemeClr val="accent3"/>
                </a:solidFill>
                <a:latin typeface="楷体_GB2312" pitchFamily="49" charset="-122"/>
              </a:rPr>
              <a:t>媒质材料</a:t>
            </a:r>
            <a:r>
              <a:rPr kumimoji="1"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、场随时间变化的快慢有关。一些媒质的损耗在低频时可以忽略，但在高频时就不能忽略。</a:t>
            </a:r>
          </a:p>
        </p:txBody>
      </p:sp>
      <p:sp>
        <p:nvSpPr>
          <p:cNvPr id="761859" name="Text Box 3"/>
          <p:cNvSpPr txBox="1">
            <a:spLocks noChangeArrowheads="1"/>
          </p:cNvSpPr>
          <p:nvPr/>
        </p:nvSpPr>
        <p:spPr bwMode="auto">
          <a:xfrm>
            <a:off x="209550" y="471488"/>
            <a:ext cx="8539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4.5.3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复电容率和复磁导率</a:t>
            </a:r>
            <a:r>
              <a:rPr lang="zh-CN" altLang="en-US" sz="280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</a:t>
            </a:r>
          </a:p>
        </p:txBody>
      </p:sp>
      <p:graphicFrame>
        <p:nvGraphicFramePr>
          <p:cNvPr id="761860" name="Object 4"/>
          <p:cNvGraphicFramePr>
            <a:graphicFrameLocks/>
          </p:cNvGraphicFramePr>
          <p:nvPr/>
        </p:nvGraphicFramePr>
        <p:xfrm>
          <a:off x="1116013" y="4948238"/>
          <a:ext cx="6538912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2" name="Equation" r:id="rId3" imgW="2848000" imgH="400011" progId="Equation.DSMT4">
                  <p:embed/>
                </p:oleObj>
              </mc:Choice>
              <mc:Fallback>
                <p:oleObj name="Equation" r:id="rId3" imgW="2848000" imgH="400011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948238"/>
                        <a:ext cx="6538912" cy="941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1861" name="Text Box 5"/>
          <p:cNvSpPr txBox="1">
            <a:spLocks noChangeArrowheads="1"/>
          </p:cNvSpPr>
          <p:nvPr/>
        </p:nvSpPr>
        <p:spPr bwMode="auto">
          <a:xfrm>
            <a:off x="179388" y="4008438"/>
            <a:ext cx="439261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30000"/>
              </a:spcBef>
              <a:buFontTx/>
              <a:buBlip>
                <a:blip r:embed="rId5"/>
              </a:buBlip>
            </a:pPr>
            <a:r>
              <a:rPr kumimoji="1" lang="en-US" altLang="zh-CN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 </a:t>
            </a:r>
            <a:r>
              <a:rPr kumimoji="1" lang="zh-CN" altLang="en-US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导电媒质的</a:t>
            </a:r>
            <a:r>
              <a:rPr kumimoji="1" lang="zh-CN" altLang="en-US" dirty="0" smtClean="0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等效复介电常数</a:t>
            </a:r>
            <a:endParaRPr kumimoji="1" lang="zh-CN" altLang="en-US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61863" name="Text Box 7"/>
          <p:cNvSpPr txBox="1">
            <a:spLocks noChangeArrowheads="1"/>
          </p:cNvSpPr>
          <p:nvPr/>
        </p:nvSpPr>
        <p:spPr bwMode="auto">
          <a:xfrm>
            <a:off x="611188" y="5815013"/>
            <a:ext cx="770413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30000"/>
              </a:spcBef>
            </a:pP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</a:rPr>
              <a:t>其中 </a:t>
            </a:r>
            <a:r>
              <a:rPr kumimoji="1" lang="zh-CN" altLang="en-US" i="1" dirty="0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                      </a:t>
            </a: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</a:rPr>
              <a:t>， 称为导电媒质的</a:t>
            </a:r>
            <a:r>
              <a:rPr kumimoji="1" lang="zh-CN" altLang="en-US" dirty="0" smtClean="0">
                <a:solidFill>
                  <a:schemeClr val="bg1"/>
                </a:solidFill>
                <a:latin typeface="Times New Roman" pitchFamily="18" charset="0"/>
              </a:rPr>
              <a:t>等效复介电常数</a:t>
            </a: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761864" name="Text Box 8"/>
          <p:cNvSpPr txBox="1">
            <a:spLocks noChangeArrowheads="1"/>
          </p:cNvSpPr>
          <p:nvPr/>
        </p:nvSpPr>
        <p:spPr bwMode="auto">
          <a:xfrm>
            <a:off x="214313" y="4508500"/>
            <a:ext cx="6518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30000"/>
              </a:spcBef>
            </a:pPr>
            <a:r>
              <a:rPr kumimoji="1" lang="en-US" altLang="zh-CN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对于介电常数为</a:t>
            </a:r>
            <a:r>
              <a:rPr kumimoji="1" lang="zh-CN" altLang="en-US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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、电导率为</a:t>
            </a:r>
            <a:r>
              <a:rPr kumimoji="1" lang="zh-CN" altLang="en-US" i="1">
                <a:solidFill>
                  <a:schemeClr val="bg1"/>
                </a:solidFill>
                <a:latin typeface="Times New Roman" pitchFamily="18" charset="0"/>
                <a:sym typeface="Symbol" pitchFamily="18" charset="2"/>
              </a:rPr>
              <a:t>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的导电媒质</a:t>
            </a:r>
          </a:p>
        </p:txBody>
      </p:sp>
      <p:sp>
        <p:nvSpPr>
          <p:cNvPr id="13321" name="AutoShape 9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2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3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324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" name="对象 1"/>
          <p:cNvGraphicFramePr>
            <a:graphicFrameLocks/>
          </p:cNvGraphicFramePr>
          <p:nvPr/>
        </p:nvGraphicFramePr>
        <p:xfrm>
          <a:off x="1331913" y="5570538"/>
          <a:ext cx="16700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3" name="Equation" r:id="rId7" imgW="695430" imgH="352399" progId="Equation.DSMT4">
                  <p:embed/>
                </p:oleObj>
              </mc:Choice>
              <mc:Fallback>
                <p:oleObj name="Equation" r:id="rId7" imgW="695430" imgH="352399" progId="Equation.DSMT4">
                  <p:embed/>
                  <p:pic>
                    <p:nvPicPr>
                      <p:cNvPr id="0" name="对象 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570538"/>
                        <a:ext cx="167005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1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618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618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618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618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7618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761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76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76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2000"/>
                                        <p:tgtEl>
                                          <p:spTgt spid="761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858" grpId="0" build="p" autoUpdateAnimBg="0"/>
      <p:bldP spid="761859" grpId="0"/>
      <p:bldP spid="761861" grpId="0"/>
      <p:bldP spid="761863" grpId="0"/>
      <p:bldP spid="76186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770415-F801-474F-97C0-CAD7AA11CCA0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762882" name="Text Box 2"/>
          <p:cNvSpPr txBox="1">
            <a:spLocks noChangeArrowheads="1"/>
          </p:cNvSpPr>
          <p:nvPr/>
        </p:nvSpPr>
        <p:spPr bwMode="auto">
          <a:xfrm>
            <a:off x="107950" y="538163"/>
            <a:ext cx="88392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kumimoji="1" lang="en-US" altLang="zh-CN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电介质的复介电常数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62884" name="Text Box 4"/>
          <p:cNvSpPr txBox="1">
            <a:spLocks noChangeArrowheads="1"/>
          </p:cNvSpPr>
          <p:nvPr/>
        </p:nvSpPr>
        <p:spPr bwMode="auto">
          <a:xfrm>
            <a:off x="107950" y="2711450"/>
            <a:ext cx="82645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kumimoji="1" lang="en-US" altLang="zh-CN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 </a:t>
            </a:r>
            <a:r>
              <a:rPr kumimoji="1" lang="zh-CN" altLang="en-US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同时存在极化损耗和欧姆损耗的</a:t>
            </a:r>
            <a:r>
              <a:rPr kumimoji="1" lang="zh-CN" altLang="en-US" dirty="0" smtClean="0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介质的等效复介电常数</a:t>
            </a:r>
            <a:endParaRPr kumimoji="1" lang="zh-CN" altLang="en-US" dirty="0">
              <a:solidFill>
                <a:schemeClr val="bg1"/>
              </a:solidFill>
              <a:latin typeface="Verdana" pitchFamily="34" charset="0"/>
            </a:endParaRPr>
          </a:p>
        </p:txBody>
      </p:sp>
      <p:graphicFrame>
        <p:nvGraphicFramePr>
          <p:cNvPr id="762885" name="Object 5"/>
          <p:cNvGraphicFramePr>
            <a:graphicFrameLocks noChangeAspect="1"/>
          </p:cNvGraphicFramePr>
          <p:nvPr/>
        </p:nvGraphicFramePr>
        <p:xfrm>
          <a:off x="755650" y="3429000"/>
          <a:ext cx="5776913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2" name="Equation" r:id="rId4" imgW="2828914" imgH="390628" progId="Equation.DSMT4">
                  <p:embed/>
                </p:oleObj>
              </mc:Choice>
              <mc:Fallback>
                <p:oleObj name="Equation" r:id="rId4" imgW="2828914" imgH="39062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429000"/>
                        <a:ext cx="5776913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2886" name="Text Box 6"/>
          <p:cNvSpPr txBox="1">
            <a:spLocks noChangeArrowheads="1"/>
          </p:cNvSpPr>
          <p:nvPr/>
        </p:nvSpPr>
        <p:spPr bwMode="auto">
          <a:xfrm>
            <a:off x="107950" y="4508500"/>
            <a:ext cx="489585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kumimoji="1" lang="en-US" altLang="zh-CN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磁介质的复磁导率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07950" y="1052513"/>
            <a:ext cx="8839200" cy="1516062"/>
            <a:chOff x="113" y="618"/>
            <a:chExt cx="5568" cy="955"/>
          </a:xfrm>
        </p:grpSpPr>
        <p:graphicFrame>
          <p:nvGraphicFramePr>
            <p:cNvPr id="14351" name="Object 3"/>
            <p:cNvGraphicFramePr>
              <a:graphicFrameLocks noChangeAspect="1"/>
            </p:cNvGraphicFramePr>
            <p:nvPr/>
          </p:nvGraphicFramePr>
          <p:xfrm>
            <a:off x="3378" y="678"/>
            <a:ext cx="109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3" name="Equation" r:id="rId6" imgW="809600" imgH="171334" progId="Equation.DSMT4">
                    <p:embed/>
                  </p:oleObj>
                </mc:Choice>
                <mc:Fallback>
                  <p:oleObj name="Equation" r:id="rId6" imgW="809600" imgH="171334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8" y="678"/>
                          <a:ext cx="1090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2" name="Text Box 11"/>
            <p:cNvSpPr txBox="1">
              <a:spLocks noChangeArrowheads="1"/>
            </p:cNvSpPr>
            <p:nvPr/>
          </p:nvSpPr>
          <p:spPr bwMode="auto">
            <a:xfrm>
              <a:off x="113" y="618"/>
              <a:ext cx="5568" cy="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en-US" altLang="zh-CN" dirty="0">
                  <a:solidFill>
                    <a:schemeClr val="bg1"/>
                  </a:solidFill>
                  <a:latin typeface="Verdana" pitchFamily="34" charset="0"/>
                  <a:ea typeface="宋体" pitchFamily="2" charset="-122"/>
                </a:rPr>
                <a:t>      </a:t>
              </a:r>
              <a:r>
                <a:rPr kumimoji="1" lang="zh-CN" altLang="en-US" dirty="0">
                  <a:solidFill>
                    <a:schemeClr val="bg1"/>
                  </a:solidFill>
                  <a:latin typeface="Times New Roman" pitchFamily="18" charset="0"/>
                </a:rPr>
                <a:t>对于存在电极化损耗的电介质，有                  ，称为复介电常数或复电容率。</a:t>
              </a:r>
              <a:r>
                <a:rPr kumimoji="1" lang="zh-CN" altLang="en-US" dirty="0" smtClean="0">
                  <a:solidFill>
                    <a:schemeClr val="bg1"/>
                  </a:solidFill>
                  <a:latin typeface="Times New Roman" pitchFamily="18" charset="0"/>
                </a:rPr>
                <a:t>其虚部</a:t>
              </a:r>
              <a:r>
                <a:rPr kumimoji="1" lang="zh-CN" altLang="en-US" dirty="0">
                  <a:solidFill>
                    <a:schemeClr val="bg1"/>
                  </a:solidFill>
                  <a:latin typeface="Times New Roman" pitchFamily="18" charset="0"/>
                </a:rPr>
                <a:t>为大于零的数，表示电介质的电极化损耗</a:t>
              </a:r>
              <a:r>
                <a:rPr kumimoji="1" lang="zh-CN" altLang="en-US" dirty="0" smtClean="0">
                  <a:solidFill>
                    <a:schemeClr val="bg1"/>
                  </a:solidFill>
                  <a:latin typeface="Times New Roman" pitchFamily="18" charset="0"/>
                </a:rPr>
                <a:t>。实部</a:t>
              </a:r>
              <a:r>
                <a:rPr kumimoji="1" lang="zh-CN" altLang="en-US" dirty="0">
                  <a:solidFill>
                    <a:schemeClr val="bg1"/>
                  </a:solidFill>
                  <a:latin typeface="Times New Roman" pitchFamily="18" charset="0"/>
                </a:rPr>
                <a:t>和虚部都是频率的函数。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60363" y="5156200"/>
            <a:ext cx="8676133" cy="1001713"/>
            <a:chOff x="227" y="3339"/>
            <a:chExt cx="5647" cy="631"/>
          </a:xfrm>
        </p:grpSpPr>
        <p:graphicFrame>
          <p:nvGraphicFramePr>
            <p:cNvPr id="14349" name="Object 7"/>
            <p:cNvGraphicFramePr>
              <a:graphicFrameLocks noChangeAspect="1"/>
            </p:cNvGraphicFramePr>
            <p:nvPr/>
          </p:nvGraphicFramePr>
          <p:xfrm>
            <a:off x="3003" y="3367"/>
            <a:ext cx="1139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4" name="Equation" r:id="rId8" imgW="847772" imgH="171334" progId="Equation.DSMT4">
                    <p:embed/>
                  </p:oleObj>
                </mc:Choice>
                <mc:Fallback>
                  <p:oleObj name="Equation" r:id="rId8" imgW="847772" imgH="171334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3" y="3367"/>
                          <a:ext cx="1139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0" name="Text Box 16"/>
            <p:cNvSpPr txBox="1">
              <a:spLocks noChangeArrowheads="1"/>
            </p:cNvSpPr>
            <p:nvPr/>
          </p:nvSpPr>
          <p:spPr bwMode="auto">
            <a:xfrm>
              <a:off x="227" y="3339"/>
              <a:ext cx="5647" cy="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en-US" altLang="zh-CN" dirty="0">
                  <a:solidFill>
                    <a:schemeClr val="bg1"/>
                  </a:solidFill>
                  <a:latin typeface="Verdana" pitchFamily="34" charset="0"/>
                  <a:ea typeface="宋体" pitchFamily="2" charset="-122"/>
                </a:rPr>
                <a:t>      </a:t>
              </a:r>
              <a:r>
                <a:rPr kumimoji="1" lang="zh-CN" altLang="en-US" dirty="0">
                  <a:solidFill>
                    <a:schemeClr val="bg1"/>
                  </a:solidFill>
                  <a:latin typeface="Times New Roman" pitchFamily="18" charset="0"/>
                </a:rPr>
                <a:t>对于磁性介质，复磁导率为                      ，其虚部为大于</a:t>
              </a:r>
              <a:r>
                <a:rPr kumimoji="1" lang="zh-CN" altLang="en-US" dirty="0" smtClean="0">
                  <a:solidFill>
                    <a:schemeClr val="bg1"/>
                  </a:solidFill>
                  <a:latin typeface="Times New Roman" pitchFamily="18" charset="0"/>
                </a:rPr>
                <a:t>零</a:t>
              </a:r>
              <a:endParaRPr kumimoji="1" lang="en-US" altLang="zh-CN" dirty="0" smtClean="0">
                <a:solidFill>
                  <a:schemeClr val="bg1"/>
                </a:solidFill>
                <a:latin typeface="Times New Roman" pitchFamily="18" charset="0"/>
              </a:endParaRPr>
            </a:p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</a:pPr>
              <a:r>
                <a:rPr kumimoji="1" lang="zh-CN" altLang="en-US" dirty="0" smtClean="0">
                  <a:solidFill>
                    <a:schemeClr val="bg1"/>
                  </a:solidFill>
                  <a:latin typeface="Times New Roman" pitchFamily="18" charset="0"/>
                </a:rPr>
                <a:t>的</a:t>
              </a:r>
              <a:r>
                <a:rPr kumimoji="1" lang="zh-CN" altLang="en-US" dirty="0">
                  <a:solidFill>
                    <a:schemeClr val="bg1"/>
                  </a:solidFill>
                  <a:latin typeface="Times New Roman" pitchFamily="18" charset="0"/>
                </a:rPr>
                <a:t>数，表示磁介质的磁化损耗。</a:t>
              </a:r>
            </a:p>
          </p:txBody>
        </p:sp>
      </p:grpSp>
      <p:sp>
        <p:nvSpPr>
          <p:cNvPr id="14345" name="AutoShape 19">
            <a:hlinkClick r:id="rId10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6" name="AutoShape 2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7" name="AutoShape 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8" name="AutoShape 2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6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6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6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2882" grpId="0"/>
      <p:bldP spid="762884" grpId="0"/>
      <p:bldP spid="76288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FCC3FF-DAA4-4D60-9997-16314A7F7CE4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763906" name="Text Box 2"/>
          <p:cNvSpPr txBox="1">
            <a:spLocks noChangeArrowheads="1"/>
          </p:cNvSpPr>
          <p:nvPr/>
        </p:nvSpPr>
        <p:spPr bwMode="auto">
          <a:xfrm>
            <a:off x="107950" y="333375"/>
            <a:ext cx="87852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kumimoji="1" lang="en-US" altLang="zh-CN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损耗角正切</a:t>
            </a:r>
            <a:endParaRPr kumimoji="1" lang="zh-CN" altLang="en-US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763908" name="Text Box 4"/>
          <p:cNvSpPr txBox="1">
            <a:spLocks noChangeArrowheads="1"/>
          </p:cNvSpPr>
          <p:nvPr/>
        </p:nvSpPr>
        <p:spPr bwMode="auto">
          <a:xfrm>
            <a:off x="0" y="2781300"/>
            <a:ext cx="4500563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kumimoji="1" lang="en-US" altLang="zh-CN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 </a:t>
            </a:r>
            <a:r>
              <a:rPr kumimoji="1"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导电媒质导电性能的</a:t>
            </a:r>
            <a:r>
              <a:rPr kumimoji="1" lang="zh-CN" altLang="en-US">
                <a:solidFill>
                  <a:srgbClr val="FF0000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相对性</a:t>
            </a:r>
            <a:endParaRPr kumimoji="1" lang="zh-CN" altLang="en-US">
              <a:solidFill>
                <a:srgbClr val="FF0000"/>
              </a:solidFill>
              <a:latin typeface="Verdana" pitchFamily="34" charset="0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0" y="1989138"/>
            <a:ext cx="8767763" cy="901700"/>
            <a:chOff x="104" y="1257"/>
            <a:chExt cx="5523" cy="568"/>
          </a:xfrm>
        </p:grpSpPr>
        <p:graphicFrame>
          <p:nvGraphicFramePr>
            <p:cNvPr id="15381" name="Object 3"/>
            <p:cNvGraphicFramePr>
              <a:graphicFrameLocks noChangeAspect="1"/>
            </p:cNvGraphicFramePr>
            <p:nvPr/>
          </p:nvGraphicFramePr>
          <p:xfrm>
            <a:off x="1115" y="1257"/>
            <a:ext cx="962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9" name="Equation" r:id="rId4" imgW="704799" imgH="333285" progId="Equation.DSMT4">
                    <p:embed/>
                  </p:oleObj>
                </mc:Choice>
                <mc:Fallback>
                  <p:oleObj name="Equation" r:id="rId4" imgW="704799" imgH="333285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" y="1257"/>
                          <a:ext cx="962" cy="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2" name="Object 6"/>
            <p:cNvGraphicFramePr>
              <a:graphicFrameLocks noChangeAspect="1"/>
            </p:cNvGraphicFramePr>
            <p:nvPr/>
          </p:nvGraphicFramePr>
          <p:xfrm>
            <a:off x="2853" y="1266"/>
            <a:ext cx="898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0" name="Equation" r:id="rId6" imgW="657258" imgH="333285" progId="Equation.DSMT4">
                    <p:embed/>
                  </p:oleObj>
                </mc:Choice>
                <mc:Fallback>
                  <p:oleObj name="Equation" r:id="rId6" imgW="657258" imgH="33328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3" y="1266"/>
                          <a:ext cx="898" cy="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3" name="Text Box 7"/>
            <p:cNvSpPr txBox="1">
              <a:spLocks noChangeArrowheads="1"/>
            </p:cNvSpPr>
            <p:nvPr/>
          </p:nvSpPr>
          <p:spPr bwMode="auto">
            <a:xfrm>
              <a:off x="2109" y="1344"/>
              <a:ext cx="1134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电介质：</a:t>
              </a:r>
            </a:p>
          </p:txBody>
        </p:sp>
        <p:graphicFrame>
          <p:nvGraphicFramePr>
            <p:cNvPr id="15384" name="Object 8"/>
            <p:cNvGraphicFramePr>
              <a:graphicFrameLocks noChangeAspect="1"/>
            </p:cNvGraphicFramePr>
            <p:nvPr/>
          </p:nvGraphicFramePr>
          <p:xfrm>
            <a:off x="4681" y="1298"/>
            <a:ext cx="946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1" name="Equation" r:id="rId8" imgW="695430" imgH="361783" progId="Equation.DSMT4">
                    <p:embed/>
                  </p:oleObj>
                </mc:Choice>
                <mc:Fallback>
                  <p:oleObj name="Equation" r:id="rId8" imgW="695430" imgH="361783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1" y="1298"/>
                          <a:ext cx="946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5" name="Text Box 9"/>
            <p:cNvSpPr txBox="1">
              <a:spLocks noChangeArrowheads="1"/>
            </p:cNvSpPr>
            <p:nvPr/>
          </p:nvSpPr>
          <p:spPr bwMode="auto">
            <a:xfrm>
              <a:off x="104" y="1329"/>
              <a:ext cx="975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导电媒质：</a:t>
              </a:r>
            </a:p>
          </p:txBody>
        </p:sp>
        <p:sp>
          <p:nvSpPr>
            <p:cNvPr id="15386" name="Text Box 10"/>
            <p:cNvSpPr txBox="1">
              <a:spLocks noChangeArrowheads="1"/>
            </p:cNvSpPr>
            <p:nvPr/>
          </p:nvSpPr>
          <p:spPr bwMode="auto">
            <a:xfrm>
              <a:off x="3911" y="1372"/>
              <a:ext cx="1134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磁介质：</a:t>
              </a: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1476375" y="3860800"/>
            <a:ext cx="6100763" cy="784225"/>
            <a:chOff x="1088" y="2619"/>
            <a:chExt cx="3843" cy="494"/>
          </a:xfrm>
        </p:grpSpPr>
        <p:graphicFrame>
          <p:nvGraphicFramePr>
            <p:cNvPr id="15379" name="Object 5"/>
            <p:cNvGraphicFramePr>
              <a:graphicFrameLocks noChangeAspect="1"/>
            </p:cNvGraphicFramePr>
            <p:nvPr/>
          </p:nvGraphicFramePr>
          <p:xfrm>
            <a:off x="1088" y="2619"/>
            <a:ext cx="673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2" name="Equation" r:id="rId10" imgW="476113" imgH="333285" progId="Equation.DSMT4">
                    <p:embed/>
                  </p:oleObj>
                </mc:Choice>
                <mc:Fallback>
                  <p:oleObj name="Equation" r:id="rId10" imgW="476113" imgH="33328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8" y="2619"/>
                          <a:ext cx="673" cy="4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0" name="Text Box 12"/>
            <p:cNvSpPr txBox="1">
              <a:spLocks noChangeArrowheads="1"/>
            </p:cNvSpPr>
            <p:nvPr/>
          </p:nvSpPr>
          <p:spPr bwMode="auto">
            <a:xfrm>
              <a:off x="1665" y="2710"/>
              <a:ext cx="3266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</a:pPr>
              <a:r>
                <a:rPr kumimoji="1"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 ——</a:t>
              </a: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</a:t>
              </a:r>
              <a:r>
                <a:rPr kumimoji="1"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弱导电媒质和绝缘体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1547813" y="4589463"/>
            <a:ext cx="6019800" cy="784225"/>
            <a:chOff x="1111" y="3113"/>
            <a:chExt cx="3792" cy="494"/>
          </a:xfrm>
        </p:grpSpPr>
        <p:graphicFrame>
          <p:nvGraphicFramePr>
            <p:cNvPr id="15377" name="Object 11"/>
            <p:cNvGraphicFramePr>
              <a:graphicFrameLocks noChangeAspect="1"/>
            </p:cNvGraphicFramePr>
            <p:nvPr/>
          </p:nvGraphicFramePr>
          <p:xfrm>
            <a:off x="1111" y="3113"/>
            <a:ext cx="577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3" name="Equation" r:id="rId12" imgW="400115" imgH="333285" progId="Equation.DSMT4">
                    <p:embed/>
                  </p:oleObj>
                </mc:Choice>
                <mc:Fallback>
                  <p:oleObj name="Equation" r:id="rId12" imgW="400115" imgH="33328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3113"/>
                          <a:ext cx="577" cy="4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8" name="Text Box 15"/>
            <p:cNvSpPr txBox="1">
              <a:spLocks noChangeArrowheads="1"/>
            </p:cNvSpPr>
            <p:nvPr/>
          </p:nvSpPr>
          <p:spPr bwMode="auto">
            <a:xfrm>
              <a:off x="1637" y="3202"/>
              <a:ext cx="3266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</a:pPr>
              <a:r>
                <a:rPr kumimoji="1"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 ——</a:t>
              </a: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  </a:t>
              </a:r>
              <a:r>
                <a:rPr kumimoji="1"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一般导电媒质</a:t>
              </a:r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1547813" y="5381625"/>
            <a:ext cx="6159500" cy="784225"/>
            <a:chOff x="1087" y="3616"/>
            <a:chExt cx="3880" cy="494"/>
          </a:xfrm>
        </p:grpSpPr>
        <p:graphicFrame>
          <p:nvGraphicFramePr>
            <p:cNvPr id="15375" name="Object 14"/>
            <p:cNvGraphicFramePr>
              <a:graphicFrameLocks noChangeAspect="1"/>
            </p:cNvGraphicFramePr>
            <p:nvPr/>
          </p:nvGraphicFramePr>
          <p:xfrm>
            <a:off x="1087" y="3616"/>
            <a:ext cx="674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64" name="Equation" r:id="rId14" imgW="476113" imgH="333285" progId="Equation.DSMT4">
                    <p:embed/>
                  </p:oleObj>
                </mc:Choice>
                <mc:Fallback>
                  <p:oleObj name="Equation" r:id="rId14" imgW="476113" imgH="333285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7" y="3616"/>
                          <a:ext cx="674" cy="4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6" name="Text Box 16"/>
            <p:cNvSpPr txBox="1">
              <a:spLocks noChangeArrowheads="1"/>
            </p:cNvSpPr>
            <p:nvPr/>
          </p:nvSpPr>
          <p:spPr bwMode="auto">
            <a:xfrm>
              <a:off x="1701" y="3705"/>
              <a:ext cx="3266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30000"/>
                </a:spcBef>
              </a:pPr>
              <a:r>
                <a:rPr kumimoji="1"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</a:rPr>
                <a:t>—— </a:t>
              </a:r>
              <a:r>
                <a:rPr kumimoji="1" lang="zh-CN" altLang="en-US" sz="200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良导体</a:t>
              </a:r>
            </a:p>
          </p:txBody>
        </p:sp>
      </p:grpSp>
      <p:sp>
        <p:nvSpPr>
          <p:cNvPr id="763924" name="Text Box 20"/>
          <p:cNvSpPr txBox="1">
            <a:spLocks noChangeArrowheads="1"/>
          </p:cNvSpPr>
          <p:nvPr/>
        </p:nvSpPr>
        <p:spPr bwMode="auto">
          <a:xfrm>
            <a:off x="0" y="908050"/>
            <a:ext cx="8785225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>
                <a:solidFill>
                  <a:schemeClr val="bg1"/>
                </a:solidFill>
                <a:latin typeface="Verdana" pitchFamily="34" charset="0"/>
                <a:ea typeface="宋体" pitchFamily="2" charset="-122"/>
              </a:rPr>
              <a:t>      </a:t>
            </a:r>
            <a:r>
              <a:rPr kumimoji="1" lang="zh-CN" altLang="en-US">
                <a:solidFill>
                  <a:schemeClr val="bg1"/>
                </a:solidFill>
                <a:latin typeface="Verdana" pitchFamily="34" charset="0"/>
              </a:rPr>
              <a:t>工程上通常用损耗角正切来表示介质的损耗特性，其定义为复介电常数或复磁导率的虚部与实部之比。</a:t>
            </a:r>
          </a:p>
        </p:txBody>
      </p:sp>
      <p:sp>
        <p:nvSpPr>
          <p:cNvPr id="763925" name="Text Box 21"/>
          <p:cNvSpPr txBox="1">
            <a:spLocks noChangeArrowheads="1"/>
          </p:cNvSpPr>
          <p:nvPr/>
        </p:nvSpPr>
        <p:spPr bwMode="auto">
          <a:xfrm>
            <a:off x="0" y="3284538"/>
            <a:ext cx="7716838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  <a:latin typeface="Verdana" pitchFamily="34" charset="0"/>
              </a:rPr>
              <a:t>    在不同频率情况下，导电媒质具有不同的导电性能。</a:t>
            </a:r>
          </a:p>
        </p:txBody>
      </p:sp>
      <p:sp>
        <p:nvSpPr>
          <p:cNvPr id="15371" name="AutoShape 22">
            <a:hlinkClick r:id="rId1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394575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2" name="AutoShape 2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812088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3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374" name="AutoShape 2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3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6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76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76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06" grpId="0"/>
      <p:bldP spid="763908" grpId="0"/>
      <p:bldP spid="763924" grpId="0"/>
      <p:bldP spid="7639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1F8AFD-99F7-49E2-A7BB-97715391CF43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764942" name="Text Box 14"/>
          <p:cNvSpPr txBox="1">
            <a:spLocks noChangeArrowheads="1"/>
          </p:cNvSpPr>
          <p:nvPr/>
        </p:nvSpPr>
        <p:spPr bwMode="auto">
          <a:xfrm>
            <a:off x="77788" y="5124450"/>
            <a:ext cx="1600200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导电媒质</a:t>
            </a:r>
          </a:p>
        </p:txBody>
      </p:sp>
      <p:sp>
        <p:nvSpPr>
          <p:cNvPr id="764945" name="Text Box 17"/>
          <p:cNvSpPr txBox="1">
            <a:spLocks noChangeArrowheads="1"/>
          </p:cNvSpPr>
          <p:nvPr/>
        </p:nvSpPr>
        <p:spPr bwMode="auto">
          <a:xfrm>
            <a:off x="77788" y="3243263"/>
            <a:ext cx="1600200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理想介质</a:t>
            </a:r>
          </a:p>
        </p:txBody>
      </p:sp>
      <p:sp>
        <p:nvSpPr>
          <p:cNvPr id="764935" name="Text Box 7"/>
          <p:cNvSpPr txBox="1">
            <a:spLocks noChangeArrowheads="1"/>
          </p:cNvSpPr>
          <p:nvPr/>
        </p:nvSpPr>
        <p:spPr bwMode="auto">
          <a:xfrm>
            <a:off x="128588" y="404813"/>
            <a:ext cx="746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</a:rPr>
              <a:t>4.5.4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亥姆霍兹方程</a:t>
            </a:r>
            <a:r>
              <a:rPr lang="zh-CN" altLang="en-US" sz="280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242888" y="830263"/>
            <a:ext cx="8901112" cy="1265237"/>
            <a:chOff x="153" y="523"/>
            <a:chExt cx="5607" cy="797"/>
          </a:xfrm>
        </p:grpSpPr>
        <p:sp>
          <p:nvSpPr>
            <p:cNvPr id="16407" name="Text Box 8"/>
            <p:cNvSpPr txBox="1">
              <a:spLocks noChangeArrowheads="1"/>
            </p:cNvSpPr>
            <p:nvPr/>
          </p:nvSpPr>
          <p:spPr bwMode="auto">
            <a:xfrm>
              <a:off x="153" y="572"/>
              <a:ext cx="5607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kumimoji="1" lang="en-US" altLang="zh-CN">
                  <a:solidFill>
                    <a:schemeClr val="bg1"/>
                  </a:solidFill>
                  <a:latin typeface="宋体" pitchFamily="2" charset="-122"/>
                  <a:ea typeface="宋体" pitchFamily="2" charset="-122"/>
                  <a:sym typeface="Wingdings" pitchFamily="2" charset="2"/>
                </a:rPr>
                <a:t>    </a:t>
              </a:r>
              <a:r>
                <a:rPr kumimoji="1" lang="zh-CN" altLang="en-US">
                  <a:solidFill>
                    <a:schemeClr val="bg1"/>
                  </a:solidFill>
                  <a:latin typeface="宋体" pitchFamily="2" charset="-122"/>
                  <a:sym typeface="Wingdings" pitchFamily="2" charset="2"/>
                </a:rPr>
                <a:t>在时谐情况下，将          、          ，</a:t>
              </a:r>
              <a:r>
                <a:rPr kumimoji="1" lang="zh-CN" altLang="en-US">
                  <a:solidFill>
                    <a:schemeClr val="bg1"/>
                  </a:solidFill>
                  <a:sym typeface="Wingdings" pitchFamily="2" charset="2"/>
                </a:rPr>
                <a:t>即可得到</a:t>
              </a:r>
              <a:r>
                <a:rPr kumimoji="1" lang="zh-CN" altLang="en-US">
                  <a:solidFill>
                    <a:srgbClr val="FF3300"/>
                  </a:solidFill>
                  <a:sym typeface="Wingdings" pitchFamily="2" charset="2"/>
                </a:rPr>
                <a:t>复矢量的波动方程</a:t>
              </a:r>
              <a:r>
                <a:rPr kumimoji="1" lang="zh-CN" altLang="en-US">
                  <a:solidFill>
                    <a:schemeClr val="bg1"/>
                  </a:solidFill>
                  <a:sym typeface="Wingdings" pitchFamily="2" charset="2"/>
                </a:rPr>
                <a:t>，称为亥姆霍兹方程。</a:t>
              </a:r>
            </a:p>
          </p:txBody>
        </p:sp>
        <p:graphicFrame>
          <p:nvGraphicFramePr>
            <p:cNvPr id="16408" name="Object 15"/>
            <p:cNvGraphicFramePr>
              <a:graphicFrameLocks noChangeAspect="1"/>
            </p:cNvGraphicFramePr>
            <p:nvPr/>
          </p:nvGraphicFramePr>
          <p:xfrm>
            <a:off x="3288" y="527"/>
            <a:ext cx="1116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4" name="Equation" r:id="rId3" imgW="676344" imgH="361783" progId="Equation.DSMT4">
                    <p:embed/>
                  </p:oleObj>
                </mc:Choice>
                <mc:Fallback>
                  <p:oleObj name="Equation" r:id="rId3" imgW="676344" imgH="361783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527"/>
                          <a:ext cx="1116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9" name="Object 18"/>
            <p:cNvGraphicFramePr>
              <a:graphicFrameLocks noChangeAspect="1"/>
            </p:cNvGraphicFramePr>
            <p:nvPr/>
          </p:nvGraphicFramePr>
          <p:xfrm>
            <a:off x="2196" y="523"/>
            <a:ext cx="913" cy="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5" name="Equation" r:id="rId5" imgW="561827" imgH="371514" progId="Equation.DSMT4">
                    <p:embed/>
                  </p:oleObj>
                </mc:Choice>
                <mc:Fallback>
                  <p:oleObj name="Equation" r:id="rId5" imgW="561827" imgH="371514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6" y="523"/>
                          <a:ext cx="913" cy="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4949" name="Text Box 21"/>
          <p:cNvSpPr txBox="1">
            <a:spLocks noChangeArrowheads="1"/>
          </p:cNvSpPr>
          <p:nvPr/>
        </p:nvSpPr>
        <p:spPr bwMode="auto">
          <a:xfrm>
            <a:off x="2193925" y="2071688"/>
            <a:ext cx="266541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rgbClr val="FF9900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瞬时矢量</a:t>
            </a:r>
            <a:endParaRPr kumimoji="1" lang="zh-CN" altLang="en-US">
              <a:solidFill>
                <a:srgbClr val="FF9900"/>
              </a:solidFill>
              <a:latin typeface="Times New Roman" pitchFamily="18" charset="0"/>
              <a:ea typeface="宋体" pitchFamily="2" charset="-122"/>
              <a:sym typeface="Wingdings" pitchFamily="2" charset="2"/>
            </a:endParaRPr>
          </a:p>
        </p:txBody>
      </p:sp>
      <p:sp>
        <p:nvSpPr>
          <p:cNvPr id="764950" name="Text Box 22"/>
          <p:cNvSpPr txBox="1">
            <a:spLocks noChangeArrowheads="1"/>
          </p:cNvSpPr>
          <p:nvPr/>
        </p:nvSpPr>
        <p:spPr bwMode="auto">
          <a:xfrm>
            <a:off x="6370638" y="2060575"/>
            <a:ext cx="208915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rgbClr val="FF9900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复矢量</a:t>
            </a:r>
            <a:endParaRPr kumimoji="1" lang="zh-CN" altLang="en-US">
              <a:solidFill>
                <a:srgbClr val="FF9900"/>
              </a:solidFill>
              <a:latin typeface="Times New Roman" pitchFamily="18" charset="0"/>
              <a:ea typeface="宋体" pitchFamily="2" charset="-122"/>
              <a:sym typeface="Wingdings" pitchFamily="2" charset="2"/>
            </a:endParaRPr>
          </a:p>
        </p:txBody>
      </p:sp>
      <p:graphicFrame>
        <p:nvGraphicFramePr>
          <p:cNvPr id="764944" name="Object 16"/>
          <p:cNvGraphicFramePr>
            <a:graphicFrameLocks noChangeAspect="1"/>
          </p:cNvGraphicFramePr>
          <p:nvPr/>
        </p:nvGraphicFramePr>
        <p:xfrm>
          <a:off x="1479550" y="2624138"/>
          <a:ext cx="2570163" cy="181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6" name="Equation" r:id="rId7" imgW="1228801" imgH="847635" progId="Equation.DSMT4">
                  <p:embed/>
                </p:oleObj>
              </mc:Choice>
              <mc:Fallback>
                <p:oleObj name="Equation" r:id="rId7" imgW="1228801" imgH="847635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2624138"/>
                        <a:ext cx="2570163" cy="181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5364163" y="2784475"/>
            <a:ext cx="3152775" cy="1639888"/>
            <a:chOff x="3288" y="1743"/>
            <a:chExt cx="1986" cy="1033"/>
          </a:xfrm>
        </p:grpSpPr>
        <p:graphicFrame>
          <p:nvGraphicFramePr>
            <p:cNvPr id="16404" name="Object 9"/>
            <p:cNvGraphicFramePr>
              <a:graphicFrameLocks noChangeAspect="1"/>
            </p:cNvGraphicFramePr>
            <p:nvPr/>
          </p:nvGraphicFramePr>
          <p:xfrm>
            <a:off x="3835" y="1743"/>
            <a:ext cx="1439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7" name="Equation" r:id="rId9" imgW="1019200" imgH="466738" progId="Equation.DSMT4">
                    <p:embed/>
                  </p:oleObj>
                </mc:Choice>
                <mc:Fallback>
                  <p:oleObj name="Equation" r:id="rId9" imgW="1019200" imgH="466738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5" y="1743"/>
                          <a:ext cx="1439" cy="7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5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4230743"/>
                </p:ext>
              </p:extLst>
            </p:nvPr>
          </p:nvGraphicFramePr>
          <p:xfrm>
            <a:off x="3916" y="2422"/>
            <a:ext cx="1108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18" name="Equation" r:id="rId11" imgW="762058" imgH="218946" progId="Equation.DSMT4">
                    <p:embed/>
                  </p:oleObj>
                </mc:Choice>
                <mc:Fallback>
                  <p:oleObj name="Equation" r:id="rId11" imgW="762058" imgH="218946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6" y="2422"/>
                          <a:ext cx="1108" cy="3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6" name="AutoShape 24"/>
            <p:cNvSpPr>
              <a:spLocks noChangeArrowheads="1"/>
            </p:cNvSpPr>
            <p:nvPr/>
          </p:nvSpPr>
          <p:spPr bwMode="auto">
            <a:xfrm flipH="1">
              <a:off x="3288" y="2013"/>
              <a:ext cx="499" cy="136"/>
            </a:xfrm>
            <a:prstGeom prst="leftArrow">
              <a:avLst>
                <a:gd name="adj1" fmla="val 50000"/>
                <a:gd name="adj2" fmla="val 91728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764947" name="Object 19"/>
          <p:cNvGraphicFramePr>
            <a:graphicFrameLocks noChangeAspect="1"/>
          </p:cNvGraphicFramePr>
          <p:nvPr/>
        </p:nvGraphicFramePr>
        <p:xfrm>
          <a:off x="1489075" y="4495800"/>
          <a:ext cx="3751263" cy="181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9" name="Equation" r:id="rId13" imgW="1819430" imgH="847635" progId="Equation.DSMT4">
                  <p:embed/>
                </p:oleObj>
              </mc:Choice>
              <mc:Fallback>
                <p:oleObj name="Equation" r:id="rId13" imgW="1819430" imgH="847635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4495800"/>
                        <a:ext cx="3751263" cy="181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5292725" y="4643438"/>
            <a:ext cx="3195638" cy="1720850"/>
            <a:chOff x="3334" y="2925"/>
            <a:chExt cx="2013" cy="1084"/>
          </a:xfrm>
        </p:grpSpPr>
        <p:graphicFrame>
          <p:nvGraphicFramePr>
            <p:cNvPr id="16401" name="Object 13"/>
            <p:cNvGraphicFramePr>
              <a:graphicFrameLocks noChangeAspect="1"/>
            </p:cNvGraphicFramePr>
            <p:nvPr/>
          </p:nvGraphicFramePr>
          <p:xfrm>
            <a:off x="3919" y="3611"/>
            <a:ext cx="1331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0" name="Equation" r:id="rId15" imgW="828686" imgH="209563" progId="Equation.DSMT4">
                    <p:embed/>
                  </p:oleObj>
                </mc:Choice>
                <mc:Fallback>
                  <p:oleObj name="Equation" r:id="rId15" imgW="828686" imgH="209563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9" y="3611"/>
                          <a:ext cx="1331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2" name="Object 20"/>
            <p:cNvGraphicFramePr>
              <a:graphicFrameLocks noChangeAspect="1"/>
            </p:cNvGraphicFramePr>
            <p:nvPr/>
          </p:nvGraphicFramePr>
          <p:xfrm>
            <a:off x="3908" y="2925"/>
            <a:ext cx="1439" cy="7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21" name="Equation" r:id="rId17" imgW="1019200" imgH="495236" progId="Equation.DSMT4">
                    <p:embed/>
                  </p:oleObj>
                </mc:Choice>
                <mc:Fallback>
                  <p:oleObj name="Equation" r:id="rId17" imgW="1019200" imgH="495236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8" y="2925"/>
                          <a:ext cx="1439" cy="7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3" name="AutoShape 30"/>
            <p:cNvSpPr>
              <a:spLocks noChangeArrowheads="1"/>
            </p:cNvSpPr>
            <p:nvPr/>
          </p:nvSpPr>
          <p:spPr bwMode="auto">
            <a:xfrm flipH="1">
              <a:off x="3334" y="3249"/>
              <a:ext cx="499" cy="136"/>
            </a:xfrm>
            <a:prstGeom prst="leftArrow">
              <a:avLst>
                <a:gd name="adj1" fmla="val 50000"/>
                <a:gd name="adj2" fmla="val 91728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397" name="AutoShape 38">
            <a:hlinkClick r:id="rId1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8" name="AutoShape 3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9" name="AutoShape 4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400" name="AutoShape 4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6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6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6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3000"/>
                                        <p:tgtEl>
                                          <p:spTgt spid="764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76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3000"/>
                                        <p:tgtEl>
                                          <p:spTgt spid="76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942" grpId="0"/>
      <p:bldP spid="764945" grpId="0"/>
      <p:bldP spid="764935" grpId="0"/>
      <p:bldP spid="764949" grpId="0"/>
      <p:bldP spid="7649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AA8A1E5-8FFA-4D83-AED2-AB06894B59B1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786434" name="Text Box 2"/>
          <p:cNvSpPr txBox="1">
            <a:spLocks noChangeArrowheads="1"/>
          </p:cNvSpPr>
          <p:nvPr/>
        </p:nvSpPr>
        <p:spPr bwMode="auto">
          <a:xfrm>
            <a:off x="106363" y="476250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4.5.5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时谐场的位函数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786435" name="Text Box 3"/>
          <p:cNvSpPr txBox="1">
            <a:spLocks noChangeArrowheads="1"/>
          </p:cNvSpPr>
          <p:nvPr/>
        </p:nvSpPr>
        <p:spPr bwMode="auto">
          <a:xfrm>
            <a:off x="127000" y="836613"/>
            <a:ext cx="885825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    </a:t>
            </a:r>
            <a:r>
              <a:rPr kumimoji="1" lang="zh-CN" altLang="en-US">
                <a:solidFill>
                  <a:schemeClr val="bg1"/>
                </a:solidFill>
                <a:latin typeface="宋体" pitchFamily="2" charset="-122"/>
                <a:sym typeface="Wingdings" pitchFamily="2" charset="2"/>
              </a:rPr>
              <a:t>在时谐情况下，矢量位和标量位以及它们满足的方程都可以表示成复数形式。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  <a:sym typeface="Wingdings" pitchFamily="2" charset="2"/>
            </a:endParaRPr>
          </a:p>
        </p:txBody>
      </p:sp>
      <p:graphicFrame>
        <p:nvGraphicFramePr>
          <p:cNvPr id="786436" name="Object 4"/>
          <p:cNvGraphicFramePr>
            <a:graphicFrameLocks noChangeAspect="1"/>
          </p:cNvGraphicFramePr>
          <p:nvPr/>
        </p:nvGraphicFramePr>
        <p:xfrm>
          <a:off x="2173288" y="2151063"/>
          <a:ext cx="2062162" cy="178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5" name="Equation" r:id="rId3" imgW="981028" imgH="847635" progId="Equation.DSMT4">
                  <p:embed/>
                </p:oleObj>
              </mc:Choice>
              <mc:Fallback>
                <p:oleObj name="Equation" r:id="rId3" imgW="981028" imgH="84763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2151063"/>
                        <a:ext cx="2062162" cy="178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6437" name="Text Box 5"/>
          <p:cNvSpPr txBox="1">
            <a:spLocks noChangeArrowheads="1"/>
          </p:cNvSpPr>
          <p:nvPr/>
        </p:nvSpPr>
        <p:spPr bwMode="auto">
          <a:xfrm>
            <a:off x="250825" y="4083050"/>
            <a:ext cx="19446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宋体" pitchFamily="2" charset="-122"/>
                <a:sym typeface="Wingdings" pitchFamily="2" charset="2"/>
              </a:rPr>
              <a:t>洛仑兹条件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786445" name="Text Box 13"/>
          <p:cNvSpPr txBox="1">
            <a:spLocks noChangeArrowheads="1"/>
          </p:cNvSpPr>
          <p:nvPr/>
        </p:nvSpPr>
        <p:spPr bwMode="auto">
          <a:xfrm>
            <a:off x="69850" y="5383213"/>
            <a:ext cx="2125663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宋体" pitchFamily="2" charset="-122"/>
                <a:sym typeface="Wingdings" pitchFamily="2" charset="2"/>
              </a:rPr>
              <a:t>达朗贝尔方程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786450" name="Text Box 18"/>
          <p:cNvSpPr txBox="1">
            <a:spLocks noChangeArrowheads="1"/>
          </p:cNvSpPr>
          <p:nvPr/>
        </p:nvSpPr>
        <p:spPr bwMode="auto">
          <a:xfrm>
            <a:off x="2411413" y="1755775"/>
            <a:ext cx="158432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rgbClr val="FF9900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瞬时矢量</a:t>
            </a:r>
            <a:endParaRPr kumimoji="1" lang="zh-CN" altLang="en-US">
              <a:solidFill>
                <a:srgbClr val="FF9900"/>
              </a:solidFill>
              <a:latin typeface="Times New Roman" pitchFamily="18" charset="0"/>
              <a:ea typeface="宋体" pitchFamily="2" charset="-122"/>
              <a:sym typeface="Wingdings" pitchFamily="2" charset="2"/>
            </a:endParaRPr>
          </a:p>
        </p:txBody>
      </p:sp>
      <p:sp>
        <p:nvSpPr>
          <p:cNvPr id="786451" name="Text Box 19"/>
          <p:cNvSpPr txBox="1">
            <a:spLocks noChangeArrowheads="1"/>
          </p:cNvSpPr>
          <p:nvPr/>
        </p:nvSpPr>
        <p:spPr bwMode="auto">
          <a:xfrm>
            <a:off x="6227763" y="1770063"/>
            <a:ext cx="130968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rgbClr val="FF9900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复矢量</a:t>
            </a:r>
            <a:endParaRPr kumimoji="1" lang="zh-CN" altLang="en-US">
              <a:solidFill>
                <a:srgbClr val="FF9900"/>
              </a:solidFill>
              <a:latin typeface="Times New Roman" pitchFamily="18" charset="0"/>
              <a:ea typeface="宋体" pitchFamily="2" charset="-122"/>
              <a:sym typeface="Wingdings" pitchFamily="2" charset="2"/>
            </a:endParaRP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965700" y="2263775"/>
            <a:ext cx="3157538" cy="1449388"/>
            <a:chOff x="3152" y="1613"/>
            <a:chExt cx="1989" cy="913"/>
          </a:xfrm>
        </p:grpSpPr>
        <p:graphicFrame>
          <p:nvGraphicFramePr>
            <p:cNvPr id="17431" name="Object 15"/>
            <p:cNvGraphicFramePr>
              <a:graphicFrameLocks noChangeAspect="1"/>
            </p:cNvGraphicFramePr>
            <p:nvPr/>
          </p:nvGraphicFramePr>
          <p:xfrm>
            <a:off x="3746" y="1613"/>
            <a:ext cx="1395" cy="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6" name="Equation" r:id="rId5" imgW="1057373" imgH="676301" progId="Equation.DSMT4">
                    <p:embed/>
                  </p:oleObj>
                </mc:Choice>
                <mc:Fallback>
                  <p:oleObj name="Equation" r:id="rId5" imgW="1057373" imgH="676301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" y="1613"/>
                          <a:ext cx="1395" cy="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2" name="AutoShape 20"/>
            <p:cNvSpPr>
              <a:spLocks noChangeArrowheads="1"/>
            </p:cNvSpPr>
            <p:nvPr/>
          </p:nvSpPr>
          <p:spPr bwMode="auto">
            <a:xfrm flipH="1">
              <a:off x="3152" y="2024"/>
              <a:ext cx="499" cy="136"/>
            </a:xfrm>
            <a:prstGeom prst="leftArrow">
              <a:avLst>
                <a:gd name="adj1" fmla="val 50000"/>
                <a:gd name="adj2" fmla="val 91728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786448" name="Object 16"/>
          <p:cNvGraphicFramePr>
            <a:graphicFrameLocks noChangeAspect="1"/>
          </p:cNvGraphicFramePr>
          <p:nvPr/>
        </p:nvGraphicFramePr>
        <p:xfrm>
          <a:off x="2105025" y="3921125"/>
          <a:ext cx="19462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7" name="Equation" r:id="rId7" imgW="923770" imgH="352399" progId="Equation.DSMT4">
                  <p:embed/>
                </p:oleObj>
              </mc:Choice>
              <mc:Fallback>
                <p:oleObj name="Equation" r:id="rId7" imgW="923770" imgH="352399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3921125"/>
                        <a:ext cx="19462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5018088" y="4160838"/>
            <a:ext cx="3003550" cy="506412"/>
            <a:chOff x="3056" y="2621"/>
            <a:chExt cx="1892" cy="319"/>
          </a:xfrm>
        </p:grpSpPr>
        <p:graphicFrame>
          <p:nvGraphicFramePr>
            <p:cNvPr id="17429" name="Object 14"/>
            <p:cNvGraphicFramePr>
              <a:graphicFrameLocks noChangeAspect="1"/>
            </p:cNvGraphicFramePr>
            <p:nvPr/>
          </p:nvGraphicFramePr>
          <p:xfrm>
            <a:off x="3682" y="2621"/>
            <a:ext cx="1266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08" name="Equation" r:id="rId9" imgW="952572" imgH="200179" progId="Equation.DSMT4">
                    <p:embed/>
                  </p:oleObj>
                </mc:Choice>
                <mc:Fallback>
                  <p:oleObj name="Equation" r:id="rId9" imgW="952572" imgH="200179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2" y="2621"/>
                          <a:ext cx="1266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0" name="AutoShape 21"/>
            <p:cNvSpPr>
              <a:spLocks noChangeArrowheads="1"/>
            </p:cNvSpPr>
            <p:nvPr/>
          </p:nvSpPr>
          <p:spPr bwMode="auto">
            <a:xfrm flipH="1">
              <a:off x="3056" y="2704"/>
              <a:ext cx="499" cy="136"/>
            </a:xfrm>
            <a:prstGeom prst="leftArrow">
              <a:avLst>
                <a:gd name="adj1" fmla="val 50000"/>
                <a:gd name="adj2" fmla="val 91728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786438" name="Object 6"/>
          <p:cNvGraphicFramePr>
            <a:graphicFrameLocks noChangeAspect="1"/>
          </p:cNvGraphicFramePr>
          <p:nvPr/>
        </p:nvGraphicFramePr>
        <p:xfrm>
          <a:off x="2135188" y="4745038"/>
          <a:ext cx="2862262" cy="179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09" name="Equation" r:id="rId11" imgW="1381143" imgH="847635" progId="Equation.DSMT4">
                  <p:embed/>
                </p:oleObj>
              </mc:Choice>
              <mc:Fallback>
                <p:oleObj name="Equation" r:id="rId11" imgW="1381143" imgH="84763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4745038"/>
                        <a:ext cx="2862262" cy="179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5003800" y="5003800"/>
            <a:ext cx="3381375" cy="1384300"/>
            <a:chOff x="3152" y="3152"/>
            <a:chExt cx="2130" cy="872"/>
          </a:xfrm>
        </p:grpSpPr>
        <p:graphicFrame>
          <p:nvGraphicFramePr>
            <p:cNvPr id="17427" name="Object 17"/>
            <p:cNvGraphicFramePr>
              <a:graphicFrameLocks noChangeAspect="1"/>
            </p:cNvGraphicFramePr>
            <p:nvPr/>
          </p:nvGraphicFramePr>
          <p:xfrm>
            <a:off x="3748" y="3152"/>
            <a:ext cx="1534" cy="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10" name="Equation" r:id="rId13" imgW="1171542" imgH="647803" progId="Equation.DSMT4">
                    <p:embed/>
                  </p:oleObj>
                </mc:Choice>
                <mc:Fallback>
                  <p:oleObj name="Equation" r:id="rId13" imgW="1171542" imgH="647803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8" y="3152"/>
                          <a:ext cx="1534" cy="8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8" name="AutoShape 22"/>
            <p:cNvSpPr>
              <a:spLocks noChangeArrowheads="1"/>
            </p:cNvSpPr>
            <p:nvPr/>
          </p:nvSpPr>
          <p:spPr bwMode="auto">
            <a:xfrm flipH="1">
              <a:off x="3152" y="3521"/>
              <a:ext cx="499" cy="136"/>
            </a:xfrm>
            <a:prstGeom prst="leftArrow">
              <a:avLst>
                <a:gd name="adj1" fmla="val 50000"/>
                <a:gd name="adj2" fmla="val 91728"/>
              </a:avLst>
            </a:prstGeom>
            <a:solidFill>
              <a:srgbClr val="FFCCFF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7423" name="AutoShape 28">
            <a:hlinkClick r:id="rId1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4" name="AutoShape 2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5" name="AutoShape 3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7426" name="AutoShape 3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8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8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86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86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8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78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78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78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2000"/>
                                        <p:tgtEl>
                                          <p:spTgt spid="78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6434" grpId="0"/>
      <p:bldP spid="786435" grpId="0" build="p" autoUpdateAnimBg="0"/>
      <p:bldP spid="786437" grpId="0"/>
      <p:bldP spid="786445" grpId="0"/>
      <p:bldP spid="786450" grpId="0" build="p" autoUpdateAnimBg="0"/>
      <p:bldP spid="786451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5F2657-84CC-4C83-AD0F-BEEBD56C4ACF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765954" name="Text Box 2"/>
          <p:cNvSpPr txBox="1">
            <a:spLocks noChangeArrowheads="1"/>
          </p:cNvSpPr>
          <p:nvPr/>
        </p:nvSpPr>
        <p:spPr bwMode="auto">
          <a:xfrm>
            <a:off x="200025" y="620713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4.5.6  </a:t>
            </a:r>
            <a:r>
              <a:rPr lang="zh-CN" altLang="en-US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平均坡印廷矢量和复坡印廷定理</a:t>
            </a:r>
            <a:endParaRPr lang="zh-CN" altLang="en-US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65955" name="Text Box 3"/>
          <p:cNvSpPr txBox="1">
            <a:spLocks noChangeArrowheads="1"/>
          </p:cNvSpPr>
          <p:nvPr/>
        </p:nvSpPr>
        <p:spPr bwMode="auto">
          <a:xfrm>
            <a:off x="215900" y="2892425"/>
            <a:ext cx="860425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　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二次式本身不能用复数形式表示，其中的场量必须是</a:t>
            </a:r>
            <a:r>
              <a:rPr kumimoji="1" lang="zh-CN" altLang="en-US">
                <a:solidFill>
                  <a:srgbClr val="FF3300"/>
                </a:solidFill>
                <a:latin typeface="Times New Roman" pitchFamily="18" charset="0"/>
                <a:sym typeface="Wingdings" pitchFamily="2" charset="2"/>
              </a:rPr>
              <a:t>实数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形式，不能将复数形式的场量直接代入。</a:t>
            </a:r>
          </a:p>
        </p:txBody>
      </p:sp>
      <p:graphicFrame>
        <p:nvGraphicFramePr>
          <p:cNvPr id="765956" name="Object 4"/>
          <p:cNvGraphicFramePr>
            <a:graphicFrameLocks noChangeAspect="1"/>
          </p:cNvGraphicFramePr>
          <p:nvPr/>
        </p:nvGraphicFramePr>
        <p:xfrm>
          <a:off x="1692275" y="4792663"/>
          <a:ext cx="3513138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Equation" r:id="rId3" imgW="1695544" imgH="447624" progId="Equation.DSMT4">
                  <p:embed/>
                </p:oleObj>
              </mc:Choice>
              <mc:Fallback>
                <p:oleObj name="Equation" r:id="rId3" imgW="1695544" imgH="44762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792663"/>
                        <a:ext cx="3513138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5958" name="Text Box 6"/>
          <p:cNvSpPr txBox="1">
            <a:spLocks noChangeArrowheads="1"/>
          </p:cNvSpPr>
          <p:nvPr/>
        </p:nvSpPr>
        <p:spPr bwMode="auto">
          <a:xfrm>
            <a:off x="792163" y="4086225"/>
            <a:ext cx="6516687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设某时谐电磁场的电场强度和磁场强度分别为 </a:t>
            </a:r>
          </a:p>
        </p:txBody>
      </p:sp>
      <p:sp>
        <p:nvSpPr>
          <p:cNvPr id="765959" name="Text Box 7"/>
          <p:cNvSpPr txBox="1">
            <a:spLocks noChangeArrowheads="1"/>
          </p:cNvSpPr>
          <p:nvPr/>
        </p:nvSpPr>
        <p:spPr bwMode="auto">
          <a:xfrm>
            <a:off x="179388" y="1196975"/>
            <a:ext cx="8856662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>
                <a:solidFill>
                  <a:schemeClr val="bg1"/>
                </a:solidFill>
                <a:sym typeface="Wingdings" pitchFamily="2" charset="2"/>
              </a:rPr>
              <a:t>          </a:t>
            </a:r>
            <a:r>
              <a:rPr kumimoji="1" lang="zh-CN" altLang="en-US">
                <a:solidFill>
                  <a:schemeClr val="bg1"/>
                </a:solidFill>
                <a:sym typeface="Wingdings" pitchFamily="2" charset="2"/>
              </a:rPr>
              <a:t>电磁场能量密度和能流密度的表达式中都包含了场量的平方关系，这种关系式称为</a:t>
            </a:r>
            <a:r>
              <a:rPr kumimoji="1" lang="zh-CN" altLang="en-US">
                <a:solidFill>
                  <a:srgbClr val="FF3300"/>
                </a:solidFill>
                <a:sym typeface="Wingdings" pitchFamily="2" charset="2"/>
              </a:rPr>
              <a:t>二次式</a:t>
            </a:r>
            <a:r>
              <a:rPr kumimoji="1" lang="zh-CN" altLang="en-US">
                <a:solidFill>
                  <a:schemeClr val="bg1"/>
                </a:solidFill>
                <a:sym typeface="Wingdings" pitchFamily="2" charset="2"/>
              </a:rPr>
              <a:t>。</a:t>
            </a:r>
          </a:p>
        </p:txBody>
      </p:sp>
      <p:sp>
        <p:nvSpPr>
          <p:cNvPr id="765960" name="Text Box 8"/>
          <p:cNvSpPr txBox="1">
            <a:spLocks noChangeArrowheads="1"/>
          </p:cNvSpPr>
          <p:nvPr/>
        </p:nvSpPr>
        <p:spPr bwMode="auto">
          <a:xfrm>
            <a:off x="144463" y="2287588"/>
            <a:ext cx="45720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5"/>
              </a:buBlip>
            </a:pPr>
            <a:r>
              <a:rPr kumimoji="1" lang="en-US" altLang="zh-CN">
                <a:solidFill>
                  <a:schemeClr val="bg1"/>
                </a:solidFill>
                <a:sym typeface="Wingdings" pitchFamily="2" charset="2"/>
              </a:rPr>
              <a:t>    </a:t>
            </a:r>
            <a:r>
              <a:rPr kumimoji="1" lang="zh-CN" altLang="en-US">
                <a:solidFill>
                  <a:schemeClr val="bg1"/>
                </a:solidFill>
                <a:ea typeface="宋体" pitchFamily="2" charset="-122"/>
                <a:sym typeface="Wingdings" pitchFamily="2" charset="2"/>
              </a:rPr>
              <a:t>时谐场中</a:t>
            </a:r>
            <a:r>
              <a:rPr kumimoji="1" lang="zh-CN" altLang="en-US">
                <a:solidFill>
                  <a:schemeClr val="bg1"/>
                </a:solidFill>
                <a:latin typeface="宋体" pitchFamily="2" charset="-122"/>
                <a:ea typeface="宋体" pitchFamily="2" charset="-122"/>
                <a:sym typeface="Wingdings" pitchFamily="2" charset="2"/>
              </a:rPr>
              <a:t>二次式的表示方法</a:t>
            </a:r>
          </a:p>
        </p:txBody>
      </p:sp>
      <p:sp>
        <p:nvSpPr>
          <p:cNvPr id="18441" name="AutoShape 9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2" name="AutoShape 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3" name="AutoShape 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444" name="AutoShape 1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6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6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6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6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76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54" grpId="0"/>
      <p:bldP spid="765955" grpId="0"/>
      <p:bldP spid="765958" grpId="0"/>
      <p:bldP spid="765959" grpId="0"/>
      <p:bldP spid="76596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506724-8EF6-42DB-BD0E-958255499698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766978" name="Text Box 2"/>
          <p:cNvSpPr txBox="1">
            <a:spLocks noChangeArrowheads="1"/>
          </p:cNvSpPr>
          <p:nvPr/>
        </p:nvSpPr>
        <p:spPr bwMode="auto">
          <a:xfrm>
            <a:off x="214313" y="457200"/>
            <a:ext cx="85344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能流密度为 </a:t>
            </a:r>
          </a:p>
        </p:txBody>
      </p:sp>
      <p:graphicFrame>
        <p:nvGraphicFramePr>
          <p:cNvPr id="766979" name="Object 3"/>
          <p:cNvGraphicFramePr>
            <a:graphicFrameLocks noChangeAspect="1"/>
          </p:cNvGraphicFramePr>
          <p:nvPr/>
        </p:nvGraphicFramePr>
        <p:xfrm>
          <a:off x="2195513" y="488950"/>
          <a:ext cx="449738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8" name="Equation" r:id="rId3" imgW="2228915" imgH="209563" progId="Equation.DSMT4">
                  <p:embed/>
                </p:oleObj>
              </mc:Choice>
              <mc:Fallback>
                <p:oleObj name="Equation" r:id="rId3" imgW="2228915" imgH="20956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88950"/>
                        <a:ext cx="449738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6980" name="Text Box 4"/>
          <p:cNvSpPr txBox="1">
            <a:spLocks noChangeArrowheads="1"/>
          </p:cNvSpPr>
          <p:nvPr/>
        </p:nvSpPr>
        <p:spPr bwMode="auto">
          <a:xfrm>
            <a:off x="179387" y="1052513"/>
            <a:ext cx="6624637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dirty="0" smtClean="0">
                <a:solidFill>
                  <a:srgbClr val="FF0000"/>
                </a:solidFill>
                <a:latin typeface="Times New Roman" pitchFamily="18" charset="0"/>
                <a:sym typeface="Wingdings" pitchFamily="2" charset="2"/>
              </a:rPr>
              <a:t>假如</a:t>
            </a: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把电场强度和磁场强度用复数表示，即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46200" y="1628775"/>
            <a:ext cx="5386388" cy="504825"/>
            <a:chOff x="865" y="1183"/>
            <a:chExt cx="3535" cy="381"/>
          </a:xfrm>
        </p:grpSpPr>
        <p:graphicFrame>
          <p:nvGraphicFramePr>
            <p:cNvPr id="19481" name="Object 6"/>
            <p:cNvGraphicFramePr>
              <a:graphicFrameLocks noChangeAspect="1"/>
            </p:cNvGraphicFramePr>
            <p:nvPr/>
          </p:nvGraphicFramePr>
          <p:xfrm>
            <a:off x="865" y="1183"/>
            <a:ext cx="1645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49" name="Equation" r:id="rId5" imgW="1057373" imgH="200179" progId="Equation.DSMT4">
                    <p:embed/>
                  </p:oleObj>
                </mc:Choice>
                <mc:Fallback>
                  <p:oleObj name="Equation" r:id="rId5" imgW="1057373" imgH="200179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5" y="1183"/>
                          <a:ext cx="1645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2" name="Object 7"/>
            <p:cNvGraphicFramePr>
              <a:graphicFrameLocks noChangeAspect="1"/>
            </p:cNvGraphicFramePr>
            <p:nvPr/>
          </p:nvGraphicFramePr>
          <p:xfrm>
            <a:off x="2941" y="1189"/>
            <a:ext cx="1459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0" name="Equation" r:id="rId7" imgW="942856" imgH="200179" progId="Equation.DSMT4">
                    <p:embed/>
                  </p:oleObj>
                </mc:Choice>
                <mc:Fallback>
                  <p:oleObj name="Equation" r:id="rId7" imgW="942856" imgH="200179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1" y="1189"/>
                          <a:ext cx="1459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66985" name="Object 9"/>
          <p:cNvGraphicFramePr>
            <a:graphicFrameLocks noChangeAspect="1"/>
          </p:cNvGraphicFramePr>
          <p:nvPr/>
        </p:nvGraphicFramePr>
        <p:xfrm>
          <a:off x="1481138" y="2492375"/>
          <a:ext cx="7123112" cy="185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1" name="Equation" r:id="rId9" imgW="3619428" imgH="904978" progId="Equation.DSMT4">
                  <p:embed/>
                </p:oleObj>
              </mc:Choice>
              <mc:Fallback>
                <p:oleObj name="Equation" r:id="rId9" imgW="3619428" imgH="90497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38" y="2492375"/>
                        <a:ext cx="7123112" cy="18589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99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6986" name="AutoShape 10"/>
          <p:cNvSpPr>
            <a:spLocks noChangeArrowheads="1"/>
          </p:cNvSpPr>
          <p:nvPr/>
        </p:nvSpPr>
        <p:spPr bwMode="auto">
          <a:xfrm>
            <a:off x="3635375" y="476250"/>
            <a:ext cx="3168650" cy="533400"/>
          </a:xfrm>
          <a:prstGeom prst="wedgeRoundRectCallout">
            <a:avLst>
              <a:gd name="adj1" fmla="val 88611"/>
              <a:gd name="adj2" fmla="val 335042"/>
              <a:gd name="adj3" fmla="val 16667"/>
            </a:avLst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zh-CN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66987" name="AutoShape 11"/>
          <p:cNvSpPr>
            <a:spLocks noChangeArrowheads="1"/>
          </p:cNvSpPr>
          <p:nvPr/>
        </p:nvSpPr>
        <p:spPr bwMode="auto">
          <a:xfrm>
            <a:off x="2987675" y="3789363"/>
            <a:ext cx="2362200" cy="533400"/>
          </a:xfrm>
          <a:prstGeom prst="wedgeRoundRectCallout">
            <a:avLst>
              <a:gd name="adj1" fmla="val 164449"/>
              <a:gd name="adj2" fmla="val -199704"/>
              <a:gd name="adj3" fmla="val 16667"/>
            </a:avLst>
          </a:prstGeom>
          <a:noFill/>
          <a:ln w="28575">
            <a:solidFill>
              <a:srgbClr val="00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zh-CN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766988" name="Picture 12" descr="BD00028_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163" y="2420938"/>
            <a:ext cx="8620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6990" name="Line 14"/>
          <p:cNvSpPr>
            <a:spLocks noChangeShapeType="1"/>
          </p:cNvSpPr>
          <p:nvPr/>
        </p:nvSpPr>
        <p:spPr bwMode="auto">
          <a:xfrm>
            <a:off x="3995738" y="1700213"/>
            <a:ext cx="0" cy="302418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669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372729"/>
              </p:ext>
            </p:extLst>
          </p:nvPr>
        </p:nvGraphicFramePr>
        <p:xfrm>
          <a:off x="2682875" y="4552950"/>
          <a:ext cx="5869781" cy="200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2" name="Equation" r:id="rId12" imgW="2724114" imgH="1162153" progId="Equation.DSMT4">
                  <p:embed/>
                </p:oleObj>
              </mc:Choice>
              <mc:Fallback>
                <p:oleObj name="Equation" r:id="rId12" imgW="2724114" imgH="1162153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875" y="4552950"/>
                        <a:ext cx="5869781" cy="200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6992" name="Text Box 16"/>
          <p:cNvSpPr txBox="1">
            <a:spLocks noChangeArrowheads="1"/>
          </p:cNvSpPr>
          <p:nvPr/>
        </p:nvSpPr>
        <p:spPr bwMode="auto">
          <a:xfrm>
            <a:off x="1" y="4539264"/>
            <a:ext cx="2699792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先取实部，后代入 </a:t>
            </a:r>
          </a:p>
        </p:txBody>
      </p:sp>
      <p:sp>
        <p:nvSpPr>
          <p:cNvPr id="766995" name="AutoShape 19"/>
          <p:cNvSpPr>
            <a:spLocks noChangeArrowheads="1"/>
          </p:cNvSpPr>
          <p:nvPr/>
        </p:nvSpPr>
        <p:spPr bwMode="auto">
          <a:xfrm rot="5400000" flipH="1">
            <a:off x="3491706" y="2059782"/>
            <a:ext cx="503237" cy="215900"/>
          </a:xfrm>
          <a:prstGeom prst="leftArrow">
            <a:avLst>
              <a:gd name="adj1" fmla="val 50000"/>
              <a:gd name="adj2" fmla="val 58272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835150" y="2565400"/>
            <a:ext cx="1152525" cy="1295400"/>
            <a:chOff x="3016" y="1888"/>
            <a:chExt cx="726" cy="816"/>
          </a:xfrm>
        </p:grpSpPr>
        <p:sp>
          <p:nvSpPr>
            <p:cNvPr id="19479" name="Line 20"/>
            <p:cNvSpPr>
              <a:spLocks noChangeShapeType="1"/>
            </p:cNvSpPr>
            <p:nvPr/>
          </p:nvSpPr>
          <p:spPr bwMode="auto">
            <a:xfrm>
              <a:off x="3016" y="1888"/>
              <a:ext cx="726" cy="81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Line 21"/>
            <p:cNvSpPr>
              <a:spLocks noChangeShapeType="1"/>
            </p:cNvSpPr>
            <p:nvPr/>
          </p:nvSpPr>
          <p:spPr bwMode="auto">
            <a:xfrm flipH="1">
              <a:off x="3016" y="1888"/>
              <a:ext cx="726" cy="81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5400675" y="4508500"/>
            <a:ext cx="2136775" cy="1438275"/>
            <a:chOff x="3198" y="3113"/>
            <a:chExt cx="816" cy="544"/>
          </a:xfrm>
        </p:grpSpPr>
        <p:sp>
          <p:nvSpPr>
            <p:cNvPr id="19477" name="Line 22"/>
            <p:cNvSpPr>
              <a:spLocks noChangeShapeType="1"/>
            </p:cNvSpPr>
            <p:nvPr/>
          </p:nvSpPr>
          <p:spPr bwMode="auto">
            <a:xfrm>
              <a:off x="3198" y="3249"/>
              <a:ext cx="181" cy="40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8" name="Line 23"/>
            <p:cNvSpPr>
              <a:spLocks noChangeShapeType="1"/>
            </p:cNvSpPr>
            <p:nvPr/>
          </p:nvSpPr>
          <p:spPr bwMode="auto">
            <a:xfrm flipH="1">
              <a:off x="3374" y="3113"/>
              <a:ext cx="640" cy="54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73" name="AutoShape 26">
            <a:hlinkClick r:id="rId1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54788"/>
            <a:ext cx="360363" cy="252412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74" name="AutoShape 2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54788"/>
            <a:ext cx="360362" cy="258762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75" name="AutoShape 2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54788"/>
            <a:ext cx="360363" cy="252412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476" name="AutoShape 2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54788"/>
            <a:ext cx="360363" cy="252412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0"/>
                                        <p:tgtEl>
                                          <p:spTgt spid="76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6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6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0"/>
                                        <p:tgtEl>
                                          <p:spTgt spid="76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6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66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669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669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5" dur="500"/>
                                        <p:tgtEl>
                                          <p:spTgt spid="76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2000"/>
                                        <p:tgtEl>
                                          <p:spTgt spid="76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3000"/>
                                        <p:tgtEl>
                                          <p:spTgt spid="76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6978" grpId="0"/>
      <p:bldP spid="766980" grpId="0" autoUpdateAnimBg="0"/>
      <p:bldP spid="766986" grpId="0" animBg="1" autoUpdateAnimBg="0"/>
      <p:bldP spid="766987" grpId="0" animBg="1" autoUpdateAnimBg="0"/>
      <p:bldP spid="766990" grpId="0" animBg="1"/>
      <p:bldP spid="766992" grpId="0" autoUpdateAnimBg="0"/>
      <p:bldP spid="76699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9B9609-9146-49CF-9808-7EEAD9797541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768003" name="Text Box 3"/>
          <p:cNvSpPr txBox="1">
            <a:spLocks noChangeArrowheads="1"/>
          </p:cNvSpPr>
          <p:nvPr/>
        </p:nvSpPr>
        <p:spPr bwMode="auto">
          <a:xfrm>
            <a:off x="120650" y="692696"/>
            <a:ext cx="4191000" cy="457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使用二次式时需要注意的问题</a:t>
            </a:r>
          </a:p>
        </p:txBody>
      </p:sp>
      <p:sp>
        <p:nvSpPr>
          <p:cNvPr id="768004" name="Text Box 4"/>
          <p:cNvSpPr txBox="1">
            <a:spLocks noChangeArrowheads="1"/>
          </p:cNvSpPr>
          <p:nvPr/>
        </p:nvSpPr>
        <p:spPr bwMode="auto">
          <a:xfrm>
            <a:off x="107950" y="1579563"/>
            <a:ext cx="9036050" cy="371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kumimoji="1" lang="en-US" altLang="zh-CN" dirty="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kumimoji="1" lang="zh-CN" altLang="en-US" dirty="0">
                <a:solidFill>
                  <a:schemeClr val="bg1"/>
                </a:solidFill>
                <a:latin typeface="楷体_GB2312" pitchFamily="49" charset="-122"/>
              </a:rPr>
              <a:t>二次式只有实数形式，没有复数形式。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</a:pPr>
            <a:endParaRPr kumimoji="1" lang="zh-CN" altLang="en-US" dirty="0">
              <a:solidFill>
                <a:schemeClr val="bg1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kumimoji="1" lang="zh-CN" altLang="en-US" dirty="0">
                <a:solidFill>
                  <a:schemeClr val="bg1"/>
                </a:solidFill>
                <a:latin typeface="楷体_GB2312" pitchFamily="49" charset="-122"/>
              </a:rPr>
              <a:t>  场量是实数式时，直接代入二次式即可。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</a:pPr>
            <a:endParaRPr kumimoji="1" lang="zh-CN" altLang="en-US" dirty="0">
              <a:solidFill>
                <a:schemeClr val="bg1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kumimoji="1" lang="zh-CN" altLang="en-US" dirty="0">
                <a:solidFill>
                  <a:schemeClr val="bg1"/>
                </a:solidFill>
                <a:latin typeface="楷体_GB2312" pitchFamily="49" charset="-122"/>
              </a:rPr>
              <a:t>  场量是复数式时，应先取实部再代入，即</a:t>
            </a: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</a:rPr>
              <a:t>“</a:t>
            </a:r>
            <a:r>
              <a:rPr kumimoji="1" lang="zh-CN" altLang="en-US" dirty="0">
                <a:solidFill>
                  <a:schemeClr val="bg1"/>
                </a:solidFill>
                <a:latin typeface="楷体_GB2312" pitchFamily="49" charset="-122"/>
              </a:rPr>
              <a:t>先取实，后相乘</a:t>
            </a:r>
            <a:r>
              <a:rPr kumimoji="1" lang="zh-CN" altLang="en-US" dirty="0">
                <a:solidFill>
                  <a:schemeClr val="bg1"/>
                </a:solidFill>
                <a:latin typeface="Times New Roman" pitchFamily="18" charset="0"/>
              </a:rPr>
              <a:t>”</a:t>
            </a:r>
            <a:r>
              <a:rPr kumimoji="1" lang="zh-CN" altLang="en-US" dirty="0">
                <a:solidFill>
                  <a:schemeClr val="bg1"/>
                </a:solidFill>
                <a:latin typeface="楷体_GB2312" pitchFamily="49" charset="-122"/>
              </a:rPr>
              <a:t>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</a:pPr>
            <a:endParaRPr kumimoji="1" lang="zh-CN" altLang="en-US" dirty="0">
              <a:solidFill>
                <a:schemeClr val="bg1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FontTx/>
              <a:buBlip>
                <a:blip r:embed="rId2"/>
              </a:buBlip>
            </a:pPr>
            <a:r>
              <a:rPr kumimoji="1" lang="zh-CN" altLang="en-US" dirty="0">
                <a:solidFill>
                  <a:schemeClr val="bg1"/>
                </a:solidFill>
                <a:latin typeface="楷体_GB2312" pitchFamily="49" charset="-122"/>
              </a:rPr>
              <a:t>  如复数形式的场量中没有时间因子，取实部前先补充时间因子。</a:t>
            </a:r>
          </a:p>
        </p:txBody>
      </p:sp>
      <p:sp>
        <p:nvSpPr>
          <p:cNvPr id="20485" name="AutoShape 7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86" name="AutoShape 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87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88" name="AutoShape 1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680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680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680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03" grpId="0" animBg="1"/>
      <p:bldP spid="768004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80520B9-A986-4EBC-A9BF-21A9126F3D27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787461" name="Text Box 5"/>
          <p:cNvSpPr txBox="1">
            <a:spLocks noChangeArrowheads="1"/>
          </p:cNvSpPr>
          <p:nvPr/>
        </p:nvSpPr>
        <p:spPr bwMode="auto">
          <a:xfrm>
            <a:off x="107950" y="404813"/>
            <a:ext cx="88392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   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二次式的时间平均值</a:t>
            </a:r>
            <a:endParaRPr kumimoji="1" lang="zh-CN" altLang="en-US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87462" name="Text Box 6"/>
          <p:cNvSpPr txBox="1">
            <a:spLocks noChangeArrowheads="1"/>
          </p:cNvSpPr>
          <p:nvPr/>
        </p:nvSpPr>
        <p:spPr bwMode="auto">
          <a:xfrm>
            <a:off x="107950" y="947738"/>
            <a:ext cx="8834438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4"/>
              </a:buBlip>
            </a:pPr>
            <a:r>
              <a:rPr kumimoji="1" lang="en-US" altLang="zh-CN">
                <a:solidFill>
                  <a:schemeClr val="bg1"/>
                </a:solidFill>
                <a:sym typeface="Wingdings" pitchFamily="2" charset="2"/>
              </a:rPr>
              <a:t>   </a:t>
            </a:r>
            <a:r>
              <a:rPr kumimoji="1" lang="zh-CN" altLang="en-US">
                <a:solidFill>
                  <a:schemeClr val="bg1"/>
                </a:solidFill>
                <a:sym typeface="Wingdings" pitchFamily="2" charset="2"/>
              </a:rPr>
              <a:t>在时谐电磁场中，常常</a:t>
            </a:r>
            <a:r>
              <a:rPr kumimoji="1" lang="zh-CN" altLang="en-US">
                <a:solidFill>
                  <a:schemeClr val="bg1"/>
                </a:solidFill>
              </a:rPr>
              <a:t>关心</a:t>
            </a:r>
            <a:r>
              <a:rPr kumimoji="1" lang="zh-CN" altLang="en-US">
                <a:solidFill>
                  <a:schemeClr val="bg1"/>
                </a:solidFill>
                <a:sym typeface="Wingdings" pitchFamily="2" charset="2"/>
              </a:rPr>
              <a:t>二次式</a:t>
            </a:r>
            <a:r>
              <a:rPr kumimoji="1" lang="zh-CN" altLang="en-US">
                <a:solidFill>
                  <a:schemeClr val="bg1"/>
                </a:solidFill>
              </a:rPr>
              <a:t>在一个周期中的平均值。</a:t>
            </a:r>
            <a:endParaRPr kumimoji="1" lang="zh-CN" altLang="en-US">
              <a:solidFill>
                <a:schemeClr val="bg1"/>
              </a:solidFill>
              <a:sym typeface="Wingdings" pitchFamily="2" charset="2"/>
            </a:endParaRPr>
          </a:p>
        </p:txBody>
      </p:sp>
      <p:sp>
        <p:nvSpPr>
          <p:cNvPr id="787463" name="Rectangle 7"/>
          <p:cNvSpPr>
            <a:spLocks noChangeArrowheads="1"/>
          </p:cNvSpPr>
          <p:nvPr/>
        </p:nvSpPr>
        <p:spPr bwMode="auto">
          <a:xfrm>
            <a:off x="900113" y="3757613"/>
            <a:ext cx="367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bg1"/>
                </a:solidFill>
              </a:rPr>
              <a:t>平均能流密度</a:t>
            </a:r>
            <a:r>
              <a:rPr kumimoji="1" lang="zh-CN" altLang="en-US">
                <a:solidFill>
                  <a:srgbClr val="FF3300"/>
                </a:solidFill>
              </a:rPr>
              <a:t>矢量</a:t>
            </a:r>
          </a:p>
        </p:txBody>
      </p:sp>
      <p:graphicFrame>
        <p:nvGraphicFramePr>
          <p:cNvPr id="787468" name="Object 12"/>
          <p:cNvGraphicFramePr>
            <a:graphicFrameLocks noChangeAspect="1"/>
          </p:cNvGraphicFramePr>
          <p:nvPr/>
        </p:nvGraphicFramePr>
        <p:xfrm>
          <a:off x="3800475" y="3644900"/>
          <a:ext cx="4084638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6" name="Equation" r:id="rId5" imgW="1952686" imgH="333285" progId="Equation.DSMT4">
                  <p:embed/>
                </p:oleObj>
              </mc:Choice>
              <mc:Fallback>
                <p:oleObj name="Equation" r:id="rId5" imgW="1952686" imgH="33328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3644900"/>
                        <a:ext cx="4084638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7464" name="Rectangle 8"/>
          <p:cNvSpPr>
            <a:spLocks noChangeArrowheads="1"/>
          </p:cNvSpPr>
          <p:nvPr/>
        </p:nvSpPr>
        <p:spPr bwMode="auto">
          <a:xfrm>
            <a:off x="900113" y="1862138"/>
            <a:ext cx="403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bg1"/>
                </a:solidFill>
              </a:rPr>
              <a:t>平均电场能量密度</a:t>
            </a:r>
          </a:p>
        </p:txBody>
      </p:sp>
      <p:graphicFrame>
        <p:nvGraphicFramePr>
          <p:cNvPr id="787469" name="Object 13"/>
          <p:cNvGraphicFramePr>
            <a:graphicFrameLocks noChangeAspect="1"/>
          </p:cNvGraphicFramePr>
          <p:nvPr/>
        </p:nvGraphicFramePr>
        <p:xfrm>
          <a:off x="3756025" y="1628775"/>
          <a:ext cx="4487863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7" name="Equation" r:id="rId7" imgW="2162287" imgH="390628" progId="Equation.DSMT4">
                  <p:embed/>
                </p:oleObj>
              </mc:Choice>
              <mc:Fallback>
                <p:oleObj name="Equation" r:id="rId7" imgW="2162287" imgH="390628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025" y="1628775"/>
                        <a:ext cx="4487863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7465" name="Rectangle 9"/>
          <p:cNvSpPr>
            <a:spLocks noChangeArrowheads="1"/>
          </p:cNvSpPr>
          <p:nvPr/>
        </p:nvSpPr>
        <p:spPr bwMode="auto">
          <a:xfrm>
            <a:off x="900113" y="2803525"/>
            <a:ext cx="367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chemeClr val="bg1"/>
                </a:solidFill>
              </a:rPr>
              <a:t>平均磁场能量密度</a:t>
            </a:r>
          </a:p>
        </p:txBody>
      </p:sp>
      <p:graphicFrame>
        <p:nvGraphicFramePr>
          <p:cNvPr id="787470" name="Object 14"/>
          <p:cNvGraphicFramePr>
            <a:graphicFrameLocks noChangeAspect="1"/>
          </p:cNvGraphicFramePr>
          <p:nvPr/>
        </p:nvGraphicFramePr>
        <p:xfrm>
          <a:off x="3771900" y="2565400"/>
          <a:ext cx="4616450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8" name="Equation" r:id="rId9" imgW="2219198" imgH="390628" progId="Equation.DSMT4">
                  <p:embed/>
                </p:oleObj>
              </mc:Choice>
              <mc:Fallback>
                <p:oleObj name="Equation" r:id="rId9" imgW="2219198" imgH="390628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2565400"/>
                        <a:ext cx="4616450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7471" name="Text Box 15"/>
          <p:cNvSpPr txBox="1">
            <a:spLocks noChangeArrowheads="1"/>
          </p:cNvSpPr>
          <p:nvPr/>
        </p:nvSpPr>
        <p:spPr bwMode="auto">
          <a:xfrm>
            <a:off x="107950" y="4652963"/>
            <a:ext cx="8655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4"/>
              </a:buBlip>
            </a:pPr>
            <a:r>
              <a:rPr kumimoji="1" lang="en-US" altLang="zh-CN">
                <a:solidFill>
                  <a:schemeClr val="bg1"/>
                </a:solidFill>
                <a:sym typeface="Wingdings" pitchFamily="2" charset="2"/>
              </a:rPr>
              <a:t>   </a:t>
            </a:r>
            <a:r>
              <a:rPr kumimoji="1" lang="zh-CN" altLang="en-US">
                <a:solidFill>
                  <a:schemeClr val="bg1"/>
                </a:solidFill>
                <a:sym typeface="Wingdings" pitchFamily="2" charset="2"/>
              </a:rPr>
              <a:t>在时谐电磁场中，二次式</a:t>
            </a:r>
            <a:r>
              <a:rPr kumimoji="1" lang="zh-CN" altLang="en-US">
                <a:solidFill>
                  <a:schemeClr val="bg1"/>
                </a:solidFill>
              </a:rPr>
              <a:t>的</a:t>
            </a:r>
            <a:r>
              <a:rPr kumimoji="1" lang="zh-CN" altLang="en-US">
                <a:solidFill>
                  <a:srgbClr val="FF3300"/>
                </a:solidFill>
              </a:rPr>
              <a:t>平均值</a:t>
            </a:r>
            <a:r>
              <a:rPr kumimoji="1" lang="zh-CN" altLang="en-US">
                <a:solidFill>
                  <a:schemeClr val="bg1"/>
                </a:solidFill>
              </a:rPr>
              <a:t>可以直接由</a:t>
            </a:r>
            <a:r>
              <a:rPr kumimoji="1" lang="zh-CN" altLang="en-US">
                <a:solidFill>
                  <a:srgbClr val="FF0000"/>
                </a:solidFill>
              </a:rPr>
              <a:t>复矢量</a:t>
            </a:r>
            <a:r>
              <a:rPr kumimoji="1" lang="zh-CN" altLang="en-US">
                <a:solidFill>
                  <a:schemeClr val="bg1"/>
                </a:solidFill>
              </a:rPr>
              <a:t>计算。</a:t>
            </a:r>
            <a:endParaRPr kumimoji="1" lang="zh-CN" altLang="en-US">
              <a:solidFill>
                <a:schemeClr val="bg1"/>
              </a:solidFill>
              <a:sym typeface="Wingdings" pitchFamily="2" charset="2"/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611188" y="5276850"/>
            <a:ext cx="7959725" cy="876300"/>
            <a:chOff x="681" y="3450"/>
            <a:chExt cx="5014" cy="552"/>
          </a:xfrm>
        </p:grpSpPr>
        <p:graphicFrame>
          <p:nvGraphicFramePr>
            <p:cNvPr id="21521" name="Object 16"/>
            <p:cNvGraphicFramePr>
              <a:graphicFrameLocks noChangeAspect="1"/>
            </p:cNvGraphicFramePr>
            <p:nvPr/>
          </p:nvGraphicFramePr>
          <p:xfrm>
            <a:off x="4048" y="3450"/>
            <a:ext cx="1647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99" name="Equation" r:id="rId11" imgW="1247887" imgH="380897" progId="Equation.DSMT4">
                    <p:embed/>
                  </p:oleObj>
                </mc:Choice>
                <mc:Fallback>
                  <p:oleObj name="Equation" r:id="rId11" imgW="1247887" imgH="380897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8" y="3450"/>
                          <a:ext cx="1647" cy="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2" name="Object 17"/>
            <p:cNvGraphicFramePr>
              <a:graphicFrameLocks noChangeAspect="1"/>
            </p:cNvGraphicFramePr>
            <p:nvPr/>
          </p:nvGraphicFramePr>
          <p:xfrm>
            <a:off x="2336" y="3474"/>
            <a:ext cx="1645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0" name="Equation" r:id="rId13" imgW="1228801" imgH="352399" progId="Equation.DSMT4">
                    <p:embed/>
                  </p:oleObj>
                </mc:Choice>
                <mc:Fallback>
                  <p:oleObj name="Equation" r:id="rId13" imgW="1228801" imgH="352399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3474"/>
                          <a:ext cx="1645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3" name="Object 18"/>
            <p:cNvGraphicFramePr>
              <a:graphicFrameLocks noChangeAspect="1"/>
            </p:cNvGraphicFramePr>
            <p:nvPr/>
          </p:nvGraphicFramePr>
          <p:xfrm>
            <a:off x="681" y="3491"/>
            <a:ext cx="1571" cy="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01" name="Equation" r:id="rId15" imgW="1181259" imgH="352399" progId="Equation.DSMT4">
                    <p:embed/>
                  </p:oleObj>
                </mc:Choice>
                <mc:Fallback>
                  <p:oleObj name="Equation" r:id="rId15" imgW="1181259" imgH="352399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" y="3491"/>
                          <a:ext cx="1571" cy="5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7" name="AutoShape 24">
            <a:hlinkClick r:id="rId1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8" name="AutoShape 2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19" name="AutoShape 2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20" name="AutoShape 2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87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8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8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8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78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8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78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78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78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7461" grpId="0" build="p" autoUpdateAnimBg="0"/>
      <p:bldP spid="787462" grpId="0"/>
      <p:bldP spid="787463" grpId="0"/>
      <p:bldP spid="787464" grpId="0"/>
      <p:bldP spid="787465" grpId="0"/>
      <p:bldP spid="78747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2E4192-CF50-46DF-8780-836B5E8E8581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769026" name="Text Box 2"/>
          <p:cNvSpPr txBox="1">
            <a:spLocks noChangeArrowheads="1"/>
          </p:cNvSpPr>
          <p:nvPr/>
        </p:nvSpPr>
        <p:spPr bwMode="auto">
          <a:xfrm>
            <a:off x="63500" y="1639888"/>
            <a:ext cx="4078288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（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1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）平均能流密度矢量为 </a:t>
            </a:r>
          </a:p>
        </p:txBody>
      </p:sp>
      <p:graphicFrame>
        <p:nvGraphicFramePr>
          <p:cNvPr id="769027" name="Object 3"/>
          <p:cNvGraphicFramePr>
            <a:graphicFrameLocks noChangeAspect="1"/>
          </p:cNvGraphicFramePr>
          <p:nvPr/>
        </p:nvGraphicFramePr>
        <p:xfrm>
          <a:off x="584200" y="2120900"/>
          <a:ext cx="8526463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1" name="Equation" r:id="rId3" imgW="4219427" imgH="352399" progId="Equation.DSMT4">
                  <p:embed/>
                </p:oleObj>
              </mc:Choice>
              <mc:Fallback>
                <p:oleObj name="Equation" r:id="rId3" imgW="4219427" imgH="35239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2120900"/>
                        <a:ext cx="8526463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9028" name="Text Box 4"/>
          <p:cNvSpPr txBox="1">
            <a:spLocks noChangeArrowheads="1"/>
          </p:cNvSpPr>
          <p:nvPr/>
        </p:nvSpPr>
        <p:spPr bwMode="auto">
          <a:xfrm>
            <a:off x="63500" y="2935288"/>
            <a:ext cx="5942013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（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</a:rPr>
              <a:t>2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）如果电场和磁场均用复数形式给出 </a:t>
            </a:r>
          </a:p>
        </p:txBody>
      </p:sp>
      <p:graphicFrame>
        <p:nvGraphicFramePr>
          <p:cNvPr id="769029" name="Object 5"/>
          <p:cNvGraphicFramePr>
            <a:graphicFrameLocks noChangeAspect="1"/>
          </p:cNvGraphicFramePr>
          <p:nvPr/>
        </p:nvGraphicFramePr>
        <p:xfrm>
          <a:off x="595313" y="3521075"/>
          <a:ext cx="22764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" name="Equation" r:id="rId5" imgW="1038286" imgH="476121" progId="Equation.DSMT4">
                  <p:embed/>
                </p:oleObj>
              </mc:Choice>
              <mc:Fallback>
                <p:oleObj name="Equation" r:id="rId5" imgW="1038286" imgH="47612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3521075"/>
                        <a:ext cx="2276475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99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31" name="Object 7"/>
          <p:cNvGraphicFramePr>
            <a:graphicFrameLocks noChangeAspect="1"/>
          </p:cNvGraphicFramePr>
          <p:nvPr/>
        </p:nvGraphicFramePr>
        <p:xfrm>
          <a:off x="3324225" y="3565525"/>
          <a:ext cx="554831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3" name="Equation" r:id="rId7" imgW="2695658" imgH="333285" progId="Equation.DSMT4">
                  <p:embed/>
                </p:oleObj>
              </mc:Choice>
              <mc:Fallback>
                <p:oleObj name="Equation" r:id="rId7" imgW="2695658" imgH="33328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5" y="3565525"/>
                        <a:ext cx="5548313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32" name="Object 8"/>
          <p:cNvGraphicFramePr>
            <a:graphicFrameLocks noChangeAspect="1"/>
          </p:cNvGraphicFramePr>
          <p:nvPr/>
        </p:nvGraphicFramePr>
        <p:xfrm>
          <a:off x="506413" y="4967288"/>
          <a:ext cx="584041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4" name="Equation" r:id="rId9" imgW="2990973" imgH="380897" progId="Equation.DSMT4">
                  <p:embed/>
                </p:oleObj>
              </mc:Choice>
              <mc:Fallback>
                <p:oleObj name="Equation" r:id="rId9" imgW="2990973" imgH="38089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3" y="4967288"/>
                        <a:ext cx="584041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9035" name="Object 11"/>
          <p:cNvGraphicFramePr>
            <a:graphicFrameLocks noChangeAspect="1"/>
          </p:cNvGraphicFramePr>
          <p:nvPr/>
        </p:nvGraphicFramePr>
        <p:xfrm>
          <a:off x="1042988" y="5734050"/>
          <a:ext cx="5487987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5" name="Equation" r:id="rId11" imgW="2419430" imgH="333285" progId="Equation.DSMT4">
                  <p:embed/>
                </p:oleObj>
              </mc:Choice>
              <mc:Fallback>
                <p:oleObj name="Equation" r:id="rId11" imgW="2419430" imgH="33328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5734050"/>
                        <a:ext cx="5487987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9038" name="AutoShape 14"/>
          <p:cNvSpPr>
            <a:spLocks noChangeArrowheads="1"/>
          </p:cNvSpPr>
          <p:nvPr/>
        </p:nvSpPr>
        <p:spPr bwMode="auto">
          <a:xfrm>
            <a:off x="7415213" y="3565525"/>
            <a:ext cx="1404937" cy="766763"/>
          </a:xfrm>
          <a:prstGeom prst="wedgeRoundRectCallout">
            <a:avLst>
              <a:gd name="adj1" fmla="val -91074"/>
              <a:gd name="adj2" fmla="val 89370"/>
              <a:gd name="adj3" fmla="val 16667"/>
            </a:avLst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zh-CN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69039" name="AutoShape 15"/>
          <p:cNvSpPr>
            <a:spLocks noChangeArrowheads="1"/>
          </p:cNvSpPr>
          <p:nvPr/>
        </p:nvSpPr>
        <p:spPr bwMode="auto">
          <a:xfrm>
            <a:off x="5148263" y="5724525"/>
            <a:ext cx="1457325" cy="800100"/>
          </a:xfrm>
          <a:prstGeom prst="wedgeRoundRectCallout">
            <a:avLst>
              <a:gd name="adj1" fmla="val 33894"/>
              <a:gd name="adj2" fmla="val -119616"/>
              <a:gd name="adj3" fmla="val 16667"/>
            </a:avLst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</a:pPr>
            <a:endParaRPr lang="zh-CN" altLang="zh-CN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69042" name="Rectangle 18"/>
          <p:cNvSpPr>
            <a:spLocks noChangeArrowheads="1"/>
          </p:cNvSpPr>
          <p:nvPr/>
        </p:nvSpPr>
        <p:spPr bwMode="auto">
          <a:xfrm>
            <a:off x="4954588" y="4652963"/>
            <a:ext cx="3578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</a:rPr>
              <a:t>时间平均值与时间无关</a:t>
            </a:r>
          </a:p>
        </p:txBody>
      </p:sp>
      <p:sp>
        <p:nvSpPr>
          <p:cNvPr id="769043" name="AutoShape 19"/>
          <p:cNvSpPr>
            <a:spLocks noChangeArrowheads="1"/>
          </p:cNvSpPr>
          <p:nvPr/>
        </p:nvSpPr>
        <p:spPr bwMode="auto">
          <a:xfrm flipH="1">
            <a:off x="2927350" y="3840163"/>
            <a:ext cx="396875" cy="217487"/>
          </a:xfrm>
          <a:prstGeom prst="leftArrow">
            <a:avLst>
              <a:gd name="adj1" fmla="val 50000"/>
              <a:gd name="adj2" fmla="val 91241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69044" name="AutoShape 20"/>
          <p:cNvSpPr>
            <a:spLocks noChangeArrowheads="1"/>
          </p:cNvSpPr>
          <p:nvPr/>
        </p:nvSpPr>
        <p:spPr bwMode="auto">
          <a:xfrm rot="5400000" flipH="1">
            <a:off x="1256507" y="4683919"/>
            <a:ext cx="277812" cy="215900"/>
          </a:xfrm>
          <a:prstGeom prst="leftArrow">
            <a:avLst>
              <a:gd name="adj1" fmla="val 50000"/>
              <a:gd name="adj2" fmla="val 58405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69046" name="Object 22"/>
          <p:cNvGraphicFramePr>
            <a:graphicFrameLocks noChangeAspect="1"/>
          </p:cNvGraphicFramePr>
          <p:nvPr/>
        </p:nvGraphicFramePr>
        <p:xfrm>
          <a:off x="971550" y="1039813"/>
          <a:ext cx="70008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6" name="Equation" r:id="rId13" imgW="3438630" imgH="209563" progId="Equation.DSMT4">
                  <p:embed/>
                </p:oleObj>
              </mc:Choice>
              <mc:Fallback>
                <p:oleObj name="Equation" r:id="rId13" imgW="3438630" imgH="209563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039813"/>
                        <a:ext cx="700087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9047" name="Text Box 23"/>
          <p:cNvSpPr txBox="1">
            <a:spLocks noChangeArrowheads="1"/>
          </p:cNvSpPr>
          <p:nvPr/>
        </p:nvSpPr>
        <p:spPr bwMode="auto">
          <a:xfrm>
            <a:off x="63500" y="414338"/>
            <a:ext cx="8964613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 例  某时谐电磁场的电场强度和磁场强度均</a:t>
            </a:r>
            <a:r>
              <a:rPr kumimoji="1" lang="zh-CN" altLang="en-US">
                <a:solidFill>
                  <a:schemeClr val="bg1"/>
                </a:solidFill>
              </a:rPr>
              <a:t>用实数形式给出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22545" name="AutoShape 24">
            <a:hlinkClick r:id="rId15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6" name="AutoShape 2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7" name="AutoShape 2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8" name="AutoShape 2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69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769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6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6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6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6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769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76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769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2000"/>
                                        <p:tgtEl>
                                          <p:spTgt spid="76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76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769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769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2000"/>
                                        <p:tgtEl>
                                          <p:spTgt spid="769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9026" grpId="0"/>
      <p:bldP spid="769028" grpId="0" autoUpdateAnimBg="0"/>
      <p:bldP spid="769038" grpId="0" animBg="1"/>
      <p:bldP spid="769039" grpId="0" animBg="1"/>
      <p:bldP spid="769042" grpId="0"/>
      <p:bldP spid="769043" grpId="0" animBg="1"/>
      <p:bldP spid="769044" grpId="0" animBg="1"/>
      <p:bldP spid="76904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AEAA69-8E9A-4952-AFD9-18CAA0FE8FED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93663" y="1125538"/>
            <a:ext cx="8964612" cy="1114425"/>
            <a:chOff x="59" y="709"/>
            <a:chExt cx="5647" cy="702"/>
          </a:xfrm>
        </p:grpSpPr>
        <p:sp>
          <p:nvSpPr>
            <p:cNvPr id="23583" name="Text Box 11"/>
            <p:cNvSpPr txBox="1">
              <a:spLocks noChangeArrowheads="1"/>
            </p:cNvSpPr>
            <p:nvPr/>
          </p:nvSpPr>
          <p:spPr bwMode="auto">
            <a:xfrm>
              <a:off x="59" y="709"/>
              <a:ext cx="5647" cy="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40000"/>
                </a:lnSpc>
                <a:spcBef>
                  <a:spcPct val="0"/>
                </a:spcBef>
                <a:buFontTx/>
                <a:buBlip>
                  <a:blip r:embed="rId3"/>
                </a:buBlip>
              </a:pPr>
              <a:r>
                <a:rPr lang="en-US" altLang="zh-CN">
                  <a:solidFill>
                    <a:schemeClr val="bg1"/>
                  </a:solidFill>
                </a:rPr>
                <a:t>             </a:t>
              </a:r>
              <a:r>
                <a:rPr lang="zh-CN" altLang="en-US">
                  <a:solidFill>
                    <a:schemeClr val="bg1"/>
                  </a:solidFill>
                </a:rPr>
                <a:t>具有普遍意义，不仅适用于正弦电磁场，也适用于其他</a:t>
              </a:r>
            </a:p>
            <a:p>
              <a:pPr algn="just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     时变电磁场；而           只适用于时谐电磁场。</a:t>
              </a: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  </a:t>
              </a:r>
            </a:p>
          </p:txBody>
        </p:sp>
        <p:graphicFrame>
          <p:nvGraphicFramePr>
            <p:cNvPr id="23584" name="Object 13"/>
            <p:cNvGraphicFramePr>
              <a:graphicFrameLocks noChangeAspect="1"/>
            </p:cNvGraphicFramePr>
            <p:nvPr/>
          </p:nvGraphicFramePr>
          <p:xfrm>
            <a:off x="322" y="717"/>
            <a:ext cx="681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02" name="Equation" r:id="rId4" imgW="390398" imgH="181065" progId="Equation.DSMT4">
                    <p:embed/>
                  </p:oleObj>
                </mc:Choice>
                <mc:Fallback>
                  <p:oleObj name="Equation" r:id="rId4" imgW="390398" imgH="181065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" y="717"/>
                          <a:ext cx="681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5" name="Object 14"/>
            <p:cNvGraphicFramePr>
              <a:graphicFrameLocks noChangeAspect="1"/>
            </p:cNvGraphicFramePr>
            <p:nvPr/>
          </p:nvGraphicFramePr>
          <p:xfrm>
            <a:off x="1746" y="1071"/>
            <a:ext cx="59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03" name="Equation" r:id="rId6" imgW="371312" imgH="200179" progId="Equation.DSMT4">
                    <p:embed/>
                  </p:oleObj>
                </mc:Choice>
                <mc:Fallback>
                  <p:oleObj name="Equation" r:id="rId6" imgW="371312" imgH="200179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1071"/>
                          <a:ext cx="590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85725" y="2205038"/>
            <a:ext cx="9058275" cy="2867025"/>
            <a:chOff x="54" y="1397"/>
            <a:chExt cx="5706" cy="1806"/>
          </a:xfrm>
        </p:grpSpPr>
        <p:sp>
          <p:nvSpPr>
            <p:cNvPr id="23574" name="Text Box 4"/>
            <p:cNvSpPr txBox="1">
              <a:spLocks noChangeArrowheads="1"/>
            </p:cNvSpPr>
            <p:nvPr/>
          </p:nvSpPr>
          <p:spPr bwMode="auto">
            <a:xfrm>
              <a:off x="54" y="1397"/>
              <a:ext cx="5647" cy="18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FontTx/>
                <a:buBlip>
                  <a:blip r:embed="rId3"/>
                </a:buBlip>
              </a:pPr>
              <a:r>
                <a:rPr lang="en-US" altLang="zh-CN">
                  <a:solidFill>
                    <a:schemeClr val="bg1"/>
                  </a:solidFill>
                </a:rPr>
                <a:t>   </a:t>
              </a:r>
              <a:r>
                <a:rPr lang="zh-CN" altLang="en-US">
                  <a:solidFill>
                    <a:schemeClr val="bg1"/>
                  </a:solidFill>
                </a:rPr>
                <a:t>在                                  中，         和           都是实数形式且是</a:t>
              </a:r>
            </a:p>
            <a:p>
              <a:pPr eaLnBrk="1" hangingPunct="1">
                <a:lnSpc>
                  <a:spcPct val="15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      时间的函数，所以          也是时间的函数，</a:t>
              </a:r>
              <a:r>
                <a:rPr kumimoji="1" lang="zh-CN" altLang="en-US">
                  <a:solidFill>
                    <a:schemeClr val="bg1"/>
                  </a:solidFill>
                </a:rPr>
                <a:t>反映的是能流密度 </a:t>
              </a:r>
            </a:p>
            <a:p>
              <a:pPr eaLnBrk="1" hangingPunct="1">
                <a:lnSpc>
                  <a:spcPct val="160000"/>
                </a:lnSpc>
                <a:spcBef>
                  <a:spcPct val="0"/>
                </a:spcBef>
              </a:pPr>
              <a:r>
                <a:rPr kumimoji="1" lang="zh-CN" altLang="en-US">
                  <a:solidFill>
                    <a:schemeClr val="bg1"/>
                  </a:solidFill>
                </a:rPr>
                <a:t>      在某一个瞬时的取值</a:t>
              </a:r>
              <a:r>
                <a:rPr lang="zh-CN" altLang="en-US">
                  <a:solidFill>
                    <a:schemeClr val="bg1"/>
                  </a:solidFill>
                </a:rPr>
                <a:t>；而                                             中的  </a:t>
              </a:r>
            </a:p>
            <a:p>
              <a:pPr eaLnBrk="1" hangingPunct="1">
                <a:lnSpc>
                  <a:spcPct val="16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      和         都是复矢量，与时间无关，所以            也与时间无</a:t>
              </a:r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      关，</a:t>
              </a:r>
              <a:r>
                <a:rPr kumimoji="1" lang="zh-CN" altLang="en-US">
                  <a:solidFill>
                    <a:schemeClr val="bg1"/>
                  </a:solidFill>
                </a:rPr>
                <a:t>反映的是能流密度在一个时间周期内的平均取值</a:t>
              </a:r>
              <a:r>
                <a:rPr lang="zh-CN" altLang="en-US">
                  <a:solidFill>
                    <a:schemeClr val="bg1"/>
                  </a:solidFill>
                </a:rPr>
                <a:t>。</a:t>
              </a:r>
            </a:p>
          </p:txBody>
        </p:sp>
        <p:graphicFrame>
          <p:nvGraphicFramePr>
            <p:cNvPr id="23575" name="Object 17"/>
            <p:cNvGraphicFramePr>
              <a:graphicFrameLocks noChangeAspect="1"/>
            </p:cNvGraphicFramePr>
            <p:nvPr/>
          </p:nvGraphicFramePr>
          <p:xfrm>
            <a:off x="622" y="1442"/>
            <a:ext cx="1786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04" name="Equation" r:id="rId8" imgW="1505030" imgH="181065" progId="Equation.DSMT4">
                    <p:embed/>
                  </p:oleObj>
                </mc:Choice>
                <mc:Fallback>
                  <p:oleObj name="Equation" r:id="rId8" imgW="1505030" imgH="181065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2" y="1442"/>
                          <a:ext cx="1786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6" name="Object 18"/>
            <p:cNvGraphicFramePr>
              <a:graphicFrameLocks noChangeAspect="1"/>
            </p:cNvGraphicFramePr>
            <p:nvPr/>
          </p:nvGraphicFramePr>
          <p:xfrm>
            <a:off x="3462" y="1442"/>
            <a:ext cx="552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05" name="Equation" r:id="rId10" imgW="428571" imgH="181065" progId="Equation.DSMT4">
                    <p:embed/>
                  </p:oleObj>
                </mc:Choice>
                <mc:Fallback>
                  <p:oleObj name="Equation" r:id="rId10" imgW="428571" imgH="181065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2" y="1442"/>
                          <a:ext cx="552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7" name="Object 19"/>
            <p:cNvGraphicFramePr>
              <a:graphicFrameLocks noChangeAspect="1"/>
            </p:cNvGraphicFramePr>
            <p:nvPr/>
          </p:nvGraphicFramePr>
          <p:xfrm>
            <a:off x="2675" y="1442"/>
            <a:ext cx="523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06" name="Equation" r:id="rId12" imgW="400115" imgH="181065" progId="Equation.DSMT4">
                    <p:embed/>
                  </p:oleObj>
                </mc:Choice>
                <mc:Fallback>
                  <p:oleObj name="Equation" r:id="rId12" imgW="400115" imgH="18106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5" y="1442"/>
                          <a:ext cx="523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8" name="Object 20"/>
            <p:cNvGraphicFramePr>
              <a:graphicFrameLocks noChangeAspect="1"/>
            </p:cNvGraphicFramePr>
            <p:nvPr/>
          </p:nvGraphicFramePr>
          <p:xfrm>
            <a:off x="1991" y="1805"/>
            <a:ext cx="50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07" name="Equation" r:id="rId14" imgW="390398" imgH="181065" progId="Equation.DSMT4">
                    <p:embed/>
                  </p:oleObj>
                </mc:Choice>
                <mc:Fallback>
                  <p:oleObj name="Equation" r:id="rId14" imgW="390398" imgH="181065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1" y="1805"/>
                          <a:ext cx="50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9" name="Object 22"/>
            <p:cNvGraphicFramePr>
              <a:graphicFrameLocks/>
            </p:cNvGraphicFramePr>
            <p:nvPr/>
          </p:nvGraphicFramePr>
          <p:xfrm>
            <a:off x="2557" y="2107"/>
            <a:ext cx="2455" cy="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08" name="Equation" r:id="rId16" imgW="1800344" imgH="352399" progId="Equation.DSMT4">
                    <p:embed/>
                  </p:oleObj>
                </mc:Choice>
                <mc:Fallback>
                  <p:oleObj name="Equation" r:id="rId16" imgW="1800344" imgH="352399" progId="Equation.DSMT4">
                    <p:embed/>
                    <p:pic>
                      <p:nvPicPr>
                        <p:cNvPr id="0" name="Object 2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7" y="2107"/>
                          <a:ext cx="2455" cy="4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0" name="Object 23"/>
            <p:cNvGraphicFramePr>
              <a:graphicFrameLocks/>
            </p:cNvGraphicFramePr>
            <p:nvPr/>
          </p:nvGraphicFramePr>
          <p:xfrm>
            <a:off x="5294" y="2183"/>
            <a:ext cx="46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09" name="Equation" r:id="rId18" imgW="295315" imgH="181065" progId="Equation.DSMT4">
                    <p:embed/>
                  </p:oleObj>
                </mc:Choice>
                <mc:Fallback>
                  <p:oleObj name="Equation" r:id="rId18" imgW="295315" imgH="181065" progId="Equation.DSMT4">
                    <p:embed/>
                    <p:pic>
                      <p:nvPicPr>
                        <p:cNvPr id="0" name="Object 2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4" y="2183"/>
                          <a:ext cx="466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1" name="Object 24"/>
            <p:cNvGraphicFramePr>
              <a:graphicFrameLocks/>
            </p:cNvGraphicFramePr>
            <p:nvPr/>
          </p:nvGraphicFramePr>
          <p:xfrm>
            <a:off x="613" y="2545"/>
            <a:ext cx="51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0" name="Equation" r:id="rId20" imgW="323770" imgH="181065" progId="Equation.DSMT4">
                    <p:embed/>
                  </p:oleObj>
                </mc:Choice>
                <mc:Fallback>
                  <p:oleObj name="Equation" r:id="rId20" imgW="323770" imgH="181065" progId="Equation.DSMT4">
                    <p:embed/>
                    <p:pic>
                      <p:nvPicPr>
                        <p:cNvPr id="0" name="Object 2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" y="2545"/>
                          <a:ext cx="510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82" name="Object 25"/>
            <p:cNvGraphicFramePr>
              <a:graphicFrameLocks/>
            </p:cNvGraphicFramePr>
            <p:nvPr/>
          </p:nvGraphicFramePr>
          <p:xfrm>
            <a:off x="3833" y="2549"/>
            <a:ext cx="57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1" name="Equation" r:id="rId22" imgW="371312" imgH="200179" progId="Equation.DSMT4">
                    <p:embed/>
                  </p:oleObj>
                </mc:Choice>
                <mc:Fallback>
                  <p:oleObj name="Equation" r:id="rId22" imgW="371312" imgH="200179" progId="Equation.DSMT4">
                    <p:embed/>
                    <p:pic>
                      <p:nvPicPr>
                        <p:cNvPr id="0" name="Object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2549"/>
                          <a:ext cx="577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57" name="Rectangle 34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0" y="5084763"/>
            <a:ext cx="8964613" cy="1309687"/>
            <a:chOff x="45" y="3248"/>
            <a:chExt cx="5647" cy="825"/>
          </a:xfrm>
        </p:grpSpPr>
        <p:graphicFrame>
          <p:nvGraphicFramePr>
            <p:cNvPr id="23567" name="Object 21"/>
            <p:cNvGraphicFramePr>
              <a:graphicFrameLocks/>
            </p:cNvGraphicFramePr>
            <p:nvPr/>
          </p:nvGraphicFramePr>
          <p:xfrm>
            <a:off x="787" y="3263"/>
            <a:ext cx="1730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2" name="Equation" r:id="rId24" imgW="1323885" imgH="333285" progId="Equation.DSMT4">
                    <p:embed/>
                  </p:oleObj>
                </mc:Choice>
                <mc:Fallback>
                  <p:oleObj name="Equation" r:id="rId24" imgW="1323885" imgH="333285" progId="Equation.DSMT4">
                    <p:embed/>
                    <p:pic>
                      <p:nvPicPr>
                        <p:cNvPr id="0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" y="3263"/>
                          <a:ext cx="1730" cy="4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8" name="Text Box 26"/>
            <p:cNvSpPr txBox="1">
              <a:spLocks noChangeArrowheads="1"/>
            </p:cNvSpPr>
            <p:nvPr/>
          </p:nvSpPr>
          <p:spPr bwMode="auto">
            <a:xfrm>
              <a:off x="45" y="3248"/>
              <a:ext cx="5647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60000"/>
                </a:lnSpc>
                <a:spcBef>
                  <a:spcPct val="0"/>
                </a:spcBef>
                <a:buFontTx/>
                <a:buBlip>
                  <a:blip r:embed="rId3"/>
                </a:buBlip>
              </a:pPr>
              <a:r>
                <a:rPr lang="en-US" altLang="zh-CN">
                  <a:solidFill>
                    <a:schemeClr val="bg1"/>
                  </a:solidFill>
                </a:rPr>
                <a:t>   </a:t>
              </a:r>
              <a:r>
                <a:rPr lang="zh-CN" altLang="en-US">
                  <a:solidFill>
                    <a:schemeClr val="bg1"/>
                  </a:solidFill>
                </a:rPr>
                <a:t>利用                                ，可由           计算           ，但不能直</a:t>
              </a:r>
            </a:p>
            <a:p>
              <a:pPr algn="just" eaLnBrk="1" hangingPunct="1">
                <a:lnSpc>
                  <a:spcPct val="160000"/>
                </a:lnSpc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      接由           计算           ，也就是说                                       。</a:t>
              </a:r>
              <a:endParaRPr kumimoji="1" lang="zh-CN" altLang="en-US">
                <a:solidFill>
                  <a:schemeClr val="bg1"/>
                </a:solidFill>
                <a:latin typeface="楷体_GB2312" pitchFamily="49" charset="-122"/>
              </a:endParaRPr>
            </a:p>
          </p:txBody>
        </p:sp>
        <p:graphicFrame>
          <p:nvGraphicFramePr>
            <p:cNvPr id="23569" name="Object 27"/>
            <p:cNvGraphicFramePr>
              <a:graphicFrameLocks noChangeAspect="1"/>
            </p:cNvGraphicFramePr>
            <p:nvPr/>
          </p:nvGraphicFramePr>
          <p:xfrm>
            <a:off x="3101" y="3321"/>
            <a:ext cx="50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3" name="Equation" r:id="rId26" imgW="390398" imgH="181065" progId="Equation.DSMT4">
                    <p:embed/>
                  </p:oleObj>
                </mc:Choice>
                <mc:Fallback>
                  <p:oleObj name="Equation" r:id="rId26" imgW="390398" imgH="181065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1" y="3321"/>
                          <a:ext cx="50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0" name="Object 28"/>
            <p:cNvGraphicFramePr>
              <a:graphicFrameLocks noChangeAspect="1"/>
            </p:cNvGraphicFramePr>
            <p:nvPr/>
          </p:nvGraphicFramePr>
          <p:xfrm>
            <a:off x="4014" y="3321"/>
            <a:ext cx="59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4" name="Equation" r:id="rId28" imgW="371312" imgH="200179" progId="Equation.DSMT4">
                    <p:embed/>
                  </p:oleObj>
                </mc:Choice>
                <mc:Fallback>
                  <p:oleObj name="Equation" r:id="rId28" imgW="371312" imgH="200179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3321"/>
                          <a:ext cx="590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1" name="Object 30"/>
            <p:cNvGraphicFramePr>
              <a:graphicFrameLocks noChangeAspect="1"/>
            </p:cNvGraphicFramePr>
            <p:nvPr/>
          </p:nvGraphicFramePr>
          <p:xfrm>
            <a:off x="793" y="3708"/>
            <a:ext cx="59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5" name="Equation" r:id="rId30" imgW="371312" imgH="200179" progId="Equation.DSMT4">
                    <p:embed/>
                  </p:oleObj>
                </mc:Choice>
                <mc:Fallback>
                  <p:oleObj name="Equation" r:id="rId30" imgW="371312" imgH="200179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3708"/>
                          <a:ext cx="590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2" name="Object 31"/>
            <p:cNvGraphicFramePr>
              <a:graphicFrameLocks noChangeAspect="1"/>
            </p:cNvGraphicFramePr>
            <p:nvPr/>
          </p:nvGraphicFramePr>
          <p:xfrm>
            <a:off x="1791" y="3702"/>
            <a:ext cx="50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6" name="Equation" r:id="rId32" imgW="390398" imgH="181065" progId="Equation.DSMT4">
                    <p:embed/>
                  </p:oleObj>
                </mc:Choice>
                <mc:Fallback>
                  <p:oleObj name="Equation" r:id="rId32" imgW="390398" imgH="181065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3702"/>
                          <a:ext cx="50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3" name="Object 33"/>
            <p:cNvGraphicFramePr>
              <a:graphicFrameLocks noChangeAspect="1"/>
            </p:cNvGraphicFramePr>
            <p:nvPr/>
          </p:nvGraphicFramePr>
          <p:xfrm>
            <a:off x="3337" y="3662"/>
            <a:ext cx="2083" cy="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7" name="Equation" r:id="rId34" imgW="1466857" imgH="247792" progId="Equation.DSMT4">
                    <p:embed/>
                  </p:oleObj>
                </mc:Choice>
                <mc:Fallback>
                  <p:oleObj name="Equation" r:id="rId34" imgW="1466857" imgH="247792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7" y="3662"/>
                          <a:ext cx="2083" cy="4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0"/>
          <p:cNvGrpSpPr>
            <a:grpSpLocks/>
          </p:cNvGrpSpPr>
          <p:nvPr/>
        </p:nvGrpSpPr>
        <p:grpSpPr bwMode="auto">
          <a:xfrm>
            <a:off x="-323850" y="476250"/>
            <a:ext cx="5238750" cy="538163"/>
            <a:chOff x="0" y="300"/>
            <a:chExt cx="3300" cy="339"/>
          </a:xfrm>
        </p:grpSpPr>
        <p:graphicFrame>
          <p:nvGraphicFramePr>
            <p:cNvPr id="23564" name="Object 7"/>
            <p:cNvGraphicFramePr>
              <a:graphicFrameLocks noChangeAspect="1"/>
            </p:cNvGraphicFramePr>
            <p:nvPr/>
          </p:nvGraphicFramePr>
          <p:xfrm>
            <a:off x="662" y="308"/>
            <a:ext cx="681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8" name="Equation" r:id="rId36" imgW="390398" imgH="181065" progId="Equation.DSMT4">
                    <p:embed/>
                  </p:oleObj>
                </mc:Choice>
                <mc:Fallback>
                  <p:oleObj name="Equation" r:id="rId36" imgW="390398" imgH="181065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2" y="308"/>
                          <a:ext cx="681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5" name="Object 8"/>
            <p:cNvGraphicFramePr>
              <a:graphicFrameLocks noChangeAspect="1"/>
            </p:cNvGraphicFramePr>
            <p:nvPr/>
          </p:nvGraphicFramePr>
          <p:xfrm>
            <a:off x="1497" y="300"/>
            <a:ext cx="59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9" name="Equation" r:id="rId38" imgW="371312" imgH="200179" progId="Equation.DSMT4">
                    <p:embed/>
                  </p:oleObj>
                </mc:Choice>
                <mc:Fallback>
                  <p:oleObj name="Equation" r:id="rId38" imgW="371312" imgH="200179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300"/>
                          <a:ext cx="590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6" name="Text Box 35"/>
            <p:cNvSpPr txBox="1">
              <a:spLocks noChangeArrowheads="1"/>
            </p:cNvSpPr>
            <p:nvPr/>
          </p:nvSpPr>
          <p:spPr bwMode="auto">
            <a:xfrm>
              <a:off x="0" y="301"/>
              <a:ext cx="330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</a:rPr>
                <a:t>    </a:t>
              </a:r>
              <a:r>
                <a:rPr lang="zh-CN" altLang="en-US" dirty="0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关于             和            的几点说明</a:t>
              </a:r>
            </a:p>
          </p:txBody>
        </p:sp>
      </p:grpSp>
      <p:sp>
        <p:nvSpPr>
          <p:cNvPr id="23560" name="AutoShape 42">
            <a:hlinkClick r:id="rId40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1" name="AutoShape 4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2" name="AutoShape 4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3" name="AutoShape 4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6F720B-C2CC-4D79-B8C9-6EFEBF05C589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-323850" y="2133600"/>
            <a:ext cx="8053388" cy="533400"/>
            <a:chOff x="158" y="981"/>
            <a:chExt cx="5073" cy="336"/>
          </a:xfrm>
        </p:grpSpPr>
        <p:sp>
          <p:nvSpPr>
            <p:cNvPr id="24594" name="Text Box 7"/>
            <p:cNvSpPr txBox="1">
              <a:spLocks noChangeArrowheads="1"/>
            </p:cNvSpPr>
            <p:nvPr/>
          </p:nvSpPr>
          <p:spPr bwMode="auto">
            <a:xfrm>
              <a:off x="158" y="981"/>
              <a:ext cx="5073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  <a:ea typeface="幼圆" pitchFamily="49" charset="-122"/>
                </a:rPr>
                <a:t>      </a:t>
              </a:r>
              <a:r>
                <a:rPr kumimoji="1" lang="zh-CN" altLang="en-US">
                  <a:solidFill>
                    <a:srgbClr val="FF9900"/>
                  </a:solidFill>
                  <a:latin typeface="Times New Roman" pitchFamily="18" charset="0"/>
                  <a:ea typeface="幼圆" pitchFamily="49" charset="-122"/>
                </a:rPr>
                <a:t>解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（</a:t>
              </a: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1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）由　　　　　　　　得</a:t>
              </a:r>
              <a:endParaRPr kumimoji="1" lang="zh-CN" altLang="en-US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24595" name="Object 8"/>
            <p:cNvGraphicFramePr>
              <a:graphicFrameLocks noChangeAspect="1"/>
            </p:cNvGraphicFramePr>
            <p:nvPr/>
          </p:nvGraphicFramePr>
          <p:xfrm>
            <a:off x="1473" y="981"/>
            <a:ext cx="142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2" name="Equation" r:id="rId3" imgW="1019200" imgH="200179" progId="Equation.DSMT4">
                    <p:embed/>
                  </p:oleObj>
                </mc:Choice>
                <mc:Fallback>
                  <p:oleObj name="Equation" r:id="rId3" imgW="1019200" imgH="200179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3" y="981"/>
                          <a:ext cx="1425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70057" name="Object 9"/>
          <p:cNvGraphicFramePr>
            <a:graphicFrameLocks/>
          </p:cNvGraphicFramePr>
          <p:nvPr/>
        </p:nvGraphicFramePr>
        <p:xfrm>
          <a:off x="1200150" y="2695575"/>
          <a:ext cx="6929438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3" name="Equation" r:id="rId5" imgW="3229029" imgH="847635" progId="Equation.DSMT4">
                  <p:embed/>
                </p:oleObj>
              </mc:Choice>
              <mc:Fallback>
                <p:oleObj name="Equation" r:id="rId5" imgW="3229029" imgH="847635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2695575"/>
                        <a:ext cx="6929438" cy="176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0058" name="Text Box 10"/>
          <p:cNvSpPr txBox="1">
            <a:spLocks noChangeArrowheads="1"/>
          </p:cNvSpPr>
          <p:nvPr/>
        </p:nvSpPr>
        <p:spPr bwMode="auto">
          <a:xfrm>
            <a:off x="539750" y="4448175"/>
            <a:ext cx="4824413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（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2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）电场和磁场的瞬时值分别为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graphicFrame>
        <p:nvGraphicFramePr>
          <p:cNvPr id="770060" name="Object 12"/>
          <p:cNvGraphicFramePr>
            <a:graphicFrameLocks/>
          </p:cNvGraphicFramePr>
          <p:nvPr/>
        </p:nvGraphicFramePr>
        <p:xfrm>
          <a:off x="1335088" y="5703888"/>
          <a:ext cx="64468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4" name="Equation" r:id="rId7" imgW="2848000" imgH="390628" progId="Equation.DSMT4">
                  <p:embed/>
                </p:oleObj>
              </mc:Choice>
              <mc:Fallback>
                <p:oleObj name="Equation" r:id="rId7" imgW="2848000" imgH="390628" progId="Equation.DSMT4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88" y="5703888"/>
                        <a:ext cx="6446837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0062" name="Object 14"/>
          <p:cNvGraphicFramePr>
            <a:graphicFrameLocks/>
          </p:cNvGraphicFramePr>
          <p:nvPr/>
        </p:nvGraphicFramePr>
        <p:xfrm>
          <a:off x="1379538" y="5019675"/>
          <a:ext cx="59404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5" name="Equation" r:id="rId9" imgW="2562055" imgH="238061" progId="Equation.DSMT4">
                  <p:embed/>
                </p:oleObj>
              </mc:Choice>
              <mc:Fallback>
                <p:oleObj name="Equation" r:id="rId9" imgW="2562055" imgH="238061" progId="Equation.DSMT4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538" y="5019675"/>
                        <a:ext cx="594042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0" y="404813"/>
            <a:ext cx="9088438" cy="1639887"/>
            <a:chOff x="0" y="183"/>
            <a:chExt cx="5725" cy="1033"/>
          </a:xfrm>
        </p:grpSpPr>
        <p:sp>
          <p:nvSpPr>
            <p:cNvPr id="24589" name="Text Box 4"/>
            <p:cNvSpPr txBox="1">
              <a:spLocks noChangeArrowheads="1"/>
            </p:cNvSpPr>
            <p:nvPr/>
          </p:nvSpPr>
          <p:spPr bwMode="auto">
            <a:xfrm>
              <a:off x="0" y="183"/>
              <a:ext cx="5725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kumimoji="1" lang="en-US" altLang="zh-CN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 </a:t>
              </a:r>
              <a:r>
                <a:rPr kumimoji="1" lang="zh-CN" altLang="en-US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例</a:t>
              </a:r>
              <a:r>
                <a:rPr kumimoji="1" lang="en-US" altLang="zh-CN">
                  <a:solidFill>
                    <a:srgbClr val="FF9900"/>
                  </a:solidFill>
                  <a:latin typeface="Times New Roman" pitchFamily="18" charset="0"/>
                  <a:ea typeface="宋体" pitchFamily="2" charset="-122"/>
                </a:rPr>
                <a:t>4.5.4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ea typeface="宋体" pitchFamily="2" charset="-122"/>
                </a:rPr>
                <a:t>　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已知无源的自由空间中，电磁场的电场强度复矢量为</a:t>
              </a:r>
              <a:endParaRPr kumimoji="1" lang="en-US" altLang="zh-CN">
                <a:solidFill>
                  <a:schemeClr val="bg1"/>
                </a:solidFill>
                <a:latin typeface="Times New Roman" pitchFamily="18" charset="0"/>
              </a:endParaRPr>
            </a:p>
            <a:p>
              <a:pPr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　　　　　　    ，其中</a:t>
              </a:r>
              <a:r>
                <a:rPr kumimoji="1" lang="en-US" altLang="zh-CN" i="1">
                  <a:solidFill>
                    <a:schemeClr val="bg1"/>
                  </a:solidFill>
                  <a:latin typeface="Times New Roman" pitchFamily="18" charset="0"/>
                </a:rPr>
                <a:t>k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和 </a:t>
              </a:r>
              <a:r>
                <a:rPr kumimoji="1" lang="en-US" altLang="zh-CN" i="1">
                  <a:solidFill>
                    <a:schemeClr val="bg1"/>
                  </a:solidFill>
                  <a:latin typeface="Times New Roman" pitchFamily="18" charset="0"/>
                </a:rPr>
                <a:t>E</a:t>
              </a:r>
              <a:r>
                <a:rPr kumimoji="1" lang="en-US" altLang="zh-CN" baseline="-25000">
                  <a:solidFill>
                    <a:schemeClr val="bg1"/>
                  </a:solidFill>
                  <a:latin typeface="Times New Roman" pitchFamily="18" charset="0"/>
                </a:rPr>
                <a:t>0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</a:rPr>
                <a:t>为常数。求：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（</a:t>
              </a: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1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）磁场强度复矢 量</a:t>
              </a:r>
              <a:r>
                <a:rPr kumimoji="1" lang="zh-CN" altLang="en-US" i="1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   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；（</a:t>
              </a: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2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）瞬时坡印廷矢量</a:t>
              </a:r>
              <a:r>
                <a:rPr kumimoji="1" lang="zh-CN" altLang="en-US" i="1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   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；（</a:t>
              </a:r>
              <a:r>
                <a:rPr kumimoji="1" lang="en-US" altLang="zh-CN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3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）平均坡印廷矢量  </a:t>
              </a:r>
              <a:r>
                <a:rPr kumimoji="1" lang="zh-CN" altLang="en-US" i="1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    </a:t>
              </a:r>
              <a:r>
                <a:rPr kumimoji="1" lang="zh-CN" altLang="en-US">
                  <a:solidFill>
                    <a:schemeClr val="bg1"/>
                  </a:solidFill>
                  <a:latin typeface="Times New Roman" pitchFamily="18" charset="0"/>
                  <a:sym typeface="Wingdings" pitchFamily="2" charset="2"/>
                </a:rPr>
                <a:t>。</a:t>
              </a:r>
            </a:p>
          </p:txBody>
        </p:sp>
        <p:graphicFrame>
          <p:nvGraphicFramePr>
            <p:cNvPr id="24590" name="Object 5"/>
            <p:cNvGraphicFramePr>
              <a:graphicFrameLocks noChangeAspect="1"/>
            </p:cNvGraphicFramePr>
            <p:nvPr/>
          </p:nvGraphicFramePr>
          <p:xfrm>
            <a:off x="158" y="511"/>
            <a:ext cx="1348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6" name="Equation" r:id="rId11" imgW="961942" imgH="209563" progId="Equation.DSMT4">
                    <p:embed/>
                  </p:oleObj>
                </mc:Choice>
                <mc:Fallback>
                  <p:oleObj name="Equation" r:id="rId11" imgW="961942" imgH="209563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511"/>
                          <a:ext cx="1348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1" name="Object 16"/>
            <p:cNvGraphicFramePr>
              <a:graphicFrameLocks noChangeAspect="1"/>
            </p:cNvGraphicFramePr>
            <p:nvPr/>
          </p:nvGraphicFramePr>
          <p:xfrm>
            <a:off x="2514" y="890"/>
            <a:ext cx="185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7" name="Equation" r:id="rId13" imgW="85714" imgH="161951" progId="Equation.DSMT4">
                    <p:embed/>
                  </p:oleObj>
                </mc:Choice>
                <mc:Fallback>
                  <p:oleObj name="Equation" r:id="rId13" imgW="85714" imgH="161951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" y="890"/>
                          <a:ext cx="185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2" name="Object 17"/>
            <p:cNvGraphicFramePr>
              <a:graphicFrameLocks noChangeAspect="1"/>
            </p:cNvGraphicFramePr>
            <p:nvPr/>
          </p:nvGraphicFramePr>
          <p:xfrm>
            <a:off x="4681" y="881"/>
            <a:ext cx="286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8" name="Equation" r:id="rId15" imgW="162059" imgH="200179" progId="Equation.DSMT4">
                    <p:embed/>
                  </p:oleObj>
                </mc:Choice>
                <mc:Fallback>
                  <p:oleObj name="Equation" r:id="rId15" imgW="162059" imgH="200179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1" y="881"/>
                          <a:ext cx="286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3" name="Object 18"/>
            <p:cNvGraphicFramePr>
              <a:graphicFrameLocks noChangeAspect="1"/>
            </p:cNvGraphicFramePr>
            <p:nvPr/>
          </p:nvGraphicFramePr>
          <p:xfrm>
            <a:off x="241" y="863"/>
            <a:ext cx="235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99" name="Equation" r:id="rId17" imgW="123886" imgH="142836" progId="Equation.DSMT4">
                    <p:embed/>
                  </p:oleObj>
                </mc:Choice>
                <mc:Fallback>
                  <p:oleObj name="Equation" r:id="rId17" imgW="123886" imgH="142836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" y="863"/>
                          <a:ext cx="235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5" name="AutoShape 20">
            <a:hlinkClick r:id="rId19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6" name="AutoShape 2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7" name="AutoShape 2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88" name="AutoShape 2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0"/>
                                        <p:tgtEl>
                                          <p:spTgt spid="77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7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7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77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05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2E5AC8-0EFC-4F51-B677-E93CE377451C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771074" name="Text Box 2"/>
          <p:cNvSpPr txBox="1">
            <a:spLocks noChangeArrowheads="1"/>
          </p:cNvSpPr>
          <p:nvPr/>
        </p:nvSpPr>
        <p:spPr bwMode="auto">
          <a:xfrm>
            <a:off x="-107950" y="2359025"/>
            <a:ext cx="38290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（</a:t>
            </a:r>
            <a:r>
              <a:rPr kumimoji="1" lang="en-US" altLang="zh-CN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3</a:t>
            </a: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）平均坡印廷矢量为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graphicFrame>
        <p:nvGraphicFramePr>
          <p:cNvPr id="771075" name="Object 3"/>
          <p:cNvGraphicFramePr>
            <a:graphicFrameLocks noChangeAspect="1"/>
          </p:cNvGraphicFramePr>
          <p:nvPr/>
        </p:nvGraphicFramePr>
        <p:xfrm>
          <a:off x="1174750" y="2825750"/>
          <a:ext cx="5067300" cy="194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2" name="Equation" r:id="rId3" imgW="2486058" imgH="924092" progId="Equation.DSMT4">
                  <p:embed/>
                </p:oleObj>
              </mc:Choice>
              <mc:Fallback>
                <p:oleObj name="Equation" r:id="rId3" imgW="2486058" imgH="924092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0" y="2825750"/>
                        <a:ext cx="5067300" cy="194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076" name="Object 4"/>
          <p:cNvGraphicFramePr>
            <a:graphicFrameLocks noChangeAspect="1"/>
          </p:cNvGraphicFramePr>
          <p:nvPr/>
        </p:nvGraphicFramePr>
        <p:xfrm>
          <a:off x="1169988" y="5122863"/>
          <a:ext cx="73628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3" name="Equation" r:id="rId5" imgW="3686056" imgH="447624" progId="Equation.DSMT4">
                  <p:embed/>
                </p:oleObj>
              </mc:Choice>
              <mc:Fallback>
                <p:oleObj name="Equation" r:id="rId5" imgW="3686056" imgH="44762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988" y="5122863"/>
                        <a:ext cx="736282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1077" name="Text Box 5"/>
          <p:cNvSpPr txBox="1">
            <a:spLocks noChangeArrowheads="1"/>
          </p:cNvSpPr>
          <p:nvPr/>
        </p:nvSpPr>
        <p:spPr bwMode="auto">
          <a:xfrm>
            <a:off x="473075" y="4797425"/>
            <a:ext cx="646113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或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71080" name="Text Box 8"/>
          <p:cNvSpPr txBox="1">
            <a:spLocks noChangeArrowheads="1"/>
          </p:cNvSpPr>
          <p:nvPr/>
        </p:nvSpPr>
        <p:spPr bwMode="auto">
          <a:xfrm>
            <a:off x="755650" y="404813"/>
            <a:ext cx="277812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  <a:latin typeface="Times New Roman" pitchFamily="18" charset="0"/>
                <a:sym typeface="Wingdings" pitchFamily="2" charset="2"/>
              </a:rPr>
              <a:t>瞬时坡印廷矢量为</a:t>
            </a:r>
            <a:endParaRPr kumimoji="1" lang="zh-CN" altLang="en-US">
              <a:solidFill>
                <a:schemeClr val="bg1"/>
              </a:solidFill>
              <a:latin typeface="Times New Roman" pitchFamily="18" charset="0"/>
            </a:endParaRPr>
          </a:p>
        </p:txBody>
      </p:sp>
      <p:graphicFrame>
        <p:nvGraphicFramePr>
          <p:cNvPr id="771081" name="Object 9"/>
          <p:cNvGraphicFramePr>
            <a:graphicFrameLocks noChangeAspect="1"/>
          </p:cNvGraphicFramePr>
          <p:nvPr/>
        </p:nvGraphicFramePr>
        <p:xfrm>
          <a:off x="1643063" y="1485900"/>
          <a:ext cx="321627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4" name="Equation" r:id="rId7" imgW="1342971" imgH="400011" progId="Equation.DSMT4">
                  <p:embed/>
                </p:oleObj>
              </mc:Choice>
              <mc:Fallback>
                <p:oleObj name="Equation" r:id="rId7" imgW="1342971" imgH="40001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485900"/>
                        <a:ext cx="3216275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1082" name="Object 10"/>
          <p:cNvGraphicFramePr>
            <a:graphicFrameLocks noChangeAspect="1"/>
          </p:cNvGraphicFramePr>
          <p:nvPr/>
        </p:nvGraphicFramePr>
        <p:xfrm>
          <a:off x="1312863" y="779463"/>
          <a:ext cx="68548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5" name="Equation" r:id="rId9" imgW="3305027" imgH="447624" progId="Equation.DSMT4">
                  <p:embed/>
                </p:oleObj>
              </mc:Choice>
              <mc:Fallback>
                <p:oleObj name="Equation" r:id="rId9" imgW="3305027" imgH="447624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863" y="779463"/>
                        <a:ext cx="685482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AutoShape 11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1" name="AutoShape 1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2" name="AutoShape 1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13" name="AutoShape 1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7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7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7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7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0"/>
                                        <p:tgtEl>
                                          <p:spTgt spid="77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77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3000"/>
                                        <p:tgtEl>
                                          <p:spTgt spid="77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1074" grpId="0" autoUpdateAnimBg="0"/>
      <p:bldP spid="771077" grpId="0" autoUpdateAnimBg="0"/>
      <p:bldP spid="77108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5D70C4C-CB97-495B-9C64-925887A039DB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410642" name="WordArt 18"/>
          <p:cNvSpPr>
            <a:spLocks noChangeArrowheads="1" noChangeShapeType="1" noTextEdit="1"/>
          </p:cNvSpPr>
          <p:nvPr/>
        </p:nvSpPr>
        <p:spPr bwMode="auto">
          <a:xfrm>
            <a:off x="674688" y="2593975"/>
            <a:ext cx="8001000" cy="1050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zh-CN" altLang="en-US" sz="3600" kern="10">
                <a:ln w="25400">
                  <a:solidFill>
                    <a:srgbClr val="FF00FF"/>
                  </a:solidFill>
                  <a:round/>
                  <a:headEnd/>
                  <a:tailEnd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/>
                <a:ea typeface="宋体"/>
              </a:rPr>
              <a:t>第</a:t>
            </a:r>
            <a:r>
              <a:rPr lang="en-US" altLang="zh-CN" sz="3600" kern="10">
                <a:ln w="25400">
                  <a:solidFill>
                    <a:srgbClr val="FF00FF"/>
                  </a:solidFill>
                  <a:round/>
                  <a:headEnd/>
                  <a:tailEnd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/>
                <a:ea typeface="宋体"/>
              </a:rPr>
              <a:t>5</a:t>
            </a:r>
            <a:r>
              <a:rPr lang="zh-CN" altLang="en-US" sz="3600" kern="10">
                <a:ln w="25400">
                  <a:solidFill>
                    <a:srgbClr val="FF00FF"/>
                  </a:solidFill>
                  <a:round/>
                  <a:headEnd/>
                  <a:tailEnd/>
                </a:ln>
                <a:solidFill>
                  <a:srgbClr val="B2B2B2">
                    <a:alpha val="50000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宋体"/>
                <a:ea typeface="宋体"/>
              </a:rPr>
              <a:t>章 均匀平面波在无界空间中的传播</a:t>
            </a:r>
          </a:p>
        </p:txBody>
      </p:sp>
      <p:sp>
        <p:nvSpPr>
          <p:cNvPr id="26628" name="AutoShape 31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29" name="AutoShape 3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0" name="AutoShape 3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6631" name="AutoShape 34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A2B603-AA83-42AF-96D4-5D3A4F54C864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grpSp>
        <p:nvGrpSpPr>
          <p:cNvPr id="2" name="Group 246"/>
          <p:cNvGrpSpPr>
            <a:grpSpLocks/>
          </p:cNvGrpSpPr>
          <p:nvPr/>
        </p:nvGrpSpPr>
        <p:grpSpPr bwMode="auto">
          <a:xfrm>
            <a:off x="5219700" y="2924175"/>
            <a:ext cx="3816350" cy="3460750"/>
            <a:chOff x="3288" y="1842"/>
            <a:chExt cx="2404" cy="2180"/>
          </a:xfrm>
        </p:grpSpPr>
        <p:sp>
          <p:nvSpPr>
            <p:cNvPr id="27662" name="AutoShape 27"/>
            <p:cNvSpPr>
              <a:spLocks noChangeAspect="1" noChangeArrowheads="1"/>
            </p:cNvSpPr>
            <p:nvPr/>
          </p:nvSpPr>
          <p:spPr bwMode="auto">
            <a:xfrm rot="5400000" flipH="1">
              <a:off x="4026" y="2737"/>
              <a:ext cx="1437" cy="464"/>
            </a:xfrm>
            <a:prstGeom prst="parallelogram">
              <a:avLst>
                <a:gd name="adj" fmla="val 77425"/>
              </a:avLst>
            </a:prstGeom>
            <a:gradFill rotWithShape="1">
              <a:gsLst>
                <a:gs pos="0">
                  <a:srgbClr val="800080">
                    <a:alpha val="99001"/>
                  </a:srgbClr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3" name="Rectangle 74"/>
            <p:cNvSpPr>
              <a:spLocks noChangeAspect="1" noChangeArrowheads="1"/>
            </p:cNvSpPr>
            <p:nvPr/>
          </p:nvSpPr>
          <p:spPr bwMode="auto">
            <a:xfrm>
              <a:off x="3288" y="1842"/>
              <a:ext cx="2404" cy="218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4" name="Rectangle 75"/>
            <p:cNvSpPr>
              <a:spLocks noChangeAspect="1" noChangeArrowheads="1"/>
            </p:cNvSpPr>
            <p:nvPr/>
          </p:nvSpPr>
          <p:spPr bwMode="auto">
            <a:xfrm>
              <a:off x="3288" y="1842"/>
              <a:ext cx="2404" cy="2180"/>
            </a:xfrm>
            <a:prstGeom prst="rect">
              <a:avLst/>
            </a:prstGeom>
            <a:noFill/>
            <a:ln w="11113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5" name="Freeform 107"/>
            <p:cNvSpPr>
              <a:spLocks noChangeAspect="1"/>
            </p:cNvSpPr>
            <p:nvPr/>
          </p:nvSpPr>
          <p:spPr bwMode="auto">
            <a:xfrm>
              <a:off x="3502" y="2011"/>
              <a:ext cx="723" cy="1808"/>
            </a:xfrm>
            <a:custGeom>
              <a:avLst/>
              <a:gdLst>
                <a:gd name="T0" fmla="*/ 0 w 764"/>
                <a:gd name="T1" fmla="*/ 214 h 1957"/>
                <a:gd name="T2" fmla="*/ 353 w 764"/>
                <a:gd name="T3" fmla="*/ 0 h 1957"/>
                <a:gd name="T4" fmla="*/ 353 w 764"/>
                <a:gd name="T5" fmla="*/ 420 h 1957"/>
                <a:gd name="T6" fmla="*/ 9 w 764"/>
                <a:gd name="T7" fmla="*/ 646 h 1957"/>
                <a:gd name="T8" fmla="*/ 8 w 764"/>
                <a:gd name="T9" fmla="*/ 206 h 1957"/>
                <a:gd name="T10" fmla="*/ 0 w 764"/>
                <a:gd name="T11" fmla="*/ 214 h 19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4"/>
                <a:gd name="T19" fmla="*/ 0 h 1957"/>
                <a:gd name="T20" fmla="*/ 764 w 764"/>
                <a:gd name="T21" fmla="*/ 1957 h 195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6" name="Freeform 108"/>
            <p:cNvSpPr>
              <a:spLocks noChangeAspect="1"/>
            </p:cNvSpPr>
            <p:nvPr/>
          </p:nvSpPr>
          <p:spPr bwMode="auto">
            <a:xfrm>
              <a:off x="3716" y="2011"/>
              <a:ext cx="724" cy="1808"/>
            </a:xfrm>
            <a:custGeom>
              <a:avLst/>
              <a:gdLst>
                <a:gd name="T0" fmla="*/ 0 w 764"/>
                <a:gd name="T1" fmla="*/ 214 h 1957"/>
                <a:gd name="T2" fmla="*/ 360 w 764"/>
                <a:gd name="T3" fmla="*/ 0 h 1957"/>
                <a:gd name="T4" fmla="*/ 360 w 764"/>
                <a:gd name="T5" fmla="*/ 420 h 1957"/>
                <a:gd name="T6" fmla="*/ 9 w 764"/>
                <a:gd name="T7" fmla="*/ 646 h 1957"/>
                <a:gd name="T8" fmla="*/ 8 w 764"/>
                <a:gd name="T9" fmla="*/ 206 h 1957"/>
                <a:gd name="T10" fmla="*/ 0 w 764"/>
                <a:gd name="T11" fmla="*/ 214 h 19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4"/>
                <a:gd name="T19" fmla="*/ 0 h 1957"/>
                <a:gd name="T20" fmla="*/ 764 w 764"/>
                <a:gd name="T21" fmla="*/ 1957 h 195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7" name="Freeform 109"/>
            <p:cNvSpPr>
              <a:spLocks noChangeAspect="1"/>
            </p:cNvSpPr>
            <p:nvPr/>
          </p:nvSpPr>
          <p:spPr bwMode="auto">
            <a:xfrm>
              <a:off x="3936" y="2011"/>
              <a:ext cx="724" cy="1808"/>
            </a:xfrm>
            <a:custGeom>
              <a:avLst/>
              <a:gdLst>
                <a:gd name="T0" fmla="*/ 0 w 764"/>
                <a:gd name="T1" fmla="*/ 214 h 1957"/>
                <a:gd name="T2" fmla="*/ 360 w 764"/>
                <a:gd name="T3" fmla="*/ 0 h 1957"/>
                <a:gd name="T4" fmla="*/ 360 w 764"/>
                <a:gd name="T5" fmla="*/ 420 h 1957"/>
                <a:gd name="T6" fmla="*/ 9 w 764"/>
                <a:gd name="T7" fmla="*/ 646 h 1957"/>
                <a:gd name="T8" fmla="*/ 8 w 764"/>
                <a:gd name="T9" fmla="*/ 206 h 1957"/>
                <a:gd name="T10" fmla="*/ 0 w 764"/>
                <a:gd name="T11" fmla="*/ 214 h 19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4"/>
                <a:gd name="T19" fmla="*/ 0 h 1957"/>
                <a:gd name="T20" fmla="*/ 764 w 764"/>
                <a:gd name="T21" fmla="*/ 1957 h 195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8" name="Freeform 110"/>
            <p:cNvSpPr>
              <a:spLocks noChangeAspect="1"/>
            </p:cNvSpPr>
            <p:nvPr/>
          </p:nvSpPr>
          <p:spPr bwMode="auto">
            <a:xfrm>
              <a:off x="4148" y="2011"/>
              <a:ext cx="723" cy="1808"/>
            </a:xfrm>
            <a:custGeom>
              <a:avLst/>
              <a:gdLst>
                <a:gd name="T0" fmla="*/ 0 w 764"/>
                <a:gd name="T1" fmla="*/ 214 h 1957"/>
                <a:gd name="T2" fmla="*/ 353 w 764"/>
                <a:gd name="T3" fmla="*/ 0 h 1957"/>
                <a:gd name="T4" fmla="*/ 353 w 764"/>
                <a:gd name="T5" fmla="*/ 420 h 1957"/>
                <a:gd name="T6" fmla="*/ 9 w 764"/>
                <a:gd name="T7" fmla="*/ 646 h 1957"/>
                <a:gd name="T8" fmla="*/ 8 w 764"/>
                <a:gd name="T9" fmla="*/ 206 h 1957"/>
                <a:gd name="T10" fmla="*/ 0 w 764"/>
                <a:gd name="T11" fmla="*/ 214 h 19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4"/>
                <a:gd name="T19" fmla="*/ 0 h 1957"/>
                <a:gd name="T20" fmla="*/ 764 w 764"/>
                <a:gd name="T21" fmla="*/ 1957 h 195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9" name="Freeform 111"/>
            <p:cNvSpPr>
              <a:spLocks noChangeAspect="1"/>
            </p:cNvSpPr>
            <p:nvPr/>
          </p:nvSpPr>
          <p:spPr bwMode="auto">
            <a:xfrm>
              <a:off x="4377" y="2011"/>
              <a:ext cx="722" cy="1808"/>
            </a:xfrm>
            <a:custGeom>
              <a:avLst/>
              <a:gdLst>
                <a:gd name="T0" fmla="*/ 0 w 764"/>
                <a:gd name="T1" fmla="*/ 214 h 1957"/>
                <a:gd name="T2" fmla="*/ 346 w 764"/>
                <a:gd name="T3" fmla="*/ 0 h 1957"/>
                <a:gd name="T4" fmla="*/ 346 w 764"/>
                <a:gd name="T5" fmla="*/ 420 h 1957"/>
                <a:gd name="T6" fmla="*/ 9 w 764"/>
                <a:gd name="T7" fmla="*/ 646 h 1957"/>
                <a:gd name="T8" fmla="*/ 8 w 764"/>
                <a:gd name="T9" fmla="*/ 206 h 1957"/>
                <a:gd name="T10" fmla="*/ 0 w 764"/>
                <a:gd name="T11" fmla="*/ 214 h 19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4"/>
                <a:gd name="T19" fmla="*/ 0 h 1957"/>
                <a:gd name="T20" fmla="*/ 764 w 764"/>
                <a:gd name="T21" fmla="*/ 1957 h 195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0" name="Freeform 113"/>
            <p:cNvSpPr>
              <a:spLocks noChangeAspect="1"/>
            </p:cNvSpPr>
            <p:nvPr/>
          </p:nvSpPr>
          <p:spPr bwMode="auto">
            <a:xfrm>
              <a:off x="4591" y="2011"/>
              <a:ext cx="758" cy="1844"/>
            </a:xfrm>
            <a:custGeom>
              <a:avLst/>
              <a:gdLst>
                <a:gd name="T0" fmla="*/ 0 w 765"/>
                <a:gd name="T1" fmla="*/ 275 h 1957"/>
                <a:gd name="T2" fmla="*/ 673 w 765"/>
                <a:gd name="T3" fmla="*/ 0 h 1957"/>
                <a:gd name="T4" fmla="*/ 673 w 765"/>
                <a:gd name="T5" fmla="*/ 555 h 1957"/>
                <a:gd name="T6" fmla="*/ 10 w 765"/>
                <a:gd name="T7" fmla="*/ 852 h 1957"/>
                <a:gd name="T8" fmla="*/ 10 w 765"/>
                <a:gd name="T9" fmla="*/ 262 h 1957"/>
                <a:gd name="T10" fmla="*/ 0 w 765"/>
                <a:gd name="T11" fmla="*/ 275 h 19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5"/>
                <a:gd name="T19" fmla="*/ 0 h 1957"/>
                <a:gd name="T20" fmla="*/ 765 w 765"/>
                <a:gd name="T21" fmla="*/ 1957 h 195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5" h="1957">
                  <a:moveTo>
                    <a:pt x="0" y="633"/>
                  </a:moveTo>
                  <a:lnTo>
                    <a:pt x="765" y="0"/>
                  </a:lnTo>
                  <a:lnTo>
                    <a:pt x="765" y="1279"/>
                  </a:lnTo>
                  <a:lnTo>
                    <a:pt x="10" y="1957"/>
                  </a:lnTo>
                  <a:lnTo>
                    <a:pt x="10" y="602"/>
                  </a:lnTo>
                  <a:lnTo>
                    <a:pt x="0" y="633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1" name="Freeform 117"/>
            <p:cNvSpPr>
              <a:spLocks noChangeAspect="1" noEditPoints="1"/>
            </p:cNvSpPr>
            <p:nvPr/>
          </p:nvSpPr>
          <p:spPr bwMode="auto">
            <a:xfrm>
              <a:off x="5044" y="2318"/>
              <a:ext cx="39" cy="1083"/>
            </a:xfrm>
            <a:custGeom>
              <a:avLst/>
              <a:gdLst>
                <a:gd name="T0" fmla="*/ 6 w 42"/>
                <a:gd name="T1" fmla="*/ 393 h 1171"/>
                <a:gd name="T2" fmla="*/ 6 w 42"/>
                <a:gd name="T3" fmla="*/ 15 h 1171"/>
                <a:gd name="T4" fmla="*/ 12 w 42"/>
                <a:gd name="T5" fmla="*/ 15 h 1171"/>
                <a:gd name="T6" fmla="*/ 12 w 42"/>
                <a:gd name="T7" fmla="*/ 393 h 1171"/>
                <a:gd name="T8" fmla="*/ 6 w 42"/>
                <a:gd name="T9" fmla="*/ 393 h 1171"/>
                <a:gd name="T10" fmla="*/ 7 w 42"/>
                <a:gd name="T11" fmla="*/ 15 h 1171"/>
                <a:gd name="T12" fmla="*/ 0 w 42"/>
                <a:gd name="T13" fmla="*/ 21 h 1171"/>
                <a:gd name="T14" fmla="*/ 7 w 42"/>
                <a:gd name="T15" fmla="*/ 0 h 1171"/>
                <a:gd name="T16" fmla="*/ 16 w 42"/>
                <a:gd name="T17" fmla="*/ 21 h 1171"/>
                <a:gd name="T18" fmla="*/ 7 w 42"/>
                <a:gd name="T19" fmla="*/ 15 h 117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2"/>
                <a:gd name="T31" fmla="*/ 0 h 1171"/>
                <a:gd name="T32" fmla="*/ 42 w 42"/>
                <a:gd name="T33" fmla="*/ 1171 h 117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2" h="1171">
                  <a:moveTo>
                    <a:pt x="10" y="1171"/>
                  </a:moveTo>
                  <a:lnTo>
                    <a:pt x="11" y="44"/>
                  </a:lnTo>
                  <a:lnTo>
                    <a:pt x="32" y="44"/>
                  </a:lnTo>
                  <a:lnTo>
                    <a:pt x="31" y="1171"/>
                  </a:lnTo>
                  <a:lnTo>
                    <a:pt x="10" y="1171"/>
                  </a:lnTo>
                  <a:close/>
                  <a:moveTo>
                    <a:pt x="21" y="44"/>
                  </a:moveTo>
                  <a:lnTo>
                    <a:pt x="0" y="65"/>
                  </a:lnTo>
                  <a:lnTo>
                    <a:pt x="21" y="0"/>
                  </a:lnTo>
                  <a:lnTo>
                    <a:pt x="42" y="65"/>
                  </a:lnTo>
                  <a:lnTo>
                    <a:pt x="21" y="44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2" name="Freeform 118"/>
            <p:cNvSpPr>
              <a:spLocks noChangeAspect="1" noEditPoints="1"/>
            </p:cNvSpPr>
            <p:nvPr/>
          </p:nvSpPr>
          <p:spPr bwMode="auto">
            <a:xfrm>
              <a:off x="5150" y="2224"/>
              <a:ext cx="39" cy="1082"/>
            </a:xfrm>
            <a:custGeom>
              <a:avLst/>
              <a:gdLst>
                <a:gd name="T0" fmla="*/ 9 w 41"/>
                <a:gd name="T1" fmla="*/ 388 h 1171"/>
                <a:gd name="T2" fmla="*/ 10 w 41"/>
                <a:gd name="T3" fmla="*/ 15 h 1171"/>
                <a:gd name="T4" fmla="*/ 16 w 41"/>
                <a:gd name="T5" fmla="*/ 15 h 1171"/>
                <a:gd name="T6" fmla="*/ 16 w 41"/>
                <a:gd name="T7" fmla="*/ 388 h 1171"/>
                <a:gd name="T8" fmla="*/ 9 w 41"/>
                <a:gd name="T9" fmla="*/ 388 h 1171"/>
                <a:gd name="T10" fmla="*/ 10 w 41"/>
                <a:gd name="T11" fmla="*/ 15 h 1171"/>
                <a:gd name="T12" fmla="*/ 0 w 41"/>
                <a:gd name="T13" fmla="*/ 21 h 1171"/>
                <a:gd name="T14" fmla="*/ 10 w 41"/>
                <a:gd name="T15" fmla="*/ 0 h 1171"/>
                <a:gd name="T16" fmla="*/ 21 w 41"/>
                <a:gd name="T17" fmla="*/ 21 h 1171"/>
                <a:gd name="T18" fmla="*/ 10 w 41"/>
                <a:gd name="T19" fmla="*/ 15 h 117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"/>
                <a:gd name="T31" fmla="*/ 0 h 1171"/>
                <a:gd name="T32" fmla="*/ 41 w 41"/>
                <a:gd name="T33" fmla="*/ 1171 h 117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" h="1171">
                  <a:moveTo>
                    <a:pt x="9" y="1171"/>
                  </a:moveTo>
                  <a:lnTo>
                    <a:pt x="11" y="43"/>
                  </a:lnTo>
                  <a:lnTo>
                    <a:pt x="31" y="43"/>
                  </a:lnTo>
                  <a:lnTo>
                    <a:pt x="30" y="1171"/>
                  </a:lnTo>
                  <a:lnTo>
                    <a:pt x="9" y="1171"/>
                  </a:lnTo>
                  <a:close/>
                  <a:moveTo>
                    <a:pt x="20" y="43"/>
                  </a:moveTo>
                  <a:lnTo>
                    <a:pt x="0" y="65"/>
                  </a:lnTo>
                  <a:lnTo>
                    <a:pt x="20" y="0"/>
                  </a:lnTo>
                  <a:lnTo>
                    <a:pt x="41" y="65"/>
                  </a:lnTo>
                  <a:lnTo>
                    <a:pt x="20" y="43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3" name="Freeform 119"/>
            <p:cNvSpPr>
              <a:spLocks noChangeAspect="1" noEditPoints="1"/>
            </p:cNvSpPr>
            <p:nvPr/>
          </p:nvSpPr>
          <p:spPr bwMode="auto">
            <a:xfrm>
              <a:off x="5265" y="2126"/>
              <a:ext cx="39" cy="1082"/>
            </a:xfrm>
            <a:custGeom>
              <a:avLst/>
              <a:gdLst>
                <a:gd name="T0" fmla="*/ 6 w 42"/>
                <a:gd name="T1" fmla="*/ 392 h 1170"/>
                <a:gd name="T2" fmla="*/ 6 w 42"/>
                <a:gd name="T3" fmla="*/ 15 h 1170"/>
                <a:gd name="T4" fmla="*/ 12 w 42"/>
                <a:gd name="T5" fmla="*/ 15 h 1170"/>
                <a:gd name="T6" fmla="*/ 12 w 42"/>
                <a:gd name="T7" fmla="*/ 392 h 1170"/>
                <a:gd name="T8" fmla="*/ 6 w 42"/>
                <a:gd name="T9" fmla="*/ 392 h 1170"/>
                <a:gd name="T10" fmla="*/ 7 w 42"/>
                <a:gd name="T11" fmla="*/ 15 h 1170"/>
                <a:gd name="T12" fmla="*/ 0 w 42"/>
                <a:gd name="T13" fmla="*/ 21 h 1170"/>
                <a:gd name="T14" fmla="*/ 7 w 42"/>
                <a:gd name="T15" fmla="*/ 0 h 1170"/>
                <a:gd name="T16" fmla="*/ 16 w 42"/>
                <a:gd name="T17" fmla="*/ 21 h 1170"/>
                <a:gd name="T18" fmla="*/ 7 w 42"/>
                <a:gd name="T19" fmla="*/ 15 h 11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2"/>
                <a:gd name="T31" fmla="*/ 0 h 1170"/>
                <a:gd name="T32" fmla="*/ 42 w 42"/>
                <a:gd name="T33" fmla="*/ 1170 h 117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2" h="1170">
                  <a:moveTo>
                    <a:pt x="10" y="1170"/>
                  </a:moveTo>
                  <a:lnTo>
                    <a:pt x="11" y="44"/>
                  </a:lnTo>
                  <a:lnTo>
                    <a:pt x="32" y="44"/>
                  </a:lnTo>
                  <a:lnTo>
                    <a:pt x="31" y="1170"/>
                  </a:lnTo>
                  <a:lnTo>
                    <a:pt x="10" y="1170"/>
                  </a:lnTo>
                  <a:close/>
                  <a:moveTo>
                    <a:pt x="21" y="44"/>
                  </a:moveTo>
                  <a:lnTo>
                    <a:pt x="0" y="65"/>
                  </a:lnTo>
                  <a:lnTo>
                    <a:pt x="21" y="0"/>
                  </a:lnTo>
                  <a:lnTo>
                    <a:pt x="42" y="65"/>
                  </a:lnTo>
                  <a:lnTo>
                    <a:pt x="21" y="44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Freeform 121"/>
            <p:cNvSpPr>
              <a:spLocks noChangeAspect="1" noEditPoints="1"/>
            </p:cNvSpPr>
            <p:nvPr/>
          </p:nvSpPr>
          <p:spPr bwMode="auto">
            <a:xfrm>
              <a:off x="4606" y="2744"/>
              <a:ext cx="723" cy="643"/>
            </a:xfrm>
            <a:custGeom>
              <a:avLst/>
              <a:gdLst>
                <a:gd name="T0" fmla="*/ 359 w 763"/>
                <a:gd name="T1" fmla="*/ 6 h 695"/>
                <a:gd name="T2" fmla="*/ 20 w 763"/>
                <a:gd name="T3" fmla="*/ 226 h 695"/>
                <a:gd name="T4" fmla="*/ 14 w 763"/>
                <a:gd name="T5" fmla="*/ 221 h 695"/>
                <a:gd name="T6" fmla="*/ 352 w 763"/>
                <a:gd name="T7" fmla="*/ 0 h 695"/>
                <a:gd name="T8" fmla="*/ 359 w 763"/>
                <a:gd name="T9" fmla="*/ 6 h 695"/>
                <a:gd name="T10" fmla="*/ 25 w 763"/>
                <a:gd name="T11" fmla="*/ 227 h 695"/>
                <a:gd name="T12" fmla="*/ 0 w 763"/>
                <a:gd name="T13" fmla="*/ 234 h 695"/>
                <a:gd name="T14" fmla="*/ 15 w 763"/>
                <a:gd name="T15" fmla="*/ 216 h 695"/>
                <a:gd name="T16" fmla="*/ 25 w 763"/>
                <a:gd name="T17" fmla="*/ 227 h 6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3"/>
                <a:gd name="T28" fmla="*/ 0 h 695"/>
                <a:gd name="T29" fmla="*/ 763 w 763"/>
                <a:gd name="T30" fmla="*/ 695 h 69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3" h="695">
                  <a:moveTo>
                    <a:pt x="763" y="14"/>
                  </a:moveTo>
                  <a:lnTo>
                    <a:pt x="41" y="670"/>
                  </a:lnTo>
                  <a:lnTo>
                    <a:pt x="29" y="655"/>
                  </a:lnTo>
                  <a:lnTo>
                    <a:pt x="751" y="0"/>
                  </a:lnTo>
                  <a:lnTo>
                    <a:pt x="763" y="14"/>
                  </a:lnTo>
                  <a:close/>
                  <a:moveTo>
                    <a:pt x="54" y="672"/>
                  </a:moveTo>
                  <a:lnTo>
                    <a:pt x="0" y="695"/>
                  </a:lnTo>
                  <a:lnTo>
                    <a:pt x="30" y="641"/>
                  </a:lnTo>
                  <a:lnTo>
                    <a:pt x="54" y="672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5" name="Freeform 122"/>
            <p:cNvSpPr>
              <a:spLocks noChangeAspect="1" noEditPoints="1"/>
            </p:cNvSpPr>
            <p:nvPr/>
          </p:nvSpPr>
          <p:spPr bwMode="auto">
            <a:xfrm>
              <a:off x="4606" y="2907"/>
              <a:ext cx="725" cy="644"/>
            </a:xfrm>
            <a:custGeom>
              <a:avLst/>
              <a:gdLst>
                <a:gd name="T0" fmla="*/ 361 w 765"/>
                <a:gd name="T1" fmla="*/ 6 h 696"/>
                <a:gd name="T2" fmla="*/ 23 w 765"/>
                <a:gd name="T3" fmla="*/ 225 h 696"/>
                <a:gd name="T4" fmla="*/ 16 w 765"/>
                <a:gd name="T5" fmla="*/ 220 h 696"/>
                <a:gd name="T6" fmla="*/ 354 w 765"/>
                <a:gd name="T7" fmla="*/ 0 h 696"/>
                <a:gd name="T8" fmla="*/ 361 w 765"/>
                <a:gd name="T9" fmla="*/ 6 h 696"/>
                <a:gd name="T10" fmla="*/ 27 w 765"/>
                <a:gd name="T11" fmla="*/ 226 h 696"/>
                <a:gd name="T12" fmla="*/ 0 w 765"/>
                <a:gd name="T13" fmla="*/ 235 h 696"/>
                <a:gd name="T14" fmla="*/ 17 w 765"/>
                <a:gd name="T15" fmla="*/ 214 h 696"/>
                <a:gd name="T16" fmla="*/ 27 w 765"/>
                <a:gd name="T17" fmla="*/ 226 h 6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5"/>
                <a:gd name="T28" fmla="*/ 0 h 696"/>
                <a:gd name="T29" fmla="*/ 765 w 765"/>
                <a:gd name="T30" fmla="*/ 696 h 69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5" h="696">
                  <a:moveTo>
                    <a:pt x="765" y="16"/>
                  </a:moveTo>
                  <a:lnTo>
                    <a:pt x="46" y="669"/>
                  </a:lnTo>
                  <a:lnTo>
                    <a:pt x="33" y="652"/>
                  </a:lnTo>
                  <a:lnTo>
                    <a:pt x="751" y="0"/>
                  </a:lnTo>
                  <a:lnTo>
                    <a:pt x="765" y="16"/>
                  </a:lnTo>
                  <a:close/>
                  <a:moveTo>
                    <a:pt x="60" y="670"/>
                  </a:moveTo>
                  <a:lnTo>
                    <a:pt x="0" y="696"/>
                  </a:lnTo>
                  <a:lnTo>
                    <a:pt x="34" y="637"/>
                  </a:lnTo>
                  <a:lnTo>
                    <a:pt x="60" y="670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Freeform 123"/>
            <p:cNvSpPr>
              <a:spLocks noChangeAspect="1" noEditPoints="1"/>
            </p:cNvSpPr>
            <p:nvPr/>
          </p:nvSpPr>
          <p:spPr bwMode="auto">
            <a:xfrm>
              <a:off x="4609" y="3073"/>
              <a:ext cx="724" cy="642"/>
            </a:xfrm>
            <a:custGeom>
              <a:avLst/>
              <a:gdLst>
                <a:gd name="T0" fmla="*/ 354 w 765"/>
                <a:gd name="T1" fmla="*/ 6 h 696"/>
                <a:gd name="T2" fmla="*/ 22 w 765"/>
                <a:gd name="T3" fmla="*/ 217 h 696"/>
                <a:gd name="T4" fmla="*/ 16 w 765"/>
                <a:gd name="T5" fmla="*/ 210 h 696"/>
                <a:gd name="T6" fmla="*/ 348 w 765"/>
                <a:gd name="T7" fmla="*/ 0 h 696"/>
                <a:gd name="T8" fmla="*/ 354 w 765"/>
                <a:gd name="T9" fmla="*/ 6 h 696"/>
                <a:gd name="T10" fmla="*/ 28 w 765"/>
                <a:gd name="T11" fmla="*/ 217 h 696"/>
                <a:gd name="T12" fmla="*/ 0 w 765"/>
                <a:gd name="T13" fmla="*/ 225 h 696"/>
                <a:gd name="T14" fmla="*/ 16 w 765"/>
                <a:gd name="T15" fmla="*/ 206 h 696"/>
                <a:gd name="T16" fmla="*/ 28 w 765"/>
                <a:gd name="T17" fmla="*/ 217 h 69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5"/>
                <a:gd name="T28" fmla="*/ 0 h 696"/>
                <a:gd name="T29" fmla="*/ 765 w 765"/>
                <a:gd name="T30" fmla="*/ 696 h 69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5" h="696">
                  <a:moveTo>
                    <a:pt x="765" y="17"/>
                  </a:moveTo>
                  <a:lnTo>
                    <a:pt x="46" y="670"/>
                  </a:lnTo>
                  <a:lnTo>
                    <a:pt x="33" y="652"/>
                  </a:lnTo>
                  <a:lnTo>
                    <a:pt x="752" y="0"/>
                  </a:lnTo>
                  <a:lnTo>
                    <a:pt x="765" y="17"/>
                  </a:lnTo>
                  <a:close/>
                  <a:moveTo>
                    <a:pt x="61" y="671"/>
                  </a:moveTo>
                  <a:lnTo>
                    <a:pt x="0" y="696"/>
                  </a:lnTo>
                  <a:lnTo>
                    <a:pt x="34" y="637"/>
                  </a:lnTo>
                  <a:lnTo>
                    <a:pt x="61" y="671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Freeform 124"/>
            <p:cNvSpPr>
              <a:spLocks noChangeAspect="1" noEditPoints="1"/>
            </p:cNvSpPr>
            <p:nvPr/>
          </p:nvSpPr>
          <p:spPr bwMode="auto">
            <a:xfrm>
              <a:off x="4606" y="2212"/>
              <a:ext cx="723" cy="642"/>
            </a:xfrm>
            <a:custGeom>
              <a:avLst/>
              <a:gdLst>
                <a:gd name="T0" fmla="*/ 359 w 763"/>
                <a:gd name="T1" fmla="*/ 6 h 694"/>
                <a:gd name="T2" fmla="*/ 20 w 763"/>
                <a:gd name="T3" fmla="*/ 226 h 694"/>
                <a:gd name="T4" fmla="*/ 14 w 763"/>
                <a:gd name="T5" fmla="*/ 221 h 694"/>
                <a:gd name="T6" fmla="*/ 352 w 763"/>
                <a:gd name="T7" fmla="*/ 0 h 694"/>
                <a:gd name="T8" fmla="*/ 359 w 763"/>
                <a:gd name="T9" fmla="*/ 6 h 694"/>
                <a:gd name="T10" fmla="*/ 25 w 763"/>
                <a:gd name="T11" fmla="*/ 226 h 694"/>
                <a:gd name="T12" fmla="*/ 0 w 763"/>
                <a:gd name="T13" fmla="*/ 233 h 694"/>
                <a:gd name="T14" fmla="*/ 15 w 763"/>
                <a:gd name="T15" fmla="*/ 216 h 694"/>
                <a:gd name="T16" fmla="*/ 25 w 763"/>
                <a:gd name="T17" fmla="*/ 226 h 69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3"/>
                <a:gd name="T28" fmla="*/ 0 h 694"/>
                <a:gd name="T29" fmla="*/ 763 w 763"/>
                <a:gd name="T30" fmla="*/ 694 h 69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3" h="694">
                  <a:moveTo>
                    <a:pt x="763" y="15"/>
                  </a:moveTo>
                  <a:lnTo>
                    <a:pt x="41" y="671"/>
                  </a:lnTo>
                  <a:lnTo>
                    <a:pt x="29" y="656"/>
                  </a:lnTo>
                  <a:lnTo>
                    <a:pt x="751" y="0"/>
                  </a:lnTo>
                  <a:lnTo>
                    <a:pt x="763" y="15"/>
                  </a:lnTo>
                  <a:close/>
                  <a:moveTo>
                    <a:pt x="54" y="671"/>
                  </a:moveTo>
                  <a:lnTo>
                    <a:pt x="0" y="694"/>
                  </a:lnTo>
                  <a:lnTo>
                    <a:pt x="30" y="642"/>
                  </a:lnTo>
                  <a:lnTo>
                    <a:pt x="54" y="671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8" name="Line 127"/>
            <p:cNvSpPr>
              <a:spLocks noChangeAspect="1" noChangeShapeType="1"/>
            </p:cNvSpPr>
            <p:nvPr/>
          </p:nvSpPr>
          <p:spPr bwMode="auto">
            <a:xfrm>
              <a:off x="4113" y="2932"/>
              <a:ext cx="81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Freeform 128"/>
            <p:cNvSpPr>
              <a:spLocks noChangeAspect="1" noEditPoints="1"/>
            </p:cNvSpPr>
            <p:nvPr/>
          </p:nvSpPr>
          <p:spPr bwMode="auto">
            <a:xfrm>
              <a:off x="4813" y="2537"/>
              <a:ext cx="38" cy="1080"/>
            </a:xfrm>
            <a:custGeom>
              <a:avLst/>
              <a:gdLst>
                <a:gd name="T0" fmla="*/ 6 w 41"/>
                <a:gd name="T1" fmla="*/ 382 h 1170"/>
                <a:gd name="T2" fmla="*/ 6 w 41"/>
                <a:gd name="T3" fmla="*/ 15 h 1170"/>
                <a:gd name="T4" fmla="*/ 11 w 41"/>
                <a:gd name="T5" fmla="*/ 15 h 1170"/>
                <a:gd name="T6" fmla="*/ 11 w 41"/>
                <a:gd name="T7" fmla="*/ 382 h 1170"/>
                <a:gd name="T8" fmla="*/ 6 w 41"/>
                <a:gd name="T9" fmla="*/ 382 h 1170"/>
                <a:gd name="T10" fmla="*/ 6 w 41"/>
                <a:gd name="T11" fmla="*/ 15 h 1170"/>
                <a:gd name="T12" fmla="*/ 0 w 41"/>
                <a:gd name="T13" fmla="*/ 21 h 1170"/>
                <a:gd name="T14" fmla="*/ 6 w 41"/>
                <a:gd name="T15" fmla="*/ 0 h 1170"/>
                <a:gd name="T16" fmla="*/ 15 w 41"/>
                <a:gd name="T17" fmla="*/ 21 h 1170"/>
                <a:gd name="T18" fmla="*/ 6 w 41"/>
                <a:gd name="T19" fmla="*/ 15 h 11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"/>
                <a:gd name="T31" fmla="*/ 0 h 1170"/>
                <a:gd name="T32" fmla="*/ 41 w 41"/>
                <a:gd name="T33" fmla="*/ 1170 h 117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" h="1170">
                  <a:moveTo>
                    <a:pt x="9" y="1170"/>
                  </a:moveTo>
                  <a:lnTo>
                    <a:pt x="11" y="43"/>
                  </a:lnTo>
                  <a:lnTo>
                    <a:pt x="31" y="43"/>
                  </a:lnTo>
                  <a:lnTo>
                    <a:pt x="30" y="1170"/>
                  </a:lnTo>
                  <a:lnTo>
                    <a:pt x="9" y="1170"/>
                  </a:lnTo>
                  <a:close/>
                  <a:moveTo>
                    <a:pt x="20" y="43"/>
                  </a:moveTo>
                  <a:lnTo>
                    <a:pt x="0" y="65"/>
                  </a:lnTo>
                  <a:lnTo>
                    <a:pt x="20" y="0"/>
                  </a:lnTo>
                  <a:lnTo>
                    <a:pt x="41" y="65"/>
                  </a:lnTo>
                  <a:lnTo>
                    <a:pt x="20" y="43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0" name="Freeform 129"/>
            <p:cNvSpPr>
              <a:spLocks noChangeAspect="1" noEditPoints="1"/>
            </p:cNvSpPr>
            <p:nvPr/>
          </p:nvSpPr>
          <p:spPr bwMode="auto">
            <a:xfrm>
              <a:off x="4921" y="2430"/>
              <a:ext cx="40" cy="1081"/>
            </a:xfrm>
            <a:custGeom>
              <a:avLst/>
              <a:gdLst>
                <a:gd name="T0" fmla="*/ 10 w 41"/>
                <a:gd name="T1" fmla="*/ 391 h 1169"/>
                <a:gd name="T2" fmla="*/ 10 w 41"/>
                <a:gd name="T3" fmla="*/ 15 h 1169"/>
                <a:gd name="T4" fmla="*/ 20 w 41"/>
                <a:gd name="T5" fmla="*/ 15 h 1169"/>
                <a:gd name="T6" fmla="*/ 20 w 41"/>
                <a:gd name="T7" fmla="*/ 391 h 1169"/>
                <a:gd name="T8" fmla="*/ 10 w 41"/>
                <a:gd name="T9" fmla="*/ 391 h 1169"/>
                <a:gd name="T10" fmla="*/ 20 w 41"/>
                <a:gd name="T11" fmla="*/ 15 h 1169"/>
                <a:gd name="T12" fmla="*/ 0 w 41"/>
                <a:gd name="T13" fmla="*/ 21 h 1169"/>
                <a:gd name="T14" fmla="*/ 20 w 41"/>
                <a:gd name="T15" fmla="*/ 0 h 1169"/>
                <a:gd name="T16" fmla="*/ 27 w 41"/>
                <a:gd name="T17" fmla="*/ 21 h 1169"/>
                <a:gd name="T18" fmla="*/ 20 w 41"/>
                <a:gd name="T19" fmla="*/ 15 h 11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1"/>
                <a:gd name="T31" fmla="*/ 0 h 1169"/>
                <a:gd name="T32" fmla="*/ 41 w 41"/>
                <a:gd name="T33" fmla="*/ 1169 h 116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1" h="1169">
                  <a:moveTo>
                    <a:pt x="10" y="1169"/>
                  </a:moveTo>
                  <a:lnTo>
                    <a:pt x="10" y="42"/>
                  </a:lnTo>
                  <a:lnTo>
                    <a:pt x="31" y="42"/>
                  </a:lnTo>
                  <a:lnTo>
                    <a:pt x="30" y="1169"/>
                  </a:lnTo>
                  <a:lnTo>
                    <a:pt x="10" y="1169"/>
                  </a:lnTo>
                  <a:close/>
                  <a:moveTo>
                    <a:pt x="20" y="42"/>
                  </a:moveTo>
                  <a:lnTo>
                    <a:pt x="0" y="64"/>
                  </a:lnTo>
                  <a:lnTo>
                    <a:pt x="20" y="0"/>
                  </a:lnTo>
                  <a:lnTo>
                    <a:pt x="41" y="64"/>
                  </a:lnTo>
                  <a:lnTo>
                    <a:pt x="20" y="42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1" name="Freeform 131"/>
            <p:cNvSpPr>
              <a:spLocks noChangeAspect="1" noEditPoints="1"/>
            </p:cNvSpPr>
            <p:nvPr/>
          </p:nvSpPr>
          <p:spPr bwMode="auto">
            <a:xfrm>
              <a:off x="4605" y="2542"/>
              <a:ext cx="723" cy="642"/>
            </a:xfrm>
            <a:custGeom>
              <a:avLst/>
              <a:gdLst>
                <a:gd name="T0" fmla="*/ 359 w 763"/>
                <a:gd name="T1" fmla="*/ 6 h 695"/>
                <a:gd name="T2" fmla="*/ 20 w 763"/>
                <a:gd name="T3" fmla="*/ 222 h 695"/>
                <a:gd name="T4" fmla="*/ 14 w 763"/>
                <a:gd name="T5" fmla="*/ 216 h 695"/>
                <a:gd name="T6" fmla="*/ 352 w 763"/>
                <a:gd name="T7" fmla="*/ 0 h 695"/>
                <a:gd name="T8" fmla="*/ 359 w 763"/>
                <a:gd name="T9" fmla="*/ 6 h 695"/>
                <a:gd name="T10" fmla="*/ 25 w 763"/>
                <a:gd name="T11" fmla="*/ 222 h 695"/>
                <a:gd name="T12" fmla="*/ 0 w 763"/>
                <a:gd name="T13" fmla="*/ 229 h 695"/>
                <a:gd name="T14" fmla="*/ 15 w 763"/>
                <a:gd name="T15" fmla="*/ 212 h 695"/>
                <a:gd name="T16" fmla="*/ 25 w 763"/>
                <a:gd name="T17" fmla="*/ 222 h 6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3"/>
                <a:gd name="T28" fmla="*/ 0 h 695"/>
                <a:gd name="T29" fmla="*/ 763 w 763"/>
                <a:gd name="T30" fmla="*/ 695 h 69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3" h="695">
                  <a:moveTo>
                    <a:pt x="763" y="15"/>
                  </a:moveTo>
                  <a:lnTo>
                    <a:pt x="41" y="672"/>
                  </a:lnTo>
                  <a:lnTo>
                    <a:pt x="29" y="657"/>
                  </a:lnTo>
                  <a:lnTo>
                    <a:pt x="751" y="0"/>
                  </a:lnTo>
                  <a:lnTo>
                    <a:pt x="763" y="15"/>
                  </a:lnTo>
                  <a:close/>
                  <a:moveTo>
                    <a:pt x="54" y="672"/>
                  </a:moveTo>
                  <a:lnTo>
                    <a:pt x="0" y="695"/>
                  </a:lnTo>
                  <a:lnTo>
                    <a:pt x="30" y="643"/>
                  </a:lnTo>
                  <a:lnTo>
                    <a:pt x="54" y="672"/>
                  </a:lnTo>
                  <a:close/>
                </a:path>
              </a:pathLst>
            </a:custGeom>
            <a:solidFill>
              <a:srgbClr val="FF00FF"/>
            </a:solidFill>
            <a:ln w="1651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Freeform 132"/>
            <p:cNvSpPr>
              <a:spLocks noChangeAspect="1" noEditPoints="1"/>
            </p:cNvSpPr>
            <p:nvPr/>
          </p:nvSpPr>
          <p:spPr bwMode="auto">
            <a:xfrm>
              <a:off x="4698" y="2621"/>
              <a:ext cx="37" cy="1082"/>
            </a:xfrm>
            <a:custGeom>
              <a:avLst/>
              <a:gdLst>
                <a:gd name="T0" fmla="*/ 6 w 40"/>
                <a:gd name="T1" fmla="*/ 392 h 1170"/>
                <a:gd name="T2" fmla="*/ 6 w 40"/>
                <a:gd name="T3" fmla="*/ 18 h 1170"/>
                <a:gd name="T4" fmla="*/ 11 w 40"/>
                <a:gd name="T5" fmla="*/ 18 h 1170"/>
                <a:gd name="T6" fmla="*/ 11 w 40"/>
                <a:gd name="T7" fmla="*/ 392 h 1170"/>
                <a:gd name="T8" fmla="*/ 6 w 40"/>
                <a:gd name="T9" fmla="*/ 392 h 1170"/>
                <a:gd name="T10" fmla="*/ 0 w 40"/>
                <a:gd name="T11" fmla="*/ 21 h 1170"/>
                <a:gd name="T12" fmla="*/ 6 w 40"/>
                <a:gd name="T13" fmla="*/ 0 h 1170"/>
                <a:gd name="T14" fmla="*/ 14 w 40"/>
                <a:gd name="T15" fmla="*/ 21 h 1170"/>
                <a:gd name="T16" fmla="*/ 0 w 40"/>
                <a:gd name="T17" fmla="*/ 21 h 117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0"/>
                <a:gd name="T28" fmla="*/ 0 h 1170"/>
                <a:gd name="T29" fmla="*/ 40 w 40"/>
                <a:gd name="T30" fmla="*/ 1170 h 117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0" h="1170">
                  <a:moveTo>
                    <a:pt x="10" y="1170"/>
                  </a:moveTo>
                  <a:lnTo>
                    <a:pt x="10" y="54"/>
                  </a:lnTo>
                  <a:lnTo>
                    <a:pt x="30" y="54"/>
                  </a:lnTo>
                  <a:lnTo>
                    <a:pt x="30" y="1170"/>
                  </a:lnTo>
                  <a:lnTo>
                    <a:pt x="10" y="1170"/>
                  </a:lnTo>
                  <a:close/>
                  <a:moveTo>
                    <a:pt x="0" y="65"/>
                  </a:moveTo>
                  <a:lnTo>
                    <a:pt x="20" y="0"/>
                  </a:lnTo>
                  <a:lnTo>
                    <a:pt x="40" y="65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3" name="Freeform 133"/>
            <p:cNvSpPr>
              <a:spLocks noChangeAspect="1" noEditPoints="1"/>
            </p:cNvSpPr>
            <p:nvPr/>
          </p:nvSpPr>
          <p:spPr bwMode="auto">
            <a:xfrm>
              <a:off x="4609" y="2378"/>
              <a:ext cx="724" cy="643"/>
            </a:xfrm>
            <a:custGeom>
              <a:avLst/>
              <a:gdLst>
                <a:gd name="T0" fmla="*/ 360 w 764"/>
                <a:gd name="T1" fmla="*/ 6 h 695"/>
                <a:gd name="T2" fmla="*/ 20 w 764"/>
                <a:gd name="T3" fmla="*/ 227 h 695"/>
                <a:gd name="T4" fmla="*/ 15 w 764"/>
                <a:gd name="T5" fmla="*/ 221 h 695"/>
                <a:gd name="T6" fmla="*/ 354 w 764"/>
                <a:gd name="T7" fmla="*/ 0 h 695"/>
                <a:gd name="T8" fmla="*/ 360 w 764"/>
                <a:gd name="T9" fmla="*/ 6 h 695"/>
                <a:gd name="T10" fmla="*/ 25 w 764"/>
                <a:gd name="T11" fmla="*/ 227 h 695"/>
                <a:gd name="T12" fmla="*/ 0 w 764"/>
                <a:gd name="T13" fmla="*/ 234 h 695"/>
                <a:gd name="T14" fmla="*/ 15 w 764"/>
                <a:gd name="T15" fmla="*/ 216 h 695"/>
                <a:gd name="T16" fmla="*/ 25 w 764"/>
                <a:gd name="T17" fmla="*/ 227 h 6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764"/>
                <a:gd name="T28" fmla="*/ 0 h 695"/>
                <a:gd name="T29" fmla="*/ 764 w 764"/>
                <a:gd name="T30" fmla="*/ 695 h 69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764" h="695">
                  <a:moveTo>
                    <a:pt x="764" y="15"/>
                  </a:moveTo>
                  <a:lnTo>
                    <a:pt x="41" y="672"/>
                  </a:lnTo>
                  <a:lnTo>
                    <a:pt x="30" y="656"/>
                  </a:lnTo>
                  <a:lnTo>
                    <a:pt x="753" y="0"/>
                  </a:lnTo>
                  <a:lnTo>
                    <a:pt x="764" y="15"/>
                  </a:lnTo>
                  <a:close/>
                  <a:moveTo>
                    <a:pt x="54" y="672"/>
                  </a:moveTo>
                  <a:lnTo>
                    <a:pt x="0" y="695"/>
                  </a:lnTo>
                  <a:lnTo>
                    <a:pt x="30" y="643"/>
                  </a:lnTo>
                  <a:lnTo>
                    <a:pt x="54" y="672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4" name="Line 152"/>
            <p:cNvSpPr>
              <a:spLocks noChangeAspect="1" noChangeShapeType="1"/>
            </p:cNvSpPr>
            <p:nvPr/>
          </p:nvSpPr>
          <p:spPr bwMode="auto">
            <a:xfrm flipV="1">
              <a:off x="4384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5" name="Line 153"/>
            <p:cNvSpPr>
              <a:spLocks noChangeAspect="1" noChangeShapeType="1"/>
            </p:cNvSpPr>
            <p:nvPr/>
          </p:nvSpPr>
          <p:spPr bwMode="auto">
            <a:xfrm flipV="1">
              <a:off x="4157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6" name="Line 155"/>
            <p:cNvSpPr>
              <a:spLocks noChangeAspect="1" noChangeShapeType="1"/>
            </p:cNvSpPr>
            <p:nvPr/>
          </p:nvSpPr>
          <p:spPr bwMode="auto">
            <a:xfrm flipH="1">
              <a:off x="3951" y="2918"/>
              <a:ext cx="164" cy="14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7" name="Line 157"/>
            <p:cNvSpPr>
              <a:spLocks noChangeAspect="1" noChangeShapeType="1"/>
            </p:cNvSpPr>
            <p:nvPr/>
          </p:nvSpPr>
          <p:spPr bwMode="auto">
            <a:xfrm flipV="1">
              <a:off x="4116" y="2079"/>
              <a:ext cx="0" cy="37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Line 158"/>
            <p:cNvSpPr>
              <a:spLocks noChangeAspect="1" noChangeShapeType="1"/>
            </p:cNvSpPr>
            <p:nvPr/>
          </p:nvSpPr>
          <p:spPr bwMode="auto">
            <a:xfrm flipV="1">
              <a:off x="4109" y="2514"/>
              <a:ext cx="0" cy="41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9" name="Rectangle 159"/>
            <p:cNvSpPr>
              <a:spLocks noChangeAspect="1" noChangeArrowheads="1"/>
            </p:cNvSpPr>
            <p:nvPr/>
          </p:nvSpPr>
          <p:spPr bwMode="auto">
            <a:xfrm>
              <a:off x="4919" y="2220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ea typeface="宋体" pitchFamily="2" charset="-122"/>
                </a:rPr>
                <a:t>E</a:t>
              </a:r>
              <a:endParaRPr lang="en-US" altLang="zh-CN" sz="2800">
                <a:ea typeface="宋体" pitchFamily="2" charset="-122"/>
              </a:endParaRPr>
            </a:p>
          </p:txBody>
        </p:sp>
        <p:sp>
          <p:nvSpPr>
            <p:cNvPr id="27690" name="Rectangle 160"/>
            <p:cNvSpPr>
              <a:spLocks noChangeAspect="1" noChangeArrowheads="1"/>
            </p:cNvSpPr>
            <p:nvPr/>
          </p:nvSpPr>
          <p:spPr bwMode="auto">
            <a:xfrm>
              <a:off x="4490" y="3184"/>
              <a:ext cx="11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800" i="1">
                  <a:solidFill>
                    <a:srgbClr val="000000"/>
                  </a:solidFill>
                  <a:ea typeface="宋体" pitchFamily="2" charset="-122"/>
                </a:rPr>
                <a:t>H</a:t>
              </a:r>
              <a:endParaRPr lang="en-US" altLang="zh-CN" sz="2800">
                <a:ea typeface="宋体" pitchFamily="2" charset="-122"/>
              </a:endParaRPr>
            </a:p>
          </p:txBody>
        </p:sp>
        <p:sp>
          <p:nvSpPr>
            <p:cNvPr id="27691" name="Rectangle 161"/>
            <p:cNvSpPr>
              <a:spLocks noChangeAspect="1" noChangeArrowheads="1"/>
            </p:cNvSpPr>
            <p:nvPr/>
          </p:nvSpPr>
          <p:spPr bwMode="auto">
            <a:xfrm>
              <a:off x="5434" y="2891"/>
              <a:ext cx="13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000000"/>
                  </a:solidFill>
                  <a:ea typeface="宋体" pitchFamily="2" charset="-122"/>
                </a:rPr>
                <a:t>z</a:t>
              </a:r>
              <a:endParaRPr lang="en-US" altLang="zh-CN" sz="2000">
                <a:ea typeface="宋体" pitchFamily="2" charset="-122"/>
              </a:endParaRPr>
            </a:p>
          </p:txBody>
        </p:sp>
        <p:sp>
          <p:nvSpPr>
            <p:cNvPr id="27692" name="Freeform 162"/>
            <p:cNvSpPr>
              <a:spLocks noChangeAspect="1" noEditPoints="1"/>
            </p:cNvSpPr>
            <p:nvPr/>
          </p:nvSpPr>
          <p:spPr bwMode="auto">
            <a:xfrm>
              <a:off x="5028" y="2849"/>
              <a:ext cx="536" cy="35"/>
            </a:xfrm>
            <a:custGeom>
              <a:avLst/>
              <a:gdLst>
                <a:gd name="T0" fmla="*/ 0 w 566"/>
                <a:gd name="T1" fmla="*/ 6 h 38"/>
                <a:gd name="T2" fmla="*/ 225 w 566"/>
                <a:gd name="T3" fmla="*/ 6 h 38"/>
                <a:gd name="T4" fmla="*/ 225 w 566"/>
                <a:gd name="T5" fmla="*/ 10 h 38"/>
                <a:gd name="T6" fmla="*/ 0 w 566"/>
                <a:gd name="T7" fmla="*/ 9 h 38"/>
                <a:gd name="T8" fmla="*/ 0 w 566"/>
                <a:gd name="T9" fmla="*/ 6 h 38"/>
                <a:gd name="T10" fmla="*/ 223 w 566"/>
                <a:gd name="T11" fmla="*/ 0 h 38"/>
                <a:gd name="T12" fmla="*/ 264 w 566"/>
                <a:gd name="T13" fmla="*/ 6 h 38"/>
                <a:gd name="T14" fmla="*/ 223 w 566"/>
                <a:gd name="T15" fmla="*/ 13 h 38"/>
                <a:gd name="T16" fmla="*/ 223 w 566"/>
                <a:gd name="T17" fmla="*/ 0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66"/>
                <a:gd name="T28" fmla="*/ 0 h 38"/>
                <a:gd name="T29" fmla="*/ 566 w 566"/>
                <a:gd name="T30" fmla="*/ 38 h 3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66" h="38">
                  <a:moveTo>
                    <a:pt x="0" y="9"/>
                  </a:moveTo>
                  <a:lnTo>
                    <a:pt x="484" y="9"/>
                  </a:lnTo>
                  <a:lnTo>
                    <a:pt x="484" y="29"/>
                  </a:lnTo>
                  <a:lnTo>
                    <a:pt x="0" y="28"/>
                  </a:lnTo>
                  <a:lnTo>
                    <a:pt x="0" y="9"/>
                  </a:lnTo>
                  <a:close/>
                  <a:moveTo>
                    <a:pt x="475" y="0"/>
                  </a:moveTo>
                  <a:lnTo>
                    <a:pt x="566" y="19"/>
                  </a:lnTo>
                  <a:lnTo>
                    <a:pt x="475" y="38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3" name="Rectangle 163"/>
            <p:cNvSpPr>
              <a:spLocks noChangeAspect="1" noChangeArrowheads="1"/>
            </p:cNvSpPr>
            <p:nvPr/>
          </p:nvSpPr>
          <p:spPr bwMode="auto">
            <a:xfrm>
              <a:off x="5024" y="2676"/>
              <a:ext cx="52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1300">
                  <a:solidFill>
                    <a:srgbClr val="000000"/>
                  </a:solidFill>
                  <a:latin typeface="宋体" pitchFamily="2" charset="-122"/>
                  <a:ea typeface="宋体" pitchFamily="2" charset="-122"/>
                </a:rPr>
                <a:t>波传播方向</a:t>
              </a:r>
              <a:endParaRPr lang="zh-CN" altLang="en-US" sz="2800">
                <a:ea typeface="宋体" pitchFamily="2" charset="-122"/>
              </a:endParaRPr>
            </a:p>
          </p:txBody>
        </p:sp>
        <p:sp>
          <p:nvSpPr>
            <p:cNvPr id="27694" name="Rectangle 164"/>
            <p:cNvSpPr>
              <a:spLocks noChangeAspect="1" noChangeArrowheads="1"/>
            </p:cNvSpPr>
            <p:nvPr/>
          </p:nvSpPr>
          <p:spPr bwMode="auto">
            <a:xfrm>
              <a:off x="4797" y="2635"/>
              <a:ext cx="2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1300">
                  <a:solidFill>
                    <a:srgbClr val="000000"/>
                  </a:solidFill>
                  <a:ea typeface="宋体" pitchFamily="2" charset="-122"/>
                </a:rPr>
                <a:t> </a:t>
              </a:r>
              <a:endParaRPr lang="en-US" altLang="zh-CN" sz="2800">
                <a:ea typeface="宋体" pitchFamily="2" charset="-122"/>
              </a:endParaRPr>
            </a:p>
          </p:txBody>
        </p:sp>
        <p:sp>
          <p:nvSpPr>
            <p:cNvPr id="27695" name="Text Box 165"/>
            <p:cNvSpPr txBox="1">
              <a:spLocks noChangeAspect="1" noChangeArrowheads="1"/>
            </p:cNvSpPr>
            <p:nvPr/>
          </p:nvSpPr>
          <p:spPr bwMode="auto">
            <a:xfrm>
              <a:off x="3847" y="3813"/>
              <a:ext cx="1287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1400">
                  <a:ea typeface="幼圆" pitchFamily="49" charset="-122"/>
                </a:rPr>
                <a:t>均匀平面波</a:t>
              </a:r>
            </a:p>
          </p:txBody>
        </p:sp>
        <p:sp>
          <p:nvSpPr>
            <p:cNvPr id="27696" name="Text Box 166"/>
            <p:cNvSpPr txBox="1">
              <a:spLocks noChangeAspect="1" noChangeArrowheads="1"/>
            </p:cNvSpPr>
            <p:nvPr/>
          </p:nvSpPr>
          <p:spPr bwMode="auto">
            <a:xfrm>
              <a:off x="4285" y="1842"/>
              <a:ext cx="128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1400">
                  <a:ea typeface="幼圆" pitchFamily="49" charset="-122"/>
                </a:rPr>
                <a:t>波阵面</a:t>
              </a:r>
            </a:p>
          </p:txBody>
        </p:sp>
        <p:sp>
          <p:nvSpPr>
            <p:cNvPr id="27697" name="Rectangle 200"/>
            <p:cNvSpPr>
              <a:spLocks noChangeAspect="1" noChangeArrowheads="1"/>
            </p:cNvSpPr>
            <p:nvPr/>
          </p:nvSpPr>
          <p:spPr bwMode="auto">
            <a:xfrm>
              <a:off x="4147" y="201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2000">
                <a:ea typeface="宋体" pitchFamily="2" charset="-122"/>
              </a:endParaRPr>
            </a:p>
          </p:txBody>
        </p:sp>
        <p:sp>
          <p:nvSpPr>
            <p:cNvPr id="27698" name="Rectangle 201"/>
            <p:cNvSpPr>
              <a:spLocks noChangeAspect="1" noChangeArrowheads="1"/>
            </p:cNvSpPr>
            <p:nvPr/>
          </p:nvSpPr>
          <p:spPr bwMode="auto">
            <a:xfrm>
              <a:off x="3564" y="3174"/>
              <a:ext cx="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ea typeface="宋体" pitchFamily="2" charset="-122"/>
                </a:rPr>
                <a:t>y</a:t>
              </a:r>
              <a:endParaRPr lang="en-US" altLang="zh-CN" sz="2000">
                <a:ea typeface="宋体" pitchFamily="2" charset="-122"/>
              </a:endParaRPr>
            </a:p>
          </p:txBody>
        </p:sp>
        <p:sp>
          <p:nvSpPr>
            <p:cNvPr id="27699" name="Rectangle 202"/>
            <p:cNvSpPr>
              <a:spLocks noChangeAspect="1" noChangeArrowheads="1"/>
            </p:cNvSpPr>
            <p:nvPr/>
          </p:nvSpPr>
          <p:spPr bwMode="auto">
            <a:xfrm>
              <a:off x="3975" y="2808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000000"/>
                  </a:solidFill>
                  <a:ea typeface="宋体" pitchFamily="2" charset="-122"/>
                </a:rPr>
                <a:t>o</a:t>
              </a:r>
              <a:endParaRPr lang="en-US" altLang="zh-CN" sz="2000">
                <a:ea typeface="宋体" pitchFamily="2" charset="-122"/>
              </a:endParaRPr>
            </a:p>
          </p:txBody>
        </p:sp>
        <p:sp>
          <p:nvSpPr>
            <p:cNvPr id="27700" name="Line 203"/>
            <p:cNvSpPr>
              <a:spLocks noChangeAspect="1" noChangeShapeType="1"/>
            </p:cNvSpPr>
            <p:nvPr/>
          </p:nvSpPr>
          <p:spPr bwMode="auto">
            <a:xfrm flipV="1">
              <a:off x="3725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1" name="Line 204"/>
            <p:cNvSpPr>
              <a:spLocks noChangeAspect="1" noChangeShapeType="1"/>
            </p:cNvSpPr>
            <p:nvPr/>
          </p:nvSpPr>
          <p:spPr bwMode="auto">
            <a:xfrm flipV="1">
              <a:off x="3945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702" name="Group 206"/>
            <p:cNvGrpSpPr>
              <a:grpSpLocks noChangeAspect="1"/>
            </p:cNvGrpSpPr>
            <p:nvPr/>
          </p:nvGrpSpPr>
          <p:grpSpPr bwMode="auto">
            <a:xfrm rot="10901517" flipH="1">
              <a:off x="4006" y="3446"/>
              <a:ext cx="643" cy="364"/>
              <a:chOff x="-366" y="1998"/>
              <a:chExt cx="630" cy="255"/>
            </a:xfrm>
          </p:grpSpPr>
          <p:grpSp>
            <p:nvGrpSpPr>
              <p:cNvPr id="27714" name="Group 207"/>
              <p:cNvGrpSpPr>
                <a:grpSpLocks noChangeAspect="1"/>
              </p:cNvGrpSpPr>
              <p:nvPr/>
            </p:nvGrpSpPr>
            <p:grpSpPr bwMode="auto">
              <a:xfrm>
                <a:off x="-156" y="2004"/>
                <a:ext cx="210" cy="249"/>
                <a:chOff x="-558" y="1902"/>
                <a:chExt cx="210" cy="249"/>
              </a:xfrm>
            </p:grpSpPr>
            <p:sp>
              <p:nvSpPr>
                <p:cNvPr id="27720" name="Arc 208"/>
                <p:cNvSpPr>
                  <a:spLocks noChangeAspect="1"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0 w 41051"/>
                    <a:gd name="T1" fmla="*/ 0 h 21600"/>
                    <a:gd name="T2" fmla="*/ 0 w 41051"/>
                    <a:gd name="T3" fmla="*/ 0 h 21600"/>
                    <a:gd name="T4" fmla="*/ 0 w 4105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1051"/>
                    <a:gd name="T10" fmla="*/ 0 h 21600"/>
                    <a:gd name="T11" fmla="*/ 41051 w 4105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1051" h="21600" fill="none" extrusionOk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 extrusionOk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721" name="Arc 209"/>
                <p:cNvSpPr>
                  <a:spLocks noChangeAspect="1"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0 w 40133"/>
                    <a:gd name="T1" fmla="*/ 0 h 21600"/>
                    <a:gd name="T2" fmla="*/ 0 w 40133"/>
                    <a:gd name="T3" fmla="*/ 0 h 21600"/>
                    <a:gd name="T4" fmla="*/ 0 w 40133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0133"/>
                    <a:gd name="T10" fmla="*/ 0 h 21600"/>
                    <a:gd name="T11" fmla="*/ 40133 w 40133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0133" h="21600" fill="none" extrusionOk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 extrusionOk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7715" name="Arc 210"/>
              <p:cNvSpPr>
                <a:spLocks noChangeAspect="1"/>
              </p:cNvSpPr>
              <p:nvPr/>
            </p:nvSpPr>
            <p:spPr bwMode="auto">
              <a:xfrm>
                <a:off x="54" y="1998"/>
                <a:ext cx="106" cy="192"/>
              </a:xfrm>
              <a:custGeom>
                <a:avLst/>
                <a:gdLst>
                  <a:gd name="T0" fmla="*/ 0 w 41051"/>
                  <a:gd name="T1" fmla="*/ 0 h 21600"/>
                  <a:gd name="T2" fmla="*/ 0 w 41051"/>
                  <a:gd name="T3" fmla="*/ 0 h 21600"/>
                  <a:gd name="T4" fmla="*/ 0 w 4105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1051"/>
                  <a:gd name="T10" fmla="*/ 0 h 21600"/>
                  <a:gd name="T11" fmla="*/ 41051 w 4105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051" h="21600" fill="none" extrusionOk="0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</a:path>
                  <a:path w="41051" h="21600" stroke="0" extrusionOk="0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  <a:lnTo>
                      <a:pt x="20555" y="21600"/>
                    </a:lnTo>
                    <a:lnTo>
                      <a:pt x="-1" y="14962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716" name="Arc 211"/>
              <p:cNvSpPr>
                <a:spLocks noChangeAspect="1"/>
              </p:cNvSpPr>
              <p:nvPr/>
            </p:nvSpPr>
            <p:spPr bwMode="auto">
              <a:xfrm flipV="1">
                <a:off x="158" y="2061"/>
                <a:ext cx="106" cy="192"/>
              </a:xfrm>
              <a:custGeom>
                <a:avLst/>
                <a:gdLst>
                  <a:gd name="T0" fmla="*/ 0 w 40937"/>
                  <a:gd name="T1" fmla="*/ 0 h 21600"/>
                  <a:gd name="T2" fmla="*/ 0 w 40937"/>
                  <a:gd name="T3" fmla="*/ 0 h 21600"/>
                  <a:gd name="T4" fmla="*/ 0 w 4093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0937"/>
                  <a:gd name="T10" fmla="*/ 0 h 21600"/>
                  <a:gd name="T11" fmla="*/ 40937 w 4093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937" h="21600" fill="none" extrusionOk="0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</a:path>
                  <a:path w="40937" h="21600" stroke="0" extrusionOk="0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  <a:lnTo>
                      <a:pt x="20791" y="21600"/>
                    </a:lnTo>
                    <a:lnTo>
                      <a:pt x="-1" y="15743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7717" name="Group 212"/>
              <p:cNvGrpSpPr>
                <a:grpSpLocks noChangeAspect="1"/>
              </p:cNvGrpSpPr>
              <p:nvPr/>
            </p:nvGrpSpPr>
            <p:grpSpPr bwMode="auto">
              <a:xfrm>
                <a:off x="-366" y="2004"/>
                <a:ext cx="210" cy="249"/>
                <a:chOff x="-558" y="1902"/>
                <a:chExt cx="210" cy="249"/>
              </a:xfrm>
            </p:grpSpPr>
            <p:sp>
              <p:nvSpPr>
                <p:cNvPr id="27718" name="Arc 213"/>
                <p:cNvSpPr>
                  <a:spLocks noChangeAspect="1"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0 w 41051"/>
                    <a:gd name="T1" fmla="*/ 0 h 21600"/>
                    <a:gd name="T2" fmla="*/ 0 w 41051"/>
                    <a:gd name="T3" fmla="*/ 0 h 21600"/>
                    <a:gd name="T4" fmla="*/ 0 w 4105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1051"/>
                    <a:gd name="T10" fmla="*/ 0 h 21600"/>
                    <a:gd name="T11" fmla="*/ 41051 w 4105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1051" h="21600" fill="none" extrusionOk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 extrusionOk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719" name="Arc 214"/>
                <p:cNvSpPr>
                  <a:spLocks noChangeAspect="1"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0 w 40133"/>
                    <a:gd name="T1" fmla="*/ 0 h 21600"/>
                    <a:gd name="T2" fmla="*/ 0 w 40133"/>
                    <a:gd name="T3" fmla="*/ 0 h 21600"/>
                    <a:gd name="T4" fmla="*/ 0 w 40133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0133"/>
                    <a:gd name="T10" fmla="*/ 0 h 21600"/>
                    <a:gd name="T11" fmla="*/ 40133 w 40133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0133" h="21600" fill="none" extrusionOk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 extrusionOk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7703" name="Group 215"/>
            <p:cNvGrpSpPr>
              <a:grpSpLocks/>
            </p:cNvGrpSpPr>
            <p:nvPr/>
          </p:nvGrpSpPr>
          <p:grpSpPr bwMode="auto">
            <a:xfrm>
              <a:off x="3349" y="3424"/>
              <a:ext cx="655" cy="378"/>
              <a:chOff x="3521" y="3526"/>
              <a:chExt cx="514" cy="299"/>
            </a:xfrm>
          </p:grpSpPr>
          <p:grpSp>
            <p:nvGrpSpPr>
              <p:cNvPr id="27706" name="Group 216"/>
              <p:cNvGrpSpPr>
                <a:grpSpLocks/>
              </p:cNvGrpSpPr>
              <p:nvPr/>
            </p:nvGrpSpPr>
            <p:grpSpPr bwMode="auto">
              <a:xfrm rot="10901517" flipH="1">
                <a:off x="3692" y="3532"/>
                <a:ext cx="171" cy="284"/>
                <a:chOff x="-558" y="1902"/>
                <a:chExt cx="210" cy="249"/>
              </a:xfrm>
            </p:grpSpPr>
            <p:sp>
              <p:nvSpPr>
                <p:cNvPr id="27712" name="Arc 217"/>
                <p:cNvSpPr>
                  <a:spLocks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0 w 41051"/>
                    <a:gd name="T1" fmla="*/ 0 h 21600"/>
                    <a:gd name="T2" fmla="*/ 0 w 41051"/>
                    <a:gd name="T3" fmla="*/ 0 h 21600"/>
                    <a:gd name="T4" fmla="*/ 0 w 4105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1051"/>
                    <a:gd name="T10" fmla="*/ 0 h 21600"/>
                    <a:gd name="T11" fmla="*/ 41051 w 4105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1051" h="21600" fill="none" extrusionOk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 extrusionOk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713" name="Arc 218"/>
                <p:cNvSpPr>
                  <a:spLocks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0 w 40133"/>
                    <a:gd name="T1" fmla="*/ 0 h 21600"/>
                    <a:gd name="T2" fmla="*/ 0 w 40133"/>
                    <a:gd name="T3" fmla="*/ 0 h 21600"/>
                    <a:gd name="T4" fmla="*/ 0 w 40133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0133"/>
                    <a:gd name="T10" fmla="*/ 0 h 21600"/>
                    <a:gd name="T11" fmla="*/ 40133 w 40133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0133" h="21600" fill="none" extrusionOk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 extrusionOk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7707" name="Arc 219"/>
              <p:cNvSpPr>
                <a:spLocks/>
              </p:cNvSpPr>
              <p:nvPr/>
            </p:nvSpPr>
            <p:spPr bwMode="auto">
              <a:xfrm rot="10901517" flipH="1">
                <a:off x="3862" y="3606"/>
                <a:ext cx="86" cy="219"/>
              </a:xfrm>
              <a:custGeom>
                <a:avLst/>
                <a:gdLst>
                  <a:gd name="T0" fmla="*/ 0 w 41051"/>
                  <a:gd name="T1" fmla="*/ 0 h 21600"/>
                  <a:gd name="T2" fmla="*/ 0 w 41051"/>
                  <a:gd name="T3" fmla="*/ 0 h 21600"/>
                  <a:gd name="T4" fmla="*/ 0 w 4105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1051"/>
                  <a:gd name="T10" fmla="*/ 0 h 21600"/>
                  <a:gd name="T11" fmla="*/ 41051 w 4105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051" h="21600" fill="none" extrusionOk="0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</a:path>
                  <a:path w="41051" h="21600" stroke="0" extrusionOk="0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  <a:lnTo>
                      <a:pt x="20555" y="21600"/>
                    </a:lnTo>
                    <a:lnTo>
                      <a:pt x="-1" y="14962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708" name="Arc 220"/>
              <p:cNvSpPr>
                <a:spLocks/>
              </p:cNvSpPr>
              <p:nvPr/>
            </p:nvSpPr>
            <p:spPr bwMode="auto">
              <a:xfrm rot="-10698483" flipH="1" flipV="1">
                <a:off x="3949" y="3537"/>
                <a:ext cx="86" cy="219"/>
              </a:xfrm>
              <a:custGeom>
                <a:avLst/>
                <a:gdLst>
                  <a:gd name="T0" fmla="*/ 0 w 40937"/>
                  <a:gd name="T1" fmla="*/ 0 h 21600"/>
                  <a:gd name="T2" fmla="*/ 0 w 40937"/>
                  <a:gd name="T3" fmla="*/ 0 h 21600"/>
                  <a:gd name="T4" fmla="*/ 0 w 4093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0937"/>
                  <a:gd name="T10" fmla="*/ 0 h 21600"/>
                  <a:gd name="T11" fmla="*/ 40937 w 4093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937" h="21600" fill="none" extrusionOk="0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</a:path>
                  <a:path w="40937" h="21600" stroke="0" extrusionOk="0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  <a:lnTo>
                      <a:pt x="20791" y="21600"/>
                    </a:lnTo>
                    <a:lnTo>
                      <a:pt x="-1" y="15743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7709" name="Group 221"/>
              <p:cNvGrpSpPr>
                <a:grpSpLocks/>
              </p:cNvGrpSpPr>
              <p:nvPr/>
            </p:nvGrpSpPr>
            <p:grpSpPr bwMode="auto">
              <a:xfrm rot="10901517" flipH="1">
                <a:off x="3521" y="3526"/>
                <a:ext cx="171" cy="284"/>
                <a:chOff x="-558" y="1902"/>
                <a:chExt cx="210" cy="249"/>
              </a:xfrm>
            </p:grpSpPr>
            <p:sp>
              <p:nvSpPr>
                <p:cNvPr id="27710" name="Arc 222"/>
                <p:cNvSpPr>
                  <a:spLocks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0 w 41051"/>
                    <a:gd name="T1" fmla="*/ 0 h 21600"/>
                    <a:gd name="T2" fmla="*/ 0 w 41051"/>
                    <a:gd name="T3" fmla="*/ 0 h 21600"/>
                    <a:gd name="T4" fmla="*/ 0 w 4105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1051"/>
                    <a:gd name="T10" fmla="*/ 0 h 21600"/>
                    <a:gd name="T11" fmla="*/ 41051 w 4105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1051" h="21600" fill="none" extrusionOk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 extrusionOk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711" name="Arc 223"/>
                <p:cNvSpPr>
                  <a:spLocks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0 w 40133"/>
                    <a:gd name="T1" fmla="*/ 0 h 21600"/>
                    <a:gd name="T2" fmla="*/ 0 w 40133"/>
                    <a:gd name="T3" fmla="*/ 0 h 21600"/>
                    <a:gd name="T4" fmla="*/ 0 w 40133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0133"/>
                    <a:gd name="T10" fmla="*/ 0 h 21600"/>
                    <a:gd name="T11" fmla="*/ 40133 w 40133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0133" h="21600" fill="none" extrusionOk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 extrusionOk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7704" name="Line 238"/>
            <p:cNvSpPr>
              <a:spLocks noChangeAspect="1" noChangeShapeType="1"/>
            </p:cNvSpPr>
            <p:nvPr/>
          </p:nvSpPr>
          <p:spPr bwMode="auto">
            <a:xfrm flipH="1">
              <a:off x="3566" y="3077"/>
              <a:ext cx="371" cy="33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5" name="Line 239"/>
            <p:cNvSpPr>
              <a:spLocks noChangeAspect="1" noChangeShapeType="1"/>
            </p:cNvSpPr>
            <p:nvPr/>
          </p:nvSpPr>
          <p:spPr bwMode="auto">
            <a:xfrm>
              <a:off x="5006" y="2933"/>
              <a:ext cx="47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52" name="Text Box 245"/>
          <p:cNvSpPr txBox="1">
            <a:spLocks noChangeArrowheads="1"/>
          </p:cNvSpPr>
          <p:nvPr/>
        </p:nvSpPr>
        <p:spPr bwMode="auto">
          <a:xfrm>
            <a:off x="107950" y="1196975"/>
            <a:ext cx="835183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>
                <a:solidFill>
                  <a:srgbClr val="FF8383"/>
                </a:solidFill>
                <a:latin typeface="宋体" pitchFamily="2" charset="-122"/>
                <a:ea typeface="宋体" pitchFamily="2" charset="-122"/>
              </a:rPr>
              <a:t>  </a:t>
            </a:r>
            <a:endParaRPr kumimoji="1" lang="en-US" altLang="zh-CN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490746" name="Text Box 250"/>
          <p:cNvSpPr txBox="1">
            <a:spLocks noChangeArrowheads="1"/>
          </p:cNvSpPr>
          <p:nvPr/>
        </p:nvSpPr>
        <p:spPr bwMode="auto">
          <a:xfrm>
            <a:off x="74613" y="476250"/>
            <a:ext cx="3344862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kumimoji="1" lang="en-US" altLang="zh-CN">
                <a:solidFill>
                  <a:schemeClr val="bg1"/>
                </a:solidFill>
              </a:rPr>
              <a:t>   </a:t>
            </a:r>
            <a:r>
              <a:rPr kumimoji="1" lang="zh-CN" altLang="en-US">
                <a:solidFill>
                  <a:schemeClr val="bg1"/>
                </a:solidFill>
                <a:ea typeface="宋体" pitchFamily="2" charset="-122"/>
              </a:rPr>
              <a:t>均匀平面波的概念</a:t>
            </a:r>
            <a:endParaRPr lang="zh-CN" altLang="en-US">
              <a:solidFill>
                <a:srgbClr val="000066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90747" name="Text Box 251"/>
          <p:cNvSpPr txBox="1">
            <a:spLocks noChangeArrowheads="1"/>
          </p:cNvSpPr>
          <p:nvPr/>
        </p:nvSpPr>
        <p:spPr bwMode="auto">
          <a:xfrm>
            <a:off x="34925" y="1052513"/>
            <a:ext cx="7850188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>
                <a:solidFill>
                  <a:srgbClr val="FF8383"/>
                </a:solidFill>
              </a:rPr>
              <a:t>      </a:t>
            </a:r>
            <a:r>
              <a:rPr kumimoji="1" lang="zh-CN" altLang="en-US">
                <a:solidFill>
                  <a:srgbClr val="FF8383"/>
                </a:solidFill>
                <a:ea typeface="宋体" pitchFamily="2" charset="-122"/>
              </a:rPr>
              <a:t>波阵面</a:t>
            </a:r>
            <a:r>
              <a:rPr kumimoji="1" lang="zh-CN" altLang="en-US">
                <a:solidFill>
                  <a:schemeClr val="bg1"/>
                </a:solidFill>
              </a:rPr>
              <a:t>：空间相位相同的点构成的</a:t>
            </a:r>
            <a:r>
              <a:rPr kumimoji="1" lang="zh-CN" altLang="en-US">
                <a:solidFill>
                  <a:srgbClr val="FF0000"/>
                </a:solidFill>
              </a:rPr>
              <a:t>曲面</a:t>
            </a:r>
            <a:r>
              <a:rPr kumimoji="1" lang="zh-CN" altLang="en-US">
                <a:solidFill>
                  <a:schemeClr val="bg1"/>
                </a:solidFill>
              </a:rPr>
              <a:t>，即等相位面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90748" name="Text Box 252"/>
          <p:cNvSpPr txBox="1">
            <a:spLocks noChangeArrowheads="1"/>
          </p:cNvSpPr>
          <p:nvPr/>
        </p:nvSpPr>
        <p:spPr bwMode="auto">
          <a:xfrm>
            <a:off x="34925" y="1700213"/>
            <a:ext cx="64389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>
                <a:solidFill>
                  <a:srgbClr val="FF8383"/>
                </a:solidFill>
              </a:rPr>
              <a:t>      </a:t>
            </a:r>
            <a:r>
              <a:rPr kumimoji="1" lang="zh-CN" altLang="en-US">
                <a:solidFill>
                  <a:srgbClr val="FF8383"/>
                </a:solidFill>
                <a:ea typeface="宋体" pitchFamily="2" charset="-122"/>
              </a:rPr>
              <a:t>平面波</a:t>
            </a:r>
            <a:r>
              <a:rPr kumimoji="1" lang="zh-CN" altLang="en-US">
                <a:solidFill>
                  <a:schemeClr val="bg1"/>
                </a:solidFill>
              </a:rPr>
              <a:t>：等相位面为无限大</a:t>
            </a:r>
            <a:r>
              <a:rPr kumimoji="1" lang="zh-CN" altLang="en-US">
                <a:solidFill>
                  <a:srgbClr val="FF0000"/>
                </a:solidFill>
              </a:rPr>
              <a:t>平面</a:t>
            </a:r>
            <a:r>
              <a:rPr kumimoji="1" lang="zh-CN" altLang="en-US">
                <a:solidFill>
                  <a:schemeClr val="bg1"/>
                </a:solidFill>
              </a:rPr>
              <a:t>的电磁波</a:t>
            </a:r>
          </a:p>
        </p:txBody>
      </p:sp>
      <p:sp>
        <p:nvSpPr>
          <p:cNvPr id="490750" name="Text Box 254"/>
          <p:cNvSpPr txBox="1">
            <a:spLocks noChangeArrowheads="1"/>
          </p:cNvSpPr>
          <p:nvPr/>
        </p:nvSpPr>
        <p:spPr bwMode="auto">
          <a:xfrm>
            <a:off x="500063" y="2286000"/>
            <a:ext cx="8035925" cy="97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zh-CN" altLang="en-US">
                <a:solidFill>
                  <a:srgbClr val="FF8383"/>
                </a:solidFill>
                <a:ea typeface="宋体" pitchFamily="2" charset="-122"/>
              </a:rPr>
              <a:t>均匀平面波</a:t>
            </a:r>
            <a:r>
              <a:rPr kumimoji="1" lang="zh-CN" altLang="en-US">
                <a:solidFill>
                  <a:schemeClr val="bg1"/>
                </a:solidFill>
              </a:rPr>
              <a:t>：等相位面上电场和磁场的方向、振幅都保持 </a:t>
            </a:r>
            <a:endParaRPr kumimoji="1" lang="en-US" altLang="zh-CN">
              <a:solidFill>
                <a:schemeClr val="bg1"/>
              </a:solidFill>
            </a:endParaRPr>
          </a:p>
          <a:p>
            <a:pPr algn="just" eaLnBrk="1" hangingPunct="1">
              <a:lnSpc>
                <a:spcPct val="110000"/>
              </a:lnSpc>
            </a:pPr>
            <a:r>
              <a:rPr kumimoji="1" lang="en-US" altLang="zh-CN">
                <a:solidFill>
                  <a:schemeClr val="bg1"/>
                </a:solidFill>
              </a:rPr>
              <a:t>                       </a:t>
            </a:r>
            <a:r>
              <a:rPr kumimoji="1" lang="zh-CN" altLang="en-US">
                <a:solidFill>
                  <a:schemeClr val="bg1"/>
                </a:solidFill>
              </a:rPr>
              <a:t>不变的平面波</a:t>
            </a:r>
          </a:p>
        </p:txBody>
      </p:sp>
      <p:sp>
        <p:nvSpPr>
          <p:cNvPr id="490751" name="Text Box 255"/>
          <p:cNvSpPr txBox="1">
            <a:spLocks noChangeArrowheads="1"/>
          </p:cNvSpPr>
          <p:nvPr/>
        </p:nvSpPr>
        <p:spPr bwMode="auto">
          <a:xfrm>
            <a:off x="74613" y="3648075"/>
            <a:ext cx="5078412" cy="2012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3"/>
              </a:buBlip>
            </a:pPr>
            <a:r>
              <a:rPr kumimoji="1" lang="en-US" altLang="zh-CN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kumimoji="1" lang="zh-CN" altLang="en-US" dirty="0">
                <a:solidFill>
                  <a:schemeClr val="bg1"/>
                </a:solidFill>
                <a:latin typeface="楷体_GB2312" pitchFamily="49" charset="-122"/>
              </a:rPr>
              <a:t>均匀平面波是电磁波的一种</a:t>
            </a:r>
            <a:r>
              <a:rPr kumimoji="1" lang="zh-CN" altLang="en-US" dirty="0">
                <a:solidFill>
                  <a:srgbClr val="FF0000"/>
                </a:solidFill>
                <a:latin typeface="楷体_GB2312" pitchFamily="49" charset="-122"/>
              </a:rPr>
              <a:t>理想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chemeClr val="bg1"/>
                </a:solidFill>
                <a:latin typeface="楷体_GB2312" pitchFamily="49" charset="-122"/>
              </a:rPr>
              <a:t>   情况，物理上没有严格对应的实 </a:t>
            </a:r>
            <a:r>
              <a:rPr kumimoji="1" lang="en-US" altLang="zh-CN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kumimoji="1" lang="en-US" altLang="zh-CN" dirty="0" smtClean="0">
                <a:solidFill>
                  <a:schemeClr val="bg1"/>
                </a:solidFill>
                <a:latin typeface="楷体_GB2312" pitchFamily="49" charset="-122"/>
              </a:rPr>
              <a:t>        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kumimoji="1" lang="en-US" altLang="zh-CN" dirty="0" smtClean="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kumimoji="1"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际</a:t>
            </a:r>
            <a:r>
              <a:rPr kumimoji="1" lang="zh-CN" altLang="en-US" dirty="0">
                <a:solidFill>
                  <a:schemeClr val="bg1"/>
                </a:solidFill>
                <a:latin typeface="楷体_GB2312" pitchFamily="49" charset="-122"/>
              </a:rPr>
              <a:t>波源。但其分析方法简单， </a:t>
            </a:r>
            <a:endParaRPr kumimoji="1" lang="en-US" altLang="zh-CN" dirty="0">
              <a:solidFill>
                <a:schemeClr val="bg1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dirty="0">
                <a:solidFill>
                  <a:schemeClr val="bg1"/>
                </a:solidFill>
                <a:latin typeface="楷体_GB2312" pitchFamily="49" charset="-122"/>
              </a:rPr>
              <a:t>   </a:t>
            </a:r>
            <a:r>
              <a:rPr kumimoji="1" lang="zh-CN" altLang="en-US" dirty="0" smtClean="0">
                <a:solidFill>
                  <a:schemeClr val="bg1"/>
                </a:solidFill>
                <a:latin typeface="楷体_GB2312" pitchFamily="49" charset="-122"/>
              </a:rPr>
              <a:t>且</a:t>
            </a:r>
            <a:r>
              <a:rPr kumimoji="1" lang="zh-CN" altLang="en-US" dirty="0">
                <a:solidFill>
                  <a:schemeClr val="bg1"/>
                </a:solidFill>
                <a:latin typeface="楷体_GB2312" pitchFamily="49" charset="-122"/>
              </a:rPr>
              <a:t>能表征电磁波的重要特性。</a:t>
            </a:r>
            <a:endParaRPr kumimoji="1" lang="zh-CN" altLang="en-US" dirty="0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7658" name="AutoShape 256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9" name="AutoShape 25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0" name="AutoShape 25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61" name="AutoShape 259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9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90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90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490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4907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490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4907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4907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4907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746" grpId="0" autoUpdateAnimBg="0"/>
      <p:bldP spid="490747" grpId="0" build="p" autoUpdateAnimBg="0"/>
      <p:bldP spid="490748" grpId="0" build="p" autoUpdateAnimBg="0"/>
      <p:bldP spid="490750" grpId="0" build="p" autoUpdateAnimBg="0"/>
      <p:bldP spid="490751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2F09AC-FE00-4459-97C1-0FDDE6CE12F1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619250" y="1700213"/>
            <a:ext cx="6027738" cy="2800350"/>
          </a:xfrm>
          <a:prstGeom prst="rect">
            <a:avLst/>
          </a:prstGeom>
          <a:solidFill>
            <a:srgbClr val="CCFFFF"/>
          </a:solidFill>
          <a:ln w="19050">
            <a:solidFill>
              <a:srgbClr val="9933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3200">
                <a:solidFill>
                  <a:srgbClr val="FF0303"/>
                </a:solidFill>
                <a:ea typeface="隶书" pitchFamily="49" charset="-122"/>
              </a:rPr>
              <a:t>本章内容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/>
              <a:t>5.1</a:t>
            </a:r>
            <a:r>
              <a:rPr lang="en-US" altLang="zh-CN">
                <a:solidFill>
                  <a:schemeClr val="bg1"/>
                </a:solidFill>
                <a:ea typeface="幼圆" pitchFamily="49" charset="-122"/>
              </a:rPr>
              <a:t>   </a:t>
            </a:r>
            <a:r>
              <a:rPr lang="zh-CN" altLang="en-US">
                <a:solidFill>
                  <a:schemeClr val="bg1"/>
                </a:solidFill>
                <a:ea typeface="幼圆" pitchFamily="49" charset="-122"/>
                <a:hlinkClick r:id="rId2" action="ppaction://hlinksldjump"/>
              </a:rPr>
              <a:t>理想介质中的均匀平面波</a:t>
            </a:r>
            <a:endParaRPr lang="zh-CN" altLang="en-US">
              <a:solidFill>
                <a:schemeClr val="bg1"/>
              </a:solidFill>
              <a:ea typeface="幼圆" pitchFamily="49" charset="-122"/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/>
              <a:t>5.2   </a:t>
            </a:r>
            <a:r>
              <a:rPr lang="zh-CN" altLang="en-US">
                <a:solidFill>
                  <a:schemeClr val="bg1"/>
                </a:solidFill>
                <a:ea typeface="幼圆" pitchFamily="49" charset="-122"/>
                <a:hlinkClick r:id="rId3" action="ppaction://hlinksldjump"/>
              </a:rPr>
              <a:t>均匀平面波在导电媒质中的传播</a:t>
            </a:r>
            <a:endParaRPr lang="zh-CN" altLang="en-US">
              <a:solidFill>
                <a:schemeClr val="bg1"/>
              </a:solidFill>
              <a:ea typeface="幼圆" pitchFamily="49" charset="-122"/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/>
              <a:t>5.3   </a:t>
            </a:r>
            <a:r>
              <a:rPr lang="zh-CN" altLang="en-US">
                <a:solidFill>
                  <a:schemeClr val="bg1"/>
                </a:solidFill>
                <a:ea typeface="幼圆" pitchFamily="49" charset="-122"/>
                <a:hlinkClick r:id="rId4" action="ppaction://hlinksldjump"/>
              </a:rPr>
              <a:t>电磁波的极化</a:t>
            </a:r>
            <a:endParaRPr lang="zh-CN" altLang="en-US">
              <a:solidFill>
                <a:schemeClr val="bg1"/>
              </a:solidFill>
              <a:ea typeface="幼圆" pitchFamily="49" charset="-122"/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/>
              <a:t>5.4* </a:t>
            </a:r>
            <a:r>
              <a:rPr lang="zh-CN" altLang="en-US">
                <a:solidFill>
                  <a:schemeClr val="bg1"/>
                </a:solidFill>
                <a:ea typeface="幼圆" pitchFamily="49" charset="-122"/>
                <a:hlinkClick r:id="" action="ppaction://noaction"/>
              </a:rPr>
              <a:t>均匀平面波在各向异性媒质中的传播</a:t>
            </a:r>
            <a:endParaRPr lang="zh-CN" altLang="en-US">
              <a:solidFill>
                <a:schemeClr val="bg1"/>
              </a:solidFill>
              <a:ea typeface="幼圆" pitchFamily="49" charset="-122"/>
            </a:endParaRPr>
          </a:p>
        </p:txBody>
      </p:sp>
      <p:sp>
        <p:nvSpPr>
          <p:cNvPr id="28676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77" name="AutoShape 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78" name="AutoShape 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679" name="AutoShape 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6AD134-C065-4944-AC93-5D2E1C094727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981075"/>
            <a:ext cx="8208963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5.1</a:t>
            </a:r>
            <a:r>
              <a:rPr lang="en-US" altLang="zh-CN" sz="2400" b="1" smtClean="0">
                <a:solidFill>
                  <a:schemeClr val="bg1"/>
                </a:solidFill>
                <a:latin typeface="Times New Roman" pitchFamily="18" charset="0"/>
                <a:ea typeface="幼圆" pitchFamily="49" charset="-122"/>
              </a:rPr>
              <a:t> </a:t>
            </a:r>
            <a:r>
              <a:rPr lang="en-US" altLang="zh-CN" sz="2400" b="1" smtClean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800" b="1" smtClean="0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理想介质中的均匀平面波</a:t>
            </a:r>
          </a:p>
        </p:txBody>
      </p:sp>
      <p:sp>
        <p:nvSpPr>
          <p:cNvPr id="29700" name="Rectangle 69"/>
          <p:cNvSpPr>
            <a:spLocks noChangeArrowheads="1"/>
          </p:cNvSpPr>
          <p:nvPr/>
        </p:nvSpPr>
        <p:spPr bwMode="auto">
          <a:xfrm>
            <a:off x="827088" y="2373313"/>
            <a:ext cx="7070725" cy="2449512"/>
          </a:xfrm>
          <a:prstGeom prst="rect">
            <a:avLst/>
          </a:prstGeom>
          <a:solidFill>
            <a:srgbClr val="CCFFFF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1" name="Rectangle 71"/>
          <p:cNvSpPr>
            <a:spLocks noChangeArrowheads="1"/>
          </p:cNvSpPr>
          <p:nvPr/>
        </p:nvSpPr>
        <p:spPr bwMode="auto">
          <a:xfrm>
            <a:off x="1690688" y="2492375"/>
            <a:ext cx="5184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5.1.1  </a:t>
            </a:r>
            <a:r>
              <a:rPr lang="zh-CN" altLang="en-US">
                <a:ea typeface="宋体" pitchFamily="2" charset="-122"/>
                <a:hlinkClick r:id="rId2" action="ppaction://hlinksldjump"/>
              </a:rPr>
              <a:t>理想介质中的均匀平面波函数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9702" name="Rectangle 72"/>
          <p:cNvSpPr>
            <a:spLocks noChangeArrowheads="1"/>
          </p:cNvSpPr>
          <p:nvPr/>
        </p:nvSpPr>
        <p:spPr bwMode="auto">
          <a:xfrm>
            <a:off x="1690688" y="3906838"/>
            <a:ext cx="590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5.1.3  </a:t>
            </a:r>
            <a:r>
              <a:rPr lang="zh-CN" altLang="en-US">
                <a:ea typeface="宋体" pitchFamily="2" charset="-122"/>
                <a:hlinkClick r:id="rId3" action="ppaction://hlinksldjump"/>
              </a:rPr>
              <a:t>沿任意方向传播的均匀平面波</a:t>
            </a:r>
            <a:endParaRPr lang="zh-CN" altLang="en-US">
              <a:ea typeface="宋体" pitchFamily="2" charset="-122"/>
            </a:endParaRPr>
          </a:p>
        </p:txBody>
      </p:sp>
      <p:sp>
        <p:nvSpPr>
          <p:cNvPr id="29703" name="AutoShape 73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4" name="AutoShape 7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5" name="AutoShape 7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6" name="AutoShape 76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707" name="Rectangle 71"/>
          <p:cNvSpPr>
            <a:spLocks noChangeArrowheads="1"/>
          </p:cNvSpPr>
          <p:nvPr/>
        </p:nvSpPr>
        <p:spPr bwMode="auto">
          <a:xfrm>
            <a:off x="1690688" y="3182938"/>
            <a:ext cx="6121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/>
              <a:t>5.1.2  </a:t>
            </a:r>
            <a:r>
              <a:rPr lang="zh-CN" altLang="en-US">
                <a:ea typeface="宋体" pitchFamily="2" charset="-122"/>
                <a:hlinkClick r:id="rId2" action="ppaction://hlinksldjump"/>
              </a:rPr>
              <a:t>理想介质中的均匀平面波的传播特点</a:t>
            </a:r>
            <a:endParaRPr lang="zh-CN" altLang="en-US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CCF30B-16EF-4DC7-9F84-DB935764B056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graphicFrame>
        <p:nvGraphicFramePr>
          <p:cNvPr id="491539" name="Object 19"/>
          <p:cNvGraphicFramePr>
            <a:graphicFrameLocks noGrp="1" noChangeAspect="1"/>
          </p:cNvGraphicFramePr>
          <p:nvPr>
            <p:ph/>
          </p:nvPr>
        </p:nvGraphicFramePr>
        <p:xfrm>
          <a:off x="971550" y="3551238"/>
          <a:ext cx="345598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9" name="Equation" r:id="rId3" imgW="1657372" imgH="361783" progId="Equation.DSMT4">
                  <p:embed/>
                </p:oleObj>
              </mc:Choice>
              <mc:Fallback>
                <p:oleObj name="Equation" r:id="rId3" imgW="1657372" imgH="361783" progId="Equation.DSMT4">
                  <p:embed/>
                  <p:pic>
                    <p:nvPicPr>
                      <p:cNvPr id="0" name="Object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51238"/>
                        <a:ext cx="3455988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823" name="Text Box 1055"/>
          <p:cNvSpPr txBox="1">
            <a:spLocks noChangeArrowheads="1"/>
          </p:cNvSpPr>
          <p:nvPr/>
        </p:nvSpPr>
        <p:spPr bwMode="auto">
          <a:xfrm>
            <a:off x="107950" y="3736975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由于</a:t>
            </a:r>
          </a:p>
        </p:txBody>
      </p:sp>
      <p:sp>
        <p:nvSpPr>
          <p:cNvPr id="545826" name="Rectangle 1058"/>
          <p:cNvSpPr>
            <a:spLocks noChangeArrowheads="1"/>
          </p:cNvSpPr>
          <p:nvPr/>
        </p:nvSpPr>
        <p:spPr bwMode="auto">
          <a:xfrm>
            <a:off x="107950" y="523875"/>
            <a:ext cx="5256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5.1.1  </a:t>
            </a:r>
            <a:r>
              <a:rPr lang="zh-CN" altLang="en-US">
                <a:solidFill>
                  <a:schemeClr val="bg1"/>
                </a:solidFill>
              </a:rPr>
              <a:t>理想介质中的均匀平面波函数</a:t>
            </a:r>
            <a:endParaRPr lang="zh-CN" altLang="en-US">
              <a:solidFill>
                <a:schemeClr val="bg1"/>
              </a:solidFill>
              <a:ea typeface="幼圆" pitchFamily="49" charset="-122"/>
            </a:endParaRPr>
          </a:p>
        </p:txBody>
      </p:sp>
      <p:sp>
        <p:nvSpPr>
          <p:cNvPr id="545827" name="Text Box 1059"/>
          <p:cNvSpPr txBox="1">
            <a:spLocks noChangeArrowheads="1"/>
          </p:cNvSpPr>
          <p:nvPr/>
        </p:nvSpPr>
        <p:spPr bwMode="auto">
          <a:xfrm>
            <a:off x="107950" y="976313"/>
            <a:ext cx="8856663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>
                <a:solidFill>
                  <a:schemeClr val="bg1"/>
                </a:solidFill>
              </a:rPr>
              <a:t>       </a:t>
            </a:r>
            <a:r>
              <a:rPr kumimoji="1" lang="zh-CN" altLang="en-US">
                <a:solidFill>
                  <a:schemeClr val="bg1"/>
                </a:solidFill>
              </a:rPr>
              <a:t>设在无限大的无源空间中，充满线性、各向同性的均匀理想介质。均匀平面波沿 </a:t>
            </a:r>
            <a:r>
              <a:rPr kumimoji="1" lang="en-US" altLang="zh-CN" i="1">
                <a:solidFill>
                  <a:schemeClr val="bg1"/>
                </a:solidFill>
              </a:rPr>
              <a:t>z </a:t>
            </a:r>
            <a:r>
              <a:rPr kumimoji="1" lang="zh-CN" altLang="en-US">
                <a:solidFill>
                  <a:schemeClr val="bg1"/>
                </a:solidFill>
              </a:rPr>
              <a:t>轴传播，则电场强度和磁场强度均不是 </a:t>
            </a:r>
            <a:r>
              <a:rPr kumimoji="1" lang="en-US" altLang="zh-CN" i="1">
                <a:solidFill>
                  <a:schemeClr val="bg1"/>
                </a:solidFill>
              </a:rPr>
              <a:t>x</a:t>
            </a:r>
            <a:r>
              <a:rPr kumimoji="1" lang="zh-CN" altLang="en-US">
                <a:solidFill>
                  <a:schemeClr val="bg1"/>
                </a:solidFill>
              </a:rPr>
              <a:t>和 </a:t>
            </a:r>
            <a:r>
              <a:rPr kumimoji="1" lang="en-US" altLang="zh-CN" i="1">
                <a:solidFill>
                  <a:schemeClr val="bg1"/>
                </a:solidFill>
              </a:rPr>
              <a:t>y </a:t>
            </a:r>
            <a:r>
              <a:rPr kumimoji="1" lang="zh-CN" altLang="en-US">
                <a:solidFill>
                  <a:schemeClr val="bg1"/>
                </a:solidFill>
              </a:rPr>
              <a:t>的函数，即</a:t>
            </a:r>
          </a:p>
        </p:txBody>
      </p:sp>
      <p:graphicFrame>
        <p:nvGraphicFramePr>
          <p:cNvPr id="545829" name="Object 1061"/>
          <p:cNvGraphicFramePr>
            <a:graphicFrameLocks noChangeAspect="1"/>
          </p:cNvGraphicFramePr>
          <p:nvPr/>
        </p:nvGraphicFramePr>
        <p:xfrm>
          <a:off x="649288" y="2565400"/>
          <a:ext cx="36337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0" name="Equation" r:id="rId5" imgW="1704914" imgH="361783" progId="Equation.DSMT4">
                  <p:embed/>
                </p:oleObj>
              </mc:Choice>
              <mc:Fallback>
                <p:oleObj name="Equation" r:id="rId5" imgW="1704914" imgH="361783" progId="Equation.DSMT4">
                  <p:embed/>
                  <p:pic>
                    <p:nvPicPr>
                      <p:cNvPr id="0" name="Object 1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2565400"/>
                        <a:ext cx="36337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76"/>
          <p:cNvGrpSpPr>
            <a:grpSpLocks/>
          </p:cNvGrpSpPr>
          <p:nvPr/>
        </p:nvGrpSpPr>
        <p:grpSpPr bwMode="auto">
          <a:xfrm>
            <a:off x="4643438" y="3644900"/>
            <a:ext cx="3313112" cy="765175"/>
            <a:chOff x="2925" y="2205"/>
            <a:chExt cx="2087" cy="482"/>
          </a:xfrm>
        </p:grpSpPr>
        <p:sp>
          <p:nvSpPr>
            <p:cNvPr id="30746" name="AutoShape 17"/>
            <p:cNvSpPr>
              <a:spLocks noChangeArrowheads="1"/>
            </p:cNvSpPr>
            <p:nvPr/>
          </p:nvSpPr>
          <p:spPr bwMode="auto">
            <a:xfrm>
              <a:off x="2925" y="2366"/>
              <a:ext cx="318" cy="140"/>
            </a:xfrm>
            <a:prstGeom prst="rightArrow">
              <a:avLst>
                <a:gd name="adj1" fmla="val 50000"/>
                <a:gd name="adj2" fmla="val 56786"/>
              </a:avLst>
            </a:prstGeom>
            <a:solidFill>
              <a:srgbClr val="FF99CC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30747" name="Group 1075"/>
            <p:cNvGrpSpPr>
              <a:grpSpLocks/>
            </p:cNvGrpSpPr>
            <p:nvPr/>
          </p:nvGrpSpPr>
          <p:grpSpPr bwMode="auto">
            <a:xfrm>
              <a:off x="3281" y="2205"/>
              <a:ext cx="1731" cy="482"/>
              <a:chOff x="3198" y="2205"/>
              <a:chExt cx="1731" cy="482"/>
            </a:xfrm>
          </p:grpSpPr>
          <p:sp>
            <p:nvSpPr>
              <p:cNvPr id="30748" name="AutoShape 1062"/>
              <p:cNvSpPr>
                <a:spLocks noChangeArrowheads="1"/>
              </p:cNvSpPr>
              <p:nvPr/>
            </p:nvSpPr>
            <p:spPr bwMode="auto">
              <a:xfrm>
                <a:off x="3969" y="2370"/>
                <a:ext cx="318" cy="140"/>
              </a:xfrm>
              <a:prstGeom prst="rightArrow">
                <a:avLst>
                  <a:gd name="adj1" fmla="val 50000"/>
                  <a:gd name="adj2" fmla="val 56786"/>
                </a:avLst>
              </a:prstGeom>
              <a:solidFill>
                <a:srgbClr val="FF99CC"/>
              </a:solidFill>
              <a:ln w="9525">
                <a:solidFill>
                  <a:srgbClr val="FF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30749" name="Object 1063"/>
              <p:cNvGraphicFramePr>
                <a:graphicFrameLocks noChangeAspect="1"/>
              </p:cNvGraphicFramePr>
              <p:nvPr/>
            </p:nvGraphicFramePr>
            <p:xfrm>
              <a:off x="3198" y="2205"/>
              <a:ext cx="639" cy="4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1" name="Equation" r:id="rId7" imgW="438287" imgH="304787" progId="Equation.DSMT4">
                      <p:embed/>
                    </p:oleObj>
                  </mc:Choice>
                  <mc:Fallback>
                    <p:oleObj name="Equation" r:id="rId7" imgW="438287" imgH="304787" progId="Equation.DSMT4">
                      <p:embed/>
                      <p:pic>
                        <p:nvPicPr>
                          <p:cNvPr id="0" name="Object 10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98" y="2205"/>
                            <a:ext cx="639" cy="4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750" name="Object 1064"/>
              <p:cNvGraphicFramePr>
                <a:graphicFrameLocks noChangeAspect="1"/>
              </p:cNvGraphicFramePr>
              <p:nvPr/>
            </p:nvGraphicFramePr>
            <p:xfrm>
              <a:off x="4422" y="2279"/>
              <a:ext cx="507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62" name="Equation" r:id="rId9" imgW="342857" imgH="142836" progId="Equation.DSMT4">
                      <p:embed/>
                    </p:oleObj>
                  </mc:Choice>
                  <mc:Fallback>
                    <p:oleObj name="Equation" r:id="rId9" imgW="342857" imgH="142836" progId="Equation.DSMT4">
                      <p:embed/>
                      <p:pic>
                        <p:nvPicPr>
                          <p:cNvPr id="0" name="Object 10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2" y="2279"/>
                            <a:ext cx="507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" name="Group 1078"/>
          <p:cNvGrpSpPr>
            <a:grpSpLocks/>
          </p:cNvGrpSpPr>
          <p:nvPr/>
        </p:nvGrpSpPr>
        <p:grpSpPr bwMode="auto">
          <a:xfrm>
            <a:off x="4356100" y="2565400"/>
            <a:ext cx="4627563" cy="814388"/>
            <a:chOff x="2744" y="1504"/>
            <a:chExt cx="2915" cy="513"/>
          </a:xfrm>
        </p:grpSpPr>
        <p:graphicFrame>
          <p:nvGraphicFramePr>
            <p:cNvPr id="30744" name="Object 1065"/>
            <p:cNvGraphicFramePr>
              <a:graphicFrameLocks noChangeAspect="1"/>
            </p:cNvGraphicFramePr>
            <p:nvPr/>
          </p:nvGraphicFramePr>
          <p:xfrm>
            <a:off x="3126" y="1504"/>
            <a:ext cx="2533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3" name="Equation" r:id="rId11" imgW="1895428" imgH="333285" progId="Equation.DSMT4">
                    <p:embed/>
                  </p:oleObj>
                </mc:Choice>
                <mc:Fallback>
                  <p:oleObj name="Equation" r:id="rId11" imgW="1895428" imgH="333285" progId="Equation.DSMT4">
                    <p:embed/>
                    <p:pic>
                      <p:nvPicPr>
                        <p:cNvPr id="0" name="Object 10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6" y="1504"/>
                          <a:ext cx="2533" cy="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5" name="AutoShape 1066"/>
            <p:cNvSpPr>
              <a:spLocks noChangeArrowheads="1"/>
            </p:cNvSpPr>
            <p:nvPr/>
          </p:nvSpPr>
          <p:spPr bwMode="auto">
            <a:xfrm>
              <a:off x="2744" y="1730"/>
              <a:ext cx="318" cy="140"/>
            </a:xfrm>
            <a:prstGeom prst="rightArrow">
              <a:avLst>
                <a:gd name="adj1" fmla="val 50000"/>
                <a:gd name="adj2" fmla="val 56786"/>
              </a:avLst>
            </a:prstGeom>
            <a:solidFill>
              <a:srgbClr val="FF99CC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1073"/>
          <p:cNvGrpSpPr>
            <a:grpSpLocks/>
          </p:cNvGrpSpPr>
          <p:nvPr/>
        </p:nvGrpSpPr>
        <p:grpSpPr bwMode="auto">
          <a:xfrm>
            <a:off x="6677025" y="4149725"/>
            <a:ext cx="2216150" cy="1173163"/>
            <a:chOff x="4150" y="2433"/>
            <a:chExt cx="1396" cy="739"/>
          </a:xfrm>
        </p:grpSpPr>
        <p:graphicFrame>
          <p:nvGraphicFramePr>
            <p:cNvPr id="30742" name="Object 1067"/>
            <p:cNvGraphicFramePr>
              <a:graphicFrameLocks noChangeAspect="1"/>
            </p:cNvGraphicFramePr>
            <p:nvPr/>
          </p:nvGraphicFramePr>
          <p:xfrm>
            <a:off x="4353" y="2659"/>
            <a:ext cx="1193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4" name="Equation" r:id="rId13" imgW="933486" imgH="333285" progId="Equation.DSMT4">
                    <p:embed/>
                  </p:oleObj>
                </mc:Choice>
                <mc:Fallback>
                  <p:oleObj name="Equation" r:id="rId13" imgW="933486" imgH="333285" progId="Equation.DSMT4">
                    <p:embed/>
                    <p:pic>
                      <p:nvPicPr>
                        <p:cNvPr id="0" name="Object 10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3" y="2659"/>
                          <a:ext cx="1193" cy="513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3" name="Line 1070"/>
            <p:cNvSpPr>
              <a:spLocks noChangeShapeType="1"/>
            </p:cNvSpPr>
            <p:nvPr/>
          </p:nvSpPr>
          <p:spPr bwMode="auto">
            <a:xfrm flipH="1" flipV="1">
              <a:off x="4150" y="2433"/>
              <a:ext cx="182" cy="317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1077"/>
          <p:cNvGrpSpPr>
            <a:grpSpLocks/>
          </p:cNvGrpSpPr>
          <p:nvPr/>
        </p:nvGrpSpPr>
        <p:grpSpPr bwMode="auto">
          <a:xfrm>
            <a:off x="100013" y="4557713"/>
            <a:ext cx="6127750" cy="887412"/>
            <a:chOff x="63" y="2780"/>
            <a:chExt cx="3860" cy="559"/>
          </a:xfrm>
        </p:grpSpPr>
        <p:graphicFrame>
          <p:nvGraphicFramePr>
            <p:cNvPr id="30737" name="Object 28"/>
            <p:cNvGraphicFramePr>
              <a:graphicFrameLocks noChangeAspect="1"/>
            </p:cNvGraphicFramePr>
            <p:nvPr/>
          </p:nvGraphicFramePr>
          <p:xfrm>
            <a:off x="2618" y="3186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5" name="Equation" r:id="rId15" imgW="114151" imgH="215619" progId="Equation.3">
                    <p:embed/>
                  </p:oleObj>
                </mc:Choice>
                <mc:Fallback>
                  <p:oleObj name="Equation" r:id="rId15" imgW="114151" imgH="215619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8" y="3186"/>
                          <a:ext cx="7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8" name="Text Box 1068"/>
            <p:cNvSpPr txBox="1">
              <a:spLocks noChangeArrowheads="1"/>
            </p:cNvSpPr>
            <p:nvPr/>
          </p:nvSpPr>
          <p:spPr bwMode="auto">
            <a:xfrm>
              <a:off x="63" y="2870"/>
              <a:ext cx="17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同理</a:t>
              </a:r>
            </a:p>
          </p:txBody>
        </p:sp>
        <p:graphicFrame>
          <p:nvGraphicFramePr>
            <p:cNvPr id="30739" name="Object 1069"/>
            <p:cNvGraphicFramePr>
              <a:graphicFrameLocks noChangeAspect="1"/>
            </p:cNvGraphicFramePr>
            <p:nvPr/>
          </p:nvGraphicFramePr>
          <p:xfrm>
            <a:off x="551" y="2780"/>
            <a:ext cx="2337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6" name="Equation" r:id="rId17" imgW="1771542" imgH="361783" progId="Equation.DSMT4">
                    <p:embed/>
                  </p:oleObj>
                </mc:Choice>
                <mc:Fallback>
                  <p:oleObj name="Equation" r:id="rId17" imgW="1771542" imgH="361783" progId="Equation.DSMT4">
                    <p:embed/>
                    <p:pic>
                      <p:nvPicPr>
                        <p:cNvPr id="0" name="Object 10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" y="2780"/>
                          <a:ext cx="2337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0" name="AutoShape 1071"/>
            <p:cNvSpPr>
              <a:spLocks noChangeArrowheads="1"/>
            </p:cNvSpPr>
            <p:nvPr/>
          </p:nvSpPr>
          <p:spPr bwMode="auto">
            <a:xfrm>
              <a:off x="2971" y="2976"/>
              <a:ext cx="318" cy="140"/>
            </a:xfrm>
            <a:prstGeom prst="rightArrow">
              <a:avLst>
                <a:gd name="adj1" fmla="val 50000"/>
                <a:gd name="adj2" fmla="val 56786"/>
              </a:avLst>
            </a:prstGeom>
            <a:solidFill>
              <a:srgbClr val="FF99CC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0741" name="Object 1072"/>
            <p:cNvGraphicFramePr>
              <a:graphicFrameLocks noChangeAspect="1"/>
            </p:cNvGraphicFramePr>
            <p:nvPr/>
          </p:nvGraphicFramePr>
          <p:xfrm>
            <a:off x="3379" y="2908"/>
            <a:ext cx="54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7" name="Equation" r:id="rId19" imgW="371312" imgH="142836" progId="Equation.DSMT4">
                    <p:embed/>
                  </p:oleObj>
                </mc:Choice>
                <mc:Fallback>
                  <p:oleObj name="Equation" r:id="rId19" imgW="371312" imgH="142836" progId="Equation.DSMT4">
                    <p:embed/>
                    <p:pic>
                      <p:nvPicPr>
                        <p:cNvPr id="0" name="Object 10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2908"/>
                          <a:ext cx="544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5842" name="Text Box 1074"/>
          <p:cNvSpPr txBox="1">
            <a:spLocks noChangeArrowheads="1"/>
          </p:cNvSpPr>
          <p:nvPr/>
        </p:nvSpPr>
        <p:spPr bwMode="auto">
          <a:xfrm>
            <a:off x="106363" y="5483225"/>
            <a:ext cx="885825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0"/>
              </a:spcBef>
              <a:buFontTx/>
              <a:buBlip>
                <a:blip r:embed="rId21"/>
              </a:buBlip>
            </a:pPr>
            <a:r>
              <a:rPr kumimoji="1" lang="en-US" altLang="zh-CN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kumimoji="1" lang="zh-CN" altLang="en-US">
                <a:solidFill>
                  <a:srgbClr val="FF7C80"/>
                </a:solidFill>
                <a:ea typeface="宋体" pitchFamily="2" charset="-122"/>
              </a:rPr>
              <a:t>结论</a:t>
            </a:r>
            <a:r>
              <a:rPr kumimoji="1" lang="zh-CN" altLang="en-US">
                <a:solidFill>
                  <a:schemeClr val="bg1"/>
                </a:solidFill>
                <a:ea typeface="宋体" pitchFamily="2" charset="-122"/>
              </a:rPr>
              <a:t>：</a:t>
            </a:r>
            <a:r>
              <a:rPr kumimoji="1" lang="zh-CN" altLang="en-US">
                <a:solidFill>
                  <a:schemeClr val="bg1"/>
                </a:solidFill>
              </a:rPr>
              <a:t>均匀平面波的电场强度和磁场强度都垂直于波的传播</a:t>
            </a:r>
          </a:p>
          <a:p>
            <a:pPr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>
                <a:solidFill>
                  <a:schemeClr val="bg1"/>
                </a:solidFill>
              </a:rPr>
              <a:t>                   方向 </a:t>
            </a:r>
            <a:r>
              <a:rPr kumimoji="1" lang="en-US" altLang="zh-CN">
                <a:solidFill>
                  <a:schemeClr val="bg1"/>
                </a:solidFill>
              </a:rPr>
              <a:t>—— </a:t>
            </a:r>
            <a:r>
              <a:rPr kumimoji="1" lang="zh-CN" altLang="en-US">
                <a:solidFill>
                  <a:schemeClr val="bg1"/>
                </a:solidFill>
              </a:rPr>
              <a:t>横电磁波（</a:t>
            </a:r>
            <a:r>
              <a:rPr kumimoji="1" lang="en-US" altLang="zh-CN">
                <a:solidFill>
                  <a:schemeClr val="bg1"/>
                </a:solidFill>
              </a:rPr>
              <a:t>TEM</a:t>
            </a:r>
            <a:r>
              <a:rPr kumimoji="1" lang="zh-CN" altLang="en-US">
                <a:solidFill>
                  <a:schemeClr val="bg1"/>
                </a:solidFill>
              </a:rPr>
              <a:t>波）</a:t>
            </a:r>
            <a:endParaRPr kumimoji="1" lang="zh-CN" altLang="en-US">
              <a:solidFill>
                <a:schemeClr val="bg1"/>
              </a:solidFill>
              <a:ea typeface="宋体" pitchFamily="2" charset="-122"/>
            </a:endParaRPr>
          </a:p>
        </p:txBody>
      </p:sp>
      <p:sp>
        <p:nvSpPr>
          <p:cNvPr id="30733" name="AutoShape 1079">
            <a:hlinkClick r:id="rId2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4" name="AutoShape 108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5" name="AutoShape 108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0736" name="AutoShape 108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4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54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4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45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49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54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23" grpId="0"/>
      <p:bldP spid="545826" grpId="0"/>
      <p:bldP spid="545827" grpId="0"/>
      <p:bldP spid="54584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CFBD9D-3A2C-4716-9317-ABA5DAD6850B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graphicFrame>
        <p:nvGraphicFramePr>
          <p:cNvPr id="686085" name="Object 5"/>
          <p:cNvGraphicFramePr>
            <a:graphicFrameLocks/>
          </p:cNvGraphicFramePr>
          <p:nvPr/>
        </p:nvGraphicFramePr>
        <p:xfrm>
          <a:off x="503238" y="3343275"/>
          <a:ext cx="39338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7" name="Equation" r:id="rId3" imgW="1752455" imgH="171334" progId="Equation.DSMT4">
                  <p:embed/>
                </p:oleObj>
              </mc:Choice>
              <mc:Fallback>
                <p:oleObj name="Equation" r:id="rId3" imgW="1752455" imgH="171334" progId="Equation.DSMT4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3343275"/>
                        <a:ext cx="39338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087" name="Object 7"/>
          <p:cNvGraphicFramePr>
            <a:graphicFrameLocks/>
          </p:cNvGraphicFramePr>
          <p:nvPr/>
        </p:nvGraphicFramePr>
        <p:xfrm>
          <a:off x="509588" y="3998913"/>
          <a:ext cx="7158037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8" name="Equation" r:id="rId5" imgW="3352916" imgH="190449" progId="Equation.DSMT4">
                  <p:embed/>
                </p:oleObj>
              </mc:Choice>
              <mc:Fallback>
                <p:oleObj name="Equation" r:id="rId5" imgW="3352916" imgH="190449" progId="Equation.DSMT4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3998913"/>
                        <a:ext cx="7158037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396875" y="938213"/>
            <a:ext cx="3365500" cy="863600"/>
            <a:chOff x="1863" y="527"/>
            <a:chExt cx="2120" cy="544"/>
          </a:xfrm>
        </p:grpSpPr>
        <p:graphicFrame>
          <p:nvGraphicFramePr>
            <p:cNvPr id="31775" name="Object 2"/>
            <p:cNvGraphicFramePr>
              <a:graphicFrameLocks/>
            </p:cNvGraphicFramePr>
            <p:nvPr/>
          </p:nvGraphicFramePr>
          <p:xfrm>
            <a:off x="2077" y="527"/>
            <a:ext cx="1906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99" name="公式" r:id="rId7" imgW="1314515" imgH="333285" progId="Equation.3">
                    <p:embed/>
                  </p:oleObj>
                </mc:Choice>
                <mc:Fallback>
                  <p:oleObj name="公式" r:id="rId7" imgW="1314515" imgH="333285" progId="Equation.3">
                    <p:embed/>
                    <p:pic>
                      <p:nvPicPr>
                        <p:cNvPr id="0" name="Object 2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7" y="527"/>
                          <a:ext cx="1906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6" name="AutoShape 8"/>
            <p:cNvSpPr>
              <a:spLocks noChangeArrowheads="1"/>
            </p:cNvSpPr>
            <p:nvPr/>
          </p:nvSpPr>
          <p:spPr bwMode="auto">
            <a:xfrm>
              <a:off x="1863" y="754"/>
              <a:ext cx="201" cy="140"/>
            </a:xfrm>
            <a:prstGeom prst="rightArrow">
              <a:avLst>
                <a:gd name="adj1" fmla="val 50000"/>
                <a:gd name="adj2" fmla="val 56784"/>
              </a:avLst>
            </a:prstGeom>
            <a:solidFill>
              <a:srgbClr val="FFCC99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686089" name="Object 9"/>
          <p:cNvGraphicFramePr>
            <a:graphicFrameLocks noGrp="1" noChangeAspect="1"/>
          </p:cNvGraphicFramePr>
          <p:nvPr>
            <p:ph/>
          </p:nvPr>
        </p:nvGraphicFramePr>
        <p:xfrm>
          <a:off x="2841625" y="476250"/>
          <a:ext cx="18716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0" name="公式" r:id="rId9" imgW="981028" imgH="181065" progId="Equation.3">
                  <p:embed/>
                </p:oleObj>
              </mc:Choice>
              <mc:Fallback>
                <p:oleObj name="公式" r:id="rId9" imgW="981028" imgH="181065" progId="Equation.3">
                  <p:embed/>
                  <p:pic>
                    <p:nvPicPr>
                      <p:cNvPr id="0" name="Object 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476250"/>
                        <a:ext cx="187166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090" name="Text Box 10"/>
          <p:cNvSpPr txBox="1">
            <a:spLocks noChangeArrowheads="1"/>
          </p:cNvSpPr>
          <p:nvPr/>
        </p:nvSpPr>
        <p:spPr bwMode="auto">
          <a:xfrm>
            <a:off x="107950" y="476250"/>
            <a:ext cx="3168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</a:rPr>
              <a:t>设电场只有</a:t>
            </a:r>
            <a:r>
              <a:rPr kumimoji="1" lang="en-US" altLang="zh-CN" i="1">
                <a:solidFill>
                  <a:schemeClr val="bg1"/>
                </a:solidFill>
              </a:rPr>
              <a:t>x </a:t>
            </a:r>
            <a:r>
              <a:rPr kumimoji="1" lang="zh-CN" altLang="en-US">
                <a:solidFill>
                  <a:schemeClr val="bg1"/>
                </a:solidFill>
              </a:rPr>
              <a:t>分量：</a:t>
            </a:r>
          </a:p>
        </p:txBody>
      </p:sp>
      <p:graphicFrame>
        <p:nvGraphicFramePr>
          <p:cNvPr id="31752" name="Object 12"/>
          <p:cNvGraphicFramePr>
            <a:graphicFrameLocks noChangeAspect="1"/>
          </p:cNvGraphicFramePr>
          <p:nvPr/>
        </p:nvGraphicFramePr>
        <p:xfrm>
          <a:off x="4156075" y="48418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1" name="Equation" r:id="rId11" imgW="114151" imgH="215619" progId="Equation.3">
                  <p:embed/>
                </p:oleObj>
              </mc:Choice>
              <mc:Fallback>
                <p:oleObj name="Equation" r:id="rId11" imgW="114151" imgH="21561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075" y="4841875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63550" y="4652963"/>
            <a:ext cx="6629400" cy="515937"/>
            <a:chOff x="115" y="3777"/>
            <a:chExt cx="4176" cy="325"/>
          </a:xfrm>
        </p:grpSpPr>
        <p:sp>
          <p:nvSpPr>
            <p:cNvPr id="31773" name="Text Box 14"/>
            <p:cNvSpPr txBox="1">
              <a:spLocks noChangeArrowheads="1"/>
            </p:cNvSpPr>
            <p:nvPr/>
          </p:nvSpPr>
          <p:spPr bwMode="auto">
            <a:xfrm>
              <a:off x="115" y="3777"/>
              <a:ext cx="41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</a:rPr>
                <a:t>可见，          表示沿 </a:t>
              </a:r>
              <a:r>
                <a:rPr kumimoji="1" lang="en-US" altLang="zh-CN">
                  <a:solidFill>
                    <a:schemeClr val="bg1"/>
                  </a:solidFill>
                </a:rPr>
                <a:t>+</a:t>
              </a:r>
              <a:r>
                <a:rPr kumimoji="1" lang="en-US" altLang="zh-CN" i="1">
                  <a:solidFill>
                    <a:schemeClr val="bg1"/>
                  </a:solidFill>
                </a:rPr>
                <a:t>z </a:t>
              </a:r>
              <a:r>
                <a:rPr kumimoji="1" lang="zh-CN" altLang="en-US">
                  <a:solidFill>
                    <a:schemeClr val="bg1"/>
                  </a:solidFill>
                </a:rPr>
                <a:t>方向传播的波。</a:t>
              </a:r>
            </a:p>
          </p:txBody>
        </p:sp>
        <p:graphicFrame>
          <p:nvGraphicFramePr>
            <p:cNvPr id="31774" name="Object 15"/>
            <p:cNvGraphicFramePr>
              <a:graphicFrameLocks/>
            </p:cNvGraphicFramePr>
            <p:nvPr/>
          </p:nvGraphicFramePr>
          <p:xfrm>
            <a:off x="725" y="3815"/>
            <a:ext cx="499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2" name="Equation" r:id="rId13" imgW="333487" imgH="152567" progId="Equation.DSMT4">
                    <p:embed/>
                  </p:oleObj>
                </mc:Choice>
                <mc:Fallback>
                  <p:oleObj name="Equation" r:id="rId13" imgW="333487" imgH="152567" progId="Equation.DSMT4">
                    <p:embed/>
                    <p:pic>
                      <p:nvPicPr>
                        <p:cNvPr id="0" name="Object 1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" y="3815"/>
                          <a:ext cx="499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4932363" y="938213"/>
            <a:ext cx="4040187" cy="2824162"/>
            <a:chOff x="3334" y="2251"/>
            <a:chExt cx="2318" cy="1587"/>
          </a:xfrm>
        </p:grpSpPr>
        <p:pic>
          <p:nvPicPr>
            <p:cNvPr id="31768" name="Picture 17" descr="3">
              <a:hlinkClick r:id="rId15" action="ppaction://program"/>
            </p:cNvPr>
            <p:cNvPicPr>
              <a:picLocks noChangeArrowheads="1" noCrop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4" y="2251"/>
              <a:ext cx="2313" cy="1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69" name="Rectangle 18"/>
            <p:cNvSpPr>
              <a:spLocks noChangeArrowheads="1"/>
            </p:cNvSpPr>
            <p:nvPr/>
          </p:nvSpPr>
          <p:spPr bwMode="auto">
            <a:xfrm>
              <a:off x="3334" y="3574"/>
              <a:ext cx="2318" cy="2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770" name="Text Box 19"/>
            <p:cNvSpPr txBox="1">
              <a:spLocks noChangeArrowheads="1"/>
            </p:cNvSpPr>
            <p:nvPr/>
          </p:nvSpPr>
          <p:spPr bwMode="auto">
            <a:xfrm>
              <a:off x="3649" y="3608"/>
              <a:ext cx="182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r" eaLnBrk="1" hangingPunct="1"/>
              <a:r>
                <a:rPr lang="en-US" altLang="zh-CN" sz="1400">
                  <a:ea typeface="宋体" pitchFamily="2" charset="-122"/>
                </a:rPr>
                <a:t>     </a:t>
              </a:r>
              <a:r>
                <a:rPr lang="zh-CN" altLang="en-US" sz="1400">
                  <a:ea typeface="宋体" pitchFamily="2" charset="-122"/>
                </a:rPr>
                <a:t>的波形</a:t>
              </a:r>
            </a:p>
          </p:txBody>
        </p:sp>
        <p:graphicFrame>
          <p:nvGraphicFramePr>
            <p:cNvPr id="31771" name="Object 20"/>
            <p:cNvGraphicFramePr>
              <a:graphicFrameLocks noChangeAspect="1"/>
            </p:cNvGraphicFramePr>
            <p:nvPr/>
          </p:nvGraphicFramePr>
          <p:xfrm>
            <a:off x="3515" y="3594"/>
            <a:ext cx="154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3" name="Equation" r:id="rId17" imgW="1295400" imgH="228600" progId="Equation.DSMT4">
                    <p:embed/>
                  </p:oleObj>
                </mc:Choice>
                <mc:Fallback>
                  <p:oleObj name="Equation" r:id="rId17" imgW="1295400" imgH="2286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594"/>
                          <a:ext cx="154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2" name="Rectangle 21"/>
            <p:cNvSpPr>
              <a:spLocks noChangeArrowheads="1"/>
            </p:cNvSpPr>
            <p:nvPr/>
          </p:nvSpPr>
          <p:spPr bwMode="auto">
            <a:xfrm>
              <a:off x="3334" y="2251"/>
              <a:ext cx="2313" cy="158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86105" name="Text Box 25"/>
          <p:cNvSpPr txBox="1">
            <a:spLocks noChangeArrowheads="1"/>
          </p:cNvSpPr>
          <p:nvPr/>
        </p:nvSpPr>
        <p:spPr bwMode="auto">
          <a:xfrm>
            <a:off x="107950" y="2570163"/>
            <a:ext cx="266382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19"/>
              </a:buBlip>
            </a:pP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解的物理意义</a:t>
            </a:r>
          </a:p>
        </p:txBody>
      </p:sp>
      <p:graphicFrame>
        <p:nvGraphicFramePr>
          <p:cNvPr id="686107" name="Object 27"/>
          <p:cNvGraphicFramePr>
            <a:graphicFrameLocks/>
          </p:cNvGraphicFramePr>
          <p:nvPr/>
        </p:nvGraphicFramePr>
        <p:xfrm>
          <a:off x="555625" y="5292725"/>
          <a:ext cx="37179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4" name="Equation" r:id="rId20" imgW="1704914" imgH="171334" progId="Equation.DSMT4">
                  <p:embed/>
                </p:oleObj>
              </mc:Choice>
              <mc:Fallback>
                <p:oleObj name="Equation" r:id="rId20" imgW="1704914" imgH="171334" progId="Equation.DSMT4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" y="5292725"/>
                        <a:ext cx="37179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08" name="Object 28"/>
          <p:cNvGraphicFramePr>
            <a:graphicFrameLocks/>
          </p:cNvGraphicFramePr>
          <p:nvPr/>
        </p:nvGraphicFramePr>
        <p:xfrm>
          <a:off x="525463" y="5876925"/>
          <a:ext cx="71278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5" name="Equation" r:id="rId22" imgW="3381371" imgH="190449" progId="Equation.DSMT4">
                  <p:embed/>
                </p:oleObj>
              </mc:Choice>
              <mc:Fallback>
                <p:oleObj name="Equation" r:id="rId22" imgW="3381371" imgH="190449" progId="Equation.DSMT4">
                  <p:embed/>
                  <p:pic>
                    <p:nvPicPr>
                      <p:cNvPr id="0" name="Object 28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5876925"/>
                        <a:ext cx="712787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4508500" y="5445125"/>
            <a:ext cx="3208338" cy="417513"/>
            <a:chOff x="3639" y="3232"/>
            <a:chExt cx="1255" cy="460"/>
          </a:xfrm>
        </p:grpSpPr>
        <p:sp>
          <p:nvSpPr>
            <p:cNvPr id="31766" name="Text Box 31"/>
            <p:cNvSpPr txBox="1">
              <a:spLocks noChangeArrowheads="1"/>
            </p:cNvSpPr>
            <p:nvPr/>
          </p:nvSpPr>
          <p:spPr bwMode="auto">
            <a:xfrm>
              <a:off x="3873" y="3232"/>
              <a:ext cx="1021" cy="46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>
                  <a:solidFill>
                    <a:srgbClr val="990000"/>
                  </a:solidFill>
                  <a:ea typeface="宋体" pitchFamily="2" charset="-122"/>
                </a:rPr>
                <a:t>沿 －</a:t>
              </a:r>
              <a:r>
                <a:rPr kumimoji="1" lang="en-US" altLang="zh-CN" sz="2000" i="1">
                  <a:solidFill>
                    <a:srgbClr val="990000"/>
                  </a:solidFill>
                  <a:ea typeface="宋体" pitchFamily="2" charset="-122"/>
                </a:rPr>
                <a:t>z </a:t>
              </a:r>
              <a:r>
                <a:rPr kumimoji="1" lang="zh-CN" altLang="en-US" sz="2000">
                  <a:solidFill>
                    <a:srgbClr val="990000"/>
                  </a:solidFill>
                  <a:ea typeface="宋体" pitchFamily="2" charset="-122"/>
                </a:rPr>
                <a:t>方向传播的波</a:t>
              </a:r>
            </a:p>
          </p:txBody>
        </p:sp>
        <p:sp>
          <p:nvSpPr>
            <p:cNvPr id="31767" name="Line 33"/>
            <p:cNvSpPr>
              <a:spLocks noChangeShapeType="1"/>
            </p:cNvSpPr>
            <p:nvPr/>
          </p:nvSpPr>
          <p:spPr bwMode="auto">
            <a:xfrm flipH="1">
              <a:off x="3639" y="3449"/>
              <a:ext cx="2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759" name="AutoShape 49">
            <a:hlinkClick r:id="rId2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60" name="AutoShape 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6550" y="6599238"/>
            <a:ext cx="360363" cy="258762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61" name="AutoShape 5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762" name="AutoShape 5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" name="组合 2"/>
          <p:cNvGrpSpPr>
            <a:grpSpLocks/>
          </p:cNvGrpSpPr>
          <p:nvPr/>
        </p:nvGrpSpPr>
        <p:grpSpPr bwMode="auto">
          <a:xfrm>
            <a:off x="368300" y="1774825"/>
            <a:ext cx="3556000" cy="504825"/>
            <a:chOff x="367649" y="1775544"/>
            <a:chExt cx="3556279" cy="504825"/>
          </a:xfrm>
        </p:grpSpPr>
        <p:graphicFrame>
          <p:nvGraphicFramePr>
            <p:cNvPr id="31764" name="Object 3"/>
            <p:cNvGraphicFramePr>
              <a:graphicFrameLocks noChangeAspect="1"/>
            </p:cNvGraphicFramePr>
            <p:nvPr/>
          </p:nvGraphicFramePr>
          <p:xfrm>
            <a:off x="747452" y="1775544"/>
            <a:ext cx="3176476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6" name="Equation" r:id="rId25" imgW="1295429" imgH="152567" progId="Equation.DSMT4">
                    <p:embed/>
                  </p:oleObj>
                </mc:Choice>
                <mc:Fallback>
                  <p:oleObj name="Equation" r:id="rId25" imgW="1295429" imgH="152567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7452" y="1775544"/>
                          <a:ext cx="3176476" cy="504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65" name="AutoShape 8"/>
            <p:cNvSpPr>
              <a:spLocks noChangeArrowheads="1"/>
            </p:cNvSpPr>
            <p:nvPr/>
          </p:nvSpPr>
          <p:spPr bwMode="auto">
            <a:xfrm>
              <a:off x="367649" y="1916832"/>
              <a:ext cx="315919" cy="222250"/>
            </a:xfrm>
            <a:prstGeom prst="rightArrow">
              <a:avLst>
                <a:gd name="adj1" fmla="val 50000"/>
                <a:gd name="adj2" fmla="val 56786"/>
              </a:avLst>
            </a:prstGeom>
            <a:solidFill>
              <a:srgbClr val="FFCC99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8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8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68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68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68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0"/>
                                        <p:tgtEl>
                                          <p:spTgt spid="68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68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090" grpId="0"/>
      <p:bldP spid="68610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AE5CCB-6495-414D-8C81-C982A22715D1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graphicFrame>
        <p:nvGraphicFramePr>
          <p:cNvPr id="616472" name="Object 1048"/>
          <p:cNvGraphicFramePr>
            <a:graphicFrameLocks noChangeAspect="1"/>
          </p:cNvGraphicFramePr>
          <p:nvPr/>
        </p:nvGraphicFramePr>
        <p:xfrm>
          <a:off x="1055688" y="1568450"/>
          <a:ext cx="65913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4" name="Equation" r:id="rId3" imgW="3267202" imgH="380897" progId="Equation.DSMT4">
                  <p:embed/>
                </p:oleObj>
              </mc:Choice>
              <mc:Fallback>
                <p:oleObj name="Equation" r:id="rId3" imgW="3267202" imgH="380897" progId="Equation.DSMT4">
                  <p:embed/>
                  <p:pic>
                    <p:nvPicPr>
                      <p:cNvPr id="0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1568450"/>
                        <a:ext cx="659130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471" name="Object 1047"/>
          <p:cNvGraphicFramePr>
            <a:graphicFrameLocks noChangeAspect="1"/>
          </p:cNvGraphicFramePr>
          <p:nvPr/>
        </p:nvGraphicFramePr>
        <p:xfrm>
          <a:off x="1057275" y="1001713"/>
          <a:ext cx="22113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5" name="Equation" r:id="rId5" imgW="933486" imgH="152567" progId="Equation.DSMT4">
                  <p:embed/>
                </p:oleObj>
              </mc:Choice>
              <mc:Fallback>
                <p:oleObj name="Equation" r:id="rId5" imgW="933486" imgH="152567" progId="Equation.DSMT4">
                  <p:embed/>
                  <p:pic>
                    <p:nvPicPr>
                      <p:cNvPr id="0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1001713"/>
                        <a:ext cx="22113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74" name="Rectangle 1050"/>
          <p:cNvSpPr>
            <a:spLocks noChangeArrowheads="1"/>
          </p:cNvSpPr>
          <p:nvPr/>
        </p:nvSpPr>
        <p:spPr bwMode="auto">
          <a:xfrm>
            <a:off x="539750" y="1027113"/>
            <a:ext cx="367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</a:rPr>
              <a:t>由                            ，得</a:t>
            </a:r>
            <a:r>
              <a:rPr kumimoji="1" lang="zh-CN" altLang="en-US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   </a:t>
            </a:r>
          </a:p>
        </p:txBody>
      </p:sp>
      <p:grpSp>
        <p:nvGrpSpPr>
          <p:cNvPr id="2" name="Group 1078"/>
          <p:cNvGrpSpPr>
            <a:grpSpLocks/>
          </p:cNvGrpSpPr>
          <p:nvPr/>
        </p:nvGrpSpPr>
        <p:grpSpPr bwMode="auto">
          <a:xfrm>
            <a:off x="104775" y="2573338"/>
            <a:ext cx="8067675" cy="1792287"/>
            <a:chOff x="21" y="1657"/>
            <a:chExt cx="5082" cy="1129"/>
          </a:xfrm>
        </p:grpSpPr>
        <p:graphicFrame>
          <p:nvGraphicFramePr>
            <p:cNvPr id="32790" name="Object 1051"/>
            <p:cNvGraphicFramePr>
              <a:graphicFrameLocks noChangeAspect="1"/>
            </p:cNvGraphicFramePr>
            <p:nvPr/>
          </p:nvGraphicFramePr>
          <p:xfrm>
            <a:off x="567" y="1657"/>
            <a:ext cx="1142" cy="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6" name="Equation" r:id="rId7" imgW="847772" imgH="409742" progId="Equation.DSMT4">
                    <p:embed/>
                  </p:oleObj>
                </mc:Choice>
                <mc:Fallback>
                  <p:oleObj name="Equation" r:id="rId7" imgW="847772" imgH="409742" progId="Equation.DSMT4">
                    <p:embed/>
                    <p:pic>
                      <p:nvPicPr>
                        <p:cNvPr id="0" name="Object 10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1657"/>
                          <a:ext cx="1142" cy="5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1" name="Rectangle 1053"/>
            <p:cNvSpPr>
              <a:spLocks noChangeArrowheads="1"/>
            </p:cNvSpPr>
            <p:nvPr/>
          </p:nvSpPr>
          <p:spPr bwMode="auto">
            <a:xfrm>
              <a:off x="21" y="1797"/>
              <a:ext cx="5082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其中             </a:t>
              </a:r>
              <a:r>
                <a:rPr kumimoji="1" lang="zh-CN" altLang="en-US">
                  <a:solidFill>
                    <a:schemeClr val="bg1"/>
                  </a:solidFill>
                </a:rPr>
                <a:t>称为媒质的</a:t>
              </a:r>
              <a:r>
                <a:rPr kumimoji="1" lang="zh-CN" altLang="en-US">
                  <a:solidFill>
                    <a:srgbClr val="FF8383"/>
                  </a:solidFill>
                  <a:ea typeface="宋体" pitchFamily="2" charset="-122"/>
                </a:rPr>
                <a:t>本征阻抗</a:t>
              </a:r>
              <a:r>
                <a:rPr kumimoji="1" lang="zh-CN" altLang="en-US">
                  <a:solidFill>
                    <a:schemeClr val="bg1"/>
                  </a:solidFill>
                </a:rPr>
                <a:t>。</a:t>
              </a:r>
              <a:endParaRPr kumimoji="1" lang="en-US" altLang="zh-CN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50000"/>
                </a:spcBef>
              </a:pPr>
              <a:endParaRPr kumimoji="1" lang="en-US" altLang="zh-CN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</a:rPr>
                <a:t>       在真空中</a:t>
              </a:r>
            </a:p>
          </p:txBody>
        </p:sp>
      </p:grpSp>
      <p:graphicFrame>
        <p:nvGraphicFramePr>
          <p:cNvPr id="616484" name="Object 1060"/>
          <p:cNvGraphicFramePr>
            <a:graphicFrameLocks noChangeAspect="1"/>
          </p:cNvGraphicFramePr>
          <p:nvPr/>
        </p:nvGraphicFramePr>
        <p:xfrm>
          <a:off x="1979613" y="4294188"/>
          <a:ext cx="3887787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7" name="公式" r:id="rId9" imgW="1752455" imgH="400011" progId="Equation.3">
                  <p:embed/>
                </p:oleObj>
              </mc:Choice>
              <mc:Fallback>
                <p:oleObj name="公式" r:id="rId9" imgW="1752455" imgH="400011" progId="Equation.3">
                  <p:embed/>
                  <p:pic>
                    <p:nvPicPr>
                      <p:cNvPr id="0" name="Object 1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294188"/>
                        <a:ext cx="3887787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94" name="Text Box 1070"/>
          <p:cNvSpPr txBox="1">
            <a:spLocks noChangeArrowheads="1"/>
          </p:cNvSpPr>
          <p:nvPr/>
        </p:nvSpPr>
        <p:spPr bwMode="auto">
          <a:xfrm>
            <a:off x="74613" y="487363"/>
            <a:ext cx="23558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50000"/>
              </a:spcBef>
              <a:buFontTx/>
              <a:buBlip>
                <a:blip r:embed="rId11"/>
              </a:buBlip>
            </a:pPr>
            <a:r>
              <a:rPr kumimoji="1" lang="en-US" altLang="zh-CN">
                <a:solidFill>
                  <a:schemeClr val="bg1"/>
                </a:solidFill>
              </a:rPr>
              <a:t>  </a:t>
            </a:r>
            <a:r>
              <a:rPr kumimoji="1" lang="zh-CN" altLang="en-US">
                <a:solidFill>
                  <a:schemeClr val="bg1"/>
                </a:solidFill>
              </a:rPr>
              <a:t>相伴的磁场</a:t>
            </a:r>
          </a:p>
        </p:txBody>
      </p:sp>
      <p:grpSp>
        <p:nvGrpSpPr>
          <p:cNvPr id="3" name="Group 1079"/>
          <p:cNvGrpSpPr>
            <a:grpSpLocks/>
          </p:cNvGrpSpPr>
          <p:nvPr/>
        </p:nvGrpSpPr>
        <p:grpSpPr bwMode="auto">
          <a:xfrm>
            <a:off x="525463" y="5341938"/>
            <a:ext cx="7646987" cy="823912"/>
            <a:chOff x="331" y="2684"/>
            <a:chExt cx="4817" cy="519"/>
          </a:xfrm>
        </p:grpSpPr>
        <p:sp>
          <p:nvSpPr>
            <p:cNvPr id="32786" name="Text Box 1033"/>
            <p:cNvSpPr txBox="1">
              <a:spLocks noChangeArrowheads="1"/>
            </p:cNvSpPr>
            <p:nvPr/>
          </p:nvSpPr>
          <p:spPr bwMode="auto">
            <a:xfrm>
              <a:off x="331" y="2754"/>
              <a:ext cx="41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chemeClr val="bg1"/>
                  </a:solidFill>
                </a:rPr>
                <a:t> </a:t>
              </a:r>
              <a:r>
                <a:rPr kumimoji="1" lang="zh-CN" altLang="en-US">
                  <a:solidFill>
                    <a:schemeClr val="bg1"/>
                  </a:solidFill>
                </a:rPr>
                <a:t>同理，对于</a:t>
              </a:r>
            </a:p>
          </p:txBody>
        </p:sp>
        <p:graphicFrame>
          <p:nvGraphicFramePr>
            <p:cNvPr id="32787" name="Object 1034"/>
            <p:cNvGraphicFramePr>
              <a:graphicFrameLocks noChangeAspect="1"/>
            </p:cNvGraphicFramePr>
            <p:nvPr/>
          </p:nvGraphicFramePr>
          <p:xfrm>
            <a:off x="1404" y="2750"/>
            <a:ext cx="1865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8" name="Equation" r:id="rId12" imgW="1181259" imgH="171334" progId="Equation.DSMT4">
                    <p:embed/>
                  </p:oleObj>
                </mc:Choice>
                <mc:Fallback>
                  <p:oleObj name="Equation" r:id="rId12" imgW="1181259" imgH="171334" progId="Equation.DSMT4">
                    <p:embed/>
                    <p:pic>
                      <p:nvPicPr>
                        <p:cNvPr id="0" name="Object 10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4" y="2750"/>
                          <a:ext cx="1865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8" name="Object 1065"/>
            <p:cNvGraphicFramePr>
              <a:graphicFrameLocks noChangeAspect="1"/>
            </p:cNvGraphicFramePr>
            <p:nvPr/>
          </p:nvGraphicFramePr>
          <p:xfrm>
            <a:off x="3780" y="2684"/>
            <a:ext cx="1368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9" name="公式" r:id="rId14" imgW="1019200" imgH="333285" progId="Equation.3">
                    <p:embed/>
                  </p:oleObj>
                </mc:Choice>
                <mc:Fallback>
                  <p:oleObj name="公式" r:id="rId14" imgW="1019200" imgH="333285" progId="Equation.3">
                    <p:embed/>
                    <p:pic>
                      <p:nvPicPr>
                        <p:cNvPr id="0" name="Object 10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0" y="2684"/>
                          <a:ext cx="1368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9" name="AutoShape 1071"/>
            <p:cNvSpPr>
              <a:spLocks noChangeArrowheads="1"/>
            </p:cNvSpPr>
            <p:nvPr/>
          </p:nvSpPr>
          <p:spPr bwMode="auto">
            <a:xfrm>
              <a:off x="3372" y="2840"/>
              <a:ext cx="318" cy="140"/>
            </a:xfrm>
            <a:prstGeom prst="rightArrow">
              <a:avLst>
                <a:gd name="adj1" fmla="val 50000"/>
                <a:gd name="adj2" fmla="val 56786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1076"/>
          <p:cNvGrpSpPr>
            <a:grpSpLocks/>
          </p:cNvGrpSpPr>
          <p:nvPr/>
        </p:nvGrpSpPr>
        <p:grpSpPr bwMode="auto">
          <a:xfrm>
            <a:off x="6638925" y="2205038"/>
            <a:ext cx="2157413" cy="3246437"/>
            <a:chOff x="4332" y="-154"/>
            <a:chExt cx="1359" cy="2046"/>
          </a:xfrm>
        </p:grpSpPr>
        <p:sp>
          <p:nvSpPr>
            <p:cNvPr id="32783" name="Text Box 1072"/>
            <p:cNvSpPr txBox="1">
              <a:spLocks noChangeArrowheads="1"/>
            </p:cNvSpPr>
            <p:nvPr/>
          </p:nvSpPr>
          <p:spPr bwMode="auto">
            <a:xfrm>
              <a:off x="4332" y="569"/>
              <a:ext cx="1359" cy="46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66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zh-CN" altLang="en-US" sz="2000">
                  <a:solidFill>
                    <a:srgbClr val="990000"/>
                  </a:solidFill>
                  <a:ea typeface="宋体" pitchFamily="2" charset="-122"/>
                </a:rPr>
                <a:t>磁场与电场相互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zh-CN" altLang="en-US" sz="2000">
                  <a:solidFill>
                    <a:srgbClr val="990000"/>
                  </a:solidFill>
                  <a:ea typeface="宋体" pitchFamily="2" charset="-122"/>
                </a:rPr>
                <a:t>垂直，且同相位</a:t>
              </a:r>
            </a:p>
          </p:txBody>
        </p:sp>
        <p:sp>
          <p:nvSpPr>
            <p:cNvPr id="32784" name="Line 1074"/>
            <p:cNvSpPr>
              <a:spLocks noChangeShapeType="1"/>
            </p:cNvSpPr>
            <p:nvPr/>
          </p:nvSpPr>
          <p:spPr bwMode="auto">
            <a:xfrm flipH="1" flipV="1">
              <a:off x="4754" y="-154"/>
              <a:ext cx="371" cy="723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5" name="Line 1075"/>
            <p:cNvSpPr>
              <a:spLocks noChangeShapeType="1"/>
            </p:cNvSpPr>
            <p:nvPr/>
          </p:nvSpPr>
          <p:spPr bwMode="auto">
            <a:xfrm flipH="1">
              <a:off x="5011" y="1029"/>
              <a:ext cx="114" cy="863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779" name="AutoShape 1085">
            <a:hlinkClick r:id="rId16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0" name="AutoShape 108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1" name="AutoShape 108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82" name="AutoShape 108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1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1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1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1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61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74" grpId="0"/>
      <p:bldP spid="61649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C1C105-87D8-458D-9169-B40494B9A59D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496652" name="Rectangle 12"/>
          <p:cNvSpPr>
            <a:spLocks noChangeArrowheads="1"/>
          </p:cNvSpPr>
          <p:nvPr/>
        </p:nvSpPr>
        <p:spPr bwMode="auto">
          <a:xfrm>
            <a:off x="107950" y="1100138"/>
            <a:ext cx="424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宋体" pitchFamily="2" charset="-122"/>
              </a:rPr>
              <a:t>1.   </a:t>
            </a:r>
            <a:r>
              <a:rPr lang="zh-CN" altLang="en-US">
                <a:solidFill>
                  <a:schemeClr val="bg1"/>
                </a:solidFill>
                <a:ea typeface="宋体" pitchFamily="2" charset="-122"/>
              </a:rPr>
              <a:t>均匀平面波的传播参数</a:t>
            </a:r>
          </a:p>
        </p:txBody>
      </p:sp>
      <p:sp>
        <p:nvSpPr>
          <p:cNvPr id="496666" name="Text Box 26"/>
          <p:cNvSpPr txBox="1">
            <a:spLocks noChangeArrowheads="1"/>
          </p:cNvSpPr>
          <p:nvPr/>
        </p:nvSpPr>
        <p:spPr bwMode="auto">
          <a:xfrm>
            <a:off x="323850" y="2900363"/>
            <a:ext cx="684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8383"/>
                </a:solidFill>
                <a:ea typeface="宋体" pitchFamily="2" charset="-122"/>
              </a:rPr>
              <a:t>周期</a:t>
            </a:r>
            <a:r>
              <a:rPr kumimoji="1" lang="en-US" altLang="zh-CN" i="1">
                <a:solidFill>
                  <a:srgbClr val="FF8383"/>
                </a:solidFill>
              </a:rPr>
              <a:t>T</a:t>
            </a:r>
            <a:r>
              <a:rPr kumimoji="1" lang="en-US" altLang="zh-CN">
                <a:solidFill>
                  <a:schemeClr val="bg1"/>
                </a:solidFill>
              </a:rPr>
              <a:t> </a:t>
            </a:r>
            <a:r>
              <a:rPr kumimoji="1" lang="zh-CN" altLang="en-US">
                <a:solidFill>
                  <a:schemeClr val="bg1"/>
                </a:solidFill>
              </a:rPr>
              <a:t>：</a:t>
            </a:r>
            <a:r>
              <a:rPr kumimoji="1" lang="zh-CN" altLang="en-US">
                <a:solidFill>
                  <a:srgbClr val="FF5757"/>
                </a:solidFill>
              </a:rPr>
              <a:t>时间</a:t>
            </a:r>
            <a:r>
              <a:rPr kumimoji="1" lang="zh-CN" altLang="en-US">
                <a:solidFill>
                  <a:schemeClr val="bg1"/>
                </a:solidFill>
              </a:rPr>
              <a:t>相位变化 </a:t>
            </a:r>
            <a:r>
              <a:rPr kumimoji="1" lang="en-US" altLang="zh-CN">
                <a:solidFill>
                  <a:schemeClr val="bg1"/>
                </a:solidFill>
              </a:rPr>
              <a:t>2</a:t>
            </a:r>
            <a:r>
              <a:rPr kumimoji="1" lang="el-GR" altLang="zh-CN">
                <a:solidFill>
                  <a:schemeClr val="bg1"/>
                </a:solidFill>
                <a:latin typeface="楷体_GB2312" pitchFamily="49" charset="-122"/>
              </a:rPr>
              <a:t>π</a:t>
            </a:r>
            <a:r>
              <a:rPr kumimoji="1" lang="zh-CN" altLang="en-US">
                <a:solidFill>
                  <a:schemeClr val="bg1"/>
                </a:solidFill>
              </a:rPr>
              <a:t>的时间间隔，即</a:t>
            </a:r>
            <a:endParaRPr kumimoji="1" lang="zh-CN" altLang="en-US"/>
          </a:p>
        </p:txBody>
      </p:sp>
      <p:sp>
        <p:nvSpPr>
          <p:cNvPr id="496677" name="Text Box 37"/>
          <p:cNvSpPr txBox="1">
            <a:spLocks noChangeArrowheads="1"/>
          </p:cNvSpPr>
          <p:nvPr/>
        </p:nvSpPr>
        <p:spPr bwMode="auto">
          <a:xfrm>
            <a:off x="107950" y="1676400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</a:rPr>
              <a:t>（</a:t>
            </a:r>
            <a:r>
              <a:rPr kumimoji="1" lang="en-US" altLang="zh-CN">
                <a:solidFill>
                  <a:schemeClr val="bg1"/>
                </a:solidFill>
              </a:rPr>
              <a:t>1</a:t>
            </a:r>
            <a:r>
              <a:rPr kumimoji="1" lang="zh-CN" altLang="en-US">
                <a:solidFill>
                  <a:schemeClr val="bg1"/>
                </a:solidFill>
              </a:rPr>
              <a:t>）角频率、频率和周期</a:t>
            </a:r>
          </a:p>
        </p:txBody>
      </p:sp>
      <p:sp>
        <p:nvSpPr>
          <p:cNvPr id="496675" name="Text Box 35"/>
          <p:cNvSpPr txBox="1">
            <a:spLocks noChangeArrowheads="1"/>
          </p:cNvSpPr>
          <p:nvPr/>
        </p:nvSpPr>
        <p:spPr bwMode="auto">
          <a:xfrm>
            <a:off x="347663" y="2251075"/>
            <a:ext cx="760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rgbClr val="FF8383"/>
                </a:solidFill>
                <a:ea typeface="宋体" pitchFamily="2" charset="-122"/>
              </a:rPr>
              <a:t>角频率</a:t>
            </a:r>
            <a:r>
              <a:rPr kumimoji="1" lang="el-GR" altLang="zh-CN" i="1" dirty="0">
                <a:solidFill>
                  <a:srgbClr val="FF8383"/>
                </a:solidFill>
                <a:latin typeface="楷体_GB2312" pitchFamily="49" charset="-122"/>
              </a:rPr>
              <a:t>ω</a:t>
            </a:r>
            <a:r>
              <a:rPr kumimoji="1" lang="en-US" altLang="zh-CN" dirty="0">
                <a:solidFill>
                  <a:schemeClr val="bg1"/>
                </a:solidFill>
              </a:rPr>
              <a:t> </a:t>
            </a:r>
            <a:r>
              <a:rPr kumimoji="1" lang="zh-CN" altLang="en-US" dirty="0">
                <a:solidFill>
                  <a:schemeClr val="bg1"/>
                </a:solidFill>
              </a:rPr>
              <a:t>：表示单位时间内的相位变化，单位为 </a:t>
            </a:r>
            <a:r>
              <a:rPr kumimoji="1" lang="en-US" altLang="zh-CN" dirty="0">
                <a:solidFill>
                  <a:schemeClr val="bg1"/>
                </a:solidFill>
              </a:rPr>
              <a:t>rad /s</a:t>
            </a:r>
            <a:r>
              <a:rPr kumimoji="1" lang="en-US" altLang="zh-CN" dirty="0">
                <a:latin typeface="幼圆" pitchFamily="49" charset="-122"/>
                <a:ea typeface="幼圆" pitchFamily="49" charset="-122"/>
              </a:rPr>
              <a:t> </a:t>
            </a:r>
          </a:p>
        </p:txBody>
      </p:sp>
      <p:grpSp>
        <p:nvGrpSpPr>
          <p:cNvPr id="2" name="Group 144"/>
          <p:cNvGrpSpPr>
            <a:grpSpLocks/>
          </p:cNvGrpSpPr>
          <p:nvPr/>
        </p:nvGrpSpPr>
        <p:grpSpPr bwMode="auto">
          <a:xfrm>
            <a:off x="323850" y="4319588"/>
            <a:ext cx="3525838" cy="765175"/>
            <a:chOff x="68" y="2494"/>
            <a:chExt cx="2221" cy="482"/>
          </a:xfrm>
        </p:grpSpPr>
        <p:sp>
          <p:nvSpPr>
            <p:cNvPr id="33838" name="Text Box 52"/>
            <p:cNvSpPr txBox="1">
              <a:spLocks noChangeArrowheads="1"/>
            </p:cNvSpPr>
            <p:nvPr/>
          </p:nvSpPr>
          <p:spPr bwMode="auto">
            <a:xfrm>
              <a:off x="68" y="2597"/>
              <a:ext cx="10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>
                  <a:solidFill>
                    <a:srgbClr val="FF8383"/>
                  </a:solidFill>
                  <a:ea typeface="宋体" pitchFamily="2" charset="-122"/>
                </a:rPr>
                <a:t>频率 </a:t>
              </a:r>
              <a:r>
                <a:rPr kumimoji="1" lang="en-US" altLang="zh-CN" i="1">
                  <a:solidFill>
                    <a:srgbClr val="FF8383"/>
                  </a:solidFill>
                  <a:ea typeface="宋体" pitchFamily="2" charset="-122"/>
                </a:rPr>
                <a:t>f</a:t>
              </a:r>
              <a:r>
                <a:rPr kumimoji="1" lang="en-US" altLang="zh-CN" i="1">
                  <a:solidFill>
                    <a:schemeClr val="bg1"/>
                  </a:solidFill>
                  <a:ea typeface="宋体" pitchFamily="2" charset="-122"/>
                </a:rPr>
                <a:t> </a:t>
              </a:r>
              <a:r>
                <a:rPr kumimoji="1" lang="en-US" altLang="zh-CN">
                  <a:solidFill>
                    <a:schemeClr val="bg1"/>
                  </a:solidFill>
                  <a:ea typeface="宋体" pitchFamily="2" charset="-122"/>
                </a:rPr>
                <a:t> </a:t>
              </a:r>
              <a:r>
                <a:rPr kumimoji="1" lang="zh-CN" altLang="en-US">
                  <a:solidFill>
                    <a:schemeClr val="bg1"/>
                  </a:solidFill>
                  <a:ea typeface="宋体" pitchFamily="2" charset="-122"/>
                </a:rPr>
                <a:t>：</a:t>
              </a:r>
              <a:endParaRPr kumimoji="1" lang="zh-CN" altLang="en-US">
                <a:ea typeface="宋体" pitchFamily="2" charset="-122"/>
              </a:endParaRPr>
            </a:p>
          </p:txBody>
        </p:sp>
        <p:graphicFrame>
          <p:nvGraphicFramePr>
            <p:cNvPr id="33839" name="Object 57" descr="虚线网格">
              <a:hlinkClick r:id="" action="ppaction://noaction" highlightClick="1"/>
            </p:cNvPr>
            <p:cNvGraphicFramePr>
              <a:graphicFrameLocks/>
            </p:cNvGraphicFramePr>
            <p:nvPr/>
          </p:nvGraphicFramePr>
          <p:xfrm>
            <a:off x="897" y="2494"/>
            <a:ext cx="1392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88" name="Equation" r:id="rId3" imgW="1047656" imgH="304787" progId="Equation.DSMT4">
                    <p:embed/>
                  </p:oleObj>
                </mc:Choice>
                <mc:Fallback>
                  <p:oleObj name="Equation" r:id="rId3" imgW="1047656" imgH="304787" progId="Equation.DSMT4">
                    <p:embed/>
                    <p:pic>
                      <p:nvPicPr>
                        <p:cNvPr id="0" name="Object 57" descr="虚线网格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7" y="2494"/>
                          <a:ext cx="1392" cy="4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pattFill prst="dotGrid">
                                <a:fgClr>
                                  <a:srgbClr val="99CCFF"/>
                                </a:fgClr>
                                <a:bgClr>
                                  <a:srgbClr val="FFFFFF"/>
                                </a:bgClr>
                              </a:patt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43"/>
          <p:cNvGrpSpPr>
            <a:grpSpLocks/>
          </p:cNvGrpSpPr>
          <p:nvPr/>
        </p:nvGrpSpPr>
        <p:grpSpPr bwMode="auto">
          <a:xfrm>
            <a:off x="5116513" y="3543300"/>
            <a:ext cx="3632200" cy="2838450"/>
            <a:chOff x="3404" y="2141"/>
            <a:chExt cx="2288" cy="1788"/>
          </a:xfrm>
        </p:grpSpPr>
        <p:grpSp>
          <p:nvGrpSpPr>
            <p:cNvPr id="33810" name="Group 112"/>
            <p:cNvGrpSpPr>
              <a:grpSpLocks noChangeAspect="1"/>
            </p:cNvGrpSpPr>
            <p:nvPr/>
          </p:nvGrpSpPr>
          <p:grpSpPr bwMode="auto">
            <a:xfrm>
              <a:off x="3404" y="2141"/>
              <a:ext cx="2288" cy="1788"/>
              <a:chOff x="3243" y="1820"/>
              <a:chExt cx="2288" cy="1788"/>
            </a:xfrm>
          </p:grpSpPr>
          <p:sp>
            <p:nvSpPr>
              <p:cNvPr id="33814" name="AutoShape 111"/>
              <p:cNvSpPr>
                <a:spLocks noChangeAspect="1" noChangeArrowheads="1" noTextEdit="1"/>
              </p:cNvSpPr>
              <p:nvPr/>
            </p:nvSpPr>
            <p:spPr bwMode="auto">
              <a:xfrm>
                <a:off x="3243" y="1820"/>
                <a:ext cx="2268" cy="1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5" name="Rectangle 113"/>
              <p:cNvSpPr>
                <a:spLocks noChangeArrowheads="1"/>
              </p:cNvSpPr>
              <p:nvPr/>
            </p:nvSpPr>
            <p:spPr bwMode="auto">
              <a:xfrm>
                <a:off x="5507" y="34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ea typeface="宋体" pitchFamily="2" charset="-122"/>
                  </a:rPr>
                  <a:t> 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3816" name="Rectangle 114"/>
              <p:cNvSpPr>
                <a:spLocks noChangeArrowheads="1"/>
              </p:cNvSpPr>
              <p:nvPr/>
            </p:nvSpPr>
            <p:spPr bwMode="auto">
              <a:xfrm>
                <a:off x="3246" y="1829"/>
                <a:ext cx="2259" cy="1683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3817" name="Rectangle 115"/>
              <p:cNvSpPr>
                <a:spLocks noChangeArrowheads="1"/>
              </p:cNvSpPr>
              <p:nvPr/>
            </p:nvSpPr>
            <p:spPr bwMode="auto">
              <a:xfrm>
                <a:off x="3246" y="1829"/>
                <a:ext cx="2259" cy="168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3818" name="Freeform 116"/>
              <p:cNvSpPr>
                <a:spLocks noEditPoints="1"/>
              </p:cNvSpPr>
              <p:nvPr/>
            </p:nvSpPr>
            <p:spPr bwMode="auto">
              <a:xfrm>
                <a:off x="3507" y="2513"/>
                <a:ext cx="1835" cy="36"/>
              </a:xfrm>
              <a:custGeom>
                <a:avLst/>
                <a:gdLst>
                  <a:gd name="T0" fmla="*/ 0 w 1835"/>
                  <a:gd name="T1" fmla="*/ 11 h 36"/>
                  <a:gd name="T2" fmla="*/ 1757 w 1835"/>
                  <a:gd name="T3" fmla="*/ 12 h 36"/>
                  <a:gd name="T4" fmla="*/ 1757 w 1835"/>
                  <a:gd name="T5" fmla="*/ 25 h 36"/>
                  <a:gd name="T6" fmla="*/ 0 w 1835"/>
                  <a:gd name="T7" fmla="*/ 25 h 36"/>
                  <a:gd name="T8" fmla="*/ 0 w 1835"/>
                  <a:gd name="T9" fmla="*/ 11 h 36"/>
                  <a:gd name="T10" fmla="*/ 1749 w 1835"/>
                  <a:gd name="T11" fmla="*/ 0 h 36"/>
                  <a:gd name="T12" fmla="*/ 1835 w 1835"/>
                  <a:gd name="T13" fmla="*/ 18 h 36"/>
                  <a:gd name="T14" fmla="*/ 1749 w 1835"/>
                  <a:gd name="T15" fmla="*/ 36 h 36"/>
                  <a:gd name="T16" fmla="*/ 1749 w 1835"/>
                  <a:gd name="T17" fmla="*/ 0 h 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35"/>
                  <a:gd name="T28" fmla="*/ 0 h 36"/>
                  <a:gd name="T29" fmla="*/ 1835 w 1835"/>
                  <a:gd name="T30" fmla="*/ 36 h 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35" h="36">
                    <a:moveTo>
                      <a:pt x="0" y="11"/>
                    </a:moveTo>
                    <a:lnTo>
                      <a:pt x="1757" y="12"/>
                    </a:lnTo>
                    <a:lnTo>
                      <a:pt x="1757" y="25"/>
                    </a:lnTo>
                    <a:lnTo>
                      <a:pt x="0" y="25"/>
                    </a:lnTo>
                    <a:lnTo>
                      <a:pt x="0" y="11"/>
                    </a:lnTo>
                    <a:close/>
                    <a:moveTo>
                      <a:pt x="1749" y="0"/>
                    </a:moveTo>
                    <a:lnTo>
                      <a:pt x="1835" y="18"/>
                    </a:lnTo>
                    <a:lnTo>
                      <a:pt x="1749" y="36"/>
                    </a:lnTo>
                    <a:lnTo>
                      <a:pt x="1749" y="0"/>
                    </a:lnTo>
                    <a:close/>
                  </a:path>
                </a:pathLst>
              </a:custGeom>
              <a:solidFill>
                <a:srgbClr val="0000FF"/>
              </a:solidFill>
              <a:ln w="15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9" name="Freeform 117"/>
              <p:cNvSpPr>
                <a:spLocks/>
              </p:cNvSpPr>
              <p:nvPr/>
            </p:nvSpPr>
            <p:spPr bwMode="auto">
              <a:xfrm>
                <a:off x="3272" y="2179"/>
                <a:ext cx="463" cy="351"/>
              </a:xfrm>
              <a:custGeom>
                <a:avLst/>
                <a:gdLst>
                  <a:gd name="T0" fmla="*/ 14 w 463"/>
                  <a:gd name="T1" fmla="*/ 319 h 351"/>
                  <a:gd name="T2" fmla="*/ 43 w 463"/>
                  <a:gd name="T3" fmla="*/ 254 h 351"/>
                  <a:gd name="T4" fmla="*/ 65 w 463"/>
                  <a:gd name="T5" fmla="*/ 208 h 351"/>
                  <a:gd name="T6" fmla="*/ 79 w 463"/>
                  <a:gd name="T7" fmla="*/ 177 h 351"/>
                  <a:gd name="T8" fmla="*/ 94 w 463"/>
                  <a:gd name="T9" fmla="*/ 149 h 351"/>
                  <a:gd name="T10" fmla="*/ 108 w 463"/>
                  <a:gd name="T11" fmla="*/ 122 h 351"/>
                  <a:gd name="T12" fmla="*/ 123 w 463"/>
                  <a:gd name="T13" fmla="*/ 99 h 351"/>
                  <a:gd name="T14" fmla="*/ 137 w 463"/>
                  <a:gd name="T15" fmla="*/ 76 h 351"/>
                  <a:gd name="T16" fmla="*/ 152 w 463"/>
                  <a:gd name="T17" fmla="*/ 55 h 351"/>
                  <a:gd name="T18" fmla="*/ 166 w 463"/>
                  <a:gd name="T19" fmla="*/ 38 h 351"/>
                  <a:gd name="T20" fmla="*/ 181 w 463"/>
                  <a:gd name="T21" fmla="*/ 24 h 351"/>
                  <a:gd name="T22" fmla="*/ 195 w 463"/>
                  <a:gd name="T23" fmla="*/ 13 h 351"/>
                  <a:gd name="T24" fmla="*/ 210 w 463"/>
                  <a:gd name="T25" fmla="*/ 5 h 351"/>
                  <a:gd name="T26" fmla="*/ 224 w 463"/>
                  <a:gd name="T27" fmla="*/ 1 h 351"/>
                  <a:gd name="T28" fmla="*/ 235 w 463"/>
                  <a:gd name="T29" fmla="*/ 0 h 351"/>
                  <a:gd name="T30" fmla="*/ 243 w 463"/>
                  <a:gd name="T31" fmla="*/ 3 h 351"/>
                  <a:gd name="T32" fmla="*/ 250 w 463"/>
                  <a:gd name="T33" fmla="*/ 6 h 351"/>
                  <a:gd name="T34" fmla="*/ 258 w 463"/>
                  <a:gd name="T35" fmla="*/ 10 h 351"/>
                  <a:gd name="T36" fmla="*/ 266 w 463"/>
                  <a:gd name="T37" fmla="*/ 17 h 351"/>
                  <a:gd name="T38" fmla="*/ 275 w 463"/>
                  <a:gd name="T39" fmla="*/ 24 h 351"/>
                  <a:gd name="T40" fmla="*/ 283 w 463"/>
                  <a:gd name="T41" fmla="*/ 33 h 351"/>
                  <a:gd name="T42" fmla="*/ 295 w 463"/>
                  <a:gd name="T43" fmla="*/ 47 h 351"/>
                  <a:gd name="T44" fmla="*/ 312 w 463"/>
                  <a:gd name="T45" fmla="*/ 71 h 351"/>
                  <a:gd name="T46" fmla="*/ 328 w 463"/>
                  <a:gd name="T47" fmla="*/ 96 h 351"/>
                  <a:gd name="T48" fmla="*/ 345 w 463"/>
                  <a:gd name="T49" fmla="*/ 125 h 351"/>
                  <a:gd name="T50" fmla="*/ 361 w 463"/>
                  <a:gd name="T51" fmla="*/ 154 h 351"/>
                  <a:gd name="T52" fmla="*/ 393 w 463"/>
                  <a:gd name="T53" fmla="*/ 215 h 351"/>
                  <a:gd name="T54" fmla="*/ 408 w 463"/>
                  <a:gd name="T55" fmla="*/ 244 h 351"/>
                  <a:gd name="T56" fmla="*/ 421 w 463"/>
                  <a:gd name="T57" fmla="*/ 272 h 351"/>
                  <a:gd name="T58" fmla="*/ 434 w 463"/>
                  <a:gd name="T59" fmla="*/ 297 h 351"/>
                  <a:gd name="T60" fmla="*/ 445 w 463"/>
                  <a:gd name="T61" fmla="*/ 320 h 351"/>
                  <a:gd name="T62" fmla="*/ 450 w 463"/>
                  <a:gd name="T63" fmla="*/ 330 h 351"/>
                  <a:gd name="T64" fmla="*/ 455 w 463"/>
                  <a:gd name="T65" fmla="*/ 338 h 351"/>
                  <a:gd name="T66" fmla="*/ 460 w 463"/>
                  <a:gd name="T67" fmla="*/ 345 h 351"/>
                  <a:gd name="T68" fmla="*/ 463 w 463"/>
                  <a:gd name="T69" fmla="*/ 351 h 35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63"/>
                  <a:gd name="T106" fmla="*/ 0 h 351"/>
                  <a:gd name="T107" fmla="*/ 463 w 463"/>
                  <a:gd name="T108" fmla="*/ 351 h 35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63" h="351">
                    <a:moveTo>
                      <a:pt x="0" y="351"/>
                    </a:moveTo>
                    <a:lnTo>
                      <a:pt x="14" y="319"/>
                    </a:lnTo>
                    <a:lnTo>
                      <a:pt x="29" y="286"/>
                    </a:lnTo>
                    <a:lnTo>
                      <a:pt x="43" y="254"/>
                    </a:lnTo>
                    <a:lnTo>
                      <a:pt x="58" y="223"/>
                    </a:lnTo>
                    <a:lnTo>
                      <a:pt x="65" y="208"/>
                    </a:lnTo>
                    <a:lnTo>
                      <a:pt x="72" y="193"/>
                    </a:lnTo>
                    <a:lnTo>
                      <a:pt x="79" y="177"/>
                    </a:lnTo>
                    <a:lnTo>
                      <a:pt x="87" y="163"/>
                    </a:lnTo>
                    <a:lnTo>
                      <a:pt x="94" y="149"/>
                    </a:lnTo>
                    <a:lnTo>
                      <a:pt x="101" y="136"/>
                    </a:lnTo>
                    <a:lnTo>
                      <a:pt x="108" y="122"/>
                    </a:lnTo>
                    <a:lnTo>
                      <a:pt x="116" y="111"/>
                    </a:lnTo>
                    <a:lnTo>
                      <a:pt x="123" y="99"/>
                    </a:lnTo>
                    <a:lnTo>
                      <a:pt x="130" y="87"/>
                    </a:lnTo>
                    <a:lnTo>
                      <a:pt x="137" y="76"/>
                    </a:lnTo>
                    <a:lnTo>
                      <a:pt x="145" y="65"/>
                    </a:lnTo>
                    <a:lnTo>
                      <a:pt x="152" y="55"/>
                    </a:lnTo>
                    <a:lnTo>
                      <a:pt x="159" y="47"/>
                    </a:lnTo>
                    <a:lnTo>
                      <a:pt x="166" y="38"/>
                    </a:lnTo>
                    <a:lnTo>
                      <a:pt x="173" y="31"/>
                    </a:lnTo>
                    <a:lnTo>
                      <a:pt x="181" y="24"/>
                    </a:lnTo>
                    <a:lnTo>
                      <a:pt x="188" y="18"/>
                    </a:lnTo>
                    <a:lnTo>
                      <a:pt x="195" y="13"/>
                    </a:lnTo>
                    <a:lnTo>
                      <a:pt x="202" y="9"/>
                    </a:lnTo>
                    <a:lnTo>
                      <a:pt x="210" y="5"/>
                    </a:lnTo>
                    <a:lnTo>
                      <a:pt x="217" y="3"/>
                    </a:lnTo>
                    <a:lnTo>
                      <a:pt x="224" y="1"/>
                    </a:lnTo>
                    <a:lnTo>
                      <a:pt x="231" y="0"/>
                    </a:lnTo>
                    <a:lnTo>
                      <a:pt x="235" y="0"/>
                    </a:lnTo>
                    <a:lnTo>
                      <a:pt x="238" y="1"/>
                    </a:lnTo>
                    <a:lnTo>
                      <a:pt x="243" y="3"/>
                    </a:lnTo>
                    <a:lnTo>
                      <a:pt x="247" y="4"/>
                    </a:lnTo>
                    <a:lnTo>
                      <a:pt x="250" y="6"/>
                    </a:lnTo>
                    <a:lnTo>
                      <a:pt x="254" y="8"/>
                    </a:lnTo>
                    <a:lnTo>
                      <a:pt x="258" y="10"/>
                    </a:lnTo>
                    <a:lnTo>
                      <a:pt x="262" y="13"/>
                    </a:lnTo>
                    <a:lnTo>
                      <a:pt x="266" y="17"/>
                    </a:lnTo>
                    <a:lnTo>
                      <a:pt x="271" y="20"/>
                    </a:lnTo>
                    <a:lnTo>
                      <a:pt x="275" y="24"/>
                    </a:lnTo>
                    <a:lnTo>
                      <a:pt x="279" y="28"/>
                    </a:lnTo>
                    <a:lnTo>
                      <a:pt x="283" y="33"/>
                    </a:lnTo>
                    <a:lnTo>
                      <a:pt x="287" y="37"/>
                    </a:lnTo>
                    <a:lnTo>
                      <a:pt x="295" y="47"/>
                    </a:lnTo>
                    <a:lnTo>
                      <a:pt x="304" y="59"/>
                    </a:lnTo>
                    <a:lnTo>
                      <a:pt x="312" y="71"/>
                    </a:lnTo>
                    <a:lnTo>
                      <a:pt x="320" y="82"/>
                    </a:lnTo>
                    <a:lnTo>
                      <a:pt x="328" y="96"/>
                    </a:lnTo>
                    <a:lnTo>
                      <a:pt x="337" y="111"/>
                    </a:lnTo>
                    <a:lnTo>
                      <a:pt x="345" y="125"/>
                    </a:lnTo>
                    <a:lnTo>
                      <a:pt x="353" y="140"/>
                    </a:lnTo>
                    <a:lnTo>
                      <a:pt x="361" y="154"/>
                    </a:lnTo>
                    <a:lnTo>
                      <a:pt x="378" y="185"/>
                    </a:lnTo>
                    <a:lnTo>
                      <a:pt x="393" y="215"/>
                    </a:lnTo>
                    <a:lnTo>
                      <a:pt x="401" y="229"/>
                    </a:lnTo>
                    <a:lnTo>
                      <a:pt x="408" y="244"/>
                    </a:lnTo>
                    <a:lnTo>
                      <a:pt x="415" y="258"/>
                    </a:lnTo>
                    <a:lnTo>
                      <a:pt x="421" y="272"/>
                    </a:lnTo>
                    <a:lnTo>
                      <a:pt x="427" y="285"/>
                    </a:lnTo>
                    <a:lnTo>
                      <a:pt x="434" y="297"/>
                    </a:lnTo>
                    <a:lnTo>
                      <a:pt x="440" y="309"/>
                    </a:lnTo>
                    <a:lnTo>
                      <a:pt x="445" y="320"/>
                    </a:lnTo>
                    <a:lnTo>
                      <a:pt x="448" y="324"/>
                    </a:lnTo>
                    <a:lnTo>
                      <a:pt x="450" y="330"/>
                    </a:lnTo>
                    <a:lnTo>
                      <a:pt x="452" y="334"/>
                    </a:lnTo>
                    <a:lnTo>
                      <a:pt x="455" y="338"/>
                    </a:lnTo>
                    <a:lnTo>
                      <a:pt x="457" y="341"/>
                    </a:lnTo>
                    <a:lnTo>
                      <a:pt x="460" y="345"/>
                    </a:lnTo>
                    <a:lnTo>
                      <a:pt x="462" y="348"/>
                    </a:lnTo>
                    <a:lnTo>
                      <a:pt x="463" y="351"/>
                    </a:lnTo>
                  </a:path>
                </a:pathLst>
              </a:cu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0" name="Freeform 118"/>
              <p:cNvSpPr>
                <a:spLocks/>
              </p:cNvSpPr>
              <p:nvPr/>
            </p:nvSpPr>
            <p:spPr bwMode="auto">
              <a:xfrm>
                <a:off x="4199" y="2179"/>
                <a:ext cx="463" cy="351"/>
              </a:xfrm>
              <a:custGeom>
                <a:avLst/>
                <a:gdLst>
                  <a:gd name="T0" fmla="*/ 15 w 463"/>
                  <a:gd name="T1" fmla="*/ 319 h 351"/>
                  <a:gd name="T2" fmla="*/ 44 w 463"/>
                  <a:gd name="T3" fmla="*/ 254 h 351"/>
                  <a:gd name="T4" fmla="*/ 65 w 463"/>
                  <a:gd name="T5" fmla="*/ 208 h 351"/>
                  <a:gd name="T6" fmla="*/ 80 w 463"/>
                  <a:gd name="T7" fmla="*/ 177 h 351"/>
                  <a:gd name="T8" fmla="*/ 94 w 463"/>
                  <a:gd name="T9" fmla="*/ 149 h 351"/>
                  <a:gd name="T10" fmla="*/ 109 w 463"/>
                  <a:gd name="T11" fmla="*/ 122 h 351"/>
                  <a:gd name="T12" fmla="*/ 123 w 463"/>
                  <a:gd name="T13" fmla="*/ 99 h 351"/>
                  <a:gd name="T14" fmla="*/ 138 w 463"/>
                  <a:gd name="T15" fmla="*/ 76 h 351"/>
                  <a:gd name="T16" fmla="*/ 152 w 463"/>
                  <a:gd name="T17" fmla="*/ 55 h 351"/>
                  <a:gd name="T18" fmla="*/ 167 w 463"/>
                  <a:gd name="T19" fmla="*/ 38 h 351"/>
                  <a:gd name="T20" fmla="*/ 181 w 463"/>
                  <a:gd name="T21" fmla="*/ 24 h 351"/>
                  <a:gd name="T22" fmla="*/ 196 w 463"/>
                  <a:gd name="T23" fmla="*/ 13 h 351"/>
                  <a:gd name="T24" fmla="*/ 210 w 463"/>
                  <a:gd name="T25" fmla="*/ 5 h 351"/>
                  <a:gd name="T26" fmla="*/ 224 w 463"/>
                  <a:gd name="T27" fmla="*/ 1 h 351"/>
                  <a:gd name="T28" fmla="*/ 236 w 463"/>
                  <a:gd name="T29" fmla="*/ 0 h 351"/>
                  <a:gd name="T30" fmla="*/ 243 w 463"/>
                  <a:gd name="T31" fmla="*/ 3 h 351"/>
                  <a:gd name="T32" fmla="*/ 250 w 463"/>
                  <a:gd name="T33" fmla="*/ 6 h 351"/>
                  <a:gd name="T34" fmla="*/ 259 w 463"/>
                  <a:gd name="T35" fmla="*/ 10 h 351"/>
                  <a:gd name="T36" fmla="*/ 267 w 463"/>
                  <a:gd name="T37" fmla="*/ 17 h 351"/>
                  <a:gd name="T38" fmla="*/ 274 w 463"/>
                  <a:gd name="T39" fmla="*/ 24 h 351"/>
                  <a:gd name="T40" fmla="*/ 282 w 463"/>
                  <a:gd name="T41" fmla="*/ 33 h 351"/>
                  <a:gd name="T42" fmla="*/ 296 w 463"/>
                  <a:gd name="T43" fmla="*/ 47 h 351"/>
                  <a:gd name="T44" fmla="*/ 312 w 463"/>
                  <a:gd name="T45" fmla="*/ 71 h 351"/>
                  <a:gd name="T46" fmla="*/ 329 w 463"/>
                  <a:gd name="T47" fmla="*/ 96 h 351"/>
                  <a:gd name="T48" fmla="*/ 345 w 463"/>
                  <a:gd name="T49" fmla="*/ 125 h 351"/>
                  <a:gd name="T50" fmla="*/ 362 w 463"/>
                  <a:gd name="T51" fmla="*/ 154 h 351"/>
                  <a:gd name="T52" fmla="*/ 394 w 463"/>
                  <a:gd name="T53" fmla="*/ 215 h 351"/>
                  <a:gd name="T54" fmla="*/ 408 w 463"/>
                  <a:gd name="T55" fmla="*/ 244 h 351"/>
                  <a:gd name="T56" fmla="*/ 422 w 463"/>
                  <a:gd name="T57" fmla="*/ 272 h 351"/>
                  <a:gd name="T58" fmla="*/ 434 w 463"/>
                  <a:gd name="T59" fmla="*/ 297 h 351"/>
                  <a:gd name="T60" fmla="*/ 445 w 463"/>
                  <a:gd name="T61" fmla="*/ 320 h 351"/>
                  <a:gd name="T62" fmla="*/ 451 w 463"/>
                  <a:gd name="T63" fmla="*/ 330 h 351"/>
                  <a:gd name="T64" fmla="*/ 456 w 463"/>
                  <a:gd name="T65" fmla="*/ 338 h 351"/>
                  <a:gd name="T66" fmla="*/ 460 w 463"/>
                  <a:gd name="T67" fmla="*/ 345 h 351"/>
                  <a:gd name="T68" fmla="*/ 463 w 463"/>
                  <a:gd name="T69" fmla="*/ 351 h 35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63"/>
                  <a:gd name="T106" fmla="*/ 0 h 351"/>
                  <a:gd name="T107" fmla="*/ 463 w 463"/>
                  <a:gd name="T108" fmla="*/ 351 h 35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63" h="351">
                    <a:moveTo>
                      <a:pt x="0" y="351"/>
                    </a:moveTo>
                    <a:lnTo>
                      <a:pt x="15" y="319"/>
                    </a:lnTo>
                    <a:lnTo>
                      <a:pt x="29" y="286"/>
                    </a:lnTo>
                    <a:lnTo>
                      <a:pt x="44" y="254"/>
                    </a:lnTo>
                    <a:lnTo>
                      <a:pt x="58" y="223"/>
                    </a:lnTo>
                    <a:lnTo>
                      <a:pt x="65" y="208"/>
                    </a:lnTo>
                    <a:lnTo>
                      <a:pt x="73" y="193"/>
                    </a:lnTo>
                    <a:lnTo>
                      <a:pt x="80" y="177"/>
                    </a:lnTo>
                    <a:lnTo>
                      <a:pt x="87" y="163"/>
                    </a:lnTo>
                    <a:lnTo>
                      <a:pt x="94" y="149"/>
                    </a:lnTo>
                    <a:lnTo>
                      <a:pt x="102" y="136"/>
                    </a:lnTo>
                    <a:lnTo>
                      <a:pt x="109" y="122"/>
                    </a:lnTo>
                    <a:lnTo>
                      <a:pt x="116" y="111"/>
                    </a:lnTo>
                    <a:lnTo>
                      <a:pt x="123" y="99"/>
                    </a:lnTo>
                    <a:lnTo>
                      <a:pt x="130" y="87"/>
                    </a:lnTo>
                    <a:lnTo>
                      <a:pt x="138" y="76"/>
                    </a:lnTo>
                    <a:lnTo>
                      <a:pt x="145" y="65"/>
                    </a:lnTo>
                    <a:lnTo>
                      <a:pt x="152" y="55"/>
                    </a:lnTo>
                    <a:lnTo>
                      <a:pt x="159" y="47"/>
                    </a:lnTo>
                    <a:lnTo>
                      <a:pt x="167" y="38"/>
                    </a:lnTo>
                    <a:lnTo>
                      <a:pt x="174" y="31"/>
                    </a:lnTo>
                    <a:lnTo>
                      <a:pt x="181" y="24"/>
                    </a:lnTo>
                    <a:lnTo>
                      <a:pt x="188" y="18"/>
                    </a:lnTo>
                    <a:lnTo>
                      <a:pt x="196" y="13"/>
                    </a:lnTo>
                    <a:lnTo>
                      <a:pt x="203" y="9"/>
                    </a:lnTo>
                    <a:lnTo>
                      <a:pt x="210" y="5"/>
                    </a:lnTo>
                    <a:lnTo>
                      <a:pt x="217" y="3"/>
                    </a:lnTo>
                    <a:lnTo>
                      <a:pt x="224" y="1"/>
                    </a:lnTo>
                    <a:lnTo>
                      <a:pt x="232" y="0"/>
                    </a:lnTo>
                    <a:lnTo>
                      <a:pt x="236" y="0"/>
                    </a:lnTo>
                    <a:lnTo>
                      <a:pt x="239" y="1"/>
                    </a:lnTo>
                    <a:lnTo>
                      <a:pt x="243" y="3"/>
                    </a:lnTo>
                    <a:lnTo>
                      <a:pt x="247" y="4"/>
                    </a:lnTo>
                    <a:lnTo>
                      <a:pt x="250" y="6"/>
                    </a:lnTo>
                    <a:lnTo>
                      <a:pt x="254" y="8"/>
                    </a:lnTo>
                    <a:lnTo>
                      <a:pt x="259" y="10"/>
                    </a:lnTo>
                    <a:lnTo>
                      <a:pt x="263" y="13"/>
                    </a:lnTo>
                    <a:lnTo>
                      <a:pt x="267" y="17"/>
                    </a:lnTo>
                    <a:lnTo>
                      <a:pt x="271" y="20"/>
                    </a:lnTo>
                    <a:lnTo>
                      <a:pt x="274" y="24"/>
                    </a:lnTo>
                    <a:lnTo>
                      <a:pt x="278" y="28"/>
                    </a:lnTo>
                    <a:lnTo>
                      <a:pt x="282" y="33"/>
                    </a:lnTo>
                    <a:lnTo>
                      <a:pt x="286" y="37"/>
                    </a:lnTo>
                    <a:lnTo>
                      <a:pt x="296" y="47"/>
                    </a:lnTo>
                    <a:lnTo>
                      <a:pt x="304" y="59"/>
                    </a:lnTo>
                    <a:lnTo>
                      <a:pt x="312" y="71"/>
                    </a:lnTo>
                    <a:lnTo>
                      <a:pt x="321" y="82"/>
                    </a:lnTo>
                    <a:lnTo>
                      <a:pt x="329" y="96"/>
                    </a:lnTo>
                    <a:lnTo>
                      <a:pt x="337" y="111"/>
                    </a:lnTo>
                    <a:lnTo>
                      <a:pt x="345" y="125"/>
                    </a:lnTo>
                    <a:lnTo>
                      <a:pt x="354" y="140"/>
                    </a:lnTo>
                    <a:lnTo>
                      <a:pt x="362" y="154"/>
                    </a:lnTo>
                    <a:lnTo>
                      <a:pt x="378" y="185"/>
                    </a:lnTo>
                    <a:lnTo>
                      <a:pt x="394" y="215"/>
                    </a:lnTo>
                    <a:lnTo>
                      <a:pt x="401" y="229"/>
                    </a:lnTo>
                    <a:lnTo>
                      <a:pt x="408" y="244"/>
                    </a:lnTo>
                    <a:lnTo>
                      <a:pt x="416" y="258"/>
                    </a:lnTo>
                    <a:lnTo>
                      <a:pt x="422" y="272"/>
                    </a:lnTo>
                    <a:lnTo>
                      <a:pt x="428" y="285"/>
                    </a:lnTo>
                    <a:lnTo>
                      <a:pt x="434" y="297"/>
                    </a:lnTo>
                    <a:lnTo>
                      <a:pt x="440" y="309"/>
                    </a:lnTo>
                    <a:lnTo>
                      <a:pt x="445" y="320"/>
                    </a:lnTo>
                    <a:lnTo>
                      <a:pt x="449" y="324"/>
                    </a:lnTo>
                    <a:lnTo>
                      <a:pt x="451" y="330"/>
                    </a:lnTo>
                    <a:lnTo>
                      <a:pt x="453" y="334"/>
                    </a:lnTo>
                    <a:lnTo>
                      <a:pt x="456" y="338"/>
                    </a:lnTo>
                    <a:lnTo>
                      <a:pt x="458" y="341"/>
                    </a:lnTo>
                    <a:lnTo>
                      <a:pt x="460" y="345"/>
                    </a:lnTo>
                    <a:lnTo>
                      <a:pt x="462" y="348"/>
                    </a:lnTo>
                    <a:lnTo>
                      <a:pt x="463" y="351"/>
                    </a:lnTo>
                  </a:path>
                </a:pathLst>
              </a:cu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1" name="Freeform 119"/>
              <p:cNvSpPr>
                <a:spLocks/>
              </p:cNvSpPr>
              <p:nvPr/>
            </p:nvSpPr>
            <p:spPr bwMode="auto">
              <a:xfrm>
                <a:off x="3734" y="2530"/>
                <a:ext cx="463" cy="351"/>
              </a:xfrm>
              <a:custGeom>
                <a:avLst/>
                <a:gdLst>
                  <a:gd name="T0" fmla="*/ 449 w 463"/>
                  <a:gd name="T1" fmla="*/ 34 h 351"/>
                  <a:gd name="T2" fmla="*/ 420 w 463"/>
                  <a:gd name="T3" fmla="*/ 98 h 351"/>
                  <a:gd name="T4" fmla="*/ 398 w 463"/>
                  <a:gd name="T5" fmla="*/ 145 h 351"/>
                  <a:gd name="T6" fmla="*/ 384 w 463"/>
                  <a:gd name="T7" fmla="*/ 174 h 351"/>
                  <a:gd name="T8" fmla="*/ 369 w 463"/>
                  <a:gd name="T9" fmla="*/ 202 h 351"/>
                  <a:gd name="T10" fmla="*/ 355 w 463"/>
                  <a:gd name="T11" fmla="*/ 229 h 351"/>
                  <a:gd name="T12" fmla="*/ 340 w 463"/>
                  <a:gd name="T13" fmla="*/ 254 h 351"/>
                  <a:gd name="T14" fmla="*/ 325 w 463"/>
                  <a:gd name="T15" fmla="*/ 276 h 351"/>
                  <a:gd name="T16" fmla="*/ 310 w 463"/>
                  <a:gd name="T17" fmla="*/ 296 h 351"/>
                  <a:gd name="T18" fmla="*/ 296 w 463"/>
                  <a:gd name="T19" fmla="*/ 313 h 351"/>
                  <a:gd name="T20" fmla="*/ 282 w 463"/>
                  <a:gd name="T21" fmla="*/ 328 h 351"/>
                  <a:gd name="T22" fmla="*/ 267 w 463"/>
                  <a:gd name="T23" fmla="*/ 339 h 351"/>
                  <a:gd name="T24" fmla="*/ 253 w 463"/>
                  <a:gd name="T25" fmla="*/ 347 h 351"/>
                  <a:gd name="T26" fmla="*/ 238 w 463"/>
                  <a:gd name="T27" fmla="*/ 351 h 351"/>
                  <a:gd name="T28" fmla="*/ 228 w 463"/>
                  <a:gd name="T29" fmla="*/ 351 h 351"/>
                  <a:gd name="T30" fmla="*/ 221 w 463"/>
                  <a:gd name="T31" fmla="*/ 350 h 351"/>
                  <a:gd name="T32" fmla="*/ 212 w 463"/>
                  <a:gd name="T33" fmla="*/ 347 h 351"/>
                  <a:gd name="T34" fmla="*/ 205 w 463"/>
                  <a:gd name="T35" fmla="*/ 341 h 351"/>
                  <a:gd name="T36" fmla="*/ 197 w 463"/>
                  <a:gd name="T37" fmla="*/ 336 h 351"/>
                  <a:gd name="T38" fmla="*/ 189 w 463"/>
                  <a:gd name="T39" fmla="*/ 328 h 351"/>
                  <a:gd name="T40" fmla="*/ 180 w 463"/>
                  <a:gd name="T41" fmla="*/ 320 h 351"/>
                  <a:gd name="T42" fmla="*/ 168 w 463"/>
                  <a:gd name="T43" fmla="*/ 305 h 351"/>
                  <a:gd name="T44" fmla="*/ 151 w 463"/>
                  <a:gd name="T45" fmla="*/ 282 h 351"/>
                  <a:gd name="T46" fmla="*/ 134 w 463"/>
                  <a:gd name="T47" fmla="*/ 256 h 351"/>
                  <a:gd name="T48" fmla="*/ 117 w 463"/>
                  <a:gd name="T49" fmla="*/ 228 h 351"/>
                  <a:gd name="T50" fmla="*/ 101 w 463"/>
                  <a:gd name="T51" fmla="*/ 198 h 351"/>
                  <a:gd name="T52" fmla="*/ 70 w 463"/>
                  <a:gd name="T53" fmla="*/ 137 h 351"/>
                  <a:gd name="T54" fmla="*/ 54 w 463"/>
                  <a:gd name="T55" fmla="*/ 108 h 351"/>
                  <a:gd name="T56" fmla="*/ 41 w 463"/>
                  <a:gd name="T57" fmla="*/ 80 h 351"/>
                  <a:gd name="T58" fmla="*/ 28 w 463"/>
                  <a:gd name="T59" fmla="*/ 54 h 351"/>
                  <a:gd name="T60" fmla="*/ 17 w 463"/>
                  <a:gd name="T61" fmla="*/ 33 h 351"/>
                  <a:gd name="T62" fmla="*/ 12 w 463"/>
                  <a:gd name="T63" fmla="*/ 23 h 351"/>
                  <a:gd name="T64" fmla="*/ 8 w 463"/>
                  <a:gd name="T65" fmla="*/ 14 h 351"/>
                  <a:gd name="T66" fmla="*/ 4 w 463"/>
                  <a:gd name="T67" fmla="*/ 7 h 351"/>
                  <a:gd name="T68" fmla="*/ 0 w 463"/>
                  <a:gd name="T69" fmla="*/ 0 h 35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63"/>
                  <a:gd name="T106" fmla="*/ 0 h 351"/>
                  <a:gd name="T107" fmla="*/ 463 w 463"/>
                  <a:gd name="T108" fmla="*/ 351 h 35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63" h="351">
                    <a:moveTo>
                      <a:pt x="463" y="0"/>
                    </a:moveTo>
                    <a:lnTo>
                      <a:pt x="449" y="34"/>
                    </a:lnTo>
                    <a:lnTo>
                      <a:pt x="434" y="66"/>
                    </a:lnTo>
                    <a:lnTo>
                      <a:pt x="420" y="98"/>
                    </a:lnTo>
                    <a:lnTo>
                      <a:pt x="405" y="130"/>
                    </a:lnTo>
                    <a:lnTo>
                      <a:pt x="398" y="145"/>
                    </a:lnTo>
                    <a:lnTo>
                      <a:pt x="391" y="160"/>
                    </a:lnTo>
                    <a:lnTo>
                      <a:pt x="384" y="174"/>
                    </a:lnTo>
                    <a:lnTo>
                      <a:pt x="377" y="189"/>
                    </a:lnTo>
                    <a:lnTo>
                      <a:pt x="369" y="202"/>
                    </a:lnTo>
                    <a:lnTo>
                      <a:pt x="362" y="216"/>
                    </a:lnTo>
                    <a:lnTo>
                      <a:pt x="355" y="229"/>
                    </a:lnTo>
                    <a:lnTo>
                      <a:pt x="348" y="242"/>
                    </a:lnTo>
                    <a:lnTo>
                      <a:pt x="340" y="254"/>
                    </a:lnTo>
                    <a:lnTo>
                      <a:pt x="333" y="266"/>
                    </a:lnTo>
                    <a:lnTo>
                      <a:pt x="325" y="276"/>
                    </a:lnTo>
                    <a:lnTo>
                      <a:pt x="318" y="286"/>
                    </a:lnTo>
                    <a:lnTo>
                      <a:pt x="310" y="296"/>
                    </a:lnTo>
                    <a:lnTo>
                      <a:pt x="303" y="306"/>
                    </a:lnTo>
                    <a:lnTo>
                      <a:pt x="296" y="313"/>
                    </a:lnTo>
                    <a:lnTo>
                      <a:pt x="289" y="321"/>
                    </a:lnTo>
                    <a:lnTo>
                      <a:pt x="282" y="328"/>
                    </a:lnTo>
                    <a:lnTo>
                      <a:pt x="274" y="334"/>
                    </a:lnTo>
                    <a:lnTo>
                      <a:pt x="267" y="339"/>
                    </a:lnTo>
                    <a:lnTo>
                      <a:pt x="260" y="343"/>
                    </a:lnTo>
                    <a:lnTo>
                      <a:pt x="253" y="347"/>
                    </a:lnTo>
                    <a:lnTo>
                      <a:pt x="245" y="349"/>
                    </a:lnTo>
                    <a:lnTo>
                      <a:pt x="238" y="351"/>
                    </a:lnTo>
                    <a:lnTo>
                      <a:pt x="231" y="351"/>
                    </a:lnTo>
                    <a:lnTo>
                      <a:pt x="228" y="351"/>
                    </a:lnTo>
                    <a:lnTo>
                      <a:pt x="224" y="350"/>
                    </a:lnTo>
                    <a:lnTo>
                      <a:pt x="221" y="350"/>
                    </a:lnTo>
                    <a:lnTo>
                      <a:pt x="216" y="348"/>
                    </a:lnTo>
                    <a:lnTo>
                      <a:pt x="212" y="347"/>
                    </a:lnTo>
                    <a:lnTo>
                      <a:pt x="208" y="344"/>
                    </a:lnTo>
                    <a:lnTo>
                      <a:pt x="205" y="341"/>
                    </a:lnTo>
                    <a:lnTo>
                      <a:pt x="201" y="339"/>
                    </a:lnTo>
                    <a:lnTo>
                      <a:pt x="197" y="336"/>
                    </a:lnTo>
                    <a:lnTo>
                      <a:pt x="193" y="332"/>
                    </a:lnTo>
                    <a:lnTo>
                      <a:pt x="189" y="328"/>
                    </a:lnTo>
                    <a:lnTo>
                      <a:pt x="184" y="324"/>
                    </a:lnTo>
                    <a:lnTo>
                      <a:pt x="180" y="320"/>
                    </a:lnTo>
                    <a:lnTo>
                      <a:pt x="176" y="314"/>
                    </a:lnTo>
                    <a:lnTo>
                      <a:pt x="168" y="305"/>
                    </a:lnTo>
                    <a:lnTo>
                      <a:pt x="160" y="294"/>
                    </a:lnTo>
                    <a:lnTo>
                      <a:pt x="151" y="282"/>
                    </a:lnTo>
                    <a:lnTo>
                      <a:pt x="142" y="269"/>
                    </a:lnTo>
                    <a:lnTo>
                      <a:pt x="134" y="256"/>
                    </a:lnTo>
                    <a:lnTo>
                      <a:pt x="126" y="242"/>
                    </a:lnTo>
                    <a:lnTo>
                      <a:pt x="117" y="228"/>
                    </a:lnTo>
                    <a:lnTo>
                      <a:pt x="109" y="213"/>
                    </a:lnTo>
                    <a:lnTo>
                      <a:pt x="101" y="198"/>
                    </a:lnTo>
                    <a:lnTo>
                      <a:pt x="85" y="167"/>
                    </a:lnTo>
                    <a:lnTo>
                      <a:pt x="70" y="137"/>
                    </a:lnTo>
                    <a:lnTo>
                      <a:pt x="62" y="122"/>
                    </a:lnTo>
                    <a:lnTo>
                      <a:pt x="54" y="108"/>
                    </a:lnTo>
                    <a:lnTo>
                      <a:pt x="48" y="94"/>
                    </a:lnTo>
                    <a:lnTo>
                      <a:pt x="41" y="80"/>
                    </a:lnTo>
                    <a:lnTo>
                      <a:pt x="35" y="67"/>
                    </a:lnTo>
                    <a:lnTo>
                      <a:pt x="28" y="54"/>
                    </a:lnTo>
                    <a:lnTo>
                      <a:pt x="22" y="43"/>
                    </a:lnTo>
                    <a:lnTo>
                      <a:pt x="17" y="33"/>
                    </a:lnTo>
                    <a:lnTo>
                      <a:pt x="15" y="27"/>
                    </a:lnTo>
                    <a:lnTo>
                      <a:pt x="12" y="23"/>
                    </a:lnTo>
                    <a:lnTo>
                      <a:pt x="10" y="19"/>
                    </a:lnTo>
                    <a:lnTo>
                      <a:pt x="8" y="14"/>
                    </a:lnTo>
                    <a:lnTo>
                      <a:pt x="6" y="10"/>
                    </a:lnTo>
                    <a:lnTo>
                      <a:pt x="4" y="7"/>
                    </a:ln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2" name="Freeform 120"/>
              <p:cNvSpPr>
                <a:spLocks/>
              </p:cNvSpPr>
              <p:nvPr/>
            </p:nvSpPr>
            <p:spPr bwMode="auto">
              <a:xfrm>
                <a:off x="4661" y="2530"/>
                <a:ext cx="464" cy="351"/>
              </a:xfrm>
              <a:custGeom>
                <a:avLst/>
                <a:gdLst>
                  <a:gd name="T0" fmla="*/ 449 w 464"/>
                  <a:gd name="T1" fmla="*/ 34 h 351"/>
                  <a:gd name="T2" fmla="*/ 420 w 464"/>
                  <a:gd name="T3" fmla="*/ 98 h 351"/>
                  <a:gd name="T4" fmla="*/ 399 w 464"/>
                  <a:gd name="T5" fmla="*/ 145 h 351"/>
                  <a:gd name="T6" fmla="*/ 384 w 464"/>
                  <a:gd name="T7" fmla="*/ 174 h 351"/>
                  <a:gd name="T8" fmla="*/ 369 w 464"/>
                  <a:gd name="T9" fmla="*/ 202 h 351"/>
                  <a:gd name="T10" fmla="*/ 354 w 464"/>
                  <a:gd name="T11" fmla="*/ 229 h 351"/>
                  <a:gd name="T12" fmla="*/ 340 w 464"/>
                  <a:gd name="T13" fmla="*/ 254 h 351"/>
                  <a:gd name="T14" fmla="*/ 325 w 464"/>
                  <a:gd name="T15" fmla="*/ 276 h 351"/>
                  <a:gd name="T16" fmla="*/ 311 w 464"/>
                  <a:gd name="T17" fmla="*/ 296 h 351"/>
                  <a:gd name="T18" fmla="*/ 296 w 464"/>
                  <a:gd name="T19" fmla="*/ 313 h 351"/>
                  <a:gd name="T20" fmla="*/ 282 w 464"/>
                  <a:gd name="T21" fmla="*/ 328 h 351"/>
                  <a:gd name="T22" fmla="*/ 268 w 464"/>
                  <a:gd name="T23" fmla="*/ 339 h 351"/>
                  <a:gd name="T24" fmla="*/ 253 w 464"/>
                  <a:gd name="T25" fmla="*/ 347 h 351"/>
                  <a:gd name="T26" fmla="*/ 239 w 464"/>
                  <a:gd name="T27" fmla="*/ 351 h 351"/>
                  <a:gd name="T28" fmla="*/ 228 w 464"/>
                  <a:gd name="T29" fmla="*/ 351 h 351"/>
                  <a:gd name="T30" fmla="*/ 221 w 464"/>
                  <a:gd name="T31" fmla="*/ 350 h 351"/>
                  <a:gd name="T32" fmla="*/ 213 w 464"/>
                  <a:gd name="T33" fmla="*/ 347 h 351"/>
                  <a:gd name="T34" fmla="*/ 206 w 464"/>
                  <a:gd name="T35" fmla="*/ 341 h 351"/>
                  <a:gd name="T36" fmla="*/ 197 w 464"/>
                  <a:gd name="T37" fmla="*/ 336 h 351"/>
                  <a:gd name="T38" fmla="*/ 189 w 464"/>
                  <a:gd name="T39" fmla="*/ 328 h 351"/>
                  <a:gd name="T40" fmla="*/ 181 w 464"/>
                  <a:gd name="T41" fmla="*/ 320 h 351"/>
                  <a:gd name="T42" fmla="*/ 168 w 464"/>
                  <a:gd name="T43" fmla="*/ 305 h 351"/>
                  <a:gd name="T44" fmla="*/ 152 w 464"/>
                  <a:gd name="T45" fmla="*/ 282 h 351"/>
                  <a:gd name="T46" fmla="*/ 134 w 464"/>
                  <a:gd name="T47" fmla="*/ 256 h 351"/>
                  <a:gd name="T48" fmla="*/ 118 w 464"/>
                  <a:gd name="T49" fmla="*/ 228 h 351"/>
                  <a:gd name="T50" fmla="*/ 101 w 464"/>
                  <a:gd name="T51" fmla="*/ 198 h 351"/>
                  <a:gd name="T52" fmla="*/ 70 w 464"/>
                  <a:gd name="T53" fmla="*/ 137 h 351"/>
                  <a:gd name="T54" fmla="*/ 55 w 464"/>
                  <a:gd name="T55" fmla="*/ 108 h 351"/>
                  <a:gd name="T56" fmla="*/ 41 w 464"/>
                  <a:gd name="T57" fmla="*/ 80 h 351"/>
                  <a:gd name="T58" fmla="*/ 29 w 464"/>
                  <a:gd name="T59" fmla="*/ 54 h 351"/>
                  <a:gd name="T60" fmla="*/ 18 w 464"/>
                  <a:gd name="T61" fmla="*/ 33 h 351"/>
                  <a:gd name="T62" fmla="*/ 12 w 464"/>
                  <a:gd name="T63" fmla="*/ 23 h 351"/>
                  <a:gd name="T64" fmla="*/ 8 w 464"/>
                  <a:gd name="T65" fmla="*/ 14 h 351"/>
                  <a:gd name="T66" fmla="*/ 4 w 464"/>
                  <a:gd name="T67" fmla="*/ 7 h 351"/>
                  <a:gd name="T68" fmla="*/ 0 w 464"/>
                  <a:gd name="T69" fmla="*/ 0 h 35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64"/>
                  <a:gd name="T106" fmla="*/ 0 h 351"/>
                  <a:gd name="T107" fmla="*/ 464 w 464"/>
                  <a:gd name="T108" fmla="*/ 351 h 351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64" h="351">
                    <a:moveTo>
                      <a:pt x="464" y="0"/>
                    </a:moveTo>
                    <a:lnTo>
                      <a:pt x="449" y="34"/>
                    </a:lnTo>
                    <a:lnTo>
                      <a:pt x="435" y="66"/>
                    </a:lnTo>
                    <a:lnTo>
                      <a:pt x="420" y="98"/>
                    </a:lnTo>
                    <a:lnTo>
                      <a:pt x="406" y="130"/>
                    </a:lnTo>
                    <a:lnTo>
                      <a:pt x="399" y="145"/>
                    </a:lnTo>
                    <a:lnTo>
                      <a:pt x="391" y="160"/>
                    </a:lnTo>
                    <a:lnTo>
                      <a:pt x="384" y="174"/>
                    </a:lnTo>
                    <a:lnTo>
                      <a:pt x="376" y="189"/>
                    </a:lnTo>
                    <a:lnTo>
                      <a:pt x="369" y="202"/>
                    </a:lnTo>
                    <a:lnTo>
                      <a:pt x="361" y="216"/>
                    </a:lnTo>
                    <a:lnTo>
                      <a:pt x="354" y="229"/>
                    </a:lnTo>
                    <a:lnTo>
                      <a:pt x="347" y="242"/>
                    </a:lnTo>
                    <a:lnTo>
                      <a:pt x="340" y="254"/>
                    </a:lnTo>
                    <a:lnTo>
                      <a:pt x="333" y="266"/>
                    </a:lnTo>
                    <a:lnTo>
                      <a:pt x="325" y="276"/>
                    </a:lnTo>
                    <a:lnTo>
                      <a:pt x="318" y="286"/>
                    </a:lnTo>
                    <a:lnTo>
                      <a:pt x="311" y="296"/>
                    </a:lnTo>
                    <a:lnTo>
                      <a:pt x="304" y="306"/>
                    </a:lnTo>
                    <a:lnTo>
                      <a:pt x="296" y="313"/>
                    </a:lnTo>
                    <a:lnTo>
                      <a:pt x="289" y="321"/>
                    </a:lnTo>
                    <a:lnTo>
                      <a:pt x="282" y="328"/>
                    </a:lnTo>
                    <a:lnTo>
                      <a:pt x="275" y="334"/>
                    </a:lnTo>
                    <a:lnTo>
                      <a:pt x="268" y="339"/>
                    </a:lnTo>
                    <a:lnTo>
                      <a:pt x="260" y="343"/>
                    </a:lnTo>
                    <a:lnTo>
                      <a:pt x="253" y="347"/>
                    </a:lnTo>
                    <a:lnTo>
                      <a:pt x="246" y="349"/>
                    </a:lnTo>
                    <a:lnTo>
                      <a:pt x="239" y="351"/>
                    </a:lnTo>
                    <a:lnTo>
                      <a:pt x="231" y="351"/>
                    </a:lnTo>
                    <a:lnTo>
                      <a:pt x="228" y="351"/>
                    </a:lnTo>
                    <a:lnTo>
                      <a:pt x="224" y="350"/>
                    </a:lnTo>
                    <a:lnTo>
                      <a:pt x="221" y="350"/>
                    </a:lnTo>
                    <a:lnTo>
                      <a:pt x="217" y="348"/>
                    </a:lnTo>
                    <a:lnTo>
                      <a:pt x="213" y="347"/>
                    </a:lnTo>
                    <a:lnTo>
                      <a:pt x="209" y="344"/>
                    </a:lnTo>
                    <a:lnTo>
                      <a:pt x="206" y="341"/>
                    </a:lnTo>
                    <a:lnTo>
                      <a:pt x="201" y="339"/>
                    </a:lnTo>
                    <a:lnTo>
                      <a:pt x="197" y="336"/>
                    </a:lnTo>
                    <a:lnTo>
                      <a:pt x="193" y="332"/>
                    </a:lnTo>
                    <a:lnTo>
                      <a:pt x="189" y="328"/>
                    </a:lnTo>
                    <a:lnTo>
                      <a:pt x="185" y="324"/>
                    </a:lnTo>
                    <a:lnTo>
                      <a:pt x="181" y="320"/>
                    </a:lnTo>
                    <a:lnTo>
                      <a:pt x="177" y="314"/>
                    </a:lnTo>
                    <a:lnTo>
                      <a:pt x="168" y="305"/>
                    </a:lnTo>
                    <a:lnTo>
                      <a:pt x="160" y="294"/>
                    </a:lnTo>
                    <a:lnTo>
                      <a:pt x="152" y="282"/>
                    </a:lnTo>
                    <a:lnTo>
                      <a:pt x="143" y="269"/>
                    </a:lnTo>
                    <a:lnTo>
                      <a:pt x="134" y="256"/>
                    </a:lnTo>
                    <a:lnTo>
                      <a:pt x="126" y="242"/>
                    </a:lnTo>
                    <a:lnTo>
                      <a:pt x="118" y="228"/>
                    </a:lnTo>
                    <a:lnTo>
                      <a:pt x="109" y="213"/>
                    </a:lnTo>
                    <a:lnTo>
                      <a:pt x="101" y="198"/>
                    </a:lnTo>
                    <a:lnTo>
                      <a:pt x="86" y="167"/>
                    </a:lnTo>
                    <a:lnTo>
                      <a:pt x="70" y="137"/>
                    </a:lnTo>
                    <a:lnTo>
                      <a:pt x="62" y="122"/>
                    </a:lnTo>
                    <a:lnTo>
                      <a:pt x="55" y="108"/>
                    </a:lnTo>
                    <a:lnTo>
                      <a:pt x="49" y="94"/>
                    </a:lnTo>
                    <a:lnTo>
                      <a:pt x="41" y="80"/>
                    </a:lnTo>
                    <a:lnTo>
                      <a:pt x="35" y="67"/>
                    </a:lnTo>
                    <a:lnTo>
                      <a:pt x="29" y="54"/>
                    </a:lnTo>
                    <a:lnTo>
                      <a:pt x="23" y="43"/>
                    </a:lnTo>
                    <a:lnTo>
                      <a:pt x="18" y="33"/>
                    </a:lnTo>
                    <a:lnTo>
                      <a:pt x="16" y="27"/>
                    </a:lnTo>
                    <a:lnTo>
                      <a:pt x="12" y="23"/>
                    </a:lnTo>
                    <a:lnTo>
                      <a:pt x="10" y="19"/>
                    </a:lnTo>
                    <a:lnTo>
                      <a:pt x="8" y="14"/>
                    </a:lnTo>
                    <a:lnTo>
                      <a:pt x="6" y="10"/>
                    </a:lnTo>
                    <a:lnTo>
                      <a:pt x="4" y="7"/>
                    </a:ln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3" name="Rectangle 121"/>
              <p:cNvSpPr>
                <a:spLocks noChangeArrowheads="1"/>
              </p:cNvSpPr>
              <p:nvPr/>
            </p:nvSpPr>
            <p:spPr bwMode="auto">
              <a:xfrm>
                <a:off x="5342" y="2552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ea typeface="宋体" pitchFamily="2" charset="-122"/>
                  </a:rPr>
                  <a:t>t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3824" name="Rectangle 122"/>
              <p:cNvSpPr>
                <a:spLocks noChangeArrowheads="1"/>
              </p:cNvSpPr>
              <p:nvPr/>
            </p:nvSpPr>
            <p:spPr bwMode="auto">
              <a:xfrm>
                <a:off x="5399" y="2578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ea typeface="宋体" pitchFamily="2" charset="-122"/>
                  </a:rPr>
                  <a:t> 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3825" name="Line 123"/>
              <p:cNvSpPr>
                <a:spLocks noChangeShapeType="1"/>
              </p:cNvSpPr>
              <p:nvPr/>
            </p:nvSpPr>
            <p:spPr bwMode="auto">
              <a:xfrm flipV="1">
                <a:off x="3949" y="2951"/>
                <a:ext cx="1" cy="14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6" name="Line 124"/>
              <p:cNvSpPr>
                <a:spLocks noChangeShapeType="1"/>
              </p:cNvSpPr>
              <p:nvPr/>
            </p:nvSpPr>
            <p:spPr bwMode="auto">
              <a:xfrm flipV="1">
                <a:off x="4887" y="2951"/>
                <a:ext cx="1" cy="14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7" name="Freeform 125"/>
              <p:cNvSpPr>
                <a:spLocks noEditPoints="1"/>
              </p:cNvSpPr>
              <p:nvPr/>
            </p:nvSpPr>
            <p:spPr bwMode="auto">
              <a:xfrm>
                <a:off x="3956" y="2977"/>
                <a:ext cx="927" cy="36"/>
              </a:xfrm>
              <a:custGeom>
                <a:avLst/>
                <a:gdLst>
                  <a:gd name="T0" fmla="*/ 25 w 927"/>
                  <a:gd name="T1" fmla="*/ 12 h 36"/>
                  <a:gd name="T2" fmla="*/ 901 w 927"/>
                  <a:gd name="T3" fmla="*/ 13 h 36"/>
                  <a:gd name="T4" fmla="*/ 901 w 927"/>
                  <a:gd name="T5" fmla="*/ 24 h 36"/>
                  <a:gd name="T6" fmla="*/ 25 w 927"/>
                  <a:gd name="T7" fmla="*/ 24 h 36"/>
                  <a:gd name="T8" fmla="*/ 25 w 927"/>
                  <a:gd name="T9" fmla="*/ 12 h 36"/>
                  <a:gd name="T10" fmla="*/ 35 w 927"/>
                  <a:gd name="T11" fmla="*/ 36 h 36"/>
                  <a:gd name="T12" fmla="*/ 0 w 927"/>
                  <a:gd name="T13" fmla="*/ 17 h 36"/>
                  <a:gd name="T14" fmla="*/ 35 w 927"/>
                  <a:gd name="T15" fmla="*/ 0 h 36"/>
                  <a:gd name="T16" fmla="*/ 35 w 927"/>
                  <a:gd name="T17" fmla="*/ 36 h 36"/>
                  <a:gd name="T18" fmla="*/ 893 w 927"/>
                  <a:gd name="T19" fmla="*/ 0 h 36"/>
                  <a:gd name="T20" fmla="*/ 927 w 927"/>
                  <a:gd name="T21" fmla="*/ 18 h 36"/>
                  <a:gd name="T22" fmla="*/ 893 w 927"/>
                  <a:gd name="T23" fmla="*/ 36 h 36"/>
                  <a:gd name="T24" fmla="*/ 893 w 927"/>
                  <a:gd name="T25" fmla="*/ 0 h 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27"/>
                  <a:gd name="T40" fmla="*/ 0 h 36"/>
                  <a:gd name="T41" fmla="*/ 927 w 927"/>
                  <a:gd name="T42" fmla="*/ 36 h 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27" h="36">
                    <a:moveTo>
                      <a:pt x="25" y="12"/>
                    </a:moveTo>
                    <a:lnTo>
                      <a:pt x="901" y="13"/>
                    </a:lnTo>
                    <a:lnTo>
                      <a:pt x="901" y="24"/>
                    </a:lnTo>
                    <a:lnTo>
                      <a:pt x="25" y="24"/>
                    </a:lnTo>
                    <a:lnTo>
                      <a:pt x="25" y="12"/>
                    </a:lnTo>
                    <a:close/>
                    <a:moveTo>
                      <a:pt x="35" y="36"/>
                    </a:moveTo>
                    <a:lnTo>
                      <a:pt x="0" y="17"/>
                    </a:lnTo>
                    <a:lnTo>
                      <a:pt x="35" y="0"/>
                    </a:lnTo>
                    <a:lnTo>
                      <a:pt x="35" y="36"/>
                    </a:lnTo>
                    <a:close/>
                    <a:moveTo>
                      <a:pt x="893" y="0"/>
                    </a:moveTo>
                    <a:lnTo>
                      <a:pt x="927" y="18"/>
                    </a:lnTo>
                    <a:lnTo>
                      <a:pt x="893" y="36"/>
                    </a:lnTo>
                    <a:lnTo>
                      <a:pt x="893" y="0"/>
                    </a:lnTo>
                    <a:close/>
                  </a:path>
                </a:pathLst>
              </a:custGeom>
              <a:solidFill>
                <a:srgbClr val="FF00FF"/>
              </a:solidFill>
              <a:ln w="1588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8" name="Rectangle 126"/>
              <p:cNvSpPr>
                <a:spLocks noChangeArrowheads="1"/>
              </p:cNvSpPr>
              <p:nvPr/>
            </p:nvSpPr>
            <p:spPr bwMode="auto">
              <a:xfrm>
                <a:off x="4317" y="2881"/>
                <a:ext cx="239" cy="23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3829" name="Rectangle 127"/>
              <p:cNvSpPr>
                <a:spLocks noChangeArrowheads="1"/>
              </p:cNvSpPr>
              <p:nvPr/>
            </p:nvSpPr>
            <p:spPr bwMode="auto">
              <a:xfrm>
                <a:off x="4390" y="291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600" i="1">
                    <a:solidFill>
                      <a:srgbClr val="000000"/>
                    </a:solidFill>
                    <a:ea typeface="宋体" pitchFamily="2" charset="-122"/>
                  </a:rPr>
                  <a:t>T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3830" name="Rectangle 128"/>
              <p:cNvSpPr>
                <a:spLocks noChangeArrowheads="1"/>
              </p:cNvSpPr>
              <p:nvPr/>
            </p:nvSpPr>
            <p:spPr bwMode="auto">
              <a:xfrm>
                <a:off x="4493" y="2949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ea typeface="宋体" pitchFamily="2" charset="-122"/>
                  </a:rPr>
                  <a:t> 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3831" name="Rectangle 129"/>
              <p:cNvSpPr>
                <a:spLocks noChangeArrowheads="1"/>
              </p:cNvSpPr>
              <p:nvPr/>
            </p:nvSpPr>
            <p:spPr bwMode="auto">
              <a:xfrm>
                <a:off x="3266" y="2008"/>
                <a:ext cx="238" cy="561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3832" name="Freeform 130"/>
              <p:cNvSpPr>
                <a:spLocks noEditPoints="1"/>
              </p:cNvSpPr>
              <p:nvPr/>
            </p:nvSpPr>
            <p:spPr bwMode="auto">
              <a:xfrm>
                <a:off x="3489" y="1899"/>
                <a:ext cx="35" cy="1192"/>
              </a:xfrm>
              <a:custGeom>
                <a:avLst/>
                <a:gdLst>
                  <a:gd name="T0" fmla="*/ 10 w 35"/>
                  <a:gd name="T1" fmla="*/ 1192 h 1192"/>
                  <a:gd name="T2" fmla="*/ 11 w 35"/>
                  <a:gd name="T3" fmla="*/ 81 h 1192"/>
                  <a:gd name="T4" fmla="*/ 24 w 35"/>
                  <a:gd name="T5" fmla="*/ 81 h 1192"/>
                  <a:gd name="T6" fmla="*/ 24 w 35"/>
                  <a:gd name="T7" fmla="*/ 1192 h 1192"/>
                  <a:gd name="T8" fmla="*/ 10 w 35"/>
                  <a:gd name="T9" fmla="*/ 1192 h 1192"/>
                  <a:gd name="T10" fmla="*/ 0 w 35"/>
                  <a:gd name="T11" fmla="*/ 90 h 1192"/>
                  <a:gd name="T12" fmla="*/ 17 w 35"/>
                  <a:gd name="T13" fmla="*/ 0 h 1192"/>
                  <a:gd name="T14" fmla="*/ 35 w 35"/>
                  <a:gd name="T15" fmla="*/ 90 h 1192"/>
                  <a:gd name="T16" fmla="*/ 0 w 35"/>
                  <a:gd name="T17" fmla="*/ 90 h 11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5"/>
                  <a:gd name="T28" fmla="*/ 0 h 1192"/>
                  <a:gd name="T29" fmla="*/ 35 w 35"/>
                  <a:gd name="T30" fmla="*/ 1192 h 119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5" h="1192">
                    <a:moveTo>
                      <a:pt x="10" y="1192"/>
                    </a:moveTo>
                    <a:lnTo>
                      <a:pt x="11" y="81"/>
                    </a:lnTo>
                    <a:lnTo>
                      <a:pt x="24" y="81"/>
                    </a:lnTo>
                    <a:lnTo>
                      <a:pt x="24" y="1192"/>
                    </a:lnTo>
                    <a:lnTo>
                      <a:pt x="10" y="1192"/>
                    </a:lnTo>
                    <a:close/>
                    <a:moveTo>
                      <a:pt x="0" y="90"/>
                    </a:moveTo>
                    <a:lnTo>
                      <a:pt x="17" y="0"/>
                    </a:lnTo>
                    <a:lnTo>
                      <a:pt x="35" y="90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FF"/>
              </a:solidFill>
              <a:ln w="15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33" name="Rectangle 131"/>
              <p:cNvSpPr>
                <a:spLocks noChangeArrowheads="1"/>
              </p:cNvSpPr>
              <p:nvPr/>
            </p:nvSpPr>
            <p:spPr bwMode="auto">
              <a:xfrm>
                <a:off x="3404" y="2467"/>
                <a:ext cx="6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700" i="1">
                    <a:solidFill>
                      <a:srgbClr val="000000"/>
                    </a:solidFill>
                    <a:ea typeface="宋体" pitchFamily="2" charset="-122"/>
                  </a:rPr>
                  <a:t>o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3834" name="Rectangle 132"/>
              <p:cNvSpPr>
                <a:spLocks noChangeArrowheads="1"/>
              </p:cNvSpPr>
              <p:nvPr/>
            </p:nvSpPr>
            <p:spPr bwMode="auto">
              <a:xfrm>
                <a:off x="3488" y="2508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ea typeface="宋体" pitchFamily="2" charset="-122"/>
                  </a:rPr>
                  <a:t> 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3835" name="Rectangle 133"/>
              <p:cNvSpPr>
                <a:spLocks noChangeArrowheads="1"/>
              </p:cNvSpPr>
              <p:nvPr/>
            </p:nvSpPr>
            <p:spPr bwMode="auto">
              <a:xfrm>
                <a:off x="3650" y="1969"/>
                <a:ext cx="3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000000"/>
                    </a:solidFill>
                    <a:ea typeface="宋体" pitchFamily="2" charset="-122"/>
                  </a:rPr>
                  <a:t>x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3836" name="Rectangle 134"/>
              <p:cNvSpPr>
                <a:spLocks noChangeArrowheads="1"/>
              </p:cNvSpPr>
              <p:nvPr/>
            </p:nvSpPr>
            <p:spPr bwMode="auto">
              <a:xfrm>
                <a:off x="3560" y="1877"/>
                <a:ext cx="9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900" i="1">
                    <a:solidFill>
                      <a:srgbClr val="000000"/>
                    </a:solidFill>
                    <a:ea typeface="宋体" pitchFamily="2" charset="-122"/>
                  </a:rPr>
                  <a:t>E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3837" name="Rectangle 135"/>
              <p:cNvSpPr>
                <a:spLocks noChangeArrowheads="1"/>
              </p:cNvSpPr>
              <p:nvPr/>
            </p:nvSpPr>
            <p:spPr bwMode="auto">
              <a:xfrm>
                <a:off x="3713" y="1937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ea typeface="宋体" pitchFamily="2" charset="-122"/>
                  </a:rPr>
                  <a:t> </a:t>
                </a:r>
                <a:endParaRPr lang="en-US" altLang="zh-CN" sz="2800">
                  <a:ea typeface="宋体" pitchFamily="2" charset="-122"/>
                </a:endParaRPr>
              </a:p>
            </p:txBody>
          </p:sp>
        </p:grpSp>
        <p:grpSp>
          <p:nvGrpSpPr>
            <p:cNvPr id="33811" name="Group 136"/>
            <p:cNvGrpSpPr>
              <a:grpSpLocks/>
            </p:cNvGrpSpPr>
            <p:nvPr/>
          </p:nvGrpSpPr>
          <p:grpSpPr bwMode="auto">
            <a:xfrm>
              <a:off x="3670" y="3542"/>
              <a:ext cx="1841" cy="251"/>
              <a:chOff x="3447" y="3270"/>
              <a:chExt cx="1841" cy="251"/>
            </a:xfrm>
          </p:grpSpPr>
          <p:sp>
            <p:nvSpPr>
              <p:cNvPr id="33812" name="Text Box 137"/>
              <p:cNvSpPr txBox="1">
                <a:spLocks noChangeArrowheads="1"/>
              </p:cNvSpPr>
              <p:nvPr/>
            </p:nvSpPr>
            <p:spPr bwMode="auto">
              <a:xfrm>
                <a:off x="3470" y="3284"/>
                <a:ext cx="181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r" eaLnBrk="1" hangingPunct="1"/>
                <a:r>
                  <a:rPr lang="zh-CN" altLang="en-US" sz="1400">
                    <a:ea typeface="宋体" pitchFamily="2" charset="-122"/>
                  </a:rPr>
                  <a:t>的曲线</a:t>
                </a:r>
              </a:p>
            </p:txBody>
          </p:sp>
          <p:graphicFrame>
            <p:nvGraphicFramePr>
              <p:cNvPr id="33813" name="Object 138"/>
              <p:cNvGraphicFramePr>
                <a:graphicFrameLocks noChangeAspect="1"/>
              </p:cNvGraphicFramePr>
              <p:nvPr/>
            </p:nvGraphicFramePr>
            <p:xfrm>
              <a:off x="3447" y="3270"/>
              <a:ext cx="1429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89" name="Equation" r:id="rId5" imgW="1181100" imgH="228600" progId="Equation.DSMT4">
                      <p:embed/>
                    </p:oleObj>
                  </mc:Choice>
                  <mc:Fallback>
                    <p:oleObj name="Equation" r:id="rId5" imgW="1181100" imgH="228600" progId="Equation.DSMT4">
                      <p:embed/>
                      <p:pic>
                        <p:nvPicPr>
                          <p:cNvPr id="0" name="Object 1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47" y="3270"/>
                            <a:ext cx="1429" cy="2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99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145"/>
          <p:cNvGrpSpPr>
            <a:grpSpLocks/>
          </p:cNvGrpSpPr>
          <p:nvPr/>
        </p:nvGrpSpPr>
        <p:grpSpPr bwMode="auto">
          <a:xfrm>
            <a:off x="1198563" y="3500438"/>
            <a:ext cx="3359150" cy="792162"/>
            <a:chOff x="759" y="1978"/>
            <a:chExt cx="1983" cy="482"/>
          </a:xfrm>
        </p:grpSpPr>
        <p:graphicFrame>
          <p:nvGraphicFramePr>
            <p:cNvPr id="33807" name="Object 54" descr="虚线网格">
              <a:hlinkClick r:id="" action="ppaction://noaction" highlightClick="1"/>
            </p:cNvPr>
            <p:cNvGraphicFramePr>
              <a:graphicFrameLocks/>
            </p:cNvGraphicFramePr>
            <p:nvPr/>
          </p:nvGraphicFramePr>
          <p:xfrm>
            <a:off x="1851" y="1978"/>
            <a:ext cx="891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0" name="Equation" r:id="rId7" imgW="638171" imgH="304787" progId="Equation.DSMT4">
                    <p:embed/>
                  </p:oleObj>
                </mc:Choice>
                <mc:Fallback>
                  <p:oleObj name="Equation" r:id="rId7" imgW="638171" imgH="304787" progId="Equation.DSMT4">
                    <p:embed/>
                    <p:pic>
                      <p:nvPicPr>
                        <p:cNvPr id="0" name="Object 54" descr="虚线网格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1" y="1978"/>
                          <a:ext cx="891" cy="4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pattFill prst="dotGrid">
                                <a:fgClr>
                                  <a:srgbClr val="99CCFF"/>
                                </a:fgClr>
                                <a:bgClr>
                                  <a:srgbClr val="FFFFFF"/>
                                </a:bgClr>
                              </a:patt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8" name="Object 140" descr="虚线网格">
              <a:hlinkClick r:id="" action="ppaction://noaction" highlightClick="1"/>
            </p:cNvPr>
            <p:cNvGraphicFramePr>
              <a:graphicFrameLocks/>
            </p:cNvGraphicFramePr>
            <p:nvPr/>
          </p:nvGraphicFramePr>
          <p:xfrm>
            <a:off x="759" y="2110"/>
            <a:ext cx="689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91" name="Equation" r:id="rId9" imgW="476113" imgH="95224" progId="Equation.DSMT4">
                    <p:embed/>
                  </p:oleObj>
                </mc:Choice>
                <mc:Fallback>
                  <p:oleObj name="Equation" r:id="rId9" imgW="476113" imgH="95224" progId="Equation.DSMT4">
                    <p:embed/>
                    <p:pic>
                      <p:nvPicPr>
                        <p:cNvPr id="0" name="Object 140" descr="虚线网格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" y="2110"/>
                          <a:ext cx="689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pattFill prst="dotGrid">
                                <a:fgClr>
                                  <a:srgbClr val="99CCFF"/>
                                </a:fgClr>
                                <a:bgClr>
                                  <a:srgbClr val="FFFFFF"/>
                                </a:bgClr>
                              </a:patt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9" name="AutoShape 141"/>
            <p:cNvSpPr>
              <a:spLocks noChangeArrowheads="1"/>
            </p:cNvSpPr>
            <p:nvPr/>
          </p:nvSpPr>
          <p:spPr bwMode="auto">
            <a:xfrm>
              <a:off x="1473" y="2159"/>
              <a:ext cx="318" cy="140"/>
            </a:xfrm>
            <a:prstGeom prst="rightArrow">
              <a:avLst>
                <a:gd name="adj1" fmla="val 50000"/>
                <a:gd name="adj2" fmla="val 56786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96782" name="Rectangle 142"/>
          <p:cNvSpPr>
            <a:spLocks noChangeArrowheads="1"/>
          </p:cNvSpPr>
          <p:nvPr/>
        </p:nvSpPr>
        <p:spPr bwMode="auto">
          <a:xfrm>
            <a:off x="107950" y="523875"/>
            <a:ext cx="6551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5.1.2  </a:t>
            </a:r>
            <a:r>
              <a:rPr lang="zh-CN" altLang="en-US">
                <a:solidFill>
                  <a:schemeClr val="bg1"/>
                </a:solidFill>
                <a:ea typeface="幼圆" pitchFamily="49" charset="-122"/>
              </a:rPr>
              <a:t>理想介质中的均匀平面波的传播特点</a:t>
            </a:r>
          </a:p>
        </p:txBody>
      </p:sp>
      <p:sp>
        <p:nvSpPr>
          <p:cNvPr id="33803" name="AutoShape 150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4" name="AutoShape 15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5" name="AutoShape 152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6" name="AutoShape 153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9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9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9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49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52" grpId="0"/>
      <p:bldP spid="496666" grpId="0"/>
      <p:bldP spid="496677" grpId="0"/>
      <p:bldP spid="496675" grpId="0"/>
      <p:bldP spid="49678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760D82-821A-43D4-BD8F-AF5363806DF8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649229" name="Text Box 13"/>
          <p:cNvSpPr txBox="1">
            <a:spLocks noChangeArrowheads="1"/>
          </p:cNvSpPr>
          <p:nvPr/>
        </p:nvSpPr>
        <p:spPr bwMode="auto">
          <a:xfrm>
            <a:off x="63500" y="549275"/>
            <a:ext cx="4105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</a:rPr>
              <a:t>（</a:t>
            </a:r>
            <a:r>
              <a:rPr kumimoji="1" lang="en-US" altLang="zh-CN">
                <a:solidFill>
                  <a:schemeClr val="bg1"/>
                </a:solidFill>
              </a:rPr>
              <a:t>2</a:t>
            </a:r>
            <a:r>
              <a:rPr kumimoji="1" lang="zh-CN" altLang="en-US">
                <a:solidFill>
                  <a:schemeClr val="bg1"/>
                </a:solidFill>
              </a:rPr>
              <a:t>）波长和相位常数</a:t>
            </a:r>
          </a:p>
        </p:txBody>
      </p:sp>
      <p:sp>
        <p:nvSpPr>
          <p:cNvPr id="649230" name="Text Box 14"/>
          <p:cNvSpPr txBox="1">
            <a:spLocks noChangeArrowheads="1"/>
          </p:cNvSpPr>
          <p:nvPr/>
        </p:nvSpPr>
        <p:spPr bwMode="auto">
          <a:xfrm>
            <a:off x="323850" y="4606131"/>
            <a:ext cx="4824413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kumimoji="1" lang="en-US" altLang="zh-CN" i="1" dirty="0">
                <a:solidFill>
                  <a:schemeClr val="bg1"/>
                </a:solidFill>
                <a:ea typeface="幼圆" pitchFamily="49" charset="-122"/>
              </a:rPr>
              <a:t>k </a:t>
            </a:r>
            <a:r>
              <a:rPr kumimoji="1" lang="zh-CN" altLang="en-US" dirty="0">
                <a:solidFill>
                  <a:schemeClr val="bg1"/>
                </a:solidFill>
              </a:rPr>
              <a:t>的大小等于在</a:t>
            </a:r>
            <a:r>
              <a:rPr kumimoji="1" lang="en-US" altLang="zh-CN" dirty="0">
                <a:solidFill>
                  <a:schemeClr val="bg1"/>
                </a:solidFill>
              </a:rPr>
              <a:t>2</a:t>
            </a:r>
            <a:r>
              <a:rPr kumimoji="1" lang="el-GR" altLang="zh-CN" dirty="0">
                <a:solidFill>
                  <a:schemeClr val="bg1"/>
                </a:solidFill>
              </a:rPr>
              <a:t>π</a:t>
            </a:r>
            <a:r>
              <a:rPr kumimoji="1" lang="zh-CN" altLang="en-US" dirty="0">
                <a:solidFill>
                  <a:schemeClr val="bg1"/>
                </a:solidFill>
              </a:rPr>
              <a:t>的空间距离内所包含的波长数目，因此也称</a:t>
            </a:r>
            <a:r>
              <a:rPr kumimoji="1" lang="zh-CN" altLang="en-US" dirty="0">
                <a:solidFill>
                  <a:srgbClr val="FF99FF"/>
                </a:solidFill>
                <a:ea typeface="宋体" pitchFamily="2" charset="-122"/>
              </a:rPr>
              <a:t>波数</a:t>
            </a:r>
            <a:r>
              <a:rPr kumimoji="1" lang="zh-CN" altLang="en-US" dirty="0">
                <a:solidFill>
                  <a:schemeClr val="bg1"/>
                </a:solidFill>
              </a:rPr>
              <a:t>。</a:t>
            </a:r>
          </a:p>
        </p:txBody>
      </p:sp>
      <p:graphicFrame>
        <p:nvGraphicFramePr>
          <p:cNvPr id="6492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002567"/>
              </p:ext>
            </p:extLst>
          </p:nvPr>
        </p:nvGraphicFramePr>
        <p:xfrm>
          <a:off x="1395878" y="3575844"/>
          <a:ext cx="3471949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6" name="Equation" r:id="rId3" imgW="1218960" imgH="393480" progId="Equation.DSMT4">
                  <p:embed/>
                </p:oleObj>
              </mc:Choice>
              <mc:Fallback>
                <p:oleObj name="Equation" r:id="rId3" imgW="1218960" imgH="3934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878" y="3575844"/>
                        <a:ext cx="3471949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9247" name="Text Box 31"/>
          <p:cNvSpPr txBox="1">
            <a:spLocks noChangeArrowheads="1"/>
          </p:cNvSpPr>
          <p:nvPr/>
        </p:nvSpPr>
        <p:spPr bwMode="auto">
          <a:xfrm>
            <a:off x="252413" y="1171575"/>
            <a:ext cx="8640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99FF"/>
                </a:solidFill>
                <a:ea typeface="宋体" pitchFamily="2" charset="-122"/>
              </a:rPr>
              <a:t>波长</a:t>
            </a:r>
            <a:r>
              <a:rPr kumimoji="1" lang="el-GR" altLang="zh-CN" i="1">
                <a:solidFill>
                  <a:srgbClr val="FF99FF"/>
                </a:solidFill>
              </a:rPr>
              <a:t>λ</a:t>
            </a:r>
            <a:r>
              <a:rPr kumimoji="1" lang="en-US" altLang="zh-CN">
                <a:solidFill>
                  <a:schemeClr val="bg1"/>
                </a:solidFill>
                <a:ea typeface="宋体" pitchFamily="2" charset="-122"/>
              </a:rPr>
              <a:t> </a:t>
            </a:r>
            <a:r>
              <a:rPr kumimoji="1" lang="zh-CN" altLang="en-US">
                <a:solidFill>
                  <a:schemeClr val="bg1"/>
                </a:solidFill>
                <a:ea typeface="宋体" pitchFamily="2" charset="-122"/>
              </a:rPr>
              <a:t>：</a:t>
            </a:r>
            <a:r>
              <a:rPr kumimoji="1" lang="zh-CN" altLang="en-US">
                <a:solidFill>
                  <a:srgbClr val="FF5757"/>
                </a:solidFill>
              </a:rPr>
              <a:t>空间</a:t>
            </a:r>
            <a:r>
              <a:rPr kumimoji="1" lang="zh-CN" altLang="en-US">
                <a:solidFill>
                  <a:schemeClr val="bg1"/>
                </a:solidFill>
              </a:rPr>
              <a:t>相位差为</a:t>
            </a:r>
            <a:r>
              <a:rPr kumimoji="1" lang="en-US" altLang="zh-CN">
                <a:solidFill>
                  <a:schemeClr val="bg1"/>
                </a:solidFill>
              </a:rPr>
              <a:t>2</a:t>
            </a:r>
            <a:r>
              <a:rPr kumimoji="1" lang="el-GR" altLang="zh-CN">
                <a:solidFill>
                  <a:schemeClr val="bg1"/>
                </a:solidFill>
              </a:rPr>
              <a:t>π</a:t>
            </a:r>
            <a:r>
              <a:rPr kumimoji="1" lang="en-US" altLang="zh-CN">
                <a:solidFill>
                  <a:schemeClr val="bg1"/>
                </a:solidFill>
              </a:rPr>
              <a:t> </a:t>
            </a:r>
            <a:r>
              <a:rPr kumimoji="1" lang="zh-CN" altLang="en-US">
                <a:solidFill>
                  <a:schemeClr val="bg1"/>
                </a:solidFill>
              </a:rPr>
              <a:t>的两个波阵面的间距，即</a:t>
            </a:r>
            <a:endParaRPr kumimoji="1" lang="zh-CN" altLang="en-US">
              <a:ea typeface="宋体" pitchFamily="2" charset="-122"/>
            </a:endParaRPr>
          </a:p>
        </p:txBody>
      </p:sp>
      <p:sp>
        <p:nvSpPr>
          <p:cNvPr id="649256" name="Text Box 40"/>
          <p:cNvSpPr txBox="1">
            <a:spLocks noChangeArrowheads="1"/>
          </p:cNvSpPr>
          <p:nvPr/>
        </p:nvSpPr>
        <p:spPr bwMode="auto">
          <a:xfrm>
            <a:off x="250825" y="2755900"/>
            <a:ext cx="685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dirty="0">
                <a:solidFill>
                  <a:srgbClr val="FF99FF"/>
                </a:solidFill>
                <a:ea typeface="宋体" pitchFamily="2" charset="-122"/>
              </a:rPr>
              <a:t>相位常数</a:t>
            </a:r>
            <a:r>
              <a:rPr kumimoji="1" lang="zh-CN" altLang="en-US" dirty="0">
                <a:solidFill>
                  <a:srgbClr val="FF99FF"/>
                </a:solidFill>
              </a:rPr>
              <a:t> </a:t>
            </a:r>
            <a:r>
              <a:rPr kumimoji="1" lang="en-US" altLang="zh-CN" i="1" dirty="0">
                <a:solidFill>
                  <a:srgbClr val="FF99FF"/>
                </a:solidFill>
              </a:rPr>
              <a:t>k</a:t>
            </a:r>
            <a:r>
              <a:rPr kumimoji="1" lang="en-US" altLang="zh-CN" i="1" dirty="0">
                <a:solidFill>
                  <a:schemeClr val="bg1"/>
                </a:solidFill>
                <a:ea typeface="宋体" pitchFamily="2" charset="-122"/>
              </a:rPr>
              <a:t> </a:t>
            </a:r>
            <a:r>
              <a:rPr kumimoji="1" lang="zh-CN" altLang="en-US" dirty="0">
                <a:solidFill>
                  <a:schemeClr val="bg1"/>
                </a:solidFill>
                <a:ea typeface="宋体" pitchFamily="2" charset="-122"/>
              </a:rPr>
              <a:t>：</a:t>
            </a:r>
            <a:r>
              <a:rPr kumimoji="1" lang="zh-CN" altLang="en-US" dirty="0">
                <a:solidFill>
                  <a:schemeClr val="bg1"/>
                </a:solidFill>
              </a:rPr>
              <a:t>表示波传播单位距离的相位</a:t>
            </a:r>
            <a:r>
              <a:rPr kumimoji="1" lang="zh-CN" altLang="en-US" dirty="0" smtClean="0">
                <a:solidFill>
                  <a:schemeClr val="bg1"/>
                </a:solidFill>
              </a:rPr>
              <a:t>变化</a:t>
            </a:r>
            <a:r>
              <a:rPr kumimoji="1" lang="zh-CN" altLang="en-US" dirty="0">
                <a:solidFill>
                  <a:schemeClr val="bg1"/>
                </a:solidFill>
              </a:rPr>
              <a:t>，</a:t>
            </a:r>
            <a:endParaRPr kumimoji="1" lang="zh-CN" altLang="en-US" dirty="0">
              <a:ea typeface="宋体" pitchFamily="2" charset="-122"/>
            </a:endParaRPr>
          </a:p>
        </p:txBody>
      </p:sp>
      <p:grpSp>
        <p:nvGrpSpPr>
          <p:cNvPr id="2" name="Group 81"/>
          <p:cNvGrpSpPr>
            <a:grpSpLocks/>
          </p:cNvGrpSpPr>
          <p:nvPr/>
        </p:nvGrpSpPr>
        <p:grpSpPr bwMode="auto">
          <a:xfrm>
            <a:off x="5435600" y="3424238"/>
            <a:ext cx="3595688" cy="2813050"/>
            <a:chOff x="3424" y="1976"/>
            <a:chExt cx="2265" cy="1772"/>
          </a:xfrm>
        </p:grpSpPr>
        <p:grpSp>
          <p:nvGrpSpPr>
            <p:cNvPr id="34833" name="Group 52"/>
            <p:cNvGrpSpPr>
              <a:grpSpLocks noChangeAspect="1"/>
            </p:cNvGrpSpPr>
            <p:nvPr/>
          </p:nvGrpSpPr>
          <p:grpSpPr bwMode="auto">
            <a:xfrm>
              <a:off x="3424" y="1976"/>
              <a:ext cx="2265" cy="1772"/>
              <a:chOff x="3424" y="1745"/>
              <a:chExt cx="2265" cy="1772"/>
            </a:xfrm>
          </p:grpSpPr>
          <p:sp>
            <p:nvSpPr>
              <p:cNvPr id="34837" name="AutoShape 51"/>
              <p:cNvSpPr>
                <a:spLocks noChangeAspect="1" noChangeArrowheads="1" noTextEdit="1"/>
              </p:cNvSpPr>
              <p:nvPr/>
            </p:nvSpPr>
            <p:spPr bwMode="auto">
              <a:xfrm>
                <a:off x="3424" y="1745"/>
                <a:ext cx="2245" cy="1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8" name="Rectangle 53"/>
              <p:cNvSpPr>
                <a:spLocks noChangeArrowheads="1"/>
              </p:cNvSpPr>
              <p:nvPr/>
            </p:nvSpPr>
            <p:spPr bwMode="auto">
              <a:xfrm>
                <a:off x="5665" y="3402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ea typeface="宋体" pitchFamily="2" charset="-122"/>
                  </a:rPr>
                  <a:t> 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4839" name="Rectangle 54"/>
              <p:cNvSpPr>
                <a:spLocks noChangeArrowheads="1"/>
              </p:cNvSpPr>
              <p:nvPr/>
            </p:nvSpPr>
            <p:spPr bwMode="auto">
              <a:xfrm>
                <a:off x="3427" y="1754"/>
                <a:ext cx="2236" cy="1667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0" name="Rectangle 55"/>
              <p:cNvSpPr>
                <a:spLocks noChangeArrowheads="1"/>
              </p:cNvSpPr>
              <p:nvPr/>
            </p:nvSpPr>
            <p:spPr bwMode="auto">
              <a:xfrm>
                <a:off x="3427" y="1754"/>
                <a:ext cx="2236" cy="1667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41" name="Freeform 56"/>
              <p:cNvSpPr>
                <a:spLocks noEditPoints="1"/>
              </p:cNvSpPr>
              <p:nvPr/>
            </p:nvSpPr>
            <p:spPr bwMode="auto">
              <a:xfrm>
                <a:off x="3686" y="2431"/>
                <a:ext cx="1815" cy="36"/>
              </a:xfrm>
              <a:custGeom>
                <a:avLst/>
                <a:gdLst>
                  <a:gd name="T0" fmla="*/ 0 w 1815"/>
                  <a:gd name="T1" fmla="*/ 11 h 36"/>
                  <a:gd name="T2" fmla="*/ 1739 w 1815"/>
                  <a:gd name="T3" fmla="*/ 12 h 36"/>
                  <a:gd name="T4" fmla="*/ 1739 w 1815"/>
                  <a:gd name="T5" fmla="*/ 25 h 36"/>
                  <a:gd name="T6" fmla="*/ 0 w 1815"/>
                  <a:gd name="T7" fmla="*/ 25 h 36"/>
                  <a:gd name="T8" fmla="*/ 0 w 1815"/>
                  <a:gd name="T9" fmla="*/ 11 h 36"/>
                  <a:gd name="T10" fmla="*/ 1730 w 1815"/>
                  <a:gd name="T11" fmla="*/ 0 h 36"/>
                  <a:gd name="T12" fmla="*/ 1815 w 1815"/>
                  <a:gd name="T13" fmla="*/ 19 h 36"/>
                  <a:gd name="T14" fmla="*/ 1730 w 1815"/>
                  <a:gd name="T15" fmla="*/ 36 h 36"/>
                  <a:gd name="T16" fmla="*/ 1730 w 1815"/>
                  <a:gd name="T17" fmla="*/ 0 h 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15"/>
                  <a:gd name="T28" fmla="*/ 0 h 36"/>
                  <a:gd name="T29" fmla="*/ 1815 w 1815"/>
                  <a:gd name="T30" fmla="*/ 36 h 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15" h="36">
                    <a:moveTo>
                      <a:pt x="0" y="11"/>
                    </a:moveTo>
                    <a:lnTo>
                      <a:pt x="1739" y="12"/>
                    </a:lnTo>
                    <a:lnTo>
                      <a:pt x="1739" y="25"/>
                    </a:lnTo>
                    <a:lnTo>
                      <a:pt x="0" y="25"/>
                    </a:lnTo>
                    <a:lnTo>
                      <a:pt x="0" y="11"/>
                    </a:lnTo>
                    <a:close/>
                    <a:moveTo>
                      <a:pt x="1730" y="0"/>
                    </a:moveTo>
                    <a:lnTo>
                      <a:pt x="1815" y="19"/>
                    </a:lnTo>
                    <a:lnTo>
                      <a:pt x="1730" y="36"/>
                    </a:lnTo>
                    <a:lnTo>
                      <a:pt x="1730" y="0"/>
                    </a:lnTo>
                    <a:close/>
                  </a:path>
                </a:pathLst>
              </a:custGeom>
              <a:solidFill>
                <a:srgbClr val="0000FF"/>
              </a:solidFill>
              <a:ln w="15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2" name="Freeform 57"/>
              <p:cNvSpPr>
                <a:spLocks/>
              </p:cNvSpPr>
              <p:nvPr/>
            </p:nvSpPr>
            <p:spPr bwMode="auto">
              <a:xfrm>
                <a:off x="3453" y="2101"/>
                <a:ext cx="458" cy="348"/>
              </a:xfrm>
              <a:custGeom>
                <a:avLst/>
                <a:gdLst>
                  <a:gd name="T0" fmla="*/ 14 w 458"/>
                  <a:gd name="T1" fmla="*/ 315 h 348"/>
                  <a:gd name="T2" fmla="*/ 43 w 458"/>
                  <a:gd name="T3" fmla="*/ 251 h 348"/>
                  <a:gd name="T4" fmla="*/ 64 w 458"/>
                  <a:gd name="T5" fmla="*/ 205 h 348"/>
                  <a:gd name="T6" fmla="*/ 78 w 458"/>
                  <a:gd name="T7" fmla="*/ 175 h 348"/>
                  <a:gd name="T8" fmla="*/ 93 w 458"/>
                  <a:gd name="T9" fmla="*/ 148 h 348"/>
                  <a:gd name="T10" fmla="*/ 107 w 458"/>
                  <a:gd name="T11" fmla="*/ 121 h 348"/>
                  <a:gd name="T12" fmla="*/ 121 w 458"/>
                  <a:gd name="T13" fmla="*/ 97 h 348"/>
                  <a:gd name="T14" fmla="*/ 136 w 458"/>
                  <a:gd name="T15" fmla="*/ 75 h 348"/>
                  <a:gd name="T16" fmla="*/ 150 w 458"/>
                  <a:gd name="T17" fmla="*/ 55 h 348"/>
                  <a:gd name="T18" fmla="*/ 164 w 458"/>
                  <a:gd name="T19" fmla="*/ 37 h 348"/>
                  <a:gd name="T20" fmla="*/ 179 w 458"/>
                  <a:gd name="T21" fmla="*/ 24 h 348"/>
                  <a:gd name="T22" fmla="*/ 193 w 458"/>
                  <a:gd name="T23" fmla="*/ 13 h 348"/>
                  <a:gd name="T24" fmla="*/ 207 w 458"/>
                  <a:gd name="T25" fmla="*/ 4 h 348"/>
                  <a:gd name="T26" fmla="*/ 221 w 458"/>
                  <a:gd name="T27" fmla="*/ 1 h 348"/>
                  <a:gd name="T28" fmla="*/ 233 w 458"/>
                  <a:gd name="T29" fmla="*/ 0 h 348"/>
                  <a:gd name="T30" fmla="*/ 240 w 458"/>
                  <a:gd name="T31" fmla="*/ 2 h 348"/>
                  <a:gd name="T32" fmla="*/ 247 w 458"/>
                  <a:gd name="T33" fmla="*/ 5 h 348"/>
                  <a:gd name="T34" fmla="*/ 255 w 458"/>
                  <a:gd name="T35" fmla="*/ 10 h 348"/>
                  <a:gd name="T36" fmla="*/ 263 w 458"/>
                  <a:gd name="T37" fmla="*/ 16 h 348"/>
                  <a:gd name="T38" fmla="*/ 272 w 458"/>
                  <a:gd name="T39" fmla="*/ 24 h 348"/>
                  <a:gd name="T40" fmla="*/ 280 w 458"/>
                  <a:gd name="T41" fmla="*/ 32 h 348"/>
                  <a:gd name="T42" fmla="*/ 292 w 458"/>
                  <a:gd name="T43" fmla="*/ 46 h 348"/>
                  <a:gd name="T44" fmla="*/ 308 w 458"/>
                  <a:gd name="T45" fmla="*/ 70 h 348"/>
                  <a:gd name="T46" fmla="*/ 325 w 458"/>
                  <a:gd name="T47" fmla="*/ 95 h 348"/>
                  <a:gd name="T48" fmla="*/ 341 w 458"/>
                  <a:gd name="T49" fmla="*/ 123 h 348"/>
                  <a:gd name="T50" fmla="*/ 357 w 458"/>
                  <a:gd name="T51" fmla="*/ 152 h 348"/>
                  <a:gd name="T52" fmla="*/ 389 w 458"/>
                  <a:gd name="T53" fmla="*/ 213 h 348"/>
                  <a:gd name="T54" fmla="*/ 403 w 458"/>
                  <a:gd name="T55" fmla="*/ 242 h 348"/>
                  <a:gd name="T56" fmla="*/ 417 w 458"/>
                  <a:gd name="T57" fmla="*/ 269 h 348"/>
                  <a:gd name="T58" fmla="*/ 429 w 458"/>
                  <a:gd name="T59" fmla="*/ 294 h 348"/>
                  <a:gd name="T60" fmla="*/ 440 w 458"/>
                  <a:gd name="T61" fmla="*/ 317 h 348"/>
                  <a:gd name="T62" fmla="*/ 445 w 458"/>
                  <a:gd name="T63" fmla="*/ 326 h 348"/>
                  <a:gd name="T64" fmla="*/ 450 w 458"/>
                  <a:gd name="T65" fmla="*/ 335 h 348"/>
                  <a:gd name="T66" fmla="*/ 455 w 458"/>
                  <a:gd name="T67" fmla="*/ 341 h 348"/>
                  <a:gd name="T68" fmla="*/ 458 w 458"/>
                  <a:gd name="T69" fmla="*/ 348 h 34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58"/>
                  <a:gd name="T106" fmla="*/ 0 h 348"/>
                  <a:gd name="T107" fmla="*/ 458 w 458"/>
                  <a:gd name="T108" fmla="*/ 348 h 34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58" h="348">
                    <a:moveTo>
                      <a:pt x="0" y="348"/>
                    </a:moveTo>
                    <a:lnTo>
                      <a:pt x="14" y="315"/>
                    </a:lnTo>
                    <a:lnTo>
                      <a:pt x="28" y="283"/>
                    </a:lnTo>
                    <a:lnTo>
                      <a:pt x="43" y="251"/>
                    </a:lnTo>
                    <a:lnTo>
                      <a:pt x="57" y="220"/>
                    </a:lnTo>
                    <a:lnTo>
                      <a:pt x="64" y="205"/>
                    </a:lnTo>
                    <a:lnTo>
                      <a:pt x="71" y="190"/>
                    </a:lnTo>
                    <a:lnTo>
                      <a:pt x="78" y="175"/>
                    </a:lnTo>
                    <a:lnTo>
                      <a:pt x="85" y="161"/>
                    </a:lnTo>
                    <a:lnTo>
                      <a:pt x="93" y="148"/>
                    </a:lnTo>
                    <a:lnTo>
                      <a:pt x="100" y="135"/>
                    </a:lnTo>
                    <a:lnTo>
                      <a:pt x="107" y="121"/>
                    </a:lnTo>
                    <a:lnTo>
                      <a:pt x="114" y="109"/>
                    </a:lnTo>
                    <a:lnTo>
                      <a:pt x="121" y="97"/>
                    </a:lnTo>
                    <a:lnTo>
                      <a:pt x="128" y="86"/>
                    </a:lnTo>
                    <a:lnTo>
                      <a:pt x="136" y="75"/>
                    </a:lnTo>
                    <a:lnTo>
                      <a:pt x="143" y="64"/>
                    </a:lnTo>
                    <a:lnTo>
                      <a:pt x="150" y="55"/>
                    </a:lnTo>
                    <a:lnTo>
                      <a:pt x="157" y="46"/>
                    </a:lnTo>
                    <a:lnTo>
                      <a:pt x="164" y="37"/>
                    </a:lnTo>
                    <a:lnTo>
                      <a:pt x="171" y="30"/>
                    </a:lnTo>
                    <a:lnTo>
                      <a:pt x="179" y="24"/>
                    </a:lnTo>
                    <a:lnTo>
                      <a:pt x="186" y="17"/>
                    </a:lnTo>
                    <a:lnTo>
                      <a:pt x="193" y="13"/>
                    </a:lnTo>
                    <a:lnTo>
                      <a:pt x="200" y="9"/>
                    </a:lnTo>
                    <a:lnTo>
                      <a:pt x="207" y="4"/>
                    </a:lnTo>
                    <a:lnTo>
                      <a:pt x="214" y="2"/>
                    </a:lnTo>
                    <a:lnTo>
                      <a:pt x="221" y="1"/>
                    </a:lnTo>
                    <a:lnTo>
                      <a:pt x="229" y="0"/>
                    </a:lnTo>
                    <a:lnTo>
                      <a:pt x="233" y="0"/>
                    </a:lnTo>
                    <a:lnTo>
                      <a:pt x="236" y="1"/>
                    </a:lnTo>
                    <a:lnTo>
                      <a:pt x="240" y="2"/>
                    </a:lnTo>
                    <a:lnTo>
                      <a:pt x="244" y="3"/>
                    </a:lnTo>
                    <a:lnTo>
                      <a:pt x="247" y="5"/>
                    </a:lnTo>
                    <a:lnTo>
                      <a:pt x="251" y="8"/>
                    </a:lnTo>
                    <a:lnTo>
                      <a:pt x="255" y="10"/>
                    </a:lnTo>
                    <a:lnTo>
                      <a:pt x="259" y="13"/>
                    </a:lnTo>
                    <a:lnTo>
                      <a:pt x="263" y="16"/>
                    </a:lnTo>
                    <a:lnTo>
                      <a:pt x="267" y="19"/>
                    </a:lnTo>
                    <a:lnTo>
                      <a:pt x="272" y="24"/>
                    </a:lnTo>
                    <a:lnTo>
                      <a:pt x="276" y="28"/>
                    </a:lnTo>
                    <a:lnTo>
                      <a:pt x="280" y="32"/>
                    </a:lnTo>
                    <a:lnTo>
                      <a:pt x="284" y="36"/>
                    </a:lnTo>
                    <a:lnTo>
                      <a:pt x="292" y="46"/>
                    </a:lnTo>
                    <a:lnTo>
                      <a:pt x="300" y="58"/>
                    </a:lnTo>
                    <a:lnTo>
                      <a:pt x="308" y="70"/>
                    </a:lnTo>
                    <a:lnTo>
                      <a:pt x="317" y="81"/>
                    </a:lnTo>
                    <a:lnTo>
                      <a:pt x="325" y="95"/>
                    </a:lnTo>
                    <a:lnTo>
                      <a:pt x="333" y="109"/>
                    </a:lnTo>
                    <a:lnTo>
                      <a:pt x="341" y="123"/>
                    </a:lnTo>
                    <a:lnTo>
                      <a:pt x="349" y="138"/>
                    </a:lnTo>
                    <a:lnTo>
                      <a:pt x="357" y="152"/>
                    </a:lnTo>
                    <a:lnTo>
                      <a:pt x="374" y="183"/>
                    </a:lnTo>
                    <a:lnTo>
                      <a:pt x="389" y="213"/>
                    </a:lnTo>
                    <a:lnTo>
                      <a:pt x="396" y="227"/>
                    </a:lnTo>
                    <a:lnTo>
                      <a:pt x="403" y="242"/>
                    </a:lnTo>
                    <a:lnTo>
                      <a:pt x="411" y="256"/>
                    </a:lnTo>
                    <a:lnTo>
                      <a:pt x="417" y="269"/>
                    </a:lnTo>
                    <a:lnTo>
                      <a:pt x="423" y="282"/>
                    </a:lnTo>
                    <a:lnTo>
                      <a:pt x="429" y="294"/>
                    </a:lnTo>
                    <a:lnTo>
                      <a:pt x="435" y="306"/>
                    </a:lnTo>
                    <a:lnTo>
                      <a:pt x="440" y="317"/>
                    </a:lnTo>
                    <a:lnTo>
                      <a:pt x="443" y="321"/>
                    </a:lnTo>
                    <a:lnTo>
                      <a:pt x="445" y="326"/>
                    </a:lnTo>
                    <a:lnTo>
                      <a:pt x="447" y="330"/>
                    </a:lnTo>
                    <a:lnTo>
                      <a:pt x="450" y="335"/>
                    </a:lnTo>
                    <a:lnTo>
                      <a:pt x="453" y="338"/>
                    </a:lnTo>
                    <a:lnTo>
                      <a:pt x="455" y="341"/>
                    </a:lnTo>
                    <a:lnTo>
                      <a:pt x="457" y="344"/>
                    </a:lnTo>
                    <a:lnTo>
                      <a:pt x="458" y="348"/>
                    </a:lnTo>
                  </a:path>
                </a:pathLst>
              </a:custGeom>
              <a:noFill/>
              <a:ln w="33338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3" name="Freeform 58"/>
              <p:cNvSpPr>
                <a:spLocks/>
              </p:cNvSpPr>
              <p:nvPr/>
            </p:nvSpPr>
            <p:spPr bwMode="auto">
              <a:xfrm>
                <a:off x="4371" y="2101"/>
                <a:ext cx="458" cy="348"/>
              </a:xfrm>
              <a:custGeom>
                <a:avLst/>
                <a:gdLst>
                  <a:gd name="T0" fmla="*/ 14 w 458"/>
                  <a:gd name="T1" fmla="*/ 315 h 348"/>
                  <a:gd name="T2" fmla="*/ 43 w 458"/>
                  <a:gd name="T3" fmla="*/ 251 h 348"/>
                  <a:gd name="T4" fmla="*/ 64 w 458"/>
                  <a:gd name="T5" fmla="*/ 205 h 348"/>
                  <a:gd name="T6" fmla="*/ 78 w 458"/>
                  <a:gd name="T7" fmla="*/ 175 h 348"/>
                  <a:gd name="T8" fmla="*/ 93 w 458"/>
                  <a:gd name="T9" fmla="*/ 148 h 348"/>
                  <a:gd name="T10" fmla="*/ 107 w 458"/>
                  <a:gd name="T11" fmla="*/ 121 h 348"/>
                  <a:gd name="T12" fmla="*/ 121 w 458"/>
                  <a:gd name="T13" fmla="*/ 97 h 348"/>
                  <a:gd name="T14" fmla="*/ 136 w 458"/>
                  <a:gd name="T15" fmla="*/ 75 h 348"/>
                  <a:gd name="T16" fmla="*/ 150 w 458"/>
                  <a:gd name="T17" fmla="*/ 55 h 348"/>
                  <a:gd name="T18" fmla="*/ 164 w 458"/>
                  <a:gd name="T19" fmla="*/ 37 h 348"/>
                  <a:gd name="T20" fmla="*/ 179 w 458"/>
                  <a:gd name="T21" fmla="*/ 24 h 348"/>
                  <a:gd name="T22" fmla="*/ 193 w 458"/>
                  <a:gd name="T23" fmla="*/ 13 h 348"/>
                  <a:gd name="T24" fmla="*/ 207 w 458"/>
                  <a:gd name="T25" fmla="*/ 4 h 348"/>
                  <a:gd name="T26" fmla="*/ 222 w 458"/>
                  <a:gd name="T27" fmla="*/ 1 h 348"/>
                  <a:gd name="T28" fmla="*/ 233 w 458"/>
                  <a:gd name="T29" fmla="*/ 0 h 348"/>
                  <a:gd name="T30" fmla="*/ 240 w 458"/>
                  <a:gd name="T31" fmla="*/ 2 h 348"/>
                  <a:gd name="T32" fmla="*/ 247 w 458"/>
                  <a:gd name="T33" fmla="*/ 5 h 348"/>
                  <a:gd name="T34" fmla="*/ 255 w 458"/>
                  <a:gd name="T35" fmla="*/ 10 h 348"/>
                  <a:gd name="T36" fmla="*/ 263 w 458"/>
                  <a:gd name="T37" fmla="*/ 16 h 348"/>
                  <a:gd name="T38" fmla="*/ 271 w 458"/>
                  <a:gd name="T39" fmla="*/ 24 h 348"/>
                  <a:gd name="T40" fmla="*/ 279 w 458"/>
                  <a:gd name="T41" fmla="*/ 32 h 348"/>
                  <a:gd name="T42" fmla="*/ 292 w 458"/>
                  <a:gd name="T43" fmla="*/ 46 h 348"/>
                  <a:gd name="T44" fmla="*/ 308 w 458"/>
                  <a:gd name="T45" fmla="*/ 70 h 348"/>
                  <a:gd name="T46" fmla="*/ 325 w 458"/>
                  <a:gd name="T47" fmla="*/ 95 h 348"/>
                  <a:gd name="T48" fmla="*/ 341 w 458"/>
                  <a:gd name="T49" fmla="*/ 123 h 348"/>
                  <a:gd name="T50" fmla="*/ 357 w 458"/>
                  <a:gd name="T51" fmla="*/ 152 h 348"/>
                  <a:gd name="T52" fmla="*/ 389 w 458"/>
                  <a:gd name="T53" fmla="*/ 213 h 348"/>
                  <a:gd name="T54" fmla="*/ 403 w 458"/>
                  <a:gd name="T55" fmla="*/ 242 h 348"/>
                  <a:gd name="T56" fmla="*/ 417 w 458"/>
                  <a:gd name="T57" fmla="*/ 269 h 348"/>
                  <a:gd name="T58" fmla="*/ 429 w 458"/>
                  <a:gd name="T59" fmla="*/ 294 h 348"/>
                  <a:gd name="T60" fmla="*/ 440 w 458"/>
                  <a:gd name="T61" fmla="*/ 317 h 348"/>
                  <a:gd name="T62" fmla="*/ 445 w 458"/>
                  <a:gd name="T63" fmla="*/ 326 h 348"/>
                  <a:gd name="T64" fmla="*/ 451 w 458"/>
                  <a:gd name="T65" fmla="*/ 335 h 348"/>
                  <a:gd name="T66" fmla="*/ 455 w 458"/>
                  <a:gd name="T67" fmla="*/ 341 h 348"/>
                  <a:gd name="T68" fmla="*/ 458 w 458"/>
                  <a:gd name="T69" fmla="*/ 348 h 34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58"/>
                  <a:gd name="T106" fmla="*/ 0 h 348"/>
                  <a:gd name="T107" fmla="*/ 458 w 458"/>
                  <a:gd name="T108" fmla="*/ 348 h 348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58" h="348">
                    <a:moveTo>
                      <a:pt x="0" y="348"/>
                    </a:moveTo>
                    <a:lnTo>
                      <a:pt x="14" y="315"/>
                    </a:lnTo>
                    <a:lnTo>
                      <a:pt x="28" y="283"/>
                    </a:lnTo>
                    <a:lnTo>
                      <a:pt x="43" y="251"/>
                    </a:lnTo>
                    <a:lnTo>
                      <a:pt x="57" y="220"/>
                    </a:lnTo>
                    <a:lnTo>
                      <a:pt x="64" y="205"/>
                    </a:lnTo>
                    <a:lnTo>
                      <a:pt x="71" y="190"/>
                    </a:lnTo>
                    <a:lnTo>
                      <a:pt x="78" y="175"/>
                    </a:lnTo>
                    <a:lnTo>
                      <a:pt x="86" y="161"/>
                    </a:lnTo>
                    <a:lnTo>
                      <a:pt x="93" y="148"/>
                    </a:lnTo>
                    <a:lnTo>
                      <a:pt x="100" y="135"/>
                    </a:lnTo>
                    <a:lnTo>
                      <a:pt x="107" y="121"/>
                    </a:lnTo>
                    <a:lnTo>
                      <a:pt x="114" y="109"/>
                    </a:lnTo>
                    <a:lnTo>
                      <a:pt x="121" y="97"/>
                    </a:lnTo>
                    <a:lnTo>
                      <a:pt x="128" y="86"/>
                    </a:lnTo>
                    <a:lnTo>
                      <a:pt x="136" y="75"/>
                    </a:lnTo>
                    <a:lnTo>
                      <a:pt x="143" y="64"/>
                    </a:lnTo>
                    <a:lnTo>
                      <a:pt x="150" y="55"/>
                    </a:lnTo>
                    <a:lnTo>
                      <a:pt x="157" y="46"/>
                    </a:lnTo>
                    <a:lnTo>
                      <a:pt x="164" y="37"/>
                    </a:lnTo>
                    <a:lnTo>
                      <a:pt x="171" y="30"/>
                    </a:lnTo>
                    <a:lnTo>
                      <a:pt x="179" y="24"/>
                    </a:lnTo>
                    <a:lnTo>
                      <a:pt x="186" y="17"/>
                    </a:lnTo>
                    <a:lnTo>
                      <a:pt x="193" y="13"/>
                    </a:lnTo>
                    <a:lnTo>
                      <a:pt x="200" y="9"/>
                    </a:lnTo>
                    <a:lnTo>
                      <a:pt x="207" y="4"/>
                    </a:lnTo>
                    <a:lnTo>
                      <a:pt x="214" y="2"/>
                    </a:lnTo>
                    <a:lnTo>
                      <a:pt x="222" y="1"/>
                    </a:lnTo>
                    <a:lnTo>
                      <a:pt x="229" y="0"/>
                    </a:lnTo>
                    <a:lnTo>
                      <a:pt x="233" y="0"/>
                    </a:lnTo>
                    <a:lnTo>
                      <a:pt x="236" y="1"/>
                    </a:lnTo>
                    <a:lnTo>
                      <a:pt x="240" y="2"/>
                    </a:lnTo>
                    <a:lnTo>
                      <a:pt x="244" y="3"/>
                    </a:lnTo>
                    <a:lnTo>
                      <a:pt x="247" y="5"/>
                    </a:lnTo>
                    <a:lnTo>
                      <a:pt x="251" y="8"/>
                    </a:lnTo>
                    <a:lnTo>
                      <a:pt x="255" y="10"/>
                    </a:lnTo>
                    <a:lnTo>
                      <a:pt x="259" y="13"/>
                    </a:lnTo>
                    <a:lnTo>
                      <a:pt x="263" y="16"/>
                    </a:lnTo>
                    <a:lnTo>
                      <a:pt x="268" y="19"/>
                    </a:lnTo>
                    <a:lnTo>
                      <a:pt x="271" y="24"/>
                    </a:lnTo>
                    <a:lnTo>
                      <a:pt x="275" y="28"/>
                    </a:lnTo>
                    <a:lnTo>
                      <a:pt x="279" y="32"/>
                    </a:lnTo>
                    <a:lnTo>
                      <a:pt x="283" y="36"/>
                    </a:lnTo>
                    <a:lnTo>
                      <a:pt x="292" y="46"/>
                    </a:lnTo>
                    <a:lnTo>
                      <a:pt x="300" y="58"/>
                    </a:lnTo>
                    <a:lnTo>
                      <a:pt x="308" y="70"/>
                    </a:lnTo>
                    <a:lnTo>
                      <a:pt x="317" y="81"/>
                    </a:lnTo>
                    <a:lnTo>
                      <a:pt x="325" y="95"/>
                    </a:lnTo>
                    <a:lnTo>
                      <a:pt x="333" y="109"/>
                    </a:lnTo>
                    <a:lnTo>
                      <a:pt x="341" y="123"/>
                    </a:lnTo>
                    <a:lnTo>
                      <a:pt x="349" y="138"/>
                    </a:lnTo>
                    <a:lnTo>
                      <a:pt x="357" y="152"/>
                    </a:lnTo>
                    <a:lnTo>
                      <a:pt x="374" y="183"/>
                    </a:lnTo>
                    <a:lnTo>
                      <a:pt x="389" y="213"/>
                    </a:lnTo>
                    <a:lnTo>
                      <a:pt x="396" y="227"/>
                    </a:lnTo>
                    <a:lnTo>
                      <a:pt x="403" y="242"/>
                    </a:lnTo>
                    <a:lnTo>
                      <a:pt x="411" y="256"/>
                    </a:lnTo>
                    <a:lnTo>
                      <a:pt x="417" y="269"/>
                    </a:lnTo>
                    <a:lnTo>
                      <a:pt x="423" y="282"/>
                    </a:lnTo>
                    <a:lnTo>
                      <a:pt x="429" y="294"/>
                    </a:lnTo>
                    <a:lnTo>
                      <a:pt x="435" y="306"/>
                    </a:lnTo>
                    <a:lnTo>
                      <a:pt x="440" y="317"/>
                    </a:lnTo>
                    <a:lnTo>
                      <a:pt x="443" y="321"/>
                    </a:lnTo>
                    <a:lnTo>
                      <a:pt x="445" y="326"/>
                    </a:lnTo>
                    <a:lnTo>
                      <a:pt x="447" y="330"/>
                    </a:lnTo>
                    <a:lnTo>
                      <a:pt x="451" y="335"/>
                    </a:lnTo>
                    <a:lnTo>
                      <a:pt x="453" y="338"/>
                    </a:lnTo>
                    <a:lnTo>
                      <a:pt x="455" y="341"/>
                    </a:lnTo>
                    <a:lnTo>
                      <a:pt x="457" y="344"/>
                    </a:lnTo>
                    <a:lnTo>
                      <a:pt x="458" y="348"/>
                    </a:lnTo>
                  </a:path>
                </a:pathLst>
              </a:custGeom>
              <a:noFill/>
              <a:ln w="33338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4" name="Freeform 59"/>
              <p:cNvSpPr>
                <a:spLocks/>
              </p:cNvSpPr>
              <p:nvPr/>
            </p:nvSpPr>
            <p:spPr bwMode="auto">
              <a:xfrm>
                <a:off x="3910" y="2449"/>
                <a:ext cx="459" cy="347"/>
              </a:xfrm>
              <a:custGeom>
                <a:avLst/>
                <a:gdLst>
                  <a:gd name="T0" fmla="*/ 444 w 459"/>
                  <a:gd name="T1" fmla="*/ 33 h 347"/>
                  <a:gd name="T2" fmla="*/ 416 w 459"/>
                  <a:gd name="T3" fmla="*/ 97 h 347"/>
                  <a:gd name="T4" fmla="*/ 394 w 459"/>
                  <a:gd name="T5" fmla="*/ 143 h 347"/>
                  <a:gd name="T6" fmla="*/ 380 w 459"/>
                  <a:gd name="T7" fmla="*/ 172 h 347"/>
                  <a:gd name="T8" fmla="*/ 366 w 459"/>
                  <a:gd name="T9" fmla="*/ 199 h 347"/>
                  <a:gd name="T10" fmla="*/ 351 w 459"/>
                  <a:gd name="T11" fmla="*/ 226 h 347"/>
                  <a:gd name="T12" fmla="*/ 337 w 459"/>
                  <a:gd name="T13" fmla="*/ 251 h 347"/>
                  <a:gd name="T14" fmla="*/ 322 w 459"/>
                  <a:gd name="T15" fmla="*/ 273 h 347"/>
                  <a:gd name="T16" fmla="*/ 307 w 459"/>
                  <a:gd name="T17" fmla="*/ 292 h 347"/>
                  <a:gd name="T18" fmla="*/ 293 w 459"/>
                  <a:gd name="T19" fmla="*/ 310 h 347"/>
                  <a:gd name="T20" fmla="*/ 279 w 459"/>
                  <a:gd name="T21" fmla="*/ 325 h 347"/>
                  <a:gd name="T22" fmla="*/ 264 w 459"/>
                  <a:gd name="T23" fmla="*/ 335 h 347"/>
                  <a:gd name="T24" fmla="*/ 250 w 459"/>
                  <a:gd name="T25" fmla="*/ 343 h 347"/>
                  <a:gd name="T26" fmla="*/ 236 w 459"/>
                  <a:gd name="T27" fmla="*/ 347 h 347"/>
                  <a:gd name="T28" fmla="*/ 226 w 459"/>
                  <a:gd name="T29" fmla="*/ 347 h 347"/>
                  <a:gd name="T30" fmla="*/ 218 w 459"/>
                  <a:gd name="T31" fmla="*/ 346 h 347"/>
                  <a:gd name="T32" fmla="*/ 210 w 459"/>
                  <a:gd name="T33" fmla="*/ 343 h 347"/>
                  <a:gd name="T34" fmla="*/ 203 w 459"/>
                  <a:gd name="T35" fmla="*/ 337 h 347"/>
                  <a:gd name="T36" fmla="*/ 195 w 459"/>
                  <a:gd name="T37" fmla="*/ 332 h 347"/>
                  <a:gd name="T38" fmla="*/ 187 w 459"/>
                  <a:gd name="T39" fmla="*/ 325 h 347"/>
                  <a:gd name="T40" fmla="*/ 179 w 459"/>
                  <a:gd name="T41" fmla="*/ 316 h 347"/>
                  <a:gd name="T42" fmla="*/ 166 w 459"/>
                  <a:gd name="T43" fmla="*/ 301 h 347"/>
                  <a:gd name="T44" fmla="*/ 150 w 459"/>
                  <a:gd name="T45" fmla="*/ 279 h 347"/>
                  <a:gd name="T46" fmla="*/ 132 w 459"/>
                  <a:gd name="T47" fmla="*/ 253 h 347"/>
                  <a:gd name="T48" fmla="*/ 116 w 459"/>
                  <a:gd name="T49" fmla="*/ 225 h 347"/>
                  <a:gd name="T50" fmla="*/ 100 w 459"/>
                  <a:gd name="T51" fmla="*/ 195 h 347"/>
                  <a:gd name="T52" fmla="*/ 69 w 459"/>
                  <a:gd name="T53" fmla="*/ 135 h 347"/>
                  <a:gd name="T54" fmla="*/ 54 w 459"/>
                  <a:gd name="T55" fmla="*/ 106 h 347"/>
                  <a:gd name="T56" fmla="*/ 40 w 459"/>
                  <a:gd name="T57" fmla="*/ 79 h 347"/>
                  <a:gd name="T58" fmla="*/ 28 w 459"/>
                  <a:gd name="T59" fmla="*/ 53 h 347"/>
                  <a:gd name="T60" fmla="*/ 17 w 459"/>
                  <a:gd name="T61" fmla="*/ 32 h 347"/>
                  <a:gd name="T62" fmla="*/ 12 w 459"/>
                  <a:gd name="T63" fmla="*/ 22 h 347"/>
                  <a:gd name="T64" fmla="*/ 8 w 459"/>
                  <a:gd name="T65" fmla="*/ 13 h 347"/>
                  <a:gd name="T66" fmla="*/ 4 w 459"/>
                  <a:gd name="T67" fmla="*/ 6 h 347"/>
                  <a:gd name="T68" fmla="*/ 0 w 459"/>
                  <a:gd name="T69" fmla="*/ 0 h 34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59"/>
                  <a:gd name="T106" fmla="*/ 0 h 347"/>
                  <a:gd name="T107" fmla="*/ 459 w 459"/>
                  <a:gd name="T108" fmla="*/ 347 h 34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59" h="347">
                    <a:moveTo>
                      <a:pt x="459" y="0"/>
                    </a:moveTo>
                    <a:lnTo>
                      <a:pt x="444" y="33"/>
                    </a:lnTo>
                    <a:lnTo>
                      <a:pt x="430" y="65"/>
                    </a:lnTo>
                    <a:lnTo>
                      <a:pt x="416" y="97"/>
                    </a:lnTo>
                    <a:lnTo>
                      <a:pt x="401" y="128"/>
                    </a:lnTo>
                    <a:lnTo>
                      <a:pt x="394" y="143"/>
                    </a:lnTo>
                    <a:lnTo>
                      <a:pt x="387" y="158"/>
                    </a:lnTo>
                    <a:lnTo>
                      <a:pt x="380" y="172"/>
                    </a:lnTo>
                    <a:lnTo>
                      <a:pt x="373" y="187"/>
                    </a:lnTo>
                    <a:lnTo>
                      <a:pt x="366" y="199"/>
                    </a:lnTo>
                    <a:lnTo>
                      <a:pt x="358" y="213"/>
                    </a:lnTo>
                    <a:lnTo>
                      <a:pt x="351" y="226"/>
                    </a:lnTo>
                    <a:lnTo>
                      <a:pt x="344" y="239"/>
                    </a:lnTo>
                    <a:lnTo>
                      <a:pt x="337" y="251"/>
                    </a:lnTo>
                    <a:lnTo>
                      <a:pt x="330" y="263"/>
                    </a:lnTo>
                    <a:lnTo>
                      <a:pt x="322" y="273"/>
                    </a:lnTo>
                    <a:lnTo>
                      <a:pt x="314" y="283"/>
                    </a:lnTo>
                    <a:lnTo>
                      <a:pt x="307" y="292"/>
                    </a:lnTo>
                    <a:lnTo>
                      <a:pt x="300" y="302"/>
                    </a:lnTo>
                    <a:lnTo>
                      <a:pt x="293" y="310"/>
                    </a:lnTo>
                    <a:lnTo>
                      <a:pt x="286" y="317"/>
                    </a:lnTo>
                    <a:lnTo>
                      <a:pt x="279" y="325"/>
                    </a:lnTo>
                    <a:lnTo>
                      <a:pt x="272" y="330"/>
                    </a:lnTo>
                    <a:lnTo>
                      <a:pt x="264" y="335"/>
                    </a:lnTo>
                    <a:lnTo>
                      <a:pt x="257" y="340"/>
                    </a:lnTo>
                    <a:lnTo>
                      <a:pt x="250" y="343"/>
                    </a:lnTo>
                    <a:lnTo>
                      <a:pt x="243" y="345"/>
                    </a:lnTo>
                    <a:lnTo>
                      <a:pt x="236" y="347"/>
                    </a:lnTo>
                    <a:lnTo>
                      <a:pt x="229" y="347"/>
                    </a:lnTo>
                    <a:lnTo>
                      <a:pt x="226" y="347"/>
                    </a:lnTo>
                    <a:lnTo>
                      <a:pt x="221" y="346"/>
                    </a:lnTo>
                    <a:lnTo>
                      <a:pt x="218" y="346"/>
                    </a:lnTo>
                    <a:lnTo>
                      <a:pt x="214" y="344"/>
                    </a:lnTo>
                    <a:lnTo>
                      <a:pt x="210" y="343"/>
                    </a:lnTo>
                    <a:lnTo>
                      <a:pt x="206" y="341"/>
                    </a:lnTo>
                    <a:lnTo>
                      <a:pt x="203" y="337"/>
                    </a:lnTo>
                    <a:lnTo>
                      <a:pt x="199" y="335"/>
                    </a:lnTo>
                    <a:lnTo>
                      <a:pt x="195" y="332"/>
                    </a:lnTo>
                    <a:lnTo>
                      <a:pt x="191" y="328"/>
                    </a:lnTo>
                    <a:lnTo>
                      <a:pt x="187" y="325"/>
                    </a:lnTo>
                    <a:lnTo>
                      <a:pt x="183" y="320"/>
                    </a:lnTo>
                    <a:lnTo>
                      <a:pt x="179" y="316"/>
                    </a:lnTo>
                    <a:lnTo>
                      <a:pt x="174" y="311"/>
                    </a:lnTo>
                    <a:lnTo>
                      <a:pt x="166" y="301"/>
                    </a:lnTo>
                    <a:lnTo>
                      <a:pt x="158" y="290"/>
                    </a:lnTo>
                    <a:lnTo>
                      <a:pt x="150" y="279"/>
                    </a:lnTo>
                    <a:lnTo>
                      <a:pt x="141" y="266"/>
                    </a:lnTo>
                    <a:lnTo>
                      <a:pt x="132" y="253"/>
                    </a:lnTo>
                    <a:lnTo>
                      <a:pt x="124" y="239"/>
                    </a:lnTo>
                    <a:lnTo>
                      <a:pt x="116" y="225"/>
                    </a:lnTo>
                    <a:lnTo>
                      <a:pt x="108" y="210"/>
                    </a:lnTo>
                    <a:lnTo>
                      <a:pt x="100" y="195"/>
                    </a:lnTo>
                    <a:lnTo>
                      <a:pt x="84" y="165"/>
                    </a:lnTo>
                    <a:lnTo>
                      <a:pt x="69" y="135"/>
                    </a:lnTo>
                    <a:lnTo>
                      <a:pt x="61" y="120"/>
                    </a:lnTo>
                    <a:lnTo>
                      <a:pt x="54" y="106"/>
                    </a:lnTo>
                    <a:lnTo>
                      <a:pt x="48" y="93"/>
                    </a:lnTo>
                    <a:lnTo>
                      <a:pt x="40" y="79"/>
                    </a:lnTo>
                    <a:lnTo>
                      <a:pt x="34" y="66"/>
                    </a:lnTo>
                    <a:lnTo>
                      <a:pt x="28" y="53"/>
                    </a:lnTo>
                    <a:lnTo>
                      <a:pt x="22" y="42"/>
                    </a:lnTo>
                    <a:lnTo>
                      <a:pt x="17" y="32"/>
                    </a:lnTo>
                    <a:lnTo>
                      <a:pt x="15" y="26"/>
                    </a:lnTo>
                    <a:lnTo>
                      <a:pt x="12" y="22"/>
                    </a:lnTo>
                    <a:lnTo>
                      <a:pt x="10" y="18"/>
                    </a:lnTo>
                    <a:lnTo>
                      <a:pt x="8" y="13"/>
                    </a:lnTo>
                    <a:lnTo>
                      <a:pt x="6" y="9"/>
                    </a:ln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5" name="Freeform 60"/>
              <p:cNvSpPr>
                <a:spLocks/>
              </p:cNvSpPr>
              <p:nvPr/>
            </p:nvSpPr>
            <p:spPr bwMode="auto">
              <a:xfrm>
                <a:off x="4828" y="2449"/>
                <a:ext cx="459" cy="347"/>
              </a:xfrm>
              <a:custGeom>
                <a:avLst/>
                <a:gdLst>
                  <a:gd name="T0" fmla="*/ 444 w 459"/>
                  <a:gd name="T1" fmla="*/ 33 h 347"/>
                  <a:gd name="T2" fmla="*/ 416 w 459"/>
                  <a:gd name="T3" fmla="*/ 97 h 347"/>
                  <a:gd name="T4" fmla="*/ 394 w 459"/>
                  <a:gd name="T5" fmla="*/ 143 h 347"/>
                  <a:gd name="T6" fmla="*/ 380 w 459"/>
                  <a:gd name="T7" fmla="*/ 172 h 347"/>
                  <a:gd name="T8" fmla="*/ 365 w 459"/>
                  <a:gd name="T9" fmla="*/ 199 h 347"/>
                  <a:gd name="T10" fmla="*/ 350 w 459"/>
                  <a:gd name="T11" fmla="*/ 226 h 347"/>
                  <a:gd name="T12" fmla="*/ 336 w 459"/>
                  <a:gd name="T13" fmla="*/ 251 h 347"/>
                  <a:gd name="T14" fmla="*/ 322 w 459"/>
                  <a:gd name="T15" fmla="*/ 273 h 347"/>
                  <a:gd name="T16" fmla="*/ 307 w 459"/>
                  <a:gd name="T17" fmla="*/ 292 h 347"/>
                  <a:gd name="T18" fmla="*/ 293 w 459"/>
                  <a:gd name="T19" fmla="*/ 310 h 347"/>
                  <a:gd name="T20" fmla="*/ 279 w 459"/>
                  <a:gd name="T21" fmla="*/ 325 h 347"/>
                  <a:gd name="T22" fmla="*/ 264 w 459"/>
                  <a:gd name="T23" fmla="*/ 335 h 347"/>
                  <a:gd name="T24" fmla="*/ 250 w 459"/>
                  <a:gd name="T25" fmla="*/ 343 h 347"/>
                  <a:gd name="T26" fmla="*/ 236 w 459"/>
                  <a:gd name="T27" fmla="*/ 347 h 347"/>
                  <a:gd name="T28" fmla="*/ 226 w 459"/>
                  <a:gd name="T29" fmla="*/ 347 h 347"/>
                  <a:gd name="T30" fmla="*/ 218 w 459"/>
                  <a:gd name="T31" fmla="*/ 346 h 347"/>
                  <a:gd name="T32" fmla="*/ 210 w 459"/>
                  <a:gd name="T33" fmla="*/ 343 h 347"/>
                  <a:gd name="T34" fmla="*/ 203 w 459"/>
                  <a:gd name="T35" fmla="*/ 337 h 347"/>
                  <a:gd name="T36" fmla="*/ 195 w 459"/>
                  <a:gd name="T37" fmla="*/ 332 h 347"/>
                  <a:gd name="T38" fmla="*/ 187 w 459"/>
                  <a:gd name="T39" fmla="*/ 325 h 347"/>
                  <a:gd name="T40" fmla="*/ 179 w 459"/>
                  <a:gd name="T41" fmla="*/ 316 h 347"/>
                  <a:gd name="T42" fmla="*/ 166 w 459"/>
                  <a:gd name="T43" fmla="*/ 301 h 347"/>
                  <a:gd name="T44" fmla="*/ 150 w 459"/>
                  <a:gd name="T45" fmla="*/ 279 h 347"/>
                  <a:gd name="T46" fmla="*/ 133 w 459"/>
                  <a:gd name="T47" fmla="*/ 253 h 347"/>
                  <a:gd name="T48" fmla="*/ 116 w 459"/>
                  <a:gd name="T49" fmla="*/ 225 h 347"/>
                  <a:gd name="T50" fmla="*/ 100 w 459"/>
                  <a:gd name="T51" fmla="*/ 195 h 347"/>
                  <a:gd name="T52" fmla="*/ 69 w 459"/>
                  <a:gd name="T53" fmla="*/ 135 h 347"/>
                  <a:gd name="T54" fmla="*/ 54 w 459"/>
                  <a:gd name="T55" fmla="*/ 106 h 347"/>
                  <a:gd name="T56" fmla="*/ 41 w 459"/>
                  <a:gd name="T57" fmla="*/ 79 h 347"/>
                  <a:gd name="T58" fmla="*/ 28 w 459"/>
                  <a:gd name="T59" fmla="*/ 53 h 347"/>
                  <a:gd name="T60" fmla="*/ 17 w 459"/>
                  <a:gd name="T61" fmla="*/ 32 h 347"/>
                  <a:gd name="T62" fmla="*/ 12 w 459"/>
                  <a:gd name="T63" fmla="*/ 22 h 347"/>
                  <a:gd name="T64" fmla="*/ 8 w 459"/>
                  <a:gd name="T65" fmla="*/ 13 h 347"/>
                  <a:gd name="T66" fmla="*/ 4 w 459"/>
                  <a:gd name="T67" fmla="*/ 6 h 347"/>
                  <a:gd name="T68" fmla="*/ 0 w 459"/>
                  <a:gd name="T69" fmla="*/ 0 h 347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459"/>
                  <a:gd name="T106" fmla="*/ 0 h 347"/>
                  <a:gd name="T107" fmla="*/ 459 w 459"/>
                  <a:gd name="T108" fmla="*/ 347 h 347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459" h="347">
                    <a:moveTo>
                      <a:pt x="459" y="0"/>
                    </a:moveTo>
                    <a:lnTo>
                      <a:pt x="444" y="33"/>
                    </a:lnTo>
                    <a:lnTo>
                      <a:pt x="430" y="65"/>
                    </a:lnTo>
                    <a:lnTo>
                      <a:pt x="416" y="97"/>
                    </a:lnTo>
                    <a:lnTo>
                      <a:pt x="401" y="128"/>
                    </a:lnTo>
                    <a:lnTo>
                      <a:pt x="394" y="143"/>
                    </a:lnTo>
                    <a:lnTo>
                      <a:pt x="387" y="158"/>
                    </a:lnTo>
                    <a:lnTo>
                      <a:pt x="380" y="172"/>
                    </a:lnTo>
                    <a:lnTo>
                      <a:pt x="372" y="187"/>
                    </a:lnTo>
                    <a:lnTo>
                      <a:pt x="365" y="199"/>
                    </a:lnTo>
                    <a:lnTo>
                      <a:pt x="357" y="213"/>
                    </a:lnTo>
                    <a:lnTo>
                      <a:pt x="350" y="226"/>
                    </a:lnTo>
                    <a:lnTo>
                      <a:pt x="343" y="239"/>
                    </a:lnTo>
                    <a:lnTo>
                      <a:pt x="336" y="251"/>
                    </a:lnTo>
                    <a:lnTo>
                      <a:pt x="329" y="263"/>
                    </a:lnTo>
                    <a:lnTo>
                      <a:pt x="322" y="273"/>
                    </a:lnTo>
                    <a:lnTo>
                      <a:pt x="315" y="283"/>
                    </a:lnTo>
                    <a:lnTo>
                      <a:pt x="307" y="292"/>
                    </a:lnTo>
                    <a:lnTo>
                      <a:pt x="300" y="302"/>
                    </a:lnTo>
                    <a:lnTo>
                      <a:pt x="293" y="310"/>
                    </a:lnTo>
                    <a:lnTo>
                      <a:pt x="286" y="317"/>
                    </a:lnTo>
                    <a:lnTo>
                      <a:pt x="279" y="325"/>
                    </a:lnTo>
                    <a:lnTo>
                      <a:pt x="272" y="330"/>
                    </a:lnTo>
                    <a:lnTo>
                      <a:pt x="264" y="335"/>
                    </a:lnTo>
                    <a:lnTo>
                      <a:pt x="257" y="340"/>
                    </a:lnTo>
                    <a:lnTo>
                      <a:pt x="250" y="343"/>
                    </a:lnTo>
                    <a:lnTo>
                      <a:pt x="243" y="345"/>
                    </a:lnTo>
                    <a:lnTo>
                      <a:pt x="236" y="347"/>
                    </a:lnTo>
                    <a:lnTo>
                      <a:pt x="229" y="347"/>
                    </a:lnTo>
                    <a:lnTo>
                      <a:pt x="226" y="347"/>
                    </a:lnTo>
                    <a:lnTo>
                      <a:pt x="221" y="346"/>
                    </a:lnTo>
                    <a:lnTo>
                      <a:pt x="218" y="346"/>
                    </a:lnTo>
                    <a:lnTo>
                      <a:pt x="214" y="344"/>
                    </a:lnTo>
                    <a:lnTo>
                      <a:pt x="210" y="343"/>
                    </a:lnTo>
                    <a:lnTo>
                      <a:pt x="206" y="341"/>
                    </a:lnTo>
                    <a:lnTo>
                      <a:pt x="203" y="337"/>
                    </a:lnTo>
                    <a:lnTo>
                      <a:pt x="199" y="335"/>
                    </a:lnTo>
                    <a:lnTo>
                      <a:pt x="195" y="332"/>
                    </a:lnTo>
                    <a:lnTo>
                      <a:pt x="191" y="328"/>
                    </a:lnTo>
                    <a:lnTo>
                      <a:pt x="187" y="325"/>
                    </a:lnTo>
                    <a:lnTo>
                      <a:pt x="183" y="320"/>
                    </a:lnTo>
                    <a:lnTo>
                      <a:pt x="179" y="316"/>
                    </a:lnTo>
                    <a:lnTo>
                      <a:pt x="174" y="311"/>
                    </a:lnTo>
                    <a:lnTo>
                      <a:pt x="166" y="301"/>
                    </a:lnTo>
                    <a:lnTo>
                      <a:pt x="158" y="290"/>
                    </a:lnTo>
                    <a:lnTo>
                      <a:pt x="150" y="279"/>
                    </a:lnTo>
                    <a:lnTo>
                      <a:pt x="141" y="266"/>
                    </a:lnTo>
                    <a:lnTo>
                      <a:pt x="133" y="253"/>
                    </a:lnTo>
                    <a:lnTo>
                      <a:pt x="124" y="239"/>
                    </a:lnTo>
                    <a:lnTo>
                      <a:pt x="116" y="225"/>
                    </a:lnTo>
                    <a:lnTo>
                      <a:pt x="108" y="210"/>
                    </a:lnTo>
                    <a:lnTo>
                      <a:pt x="100" y="195"/>
                    </a:lnTo>
                    <a:lnTo>
                      <a:pt x="84" y="165"/>
                    </a:lnTo>
                    <a:lnTo>
                      <a:pt x="69" y="135"/>
                    </a:lnTo>
                    <a:lnTo>
                      <a:pt x="61" y="120"/>
                    </a:lnTo>
                    <a:lnTo>
                      <a:pt x="54" y="106"/>
                    </a:lnTo>
                    <a:lnTo>
                      <a:pt x="48" y="93"/>
                    </a:lnTo>
                    <a:lnTo>
                      <a:pt x="41" y="79"/>
                    </a:lnTo>
                    <a:lnTo>
                      <a:pt x="34" y="66"/>
                    </a:lnTo>
                    <a:lnTo>
                      <a:pt x="28" y="53"/>
                    </a:lnTo>
                    <a:lnTo>
                      <a:pt x="22" y="42"/>
                    </a:lnTo>
                    <a:lnTo>
                      <a:pt x="17" y="32"/>
                    </a:lnTo>
                    <a:lnTo>
                      <a:pt x="15" y="26"/>
                    </a:lnTo>
                    <a:lnTo>
                      <a:pt x="12" y="22"/>
                    </a:lnTo>
                    <a:lnTo>
                      <a:pt x="10" y="18"/>
                    </a:lnTo>
                    <a:lnTo>
                      <a:pt x="8" y="13"/>
                    </a:lnTo>
                    <a:lnTo>
                      <a:pt x="6" y="9"/>
                    </a:ln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6" name="Line 61"/>
              <p:cNvSpPr>
                <a:spLocks noChangeShapeType="1"/>
              </p:cNvSpPr>
              <p:nvPr/>
            </p:nvSpPr>
            <p:spPr bwMode="auto">
              <a:xfrm flipV="1">
                <a:off x="4123" y="2865"/>
                <a:ext cx="1" cy="139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7" name="Line 62"/>
              <p:cNvSpPr>
                <a:spLocks noChangeShapeType="1"/>
              </p:cNvSpPr>
              <p:nvPr/>
            </p:nvSpPr>
            <p:spPr bwMode="auto">
              <a:xfrm flipV="1">
                <a:off x="5052" y="2865"/>
                <a:ext cx="1" cy="139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8" name="Freeform 63"/>
              <p:cNvSpPr>
                <a:spLocks noEditPoints="1"/>
              </p:cNvSpPr>
              <p:nvPr/>
            </p:nvSpPr>
            <p:spPr bwMode="auto">
              <a:xfrm>
                <a:off x="4129" y="2891"/>
                <a:ext cx="918" cy="35"/>
              </a:xfrm>
              <a:custGeom>
                <a:avLst/>
                <a:gdLst>
                  <a:gd name="T0" fmla="*/ 26 w 918"/>
                  <a:gd name="T1" fmla="*/ 12 h 35"/>
                  <a:gd name="T2" fmla="*/ 893 w 918"/>
                  <a:gd name="T3" fmla="*/ 13 h 35"/>
                  <a:gd name="T4" fmla="*/ 893 w 918"/>
                  <a:gd name="T5" fmla="*/ 24 h 35"/>
                  <a:gd name="T6" fmla="*/ 26 w 918"/>
                  <a:gd name="T7" fmla="*/ 24 h 35"/>
                  <a:gd name="T8" fmla="*/ 26 w 918"/>
                  <a:gd name="T9" fmla="*/ 12 h 35"/>
                  <a:gd name="T10" fmla="*/ 35 w 918"/>
                  <a:gd name="T11" fmla="*/ 35 h 35"/>
                  <a:gd name="T12" fmla="*/ 0 w 918"/>
                  <a:gd name="T13" fmla="*/ 17 h 35"/>
                  <a:gd name="T14" fmla="*/ 35 w 918"/>
                  <a:gd name="T15" fmla="*/ 0 h 35"/>
                  <a:gd name="T16" fmla="*/ 35 w 918"/>
                  <a:gd name="T17" fmla="*/ 35 h 35"/>
                  <a:gd name="T18" fmla="*/ 885 w 918"/>
                  <a:gd name="T19" fmla="*/ 0 h 35"/>
                  <a:gd name="T20" fmla="*/ 918 w 918"/>
                  <a:gd name="T21" fmla="*/ 18 h 35"/>
                  <a:gd name="T22" fmla="*/ 885 w 918"/>
                  <a:gd name="T23" fmla="*/ 35 h 35"/>
                  <a:gd name="T24" fmla="*/ 885 w 918"/>
                  <a:gd name="T25" fmla="*/ 0 h 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18"/>
                  <a:gd name="T40" fmla="*/ 0 h 35"/>
                  <a:gd name="T41" fmla="*/ 918 w 918"/>
                  <a:gd name="T42" fmla="*/ 35 h 3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18" h="35">
                    <a:moveTo>
                      <a:pt x="26" y="12"/>
                    </a:moveTo>
                    <a:lnTo>
                      <a:pt x="893" y="13"/>
                    </a:lnTo>
                    <a:lnTo>
                      <a:pt x="893" y="24"/>
                    </a:lnTo>
                    <a:lnTo>
                      <a:pt x="26" y="24"/>
                    </a:lnTo>
                    <a:lnTo>
                      <a:pt x="26" y="12"/>
                    </a:lnTo>
                    <a:close/>
                    <a:moveTo>
                      <a:pt x="35" y="35"/>
                    </a:moveTo>
                    <a:lnTo>
                      <a:pt x="0" y="17"/>
                    </a:lnTo>
                    <a:lnTo>
                      <a:pt x="35" y="0"/>
                    </a:lnTo>
                    <a:lnTo>
                      <a:pt x="35" y="35"/>
                    </a:lnTo>
                    <a:close/>
                    <a:moveTo>
                      <a:pt x="885" y="0"/>
                    </a:moveTo>
                    <a:lnTo>
                      <a:pt x="918" y="18"/>
                    </a:lnTo>
                    <a:lnTo>
                      <a:pt x="885" y="35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rgbClr val="FF00FF"/>
              </a:solidFill>
              <a:ln w="1588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9" name="Rectangle 64"/>
              <p:cNvSpPr>
                <a:spLocks noChangeArrowheads="1"/>
              </p:cNvSpPr>
              <p:nvPr/>
            </p:nvSpPr>
            <p:spPr bwMode="auto">
              <a:xfrm>
                <a:off x="3446" y="1931"/>
                <a:ext cx="237" cy="55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0" name="Freeform 65"/>
              <p:cNvSpPr>
                <a:spLocks noEditPoints="1"/>
              </p:cNvSpPr>
              <p:nvPr/>
            </p:nvSpPr>
            <p:spPr bwMode="auto">
              <a:xfrm>
                <a:off x="3667" y="1823"/>
                <a:ext cx="35" cy="1181"/>
              </a:xfrm>
              <a:custGeom>
                <a:avLst/>
                <a:gdLst>
                  <a:gd name="T0" fmla="*/ 11 w 35"/>
                  <a:gd name="T1" fmla="*/ 1181 h 1181"/>
                  <a:gd name="T2" fmla="*/ 12 w 35"/>
                  <a:gd name="T3" fmla="*/ 80 h 1181"/>
                  <a:gd name="T4" fmla="*/ 24 w 35"/>
                  <a:gd name="T5" fmla="*/ 80 h 1181"/>
                  <a:gd name="T6" fmla="*/ 24 w 35"/>
                  <a:gd name="T7" fmla="*/ 1181 h 1181"/>
                  <a:gd name="T8" fmla="*/ 11 w 35"/>
                  <a:gd name="T9" fmla="*/ 1181 h 1181"/>
                  <a:gd name="T10" fmla="*/ 0 w 35"/>
                  <a:gd name="T11" fmla="*/ 90 h 1181"/>
                  <a:gd name="T12" fmla="*/ 18 w 35"/>
                  <a:gd name="T13" fmla="*/ 0 h 1181"/>
                  <a:gd name="T14" fmla="*/ 35 w 35"/>
                  <a:gd name="T15" fmla="*/ 90 h 1181"/>
                  <a:gd name="T16" fmla="*/ 0 w 35"/>
                  <a:gd name="T17" fmla="*/ 90 h 118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5"/>
                  <a:gd name="T28" fmla="*/ 0 h 1181"/>
                  <a:gd name="T29" fmla="*/ 35 w 35"/>
                  <a:gd name="T30" fmla="*/ 1181 h 118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5" h="1181">
                    <a:moveTo>
                      <a:pt x="11" y="1181"/>
                    </a:moveTo>
                    <a:lnTo>
                      <a:pt x="12" y="80"/>
                    </a:lnTo>
                    <a:lnTo>
                      <a:pt x="24" y="80"/>
                    </a:lnTo>
                    <a:lnTo>
                      <a:pt x="24" y="1181"/>
                    </a:lnTo>
                    <a:lnTo>
                      <a:pt x="11" y="1181"/>
                    </a:lnTo>
                    <a:close/>
                    <a:moveTo>
                      <a:pt x="0" y="90"/>
                    </a:moveTo>
                    <a:lnTo>
                      <a:pt x="18" y="0"/>
                    </a:lnTo>
                    <a:lnTo>
                      <a:pt x="35" y="90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FF"/>
              </a:solidFill>
              <a:ln w="15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1" name="Rectangle 66"/>
              <p:cNvSpPr>
                <a:spLocks noChangeArrowheads="1"/>
              </p:cNvSpPr>
              <p:nvPr/>
            </p:nvSpPr>
            <p:spPr bwMode="auto">
              <a:xfrm>
                <a:off x="3583" y="2386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2000" i="1">
                    <a:solidFill>
                      <a:srgbClr val="000000"/>
                    </a:solidFill>
                    <a:ea typeface="宋体" pitchFamily="2" charset="-122"/>
                  </a:rPr>
                  <a:t>o</a:t>
                </a:r>
                <a:endParaRPr lang="en-US" altLang="zh-CN" sz="2000">
                  <a:ea typeface="宋体" pitchFamily="2" charset="-122"/>
                </a:endParaRPr>
              </a:p>
            </p:txBody>
          </p:sp>
          <p:sp>
            <p:nvSpPr>
              <p:cNvPr id="34852" name="Rectangle 67"/>
              <p:cNvSpPr>
                <a:spLocks noChangeArrowheads="1"/>
              </p:cNvSpPr>
              <p:nvPr/>
            </p:nvSpPr>
            <p:spPr bwMode="auto">
              <a:xfrm>
                <a:off x="3666" y="2427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ea typeface="宋体" pitchFamily="2" charset="-122"/>
                  </a:rPr>
                  <a:t> 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4853" name="Rectangle 68"/>
              <p:cNvSpPr>
                <a:spLocks noChangeArrowheads="1"/>
              </p:cNvSpPr>
              <p:nvPr/>
            </p:nvSpPr>
            <p:spPr bwMode="auto">
              <a:xfrm>
                <a:off x="3827" y="1892"/>
                <a:ext cx="3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100" i="1">
                    <a:solidFill>
                      <a:srgbClr val="000000"/>
                    </a:solidFill>
                    <a:ea typeface="宋体" pitchFamily="2" charset="-122"/>
                  </a:rPr>
                  <a:t>x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4854" name="Rectangle 69"/>
              <p:cNvSpPr>
                <a:spLocks noChangeArrowheads="1"/>
              </p:cNvSpPr>
              <p:nvPr/>
            </p:nvSpPr>
            <p:spPr bwMode="auto">
              <a:xfrm>
                <a:off x="3738" y="1801"/>
                <a:ext cx="9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900" i="1">
                    <a:solidFill>
                      <a:srgbClr val="000000"/>
                    </a:solidFill>
                    <a:ea typeface="宋体" pitchFamily="2" charset="-122"/>
                  </a:rPr>
                  <a:t>E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4855" name="Rectangle 70"/>
              <p:cNvSpPr>
                <a:spLocks noChangeArrowheads="1"/>
              </p:cNvSpPr>
              <p:nvPr/>
            </p:nvSpPr>
            <p:spPr bwMode="auto">
              <a:xfrm>
                <a:off x="3889" y="186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200">
                    <a:solidFill>
                      <a:srgbClr val="000000"/>
                    </a:solidFill>
                    <a:ea typeface="宋体" pitchFamily="2" charset="-122"/>
                  </a:rPr>
                  <a:t> 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4856" name="Rectangle 71"/>
              <p:cNvSpPr>
                <a:spLocks noChangeArrowheads="1"/>
              </p:cNvSpPr>
              <p:nvPr/>
            </p:nvSpPr>
            <p:spPr bwMode="auto">
              <a:xfrm>
                <a:off x="4456" y="2828"/>
                <a:ext cx="132" cy="17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7" name="Rectangle 72"/>
              <p:cNvSpPr>
                <a:spLocks noChangeArrowheads="1"/>
              </p:cNvSpPr>
              <p:nvPr/>
            </p:nvSpPr>
            <p:spPr bwMode="auto">
              <a:xfrm>
                <a:off x="4457" y="2829"/>
                <a:ext cx="132" cy="177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34858" name="Rectangle 73"/>
              <p:cNvSpPr>
                <a:spLocks noChangeArrowheads="1"/>
              </p:cNvSpPr>
              <p:nvPr/>
            </p:nvSpPr>
            <p:spPr bwMode="auto">
              <a:xfrm>
                <a:off x="4476" y="2817"/>
                <a:ext cx="8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1900" i="1">
                    <a:solidFill>
                      <a:srgbClr val="000000"/>
                    </a:solidFill>
                    <a:latin typeface="Symbol" pitchFamily="18" charset="2"/>
                    <a:ea typeface="宋体" pitchFamily="2" charset="-122"/>
                  </a:rPr>
                  <a:t>l</a:t>
                </a:r>
                <a:endParaRPr lang="en-US" altLang="zh-CN" sz="2800">
                  <a:ea typeface="宋体" pitchFamily="2" charset="-122"/>
                </a:endParaRPr>
              </a:p>
            </p:txBody>
          </p:sp>
          <p:sp>
            <p:nvSpPr>
              <p:cNvPr id="34859" name="Rectangle 74"/>
              <p:cNvSpPr>
                <a:spLocks noChangeArrowheads="1"/>
              </p:cNvSpPr>
              <p:nvPr/>
            </p:nvSpPr>
            <p:spPr bwMode="auto">
              <a:xfrm>
                <a:off x="5505" y="2474"/>
                <a:ext cx="6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en-US" altLang="zh-CN" sz="2000" i="1">
                    <a:solidFill>
                      <a:srgbClr val="000000"/>
                    </a:solidFill>
                    <a:ea typeface="宋体" pitchFamily="2" charset="-122"/>
                  </a:rPr>
                  <a:t>z</a:t>
                </a:r>
                <a:endParaRPr lang="en-US" altLang="zh-CN" sz="2000" i="1">
                  <a:ea typeface="宋体" pitchFamily="2" charset="-122"/>
                </a:endParaRPr>
              </a:p>
            </p:txBody>
          </p:sp>
        </p:grpSp>
        <p:grpSp>
          <p:nvGrpSpPr>
            <p:cNvPr id="34834" name="Group 75"/>
            <p:cNvGrpSpPr>
              <a:grpSpLocks/>
            </p:cNvGrpSpPr>
            <p:nvPr/>
          </p:nvGrpSpPr>
          <p:grpSpPr bwMode="auto">
            <a:xfrm>
              <a:off x="3679" y="3242"/>
              <a:ext cx="1764" cy="234"/>
              <a:chOff x="3679" y="3022"/>
              <a:chExt cx="1764" cy="234"/>
            </a:xfrm>
          </p:grpSpPr>
          <p:sp>
            <p:nvSpPr>
              <p:cNvPr id="34835" name="Text Box 76"/>
              <p:cNvSpPr txBox="1">
                <a:spLocks noChangeArrowheads="1"/>
              </p:cNvSpPr>
              <p:nvPr/>
            </p:nvSpPr>
            <p:spPr bwMode="auto">
              <a:xfrm>
                <a:off x="4057" y="3022"/>
                <a:ext cx="1386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r" eaLnBrk="1" hangingPunct="1"/>
                <a:r>
                  <a:rPr lang="zh-CN" altLang="en-US" sz="1600" dirty="0">
                    <a:ea typeface="宋体" pitchFamily="2" charset="-122"/>
                  </a:rPr>
                  <a:t>的曲线</a:t>
                </a:r>
              </a:p>
            </p:txBody>
          </p:sp>
          <p:graphicFrame>
            <p:nvGraphicFramePr>
              <p:cNvPr id="34836" name="Object 7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80142400"/>
                  </p:ext>
                </p:extLst>
              </p:nvPr>
            </p:nvGraphicFramePr>
            <p:xfrm>
              <a:off x="3679" y="3025"/>
              <a:ext cx="1333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917" name="Equation" r:id="rId5" imgW="1231366" imgH="228501" progId="Equation.DSMT4">
                      <p:embed/>
                    </p:oleObj>
                  </mc:Choice>
                  <mc:Fallback>
                    <p:oleObj name="Equation" r:id="rId5" imgW="1231366" imgH="228501" progId="Equation.DSMT4">
                      <p:embed/>
                      <p:pic>
                        <p:nvPicPr>
                          <p:cNvPr id="0" name="Object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79" y="3025"/>
                            <a:ext cx="1333" cy="2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99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Group 82"/>
          <p:cNvGrpSpPr>
            <a:grpSpLocks/>
          </p:cNvGrpSpPr>
          <p:nvPr/>
        </p:nvGrpSpPr>
        <p:grpSpPr bwMode="auto">
          <a:xfrm>
            <a:off x="3131853" y="1815392"/>
            <a:ext cx="4320788" cy="893268"/>
            <a:chOff x="1716" y="1047"/>
            <a:chExt cx="3371" cy="498"/>
          </a:xfrm>
        </p:grpSpPr>
        <p:graphicFrame>
          <p:nvGraphicFramePr>
            <p:cNvPr id="34831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5778840"/>
                </p:ext>
              </p:extLst>
            </p:nvPr>
          </p:nvGraphicFramePr>
          <p:xfrm>
            <a:off x="2208" y="1047"/>
            <a:ext cx="2879" cy="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918" name="Equation" r:id="rId7" imgW="1676160" imgH="444240" progId="Equation.DSMT4">
                    <p:embed/>
                  </p:oleObj>
                </mc:Choice>
                <mc:Fallback>
                  <p:oleObj name="Equation" r:id="rId7" imgW="1676160" imgH="44424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1047"/>
                          <a:ext cx="2879" cy="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2" name="AutoShape 78"/>
            <p:cNvSpPr>
              <a:spLocks noChangeArrowheads="1"/>
            </p:cNvSpPr>
            <p:nvPr/>
          </p:nvSpPr>
          <p:spPr bwMode="auto">
            <a:xfrm>
              <a:off x="1716" y="1197"/>
              <a:ext cx="318" cy="140"/>
            </a:xfrm>
            <a:prstGeom prst="rightArrow">
              <a:avLst>
                <a:gd name="adj1" fmla="val 50000"/>
                <a:gd name="adj2" fmla="val 56786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649295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342334"/>
              </p:ext>
            </p:extLst>
          </p:nvPr>
        </p:nvGraphicFramePr>
        <p:xfrm>
          <a:off x="1475656" y="1986284"/>
          <a:ext cx="116998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19" name="Equation" r:id="rId9" imgW="447657" imgH="95224" progId="Equation.DSMT4">
                  <p:embed/>
                </p:oleObj>
              </mc:Choice>
              <mc:Fallback>
                <p:oleObj name="Equation" r:id="rId9" imgW="447657" imgH="95224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986284"/>
                        <a:ext cx="1169987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7" name="AutoShape 87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8" name="AutoShape 8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29" name="AutoShape 8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4830" name="AutoShape 9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4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4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64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64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3000"/>
                                        <p:tgtEl>
                                          <p:spTgt spid="64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229" grpId="0"/>
      <p:bldP spid="649230" grpId="0"/>
      <p:bldP spid="649247" grpId="0"/>
      <p:bldP spid="64925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245E712-3E35-4B31-9199-18ECFFBFCDF5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pic>
        <p:nvPicPr>
          <p:cNvPr id="648195" name="Picture 3" descr="3">
            <a:hlinkClick r:id="rId3" action="ppaction://program"/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549275"/>
            <a:ext cx="3600450" cy="205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8196" name="Text Box 4"/>
          <p:cNvSpPr txBox="1">
            <a:spLocks noChangeArrowheads="1"/>
          </p:cNvSpPr>
          <p:nvPr/>
        </p:nvSpPr>
        <p:spPr bwMode="auto">
          <a:xfrm>
            <a:off x="76200" y="668338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</a:rPr>
              <a:t>（</a:t>
            </a:r>
            <a:r>
              <a:rPr kumimoji="1" lang="en-US" altLang="zh-CN">
                <a:solidFill>
                  <a:schemeClr val="bg1"/>
                </a:solidFill>
              </a:rPr>
              <a:t>3</a:t>
            </a:r>
            <a:r>
              <a:rPr kumimoji="1" lang="zh-CN" altLang="en-US">
                <a:solidFill>
                  <a:schemeClr val="bg1"/>
                </a:solidFill>
              </a:rPr>
              <a:t>）相速（波速）</a:t>
            </a:r>
          </a:p>
        </p:txBody>
      </p:sp>
      <p:graphicFrame>
        <p:nvGraphicFramePr>
          <p:cNvPr id="648201" name="Object 9" descr="虚线网格">
            <a:hlinkClick r:id="" action="ppaction://noaction" highlightClick="1"/>
          </p:cNvPr>
          <p:cNvGraphicFramePr>
            <a:graphicFrameLocks noChangeAspect="1"/>
          </p:cNvGraphicFramePr>
          <p:nvPr/>
        </p:nvGraphicFramePr>
        <p:xfrm>
          <a:off x="971550" y="4202113"/>
          <a:ext cx="478948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2" name="公式" r:id="rId5" imgW="2095659" imgH="361783" progId="Equation.3">
                  <p:embed/>
                </p:oleObj>
              </mc:Choice>
              <mc:Fallback>
                <p:oleObj name="公式" r:id="rId5" imgW="2095659" imgH="361783" progId="Equation.3">
                  <p:embed/>
                  <p:pic>
                    <p:nvPicPr>
                      <p:cNvPr id="0" name="Object 9" descr="虚线网格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202113"/>
                        <a:ext cx="4789488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pattFill prst="dotGrid">
                              <a:fgClr>
                                <a:srgbClr val="99CCFF"/>
                              </a:fgClr>
                              <a:bgClr>
                                <a:srgbClr val="FFFFFF"/>
                              </a:bgClr>
                            </a:patt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92088" y="5218113"/>
            <a:ext cx="7512050" cy="1163637"/>
            <a:chOff x="63" y="2024"/>
            <a:chExt cx="4732" cy="733"/>
          </a:xfrm>
        </p:grpSpPr>
        <p:sp>
          <p:nvSpPr>
            <p:cNvPr id="35862" name="Text Box 10"/>
            <p:cNvSpPr txBox="1">
              <a:spLocks noChangeArrowheads="1"/>
            </p:cNvSpPr>
            <p:nvPr/>
          </p:nvSpPr>
          <p:spPr bwMode="auto">
            <a:xfrm>
              <a:off x="63" y="2099"/>
              <a:ext cx="9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</a:rPr>
                <a:t>真空中</a:t>
              </a:r>
              <a:r>
                <a:rPr kumimoji="1" lang="zh-CN" altLang="en-US" sz="2000">
                  <a:solidFill>
                    <a:schemeClr val="bg1"/>
                  </a:solidFill>
                  <a:ea typeface="幼圆" pitchFamily="49" charset="-122"/>
                </a:rPr>
                <a:t>：</a:t>
              </a:r>
            </a:p>
          </p:txBody>
        </p:sp>
        <p:graphicFrame>
          <p:nvGraphicFramePr>
            <p:cNvPr id="35863" name="Object 11" descr="虚线网格">
              <a:hlinkClick r:id="" action="ppaction://noaction" highlightClick="1"/>
            </p:cNvPr>
            <p:cNvGraphicFramePr>
              <a:graphicFrameLocks noChangeAspect="1"/>
            </p:cNvGraphicFramePr>
            <p:nvPr/>
          </p:nvGraphicFramePr>
          <p:xfrm>
            <a:off x="862" y="2024"/>
            <a:ext cx="3933" cy="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3" name="Equation" r:id="rId7" imgW="3238399" imgH="533464" progId="Equation.DSMT4">
                    <p:embed/>
                  </p:oleObj>
                </mc:Choice>
                <mc:Fallback>
                  <p:oleObj name="Equation" r:id="rId7" imgW="3238399" imgH="533464" progId="Equation.DSMT4">
                    <p:embed/>
                    <p:pic>
                      <p:nvPicPr>
                        <p:cNvPr id="0" name="Object 11" descr="虚线网格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" y="2024"/>
                          <a:ext cx="3933" cy="7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pattFill prst="dotGrid">
                                <a:fgClr>
                                  <a:srgbClr val="99CCFF"/>
                                </a:fgClr>
                                <a:bgClr>
                                  <a:srgbClr val="FFFFFF"/>
                                </a:bgClr>
                              </a:patt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611188" y="2755900"/>
            <a:ext cx="2495550" cy="457200"/>
            <a:chOff x="385" y="1736"/>
            <a:chExt cx="1572" cy="288"/>
          </a:xfrm>
        </p:grpSpPr>
        <p:graphicFrame>
          <p:nvGraphicFramePr>
            <p:cNvPr id="35860" name="Object 8">
              <a:hlinkClick r:id="" action="ppaction://noaction" highlightClick="1"/>
            </p:cNvPr>
            <p:cNvGraphicFramePr>
              <a:graphicFrameLocks/>
            </p:cNvGraphicFramePr>
            <p:nvPr/>
          </p:nvGraphicFramePr>
          <p:xfrm>
            <a:off x="657" y="1752"/>
            <a:ext cx="1300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4" name="公式" r:id="rId9" imgW="638171" imgH="95224" progId="Equation.3">
                    <p:embed/>
                  </p:oleObj>
                </mc:Choice>
                <mc:Fallback>
                  <p:oleObj name="公式" r:id="rId9" imgW="638171" imgH="95224" progId="Equation.3">
                    <p:embed/>
                    <p:pic>
                      <p:nvPicPr>
                        <p:cNvPr id="0" name="Object 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752"/>
                          <a:ext cx="1300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99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1" name="Text Box 13"/>
            <p:cNvSpPr txBox="1">
              <a:spLocks noChangeArrowheads="1"/>
            </p:cNvSpPr>
            <p:nvPr/>
          </p:nvSpPr>
          <p:spPr bwMode="auto">
            <a:xfrm>
              <a:off x="385" y="1736"/>
              <a:ext cx="1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>
                  <a:solidFill>
                    <a:schemeClr val="bg1"/>
                  </a:solidFill>
                </a:rPr>
                <a:t>由</a:t>
              </a:r>
            </a:p>
          </p:txBody>
        </p:sp>
      </p:grpSp>
      <p:sp>
        <p:nvSpPr>
          <p:cNvPr id="648206" name="Text Box 14"/>
          <p:cNvSpPr txBox="1">
            <a:spLocks noChangeArrowheads="1"/>
          </p:cNvSpPr>
          <p:nvPr/>
        </p:nvSpPr>
        <p:spPr bwMode="auto">
          <a:xfrm>
            <a:off x="107950" y="1344613"/>
            <a:ext cx="4824413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rgbClr val="FF8383"/>
                </a:solidFill>
                <a:latin typeface="宋体" pitchFamily="2" charset="-122"/>
                <a:ea typeface="宋体" pitchFamily="2" charset="-122"/>
              </a:rPr>
              <a:t>相速</a:t>
            </a:r>
            <a:r>
              <a:rPr kumimoji="1" lang="en-US" altLang="zh-CN" i="1">
                <a:solidFill>
                  <a:srgbClr val="FF8383"/>
                </a:solidFill>
              </a:rPr>
              <a:t>v</a:t>
            </a:r>
            <a:r>
              <a:rPr kumimoji="1" lang="zh-CN" altLang="en-US">
                <a:solidFill>
                  <a:schemeClr val="bg1"/>
                </a:solidFill>
                <a:latin typeface="幼圆" pitchFamily="49" charset="-122"/>
                <a:ea typeface="幼圆" pitchFamily="49" charset="-122"/>
              </a:rPr>
              <a:t>：</a:t>
            </a:r>
            <a:r>
              <a:rPr kumimoji="1" lang="zh-CN" altLang="en-US">
                <a:solidFill>
                  <a:schemeClr val="bg1"/>
                </a:solidFill>
              </a:rPr>
              <a:t>电磁波的等相位面在空间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</a:rPr>
              <a:t>              中的移动速度</a:t>
            </a:r>
          </a:p>
        </p:txBody>
      </p: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4932363" y="3844925"/>
            <a:ext cx="3962400" cy="1035050"/>
            <a:chOff x="3061" y="1281"/>
            <a:chExt cx="2496" cy="652"/>
          </a:xfrm>
        </p:grpSpPr>
        <p:sp>
          <p:nvSpPr>
            <p:cNvPr id="35858" name="Text Box 12"/>
            <p:cNvSpPr txBox="1">
              <a:spLocks noChangeArrowheads="1"/>
            </p:cNvSpPr>
            <p:nvPr/>
          </p:nvSpPr>
          <p:spPr bwMode="auto">
            <a:xfrm>
              <a:off x="4150" y="1281"/>
              <a:ext cx="1407" cy="65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lang="zh-CN" altLang="en-US" sz="2000">
                  <a:solidFill>
                    <a:srgbClr val="9A1D00"/>
                  </a:solidFill>
                  <a:ea typeface="宋体" pitchFamily="2" charset="-122"/>
                </a:rPr>
                <a:t>相速只与媒质参数有关，而与电磁波的频率无关</a:t>
              </a:r>
            </a:p>
          </p:txBody>
        </p:sp>
        <p:sp>
          <p:nvSpPr>
            <p:cNvPr id="35859" name="Line 21"/>
            <p:cNvSpPr>
              <a:spLocks noChangeShapeType="1"/>
            </p:cNvSpPr>
            <p:nvPr/>
          </p:nvSpPr>
          <p:spPr bwMode="auto">
            <a:xfrm flipH="1">
              <a:off x="3061" y="1926"/>
              <a:ext cx="1089" cy="0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8237" name="Text Box 45"/>
          <p:cNvSpPr txBox="1">
            <a:spLocks noChangeArrowheads="1"/>
          </p:cNvSpPr>
          <p:nvPr/>
        </p:nvSpPr>
        <p:spPr bwMode="auto">
          <a:xfrm>
            <a:off x="179388" y="3573463"/>
            <a:ext cx="712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>
                <a:solidFill>
                  <a:schemeClr val="bg1"/>
                </a:solidFill>
              </a:rPr>
              <a:t>故</a:t>
            </a:r>
            <a:r>
              <a:rPr kumimoji="1" lang="zh-CN" altLang="en-US">
                <a:solidFill>
                  <a:schemeClr val="bg1"/>
                </a:solidFill>
                <a:sym typeface="Symbol" pitchFamily="18" charset="2"/>
              </a:rPr>
              <a:t>得到</a:t>
            </a:r>
            <a:r>
              <a:rPr kumimoji="1" lang="zh-CN" altLang="en-US">
                <a:solidFill>
                  <a:schemeClr val="bg1"/>
                </a:solidFill>
              </a:rPr>
              <a:t>均匀平面波的相速为</a:t>
            </a:r>
          </a:p>
        </p:txBody>
      </p: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3419475" y="2781300"/>
            <a:ext cx="2881313" cy="431800"/>
            <a:chOff x="1700" y="1145"/>
            <a:chExt cx="1731" cy="233"/>
          </a:xfrm>
        </p:grpSpPr>
        <p:graphicFrame>
          <p:nvGraphicFramePr>
            <p:cNvPr id="35856" name="Object 47"/>
            <p:cNvGraphicFramePr>
              <a:graphicFrameLocks noChangeAspect="1"/>
            </p:cNvGraphicFramePr>
            <p:nvPr/>
          </p:nvGraphicFramePr>
          <p:xfrm>
            <a:off x="2058" y="1145"/>
            <a:ext cx="1373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915" name="Equation" r:id="rId11" imgW="762058" imgH="95224" progId="Equation.DSMT4">
                    <p:embed/>
                  </p:oleObj>
                </mc:Choice>
                <mc:Fallback>
                  <p:oleObj name="Equation" r:id="rId11" imgW="762058" imgH="95224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8" y="1145"/>
                          <a:ext cx="1373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57" name="AutoShape 48"/>
            <p:cNvSpPr>
              <a:spLocks noChangeArrowheads="1"/>
            </p:cNvSpPr>
            <p:nvPr/>
          </p:nvSpPr>
          <p:spPr bwMode="auto">
            <a:xfrm>
              <a:off x="1700" y="1186"/>
              <a:ext cx="318" cy="140"/>
            </a:xfrm>
            <a:prstGeom prst="rightArrow">
              <a:avLst>
                <a:gd name="adj1" fmla="val 50000"/>
                <a:gd name="adj2" fmla="val 56786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5852" name="AutoShape 55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3" name="AutoShape 5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4" name="AutoShape 5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855" name="AutoShape 58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4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4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4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64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64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6" grpId="0"/>
      <p:bldP spid="648206" grpId="0"/>
      <p:bldP spid="64823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5BC761-23A5-421A-A945-731E9A05E208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505858" name="Text Box 2"/>
          <p:cNvSpPr txBox="1">
            <a:spLocks noChangeArrowheads="1"/>
          </p:cNvSpPr>
          <p:nvPr/>
        </p:nvSpPr>
        <p:spPr bwMode="auto">
          <a:xfrm>
            <a:off x="107950" y="476250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>
                <a:solidFill>
                  <a:schemeClr val="bg1"/>
                </a:solidFill>
                <a:ea typeface="宋体" pitchFamily="2" charset="-122"/>
              </a:rPr>
              <a:t>2</a:t>
            </a:r>
            <a:r>
              <a:rPr kumimoji="1" lang="zh-CN" altLang="en-US">
                <a:solidFill>
                  <a:schemeClr val="bg1"/>
                </a:solidFill>
                <a:ea typeface="宋体" pitchFamily="2" charset="-122"/>
              </a:rPr>
              <a:t>、能量密度与能流密度</a:t>
            </a:r>
          </a:p>
        </p:txBody>
      </p:sp>
      <p:graphicFrame>
        <p:nvGraphicFramePr>
          <p:cNvPr id="505861" name="Object 5"/>
          <p:cNvGraphicFramePr>
            <a:graphicFrameLocks noChangeAspect="1"/>
          </p:cNvGraphicFramePr>
          <p:nvPr/>
        </p:nvGraphicFramePr>
        <p:xfrm>
          <a:off x="812800" y="4581525"/>
          <a:ext cx="5303838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4" name="Equation" r:id="rId3" imgW="2190743" imgH="333285" progId="Equation.DSMT4">
                  <p:embed/>
                </p:oleObj>
              </mc:Choice>
              <mc:Fallback>
                <p:oleObj name="Equation" r:id="rId3" imgW="2190743" imgH="33328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2800" y="4581525"/>
                        <a:ext cx="5303838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100000">
                                  <a:schemeClr val="bg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2" name="Object 6"/>
          <p:cNvGraphicFramePr>
            <a:graphicFrameLocks noChangeAspect="1"/>
          </p:cNvGraphicFramePr>
          <p:nvPr/>
        </p:nvGraphicFramePr>
        <p:xfrm>
          <a:off x="1327150" y="5411788"/>
          <a:ext cx="3395663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5" name="Equation" r:id="rId5" imgW="1362057" imgH="361783" progId="Equation.DSMT4">
                  <p:embed/>
                </p:oleObj>
              </mc:Choice>
              <mc:Fallback>
                <p:oleObj name="Equation" r:id="rId5" imgW="1362057" imgH="36178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5411788"/>
                        <a:ext cx="3395663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5" name="Object 9"/>
          <p:cNvGraphicFramePr>
            <a:graphicFrameLocks noChangeAspect="1"/>
          </p:cNvGraphicFramePr>
          <p:nvPr/>
        </p:nvGraphicFramePr>
        <p:xfrm>
          <a:off x="4210050" y="819150"/>
          <a:ext cx="446563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6" name="Equation" r:id="rId7" imgW="1666741" imgH="304787" progId="Equation.DSMT4">
                  <p:embed/>
                </p:oleObj>
              </mc:Choice>
              <mc:Fallback>
                <p:oleObj name="Equation" r:id="rId7" imgW="1666741" imgH="30478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819150"/>
                        <a:ext cx="4465638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48"/>
          <p:cNvGrpSpPr>
            <a:grpSpLocks/>
          </p:cNvGrpSpPr>
          <p:nvPr/>
        </p:nvGrpSpPr>
        <p:grpSpPr bwMode="auto">
          <a:xfrm>
            <a:off x="468313" y="908050"/>
            <a:ext cx="5111750" cy="865188"/>
            <a:chOff x="295" y="618"/>
            <a:chExt cx="3084" cy="499"/>
          </a:xfrm>
        </p:grpSpPr>
        <p:graphicFrame>
          <p:nvGraphicFramePr>
            <p:cNvPr id="36887" name="Object 4"/>
            <p:cNvGraphicFramePr>
              <a:graphicFrameLocks noChangeAspect="1"/>
            </p:cNvGraphicFramePr>
            <p:nvPr/>
          </p:nvGraphicFramePr>
          <p:xfrm>
            <a:off x="703" y="618"/>
            <a:ext cx="1219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77" name="Equation" r:id="rId9" imgW="733255" imgH="343016" progId="Equation.DSMT4">
                    <p:embed/>
                  </p:oleObj>
                </mc:Choice>
                <mc:Fallback>
                  <p:oleObj name="Equation" r:id="rId9" imgW="733255" imgH="343016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618"/>
                          <a:ext cx="1219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gradFill rotWithShape="0">
                                <a:gsLst>
                                  <a:gs pos="0">
                                    <a:schemeClr val="accent1"/>
                                  </a:gs>
                                  <a:gs pos="100000">
                                    <a:schemeClr val="bg1"/>
                                  </a:gs>
                                </a:gsLst>
                                <a:lin ang="5400000" scaled="1"/>
                              </a:gra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8" name="Rectangle 14"/>
            <p:cNvSpPr>
              <a:spLocks noChangeArrowheads="1"/>
            </p:cNvSpPr>
            <p:nvPr/>
          </p:nvSpPr>
          <p:spPr bwMode="auto">
            <a:xfrm>
              <a:off x="295" y="676"/>
              <a:ext cx="481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由于</a:t>
              </a:r>
            </a:p>
          </p:txBody>
        </p:sp>
        <p:sp>
          <p:nvSpPr>
            <p:cNvPr id="36889" name="Rectangle 15"/>
            <p:cNvSpPr>
              <a:spLocks noChangeArrowheads="1"/>
            </p:cNvSpPr>
            <p:nvPr/>
          </p:nvSpPr>
          <p:spPr bwMode="auto">
            <a:xfrm>
              <a:off x="1837" y="686"/>
              <a:ext cx="154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1" lang="zh-CN" altLang="en-US">
                  <a:solidFill>
                    <a:schemeClr val="bg1"/>
                  </a:solidFill>
                  <a:latin typeface="幼圆" pitchFamily="49" charset="-122"/>
                  <a:ea typeface="幼圆" pitchFamily="49" charset="-122"/>
                </a:rPr>
                <a:t>，</a:t>
              </a: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于是</a:t>
              </a:r>
            </a:p>
          </p:txBody>
        </p:sp>
      </p:grpSp>
      <p:grpSp>
        <p:nvGrpSpPr>
          <p:cNvPr id="3" name="Group 1050"/>
          <p:cNvGrpSpPr>
            <a:grpSpLocks/>
          </p:cNvGrpSpPr>
          <p:nvPr/>
        </p:nvGrpSpPr>
        <p:grpSpPr bwMode="auto">
          <a:xfrm>
            <a:off x="4859338" y="5661025"/>
            <a:ext cx="3600450" cy="425450"/>
            <a:chOff x="3016" y="3521"/>
            <a:chExt cx="2268" cy="268"/>
          </a:xfrm>
        </p:grpSpPr>
        <p:sp>
          <p:nvSpPr>
            <p:cNvPr id="36885" name="Rectangle 11"/>
            <p:cNvSpPr>
              <a:spLocks noChangeArrowheads="1"/>
            </p:cNvSpPr>
            <p:nvPr/>
          </p:nvSpPr>
          <p:spPr bwMode="auto">
            <a:xfrm>
              <a:off x="3379" y="3521"/>
              <a:ext cx="1905" cy="268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1" lang="zh-CN" altLang="en-US" sz="2000">
                  <a:solidFill>
                    <a:srgbClr val="9A1D00"/>
                  </a:solidFill>
                  <a:latin typeface="宋体" pitchFamily="2" charset="-122"/>
                  <a:ea typeface="宋体" pitchFamily="2" charset="-122"/>
                </a:rPr>
                <a:t>能量的传输速度等于相速</a:t>
              </a:r>
            </a:p>
          </p:txBody>
        </p:sp>
        <p:sp>
          <p:nvSpPr>
            <p:cNvPr id="36886" name="Line 16"/>
            <p:cNvSpPr>
              <a:spLocks noChangeShapeType="1"/>
            </p:cNvSpPr>
            <p:nvPr/>
          </p:nvSpPr>
          <p:spPr bwMode="auto">
            <a:xfrm flipH="1">
              <a:off x="3016" y="3657"/>
              <a:ext cx="363" cy="0"/>
            </a:xfrm>
            <a:prstGeom prst="line">
              <a:avLst/>
            </a:prstGeom>
            <a:noFill/>
            <a:ln w="31750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05876" name="Object 20"/>
          <p:cNvGraphicFramePr>
            <a:graphicFrameLocks/>
          </p:cNvGraphicFramePr>
          <p:nvPr/>
        </p:nvGraphicFramePr>
        <p:xfrm>
          <a:off x="835025" y="2563813"/>
          <a:ext cx="335915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8" name="Equation" r:id="rId11" imgW="1257257" imgH="304787" progId="Equation.DSMT4">
                  <p:embed/>
                </p:oleObj>
              </mc:Choice>
              <mc:Fallback>
                <p:oleObj name="Equation" r:id="rId11" imgW="1257257" imgH="304787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" y="2563813"/>
                        <a:ext cx="3359150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049"/>
          <p:cNvGrpSpPr>
            <a:grpSpLocks/>
          </p:cNvGrpSpPr>
          <p:nvPr/>
        </p:nvGrpSpPr>
        <p:grpSpPr bwMode="auto">
          <a:xfrm>
            <a:off x="103188" y="1844675"/>
            <a:ext cx="5008562" cy="720725"/>
            <a:chOff x="65" y="1669"/>
            <a:chExt cx="3120" cy="403"/>
          </a:xfrm>
        </p:grpSpPr>
        <p:graphicFrame>
          <p:nvGraphicFramePr>
            <p:cNvPr id="36883" name="Object 17"/>
            <p:cNvGraphicFramePr>
              <a:graphicFrameLocks noChangeAspect="1"/>
            </p:cNvGraphicFramePr>
            <p:nvPr/>
          </p:nvGraphicFramePr>
          <p:xfrm>
            <a:off x="516" y="1669"/>
            <a:ext cx="2669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979" name="Equation" r:id="rId13" imgW="1666741" imgH="228677" progId="Equation.DSMT4">
                    <p:embed/>
                  </p:oleObj>
                </mc:Choice>
                <mc:Fallback>
                  <p:oleObj name="Equation" r:id="rId13" imgW="1666741" imgH="228677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" y="1669"/>
                          <a:ext cx="2669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4" name="Rectangle 1046"/>
            <p:cNvSpPr>
              <a:spLocks noChangeArrowheads="1"/>
            </p:cNvSpPr>
            <p:nvPr/>
          </p:nvSpPr>
          <p:spPr bwMode="auto">
            <a:xfrm>
              <a:off x="65" y="1736"/>
              <a:ext cx="502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1" lang="zh-CN" altLang="en-US">
                  <a:solidFill>
                    <a:schemeClr val="bg1"/>
                  </a:solidFill>
                  <a:latin typeface="楷体_GB2312" pitchFamily="49" charset="-122"/>
                </a:rPr>
                <a:t>故</a:t>
              </a:r>
            </a:p>
          </p:txBody>
        </p:sp>
      </p:grpSp>
      <p:grpSp>
        <p:nvGrpSpPr>
          <p:cNvPr id="5" name="Group 1051"/>
          <p:cNvGrpSpPr>
            <a:grpSpLocks/>
          </p:cNvGrpSpPr>
          <p:nvPr/>
        </p:nvGrpSpPr>
        <p:grpSpPr bwMode="auto">
          <a:xfrm>
            <a:off x="4859338" y="1463675"/>
            <a:ext cx="4162425" cy="1679575"/>
            <a:chOff x="3560" y="447"/>
            <a:chExt cx="2622" cy="1058"/>
          </a:xfrm>
        </p:grpSpPr>
        <p:sp>
          <p:nvSpPr>
            <p:cNvPr id="36881" name="Line 13"/>
            <p:cNvSpPr>
              <a:spLocks noChangeShapeType="1"/>
            </p:cNvSpPr>
            <p:nvPr/>
          </p:nvSpPr>
          <p:spPr bwMode="auto">
            <a:xfrm flipV="1">
              <a:off x="5057" y="447"/>
              <a:ext cx="453" cy="806"/>
            </a:xfrm>
            <a:prstGeom prst="line">
              <a:avLst/>
            </a:prstGeom>
            <a:noFill/>
            <a:ln w="31750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Rectangle 1047"/>
            <p:cNvSpPr>
              <a:spLocks noChangeArrowheads="1"/>
            </p:cNvSpPr>
            <p:nvPr/>
          </p:nvSpPr>
          <p:spPr bwMode="auto">
            <a:xfrm>
              <a:off x="3560" y="1253"/>
              <a:ext cx="2622" cy="25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Wingdings" pitchFamily="2" charset="2"/>
                <a:buNone/>
              </a:pPr>
              <a:r>
                <a:rPr kumimoji="1" lang="zh-CN" altLang="en-US" sz="2000">
                  <a:solidFill>
                    <a:srgbClr val="9A1D00"/>
                  </a:solidFill>
                  <a:latin typeface="宋体" pitchFamily="2" charset="-122"/>
                  <a:ea typeface="宋体" pitchFamily="2" charset="-122"/>
                </a:rPr>
                <a:t>电场能量密度与磁场能量密度相等</a:t>
              </a:r>
            </a:p>
          </p:txBody>
        </p:sp>
      </p:grpSp>
      <p:graphicFrame>
        <p:nvGraphicFramePr>
          <p:cNvPr id="632860" name="Object 1052"/>
          <p:cNvGraphicFramePr>
            <a:graphicFrameLocks noChangeAspect="1"/>
          </p:cNvGraphicFramePr>
          <p:nvPr/>
        </p:nvGraphicFramePr>
        <p:xfrm>
          <a:off x="739775" y="3644900"/>
          <a:ext cx="657066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80" name="Equation" r:id="rId15" imgW="2828914" imgH="343016" progId="Equation.DSMT4">
                  <p:embed/>
                </p:oleObj>
              </mc:Choice>
              <mc:Fallback>
                <p:oleObj name="Equation" r:id="rId15" imgW="2828914" imgH="343016" progId="Equation.DSMT4">
                  <p:embed/>
                  <p:pic>
                    <p:nvPicPr>
                      <p:cNvPr id="0" name="Object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3644900"/>
                        <a:ext cx="6570663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accent1"/>
                                </a:gs>
                                <a:gs pos="100000">
                                  <a:schemeClr val="bg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7" name="AutoShape 1057">
            <a:hlinkClick r:id="rId17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78" name="AutoShape 105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79" name="AutoShape 105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6880" name="AutoShape 1060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0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0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50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63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50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50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5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606EFCB-FEA3-4997-BE15-E0D8C3652E31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650247" name="Text Box 7"/>
          <p:cNvSpPr txBox="1">
            <a:spLocks noChangeArrowheads="1"/>
          </p:cNvSpPr>
          <p:nvPr/>
        </p:nvSpPr>
        <p:spPr bwMode="auto">
          <a:xfrm>
            <a:off x="107950" y="587375"/>
            <a:ext cx="54721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kumimoji="1" lang="en-US" altLang="zh-CN">
                <a:solidFill>
                  <a:schemeClr val="bg1"/>
                </a:solidFill>
                <a:ea typeface="宋体" pitchFamily="2" charset="-122"/>
              </a:rPr>
              <a:t>3</a:t>
            </a:r>
            <a:r>
              <a:rPr kumimoji="1" lang="zh-CN" altLang="en-US">
                <a:solidFill>
                  <a:schemeClr val="bg1"/>
                </a:solidFill>
                <a:ea typeface="宋体" pitchFamily="2" charset="-122"/>
              </a:rPr>
              <a:t>、</a:t>
            </a:r>
            <a:r>
              <a:rPr kumimoji="1" lang="zh-CN" altLang="en-US">
                <a:solidFill>
                  <a:srgbClr val="FF0000"/>
                </a:solidFill>
                <a:ea typeface="宋体" pitchFamily="2" charset="-122"/>
              </a:rPr>
              <a:t>理想介质</a:t>
            </a:r>
            <a:r>
              <a:rPr kumimoji="1" lang="zh-CN" altLang="en-US">
                <a:solidFill>
                  <a:schemeClr val="bg1"/>
                </a:solidFill>
                <a:ea typeface="宋体" pitchFamily="2" charset="-122"/>
              </a:rPr>
              <a:t>中均匀平面波的传播特点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5643563" y="3259138"/>
            <a:ext cx="3392487" cy="2903537"/>
            <a:chOff x="3424" y="2145"/>
            <a:chExt cx="2268" cy="1829"/>
          </a:xfrm>
        </p:grpSpPr>
        <p:sp>
          <p:nvSpPr>
            <p:cNvPr id="37902" name="Rectangle 9"/>
            <p:cNvSpPr>
              <a:spLocks noChangeArrowheads="1"/>
            </p:cNvSpPr>
            <p:nvPr/>
          </p:nvSpPr>
          <p:spPr bwMode="auto">
            <a:xfrm>
              <a:off x="3424" y="2160"/>
              <a:ext cx="2268" cy="181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903" name="Rectangle 11"/>
            <p:cNvSpPr>
              <a:spLocks noChangeArrowheads="1"/>
            </p:cNvSpPr>
            <p:nvPr/>
          </p:nvSpPr>
          <p:spPr bwMode="auto">
            <a:xfrm>
              <a:off x="4195" y="2145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18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lang="en-US" altLang="zh-CN" sz="1800">
                <a:ea typeface="宋体" pitchFamily="2" charset="-122"/>
              </a:endParaRPr>
            </a:p>
          </p:txBody>
        </p:sp>
        <p:sp>
          <p:nvSpPr>
            <p:cNvPr id="37904" name="Rectangle 12"/>
            <p:cNvSpPr>
              <a:spLocks noChangeArrowheads="1"/>
            </p:cNvSpPr>
            <p:nvPr/>
          </p:nvSpPr>
          <p:spPr bwMode="auto">
            <a:xfrm>
              <a:off x="3432" y="31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i="1">
                  <a:solidFill>
                    <a:srgbClr val="000000"/>
                  </a:solidFill>
                  <a:ea typeface="宋体" pitchFamily="2" charset="-122"/>
                </a:rPr>
                <a:t>y</a:t>
              </a:r>
              <a:endParaRPr lang="en-US" altLang="zh-CN" sz="2000">
                <a:ea typeface="宋体" pitchFamily="2" charset="-122"/>
              </a:endParaRPr>
            </a:p>
          </p:txBody>
        </p:sp>
        <p:sp>
          <p:nvSpPr>
            <p:cNvPr id="37905" name="Rectangle 13"/>
            <p:cNvSpPr>
              <a:spLocks noChangeArrowheads="1"/>
            </p:cNvSpPr>
            <p:nvPr/>
          </p:nvSpPr>
          <p:spPr bwMode="auto">
            <a:xfrm>
              <a:off x="5520" y="3383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en-US" altLang="zh-CN" sz="2000" i="1">
                  <a:solidFill>
                    <a:srgbClr val="000000"/>
                  </a:solidFill>
                  <a:ea typeface="宋体" pitchFamily="2" charset="-122"/>
                </a:rPr>
                <a:t>z</a:t>
              </a:r>
              <a:endParaRPr lang="en-US" altLang="zh-CN" sz="2000" i="1">
                <a:ea typeface="宋体" pitchFamily="2" charset="-122"/>
              </a:endParaRPr>
            </a:p>
          </p:txBody>
        </p:sp>
        <p:sp>
          <p:nvSpPr>
            <p:cNvPr id="37906" name="Rectangle 14"/>
            <p:cNvSpPr>
              <a:spLocks noChangeArrowheads="1"/>
            </p:cNvSpPr>
            <p:nvPr/>
          </p:nvSpPr>
          <p:spPr bwMode="auto">
            <a:xfrm>
              <a:off x="4311" y="2587"/>
              <a:ext cx="16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rgbClr val="000000"/>
                  </a:solidFill>
                  <a:ea typeface="宋体" pitchFamily="2" charset="-122"/>
                </a:rPr>
                <a:t>E</a:t>
              </a:r>
              <a:endParaRPr lang="en-US" altLang="zh-CN" sz="1800">
                <a:ea typeface="宋体" pitchFamily="2" charset="-122"/>
              </a:endParaRPr>
            </a:p>
          </p:txBody>
        </p:sp>
        <p:sp>
          <p:nvSpPr>
            <p:cNvPr id="37907" name="Rectangle 15"/>
            <p:cNvSpPr>
              <a:spLocks noChangeArrowheads="1"/>
            </p:cNvSpPr>
            <p:nvPr/>
          </p:nvSpPr>
          <p:spPr bwMode="auto">
            <a:xfrm>
              <a:off x="4036" y="3028"/>
              <a:ext cx="11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rgbClr val="000000"/>
                  </a:solidFill>
                  <a:ea typeface="宋体" pitchFamily="2" charset="-122"/>
                </a:rPr>
                <a:t>H</a:t>
              </a:r>
              <a:endParaRPr lang="en-US" altLang="zh-CN" sz="1800">
                <a:ea typeface="宋体" pitchFamily="2" charset="-122"/>
              </a:endParaRPr>
            </a:p>
          </p:txBody>
        </p:sp>
        <p:sp>
          <p:nvSpPr>
            <p:cNvPr id="37908" name="Freeform 16"/>
            <p:cNvSpPr>
              <a:spLocks/>
            </p:cNvSpPr>
            <p:nvPr/>
          </p:nvSpPr>
          <p:spPr bwMode="auto">
            <a:xfrm>
              <a:off x="3982" y="2410"/>
              <a:ext cx="357" cy="560"/>
            </a:xfrm>
            <a:custGeom>
              <a:avLst/>
              <a:gdLst>
                <a:gd name="T0" fmla="*/ 0 w 272"/>
                <a:gd name="T1" fmla="*/ 70373 h 378"/>
                <a:gd name="T2" fmla="*/ 6123 w 272"/>
                <a:gd name="T3" fmla="*/ 3710 h 378"/>
                <a:gd name="T4" fmla="*/ 12280 w 272"/>
                <a:gd name="T5" fmla="*/ 92782 h 378"/>
                <a:gd name="T6" fmla="*/ 0 60000 65536"/>
                <a:gd name="T7" fmla="*/ 0 60000 65536"/>
                <a:gd name="T8" fmla="*/ 0 60000 65536"/>
                <a:gd name="T9" fmla="*/ 0 w 272"/>
                <a:gd name="T10" fmla="*/ 0 h 378"/>
                <a:gd name="T11" fmla="*/ 272 w 272"/>
                <a:gd name="T12" fmla="*/ 378 h 3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378">
                  <a:moveTo>
                    <a:pt x="0" y="287"/>
                  </a:moveTo>
                  <a:cubicBezTo>
                    <a:pt x="45" y="143"/>
                    <a:pt x="91" y="0"/>
                    <a:pt x="136" y="15"/>
                  </a:cubicBezTo>
                  <a:cubicBezTo>
                    <a:pt x="181" y="30"/>
                    <a:pt x="249" y="317"/>
                    <a:pt x="272" y="378"/>
                  </a:cubicBezTo>
                </a:path>
              </a:pathLst>
            </a:custGeom>
            <a:solidFill>
              <a:srgbClr val="FF5757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9" name="Freeform 17"/>
            <p:cNvSpPr>
              <a:spLocks/>
            </p:cNvSpPr>
            <p:nvPr/>
          </p:nvSpPr>
          <p:spPr bwMode="auto">
            <a:xfrm rot="10800000">
              <a:off x="4321" y="2940"/>
              <a:ext cx="357" cy="560"/>
            </a:xfrm>
            <a:custGeom>
              <a:avLst/>
              <a:gdLst>
                <a:gd name="T0" fmla="*/ 0 w 272"/>
                <a:gd name="T1" fmla="*/ 70373 h 378"/>
                <a:gd name="T2" fmla="*/ 6123 w 272"/>
                <a:gd name="T3" fmla="*/ 3710 h 378"/>
                <a:gd name="T4" fmla="*/ 12280 w 272"/>
                <a:gd name="T5" fmla="*/ 92782 h 378"/>
                <a:gd name="T6" fmla="*/ 0 60000 65536"/>
                <a:gd name="T7" fmla="*/ 0 60000 65536"/>
                <a:gd name="T8" fmla="*/ 0 60000 65536"/>
                <a:gd name="T9" fmla="*/ 0 w 272"/>
                <a:gd name="T10" fmla="*/ 0 h 378"/>
                <a:gd name="T11" fmla="*/ 272 w 272"/>
                <a:gd name="T12" fmla="*/ 378 h 3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378">
                  <a:moveTo>
                    <a:pt x="0" y="287"/>
                  </a:moveTo>
                  <a:cubicBezTo>
                    <a:pt x="45" y="143"/>
                    <a:pt x="91" y="0"/>
                    <a:pt x="136" y="15"/>
                  </a:cubicBezTo>
                  <a:cubicBezTo>
                    <a:pt x="181" y="30"/>
                    <a:pt x="249" y="317"/>
                    <a:pt x="272" y="378"/>
                  </a:cubicBezTo>
                </a:path>
              </a:pathLst>
            </a:custGeom>
            <a:solidFill>
              <a:srgbClr val="FF5757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0" name="Freeform 18"/>
            <p:cNvSpPr>
              <a:spLocks/>
            </p:cNvSpPr>
            <p:nvPr/>
          </p:nvSpPr>
          <p:spPr bwMode="auto">
            <a:xfrm rot="10800000">
              <a:off x="5033" y="3192"/>
              <a:ext cx="358" cy="560"/>
            </a:xfrm>
            <a:custGeom>
              <a:avLst/>
              <a:gdLst>
                <a:gd name="T0" fmla="*/ 0 w 272"/>
                <a:gd name="T1" fmla="*/ 70373 h 378"/>
                <a:gd name="T2" fmla="*/ 6380 w 272"/>
                <a:gd name="T3" fmla="*/ 3710 h 378"/>
                <a:gd name="T4" fmla="*/ 12729 w 272"/>
                <a:gd name="T5" fmla="*/ 92782 h 378"/>
                <a:gd name="T6" fmla="*/ 0 60000 65536"/>
                <a:gd name="T7" fmla="*/ 0 60000 65536"/>
                <a:gd name="T8" fmla="*/ 0 60000 65536"/>
                <a:gd name="T9" fmla="*/ 0 w 272"/>
                <a:gd name="T10" fmla="*/ 0 h 378"/>
                <a:gd name="T11" fmla="*/ 272 w 272"/>
                <a:gd name="T12" fmla="*/ 378 h 3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378">
                  <a:moveTo>
                    <a:pt x="0" y="287"/>
                  </a:moveTo>
                  <a:cubicBezTo>
                    <a:pt x="45" y="143"/>
                    <a:pt x="91" y="0"/>
                    <a:pt x="136" y="15"/>
                  </a:cubicBezTo>
                  <a:cubicBezTo>
                    <a:pt x="181" y="30"/>
                    <a:pt x="249" y="317"/>
                    <a:pt x="272" y="378"/>
                  </a:cubicBezTo>
                </a:path>
              </a:pathLst>
            </a:custGeom>
            <a:solidFill>
              <a:srgbClr val="FF5757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1" name="Freeform 19"/>
            <p:cNvSpPr>
              <a:spLocks/>
            </p:cNvSpPr>
            <p:nvPr/>
          </p:nvSpPr>
          <p:spPr bwMode="auto">
            <a:xfrm>
              <a:off x="3743" y="2851"/>
              <a:ext cx="605" cy="214"/>
            </a:xfrm>
            <a:custGeom>
              <a:avLst/>
              <a:gdLst>
                <a:gd name="T0" fmla="*/ 10399 w 453"/>
                <a:gd name="T1" fmla="*/ 0 h 197"/>
                <a:gd name="T2" fmla="*/ 2583 w 453"/>
                <a:gd name="T3" fmla="*/ 582 h 197"/>
                <a:gd name="T4" fmla="*/ 26026 w 453"/>
                <a:gd name="T5" fmla="*/ 291 h 197"/>
                <a:gd name="T6" fmla="*/ 0 60000 65536"/>
                <a:gd name="T7" fmla="*/ 0 60000 65536"/>
                <a:gd name="T8" fmla="*/ 0 60000 65536"/>
                <a:gd name="T9" fmla="*/ 0 w 453"/>
                <a:gd name="T10" fmla="*/ 0 h 197"/>
                <a:gd name="T11" fmla="*/ 453 w 453"/>
                <a:gd name="T12" fmla="*/ 197 h 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3" h="197">
                  <a:moveTo>
                    <a:pt x="181" y="0"/>
                  </a:moveTo>
                  <a:cubicBezTo>
                    <a:pt x="90" y="83"/>
                    <a:pt x="0" y="167"/>
                    <a:pt x="45" y="182"/>
                  </a:cubicBezTo>
                  <a:cubicBezTo>
                    <a:pt x="90" y="197"/>
                    <a:pt x="385" y="106"/>
                    <a:pt x="453" y="91"/>
                  </a:cubicBezTo>
                </a:path>
              </a:pathLst>
            </a:custGeom>
            <a:solidFill>
              <a:srgbClr val="FF7FFF"/>
            </a:solidFill>
            <a:ln w="2540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2" name="Freeform 20"/>
            <p:cNvSpPr>
              <a:spLocks/>
            </p:cNvSpPr>
            <p:nvPr/>
          </p:nvSpPr>
          <p:spPr bwMode="auto">
            <a:xfrm rot="10800000">
              <a:off x="4303" y="2851"/>
              <a:ext cx="646" cy="214"/>
            </a:xfrm>
            <a:custGeom>
              <a:avLst/>
              <a:gdLst>
                <a:gd name="T0" fmla="*/ 26042 w 453"/>
                <a:gd name="T1" fmla="*/ 0 h 197"/>
                <a:gd name="T2" fmla="*/ 6426 w 453"/>
                <a:gd name="T3" fmla="*/ 582 h 197"/>
                <a:gd name="T4" fmla="*/ 65121 w 453"/>
                <a:gd name="T5" fmla="*/ 291 h 197"/>
                <a:gd name="T6" fmla="*/ 0 60000 65536"/>
                <a:gd name="T7" fmla="*/ 0 60000 65536"/>
                <a:gd name="T8" fmla="*/ 0 60000 65536"/>
                <a:gd name="T9" fmla="*/ 0 w 453"/>
                <a:gd name="T10" fmla="*/ 0 h 197"/>
                <a:gd name="T11" fmla="*/ 453 w 453"/>
                <a:gd name="T12" fmla="*/ 197 h 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3" h="197">
                  <a:moveTo>
                    <a:pt x="181" y="0"/>
                  </a:moveTo>
                  <a:cubicBezTo>
                    <a:pt x="90" y="83"/>
                    <a:pt x="0" y="167"/>
                    <a:pt x="45" y="182"/>
                  </a:cubicBezTo>
                  <a:cubicBezTo>
                    <a:pt x="90" y="197"/>
                    <a:pt x="385" y="106"/>
                    <a:pt x="453" y="91"/>
                  </a:cubicBezTo>
                </a:path>
              </a:pathLst>
            </a:custGeom>
            <a:solidFill>
              <a:srgbClr val="FF7FFF"/>
            </a:solidFill>
            <a:ln w="2540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3" name="Freeform 21"/>
            <p:cNvSpPr>
              <a:spLocks/>
            </p:cNvSpPr>
            <p:nvPr/>
          </p:nvSpPr>
          <p:spPr bwMode="auto">
            <a:xfrm>
              <a:off x="4686" y="2662"/>
              <a:ext cx="357" cy="560"/>
            </a:xfrm>
            <a:custGeom>
              <a:avLst/>
              <a:gdLst>
                <a:gd name="T0" fmla="*/ 0 w 272"/>
                <a:gd name="T1" fmla="*/ 70373 h 378"/>
                <a:gd name="T2" fmla="*/ 6123 w 272"/>
                <a:gd name="T3" fmla="*/ 3710 h 378"/>
                <a:gd name="T4" fmla="*/ 12280 w 272"/>
                <a:gd name="T5" fmla="*/ 92782 h 378"/>
                <a:gd name="T6" fmla="*/ 0 60000 65536"/>
                <a:gd name="T7" fmla="*/ 0 60000 65536"/>
                <a:gd name="T8" fmla="*/ 0 60000 65536"/>
                <a:gd name="T9" fmla="*/ 0 w 272"/>
                <a:gd name="T10" fmla="*/ 0 h 378"/>
                <a:gd name="T11" fmla="*/ 272 w 272"/>
                <a:gd name="T12" fmla="*/ 378 h 3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378">
                  <a:moveTo>
                    <a:pt x="0" y="287"/>
                  </a:moveTo>
                  <a:cubicBezTo>
                    <a:pt x="45" y="143"/>
                    <a:pt x="91" y="0"/>
                    <a:pt x="136" y="15"/>
                  </a:cubicBezTo>
                  <a:cubicBezTo>
                    <a:pt x="181" y="30"/>
                    <a:pt x="249" y="317"/>
                    <a:pt x="272" y="378"/>
                  </a:cubicBezTo>
                </a:path>
              </a:pathLst>
            </a:custGeom>
            <a:solidFill>
              <a:srgbClr val="FF5757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4" name="Freeform 22"/>
            <p:cNvSpPr>
              <a:spLocks/>
            </p:cNvSpPr>
            <p:nvPr/>
          </p:nvSpPr>
          <p:spPr bwMode="auto">
            <a:xfrm>
              <a:off x="4403" y="3091"/>
              <a:ext cx="632" cy="215"/>
            </a:xfrm>
            <a:custGeom>
              <a:avLst/>
              <a:gdLst>
                <a:gd name="T0" fmla="*/ 19166 w 453"/>
                <a:gd name="T1" fmla="*/ 0 h 197"/>
                <a:gd name="T2" fmla="*/ 4812 w 453"/>
                <a:gd name="T3" fmla="*/ 623 h 197"/>
                <a:gd name="T4" fmla="*/ 47957 w 453"/>
                <a:gd name="T5" fmla="*/ 310 h 197"/>
                <a:gd name="T6" fmla="*/ 0 60000 65536"/>
                <a:gd name="T7" fmla="*/ 0 60000 65536"/>
                <a:gd name="T8" fmla="*/ 0 60000 65536"/>
                <a:gd name="T9" fmla="*/ 0 w 453"/>
                <a:gd name="T10" fmla="*/ 0 h 197"/>
                <a:gd name="T11" fmla="*/ 453 w 453"/>
                <a:gd name="T12" fmla="*/ 197 h 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3" h="197">
                  <a:moveTo>
                    <a:pt x="181" y="0"/>
                  </a:moveTo>
                  <a:cubicBezTo>
                    <a:pt x="90" y="83"/>
                    <a:pt x="0" y="167"/>
                    <a:pt x="45" y="182"/>
                  </a:cubicBezTo>
                  <a:cubicBezTo>
                    <a:pt x="90" y="197"/>
                    <a:pt x="385" y="106"/>
                    <a:pt x="453" y="91"/>
                  </a:cubicBezTo>
                </a:path>
              </a:pathLst>
            </a:custGeom>
            <a:solidFill>
              <a:srgbClr val="FF7FFF"/>
            </a:solidFill>
            <a:ln w="2540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5" name="Freeform 23"/>
            <p:cNvSpPr>
              <a:spLocks/>
            </p:cNvSpPr>
            <p:nvPr/>
          </p:nvSpPr>
          <p:spPr bwMode="auto">
            <a:xfrm rot="10800000">
              <a:off x="5035" y="3056"/>
              <a:ext cx="595" cy="265"/>
            </a:xfrm>
            <a:custGeom>
              <a:avLst/>
              <a:gdLst>
                <a:gd name="T0" fmla="*/ 8243 w 453"/>
                <a:gd name="T1" fmla="*/ 0 h 197"/>
                <a:gd name="T2" fmla="*/ 2035 w 453"/>
                <a:gd name="T3" fmla="*/ 11585 h 197"/>
                <a:gd name="T4" fmla="*/ 20611 w 453"/>
                <a:gd name="T5" fmla="*/ 5768 h 197"/>
                <a:gd name="T6" fmla="*/ 0 60000 65536"/>
                <a:gd name="T7" fmla="*/ 0 60000 65536"/>
                <a:gd name="T8" fmla="*/ 0 60000 65536"/>
                <a:gd name="T9" fmla="*/ 0 w 453"/>
                <a:gd name="T10" fmla="*/ 0 h 197"/>
                <a:gd name="T11" fmla="*/ 453 w 453"/>
                <a:gd name="T12" fmla="*/ 197 h 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3" h="197">
                  <a:moveTo>
                    <a:pt x="181" y="0"/>
                  </a:moveTo>
                  <a:cubicBezTo>
                    <a:pt x="90" y="83"/>
                    <a:pt x="0" y="167"/>
                    <a:pt x="45" y="182"/>
                  </a:cubicBezTo>
                  <a:cubicBezTo>
                    <a:pt x="90" y="197"/>
                    <a:pt x="385" y="106"/>
                    <a:pt x="453" y="91"/>
                  </a:cubicBezTo>
                </a:path>
              </a:pathLst>
            </a:custGeom>
            <a:solidFill>
              <a:srgbClr val="FF7FFF"/>
            </a:solidFill>
            <a:ln w="2540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6" name="Line 24"/>
            <p:cNvSpPr>
              <a:spLocks noChangeShapeType="1"/>
            </p:cNvSpPr>
            <p:nvPr/>
          </p:nvSpPr>
          <p:spPr bwMode="auto">
            <a:xfrm>
              <a:off x="3982" y="2836"/>
              <a:ext cx="1623" cy="57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7" name="Rectangle 27"/>
            <p:cNvSpPr>
              <a:spLocks noChangeArrowheads="1"/>
            </p:cNvSpPr>
            <p:nvPr/>
          </p:nvSpPr>
          <p:spPr bwMode="auto">
            <a:xfrm>
              <a:off x="3901" y="2366"/>
              <a:ext cx="237" cy="53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918" name="Line 28"/>
            <p:cNvSpPr>
              <a:spLocks noChangeShapeType="1"/>
            </p:cNvSpPr>
            <p:nvPr/>
          </p:nvSpPr>
          <p:spPr bwMode="auto">
            <a:xfrm flipH="1">
              <a:off x="3738" y="2851"/>
              <a:ext cx="354" cy="133"/>
            </a:xfrm>
            <a:prstGeom prst="line">
              <a:avLst/>
            </a:prstGeom>
            <a:noFill/>
            <a:ln w="160020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9" name="Rectangle 29"/>
            <p:cNvSpPr>
              <a:spLocks noChangeArrowheads="1"/>
            </p:cNvSpPr>
            <p:nvPr/>
          </p:nvSpPr>
          <p:spPr bwMode="auto">
            <a:xfrm>
              <a:off x="4036" y="2735"/>
              <a:ext cx="1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rgbClr val="000000"/>
                  </a:solidFill>
                  <a:ea typeface="宋体" pitchFamily="2" charset="-122"/>
                </a:rPr>
                <a:t>O</a:t>
              </a:r>
              <a:endParaRPr lang="en-US" altLang="zh-CN" sz="1800">
                <a:ea typeface="宋体" pitchFamily="2" charset="-122"/>
              </a:endParaRPr>
            </a:p>
          </p:txBody>
        </p:sp>
        <p:grpSp>
          <p:nvGrpSpPr>
            <p:cNvPr id="37920" name="Group 34"/>
            <p:cNvGrpSpPr>
              <a:grpSpLocks/>
            </p:cNvGrpSpPr>
            <p:nvPr/>
          </p:nvGrpSpPr>
          <p:grpSpPr bwMode="auto">
            <a:xfrm>
              <a:off x="3644" y="3737"/>
              <a:ext cx="1737" cy="192"/>
              <a:chOff x="3449" y="3375"/>
              <a:chExt cx="1737" cy="203"/>
            </a:xfrm>
          </p:grpSpPr>
          <p:sp>
            <p:nvSpPr>
              <p:cNvPr id="37923" name="Text Box 31"/>
              <p:cNvSpPr txBox="1">
                <a:spLocks noChangeArrowheads="1"/>
              </p:cNvSpPr>
              <p:nvPr/>
            </p:nvSpPr>
            <p:spPr bwMode="auto">
              <a:xfrm>
                <a:off x="3449" y="3375"/>
                <a:ext cx="1737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just" eaLnBrk="1" hangingPunct="1"/>
                <a:r>
                  <a:rPr lang="zh-CN" altLang="en-US" sz="1400">
                    <a:latin typeface="宋体" pitchFamily="2" charset="-122"/>
                    <a:ea typeface="宋体" pitchFamily="2" charset="-122"/>
                  </a:rPr>
                  <a:t>理想介质中均匀平面波的  和</a:t>
                </a:r>
              </a:p>
            </p:txBody>
          </p:sp>
          <p:sp>
            <p:nvSpPr>
              <p:cNvPr id="37924" name="Rectangle 32"/>
              <p:cNvSpPr>
                <a:spLocks noChangeArrowheads="1"/>
              </p:cNvSpPr>
              <p:nvPr/>
            </p:nvSpPr>
            <p:spPr bwMode="auto">
              <a:xfrm>
                <a:off x="4855" y="3420"/>
                <a:ext cx="75" cy="1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just" eaLnBrk="1" hangingPunct="1"/>
                <a:r>
                  <a:rPr lang="en-US" altLang="zh-CN" sz="1400" i="1">
                    <a:solidFill>
                      <a:srgbClr val="000000"/>
                    </a:solidFill>
                    <a:ea typeface="宋体" pitchFamily="2" charset="-122"/>
                  </a:rPr>
                  <a:t>E</a:t>
                </a:r>
                <a:endParaRPr lang="en-US" altLang="zh-CN" sz="1400">
                  <a:ea typeface="宋体" pitchFamily="2" charset="-122"/>
                </a:endParaRPr>
              </a:p>
            </p:txBody>
          </p:sp>
          <p:sp>
            <p:nvSpPr>
              <p:cNvPr id="37925" name="Rectangle 33"/>
              <p:cNvSpPr>
                <a:spLocks noChangeArrowheads="1"/>
              </p:cNvSpPr>
              <p:nvPr/>
            </p:nvSpPr>
            <p:spPr bwMode="auto">
              <a:xfrm>
                <a:off x="5099" y="3420"/>
                <a:ext cx="87" cy="1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Arial" charset="0"/>
                    <a:ea typeface="楷体_GB2312" pitchFamily="49" charset="-122"/>
                  </a:defRPr>
                </a:lvl9pPr>
              </a:lstStyle>
              <a:p>
                <a:pPr algn="just" eaLnBrk="1" hangingPunct="1"/>
                <a:r>
                  <a:rPr lang="en-US" altLang="zh-CN" sz="1400" i="1">
                    <a:solidFill>
                      <a:srgbClr val="000000"/>
                    </a:solidFill>
                    <a:ea typeface="宋体" pitchFamily="2" charset="-122"/>
                  </a:rPr>
                  <a:t>H</a:t>
                </a:r>
                <a:endParaRPr lang="en-US" altLang="zh-CN" sz="1400">
                  <a:ea typeface="宋体" pitchFamily="2" charset="-122"/>
                </a:endParaRPr>
              </a:p>
            </p:txBody>
          </p:sp>
        </p:grpSp>
        <p:sp>
          <p:nvSpPr>
            <p:cNvPr id="37921" name="Line 35"/>
            <p:cNvSpPr>
              <a:spLocks noChangeShapeType="1"/>
            </p:cNvSpPr>
            <p:nvPr/>
          </p:nvSpPr>
          <p:spPr bwMode="auto">
            <a:xfrm flipV="1">
              <a:off x="4147" y="2190"/>
              <a:ext cx="1" cy="70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2" name="Line 36"/>
            <p:cNvSpPr>
              <a:spLocks noChangeAspect="1" noChangeShapeType="1"/>
            </p:cNvSpPr>
            <p:nvPr/>
          </p:nvSpPr>
          <p:spPr bwMode="auto">
            <a:xfrm flipH="1">
              <a:off x="3480" y="2895"/>
              <a:ext cx="659" cy="2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50277" name="Text Box 37"/>
          <p:cNvSpPr txBox="1">
            <a:spLocks noChangeArrowheads="1"/>
          </p:cNvSpPr>
          <p:nvPr/>
        </p:nvSpPr>
        <p:spPr bwMode="auto">
          <a:xfrm>
            <a:off x="69850" y="1452563"/>
            <a:ext cx="925512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2"/>
              </a:buBlip>
            </a:pPr>
            <a:r>
              <a:rPr kumimoji="1" lang="en-US" altLang="zh-CN">
                <a:solidFill>
                  <a:schemeClr val="bg1"/>
                </a:solidFill>
              </a:rPr>
              <a:t>   </a:t>
            </a:r>
            <a:r>
              <a:rPr kumimoji="1" lang="zh-CN" altLang="en-US">
                <a:solidFill>
                  <a:schemeClr val="bg1"/>
                </a:solidFill>
              </a:rPr>
              <a:t>电场、磁场与传播方向之间相互垂直，是横电磁波（</a:t>
            </a:r>
            <a:r>
              <a:rPr kumimoji="1" lang="en-US" altLang="zh-CN">
                <a:solidFill>
                  <a:schemeClr val="bg1"/>
                </a:solidFill>
              </a:rPr>
              <a:t>TEM</a:t>
            </a:r>
            <a:r>
              <a:rPr kumimoji="1" lang="zh-CN" altLang="en-US">
                <a:solidFill>
                  <a:schemeClr val="bg1"/>
                </a:solidFill>
              </a:rPr>
              <a:t>波）。</a:t>
            </a:r>
          </a:p>
        </p:txBody>
      </p:sp>
      <p:sp>
        <p:nvSpPr>
          <p:cNvPr id="650278" name="Text Box 38"/>
          <p:cNvSpPr txBox="1">
            <a:spLocks noChangeArrowheads="1"/>
          </p:cNvSpPr>
          <p:nvPr/>
        </p:nvSpPr>
        <p:spPr bwMode="auto">
          <a:xfrm>
            <a:off x="84138" y="2349500"/>
            <a:ext cx="5364162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2"/>
              </a:buBlip>
            </a:pPr>
            <a:r>
              <a:rPr kumimoji="1" lang="en-US" altLang="zh-CN">
                <a:solidFill>
                  <a:schemeClr val="bg1"/>
                </a:solidFill>
              </a:rPr>
              <a:t>   </a:t>
            </a:r>
            <a:r>
              <a:rPr kumimoji="1" lang="zh-CN" altLang="en-US">
                <a:solidFill>
                  <a:schemeClr val="bg1"/>
                </a:solidFill>
              </a:rPr>
              <a:t>无衰减，电场与磁场的振幅不变。</a:t>
            </a:r>
          </a:p>
        </p:txBody>
      </p:sp>
      <p:sp>
        <p:nvSpPr>
          <p:cNvPr id="650279" name="Text Box 39"/>
          <p:cNvSpPr txBox="1">
            <a:spLocks noChangeArrowheads="1"/>
          </p:cNvSpPr>
          <p:nvPr/>
        </p:nvSpPr>
        <p:spPr bwMode="auto">
          <a:xfrm>
            <a:off x="80963" y="3284538"/>
            <a:ext cx="554513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2"/>
              </a:buBlip>
            </a:pPr>
            <a:r>
              <a:rPr kumimoji="1" lang="en-US" altLang="zh-CN">
                <a:solidFill>
                  <a:schemeClr val="bg1"/>
                </a:solidFill>
              </a:rPr>
              <a:t>   </a:t>
            </a:r>
            <a:r>
              <a:rPr kumimoji="1" lang="zh-CN" altLang="en-US">
                <a:solidFill>
                  <a:schemeClr val="bg1"/>
                </a:solidFill>
              </a:rPr>
              <a:t>波阻抗为实数，电场与磁场同相位。</a:t>
            </a:r>
          </a:p>
        </p:txBody>
      </p:sp>
      <p:sp>
        <p:nvSpPr>
          <p:cNvPr id="650280" name="Text Box 40"/>
          <p:cNvSpPr txBox="1">
            <a:spLocks noChangeArrowheads="1"/>
          </p:cNvSpPr>
          <p:nvPr/>
        </p:nvSpPr>
        <p:spPr bwMode="auto">
          <a:xfrm>
            <a:off x="80963" y="4230688"/>
            <a:ext cx="56896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2"/>
              </a:buBlip>
            </a:pPr>
            <a:r>
              <a:rPr kumimoji="1" lang="en-US" altLang="zh-CN">
                <a:solidFill>
                  <a:schemeClr val="bg1"/>
                </a:solidFill>
              </a:rPr>
              <a:t>   </a:t>
            </a:r>
            <a:r>
              <a:rPr kumimoji="1" lang="zh-CN" altLang="en-US">
                <a:solidFill>
                  <a:schemeClr val="bg1"/>
                </a:solidFill>
              </a:rPr>
              <a:t>电磁波的相速与频率无关，无色散。</a:t>
            </a:r>
          </a:p>
        </p:txBody>
      </p:sp>
      <p:sp>
        <p:nvSpPr>
          <p:cNvPr id="650281" name="Text Box 41"/>
          <p:cNvSpPr txBox="1">
            <a:spLocks noChangeArrowheads="1"/>
          </p:cNvSpPr>
          <p:nvPr/>
        </p:nvSpPr>
        <p:spPr bwMode="auto">
          <a:xfrm>
            <a:off x="82550" y="5084763"/>
            <a:ext cx="5543550" cy="97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FontTx/>
              <a:buBlip>
                <a:blip r:embed="rId2"/>
              </a:buBlip>
            </a:pPr>
            <a:r>
              <a:rPr kumimoji="1" lang="en-US" altLang="zh-CN">
                <a:solidFill>
                  <a:schemeClr val="bg1"/>
                </a:solidFill>
              </a:rPr>
              <a:t>   </a:t>
            </a:r>
            <a:r>
              <a:rPr kumimoji="1" lang="zh-CN" altLang="en-US">
                <a:solidFill>
                  <a:schemeClr val="bg1"/>
                </a:solidFill>
              </a:rPr>
              <a:t>电场能量密度等于磁场能量密度， </a:t>
            </a:r>
          </a:p>
          <a:p>
            <a:pPr algn="just" eaLnBrk="1" hangingPunct="1">
              <a:lnSpc>
                <a:spcPct val="110000"/>
              </a:lnSpc>
            </a:pPr>
            <a:r>
              <a:rPr kumimoji="1" lang="zh-CN" altLang="en-US">
                <a:solidFill>
                  <a:srgbClr val="9A1D00"/>
                </a:solidFill>
              </a:rPr>
              <a:t>      </a:t>
            </a:r>
            <a:r>
              <a:rPr kumimoji="1" lang="zh-CN" altLang="en-US">
                <a:solidFill>
                  <a:schemeClr val="bg1"/>
                </a:solidFill>
              </a:rPr>
              <a:t>能量的传输速度等于相速。</a:t>
            </a:r>
          </a:p>
        </p:txBody>
      </p:sp>
      <p:sp>
        <p:nvSpPr>
          <p:cNvPr id="37898" name="AutoShape 48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899" name="AutoShape 4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900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901" name="AutoShape 5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5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50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50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50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650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650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650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0247" grpId="0"/>
      <p:bldP spid="650277" grpId="0" build="p" autoUpdateAnimBg="0"/>
      <p:bldP spid="650278" grpId="0" build="p" autoUpdateAnimBg="0"/>
      <p:bldP spid="650279" grpId="0" build="p" autoUpdateAnimBg="0"/>
      <p:bldP spid="650280" grpId="0" build="p" autoUpdateAnimBg="0"/>
      <p:bldP spid="650281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EADB76-5709-470C-8EA1-186CB9D1D465}" type="slidenum">
              <a:rPr lang="en-US" altLang="zh-CN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694274" name="Rectangle 2"/>
          <p:cNvSpPr>
            <a:spLocks noChangeArrowheads="1"/>
          </p:cNvSpPr>
          <p:nvPr/>
        </p:nvSpPr>
        <p:spPr bwMode="auto">
          <a:xfrm>
            <a:off x="268288" y="414338"/>
            <a:ext cx="8624887" cy="153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rgbClr val="FF7C80"/>
                </a:solidFill>
                <a:ea typeface="幼圆" pitchFamily="49" charset="-122"/>
              </a:rPr>
              <a:t>    </a:t>
            </a:r>
            <a:r>
              <a:rPr lang="zh-CN" altLang="en-US">
                <a:solidFill>
                  <a:srgbClr val="FF7C80"/>
                </a:solidFill>
                <a:ea typeface="幼圆" pitchFamily="49" charset="-122"/>
              </a:rPr>
              <a:t>例</a:t>
            </a:r>
            <a:r>
              <a:rPr lang="zh-CN" altLang="en-US">
                <a:solidFill>
                  <a:schemeClr val="bg1"/>
                </a:solidFill>
              </a:rPr>
              <a:t>  频率为</a:t>
            </a:r>
            <a:r>
              <a:rPr lang="en-US" altLang="zh-CN">
                <a:solidFill>
                  <a:schemeClr val="bg1"/>
                </a:solidFill>
              </a:rPr>
              <a:t>9.4GHz</a:t>
            </a:r>
            <a:r>
              <a:rPr lang="zh-CN" altLang="en-US">
                <a:solidFill>
                  <a:schemeClr val="bg1"/>
                </a:solidFill>
              </a:rPr>
              <a:t>的均匀平面波在无耗聚乙烯中传播，其相对介电常数为</a:t>
            </a:r>
            <a:r>
              <a:rPr lang="el-GR" altLang="zh-CN" i="1">
                <a:solidFill>
                  <a:schemeClr val="bg1"/>
                </a:solidFill>
                <a:cs typeface="Times New Roman" pitchFamily="18" charset="0"/>
              </a:rPr>
              <a:t>ε</a:t>
            </a:r>
            <a:r>
              <a:rPr lang="en-US" altLang="zh-CN" baseline="-25000">
                <a:solidFill>
                  <a:schemeClr val="bg1"/>
                </a:solidFill>
                <a:cs typeface="Times New Roman" pitchFamily="18" charset="0"/>
              </a:rPr>
              <a:t>r </a:t>
            </a:r>
            <a:r>
              <a:rPr lang="en-US" altLang="zh-CN">
                <a:solidFill>
                  <a:schemeClr val="bg1"/>
                </a:solidFill>
                <a:cs typeface="Times New Roman" pitchFamily="18" charset="0"/>
              </a:rPr>
              <a:t>= 2.26 </a:t>
            </a:r>
            <a:r>
              <a:rPr lang="zh-CN" altLang="en-US">
                <a:solidFill>
                  <a:schemeClr val="bg1"/>
                </a:solidFill>
                <a:cs typeface="Times New Roman" pitchFamily="18" charset="0"/>
              </a:rPr>
              <a:t>。</a:t>
            </a:r>
            <a:r>
              <a:rPr lang="zh-CN" altLang="en-US">
                <a:solidFill>
                  <a:schemeClr val="bg1"/>
                </a:solidFill>
              </a:rPr>
              <a:t>若磁场的振幅为</a:t>
            </a:r>
            <a:r>
              <a:rPr lang="en-US" altLang="zh-CN">
                <a:solidFill>
                  <a:schemeClr val="bg1"/>
                </a:solidFill>
              </a:rPr>
              <a:t>7mA/m</a:t>
            </a:r>
            <a:r>
              <a:rPr lang="zh-CN" altLang="en-US">
                <a:solidFill>
                  <a:schemeClr val="bg1"/>
                </a:solidFill>
              </a:rPr>
              <a:t>，求相速、波长、波阻抗和电场强度的振幅。</a:t>
            </a:r>
            <a:endParaRPr lang="zh-CN" altLang="el-GR">
              <a:solidFill>
                <a:schemeClr val="bg1"/>
              </a:solidFill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0" y="1844675"/>
            <a:ext cx="9144000" cy="1727200"/>
            <a:chOff x="0" y="1162"/>
            <a:chExt cx="5760" cy="1088"/>
          </a:xfrm>
        </p:grpSpPr>
        <p:sp>
          <p:nvSpPr>
            <p:cNvPr id="38926" name="Rectangle 4"/>
            <p:cNvSpPr>
              <a:spLocks noChangeArrowheads="1"/>
            </p:cNvSpPr>
            <p:nvPr/>
          </p:nvSpPr>
          <p:spPr bwMode="auto">
            <a:xfrm>
              <a:off x="0" y="1236"/>
              <a:ext cx="33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bg1"/>
                  </a:solidFill>
                  <a:ea typeface="幼圆" pitchFamily="49" charset="-122"/>
                </a:rPr>
                <a:t>        </a:t>
              </a:r>
              <a:r>
                <a:rPr lang="zh-CN" altLang="en-US">
                  <a:solidFill>
                    <a:srgbClr val="FF7C80"/>
                  </a:solidFill>
                  <a:ea typeface="幼圆" pitchFamily="49" charset="-122"/>
                </a:rPr>
                <a:t>解</a:t>
              </a:r>
              <a:r>
                <a:rPr lang="zh-CN" altLang="en-US">
                  <a:solidFill>
                    <a:schemeClr val="bg1"/>
                  </a:solidFill>
                </a:rPr>
                <a:t>：</a:t>
              </a:r>
            </a:p>
          </p:txBody>
        </p:sp>
        <p:sp>
          <p:nvSpPr>
            <p:cNvPr id="38927" name="Rectangle 6"/>
            <p:cNvSpPr>
              <a:spLocks noChangeArrowheads="1"/>
            </p:cNvSpPr>
            <p:nvPr/>
          </p:nvSpPr>
          <p:spPr bwMode="auto">
            <a:xfrm>
              <a:off x="0" y="1209"/>
              <a:ext cx="5760" cy="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8928" name="Object 7"/>
            <p:cNvGraphicFramePr>
              <a:graphicFrameLocks noChangeAspect="1"/>
            </p:cNvGraphicFramePr>
            <p:nvPr/>
          </p:nvGraphicFramePr>
          <p:xfrm>
            <a:off x="884" y="1162"/>
            <a:ext cx="3728" cy="1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7" name="Equation" r:id="rId3" imgW="2629030" imgH="857366" progId="Equation.DSMT4">
                    <p:embed/>
                  </p:oleObj>
                </mc:Choice>
                <mc:Fallback>
                  <p:oleObj name="Equation" r:id="rId3" imgW="2629030" imgH="857366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1162"/>
                          <a:ext cx="3728" cy="10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4281" name="Object 9"/>
          <p:cNvGraphicFramePr>
            <a:graphicFrameLocks noChangeAspect="1"/>
          </p:cNvGraphicFramePr>
          <p:nvPr/>
        </p:nvGraphicFramePr>
        <p:xfrm>
          <a:off x="1403350" y="3573463"/>
          <a:ext cx="73437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8" name="Equation" r:id="rId5" imgW="3581255" imgH="380897" progId="Equation.DSMT4">
                  <p:embed/>
                </p:oleObj>
              </mc:Choice>
              <mc:Fallback>
                <p:oleObj name="Equation" r:id="rId5" imgW="3581255" imgH="38089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573463"/>
                        <a:ext cx="7343775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4" name="Object 12"/>
          <p:cNvGraphicFramePr>
            <a:graphicFrameLocks noChangeAspect="1"/>
          </p:cNvGraphicFramePr>
          <p:nvPr/>
        </p:nvGraphicFramePr>
        <p:xfrm>
          <a:off x="1403350" y="4652963"/>
          <a:ext cx="63849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9" name="Equation" r:id="rId7" imgW="3390741" imgH="409742" progId="Equation.DSMT4">
                  <p:embed/>
                </p:oleObj>
              </mc:Choice>
              <mc:Fallback>
                <p:oleObj name="Equation" r:id="rId7" imgW="3390741" imgH="40974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652963"/>
                        <a:ext cx="63849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Rectangle 13"/>
          <p:cNvSpPr>
            <a:spLocks noChangeArrowheads="1"/>
          </p:cNvSpPr>
          <p:nvPr/>
        </p:nvSpPr>
        <p:spPr bwMode="auto">
          <a:xfrm>
            <a:off x="4310063" y="3868738"/>
            <a:ext cx="5238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spcBef>
                <a:spcPct val="0"/>
              </a:spcBef>
            </a:pPr>
            <a:r>
              <a:rPr lang="en-US" altLang="zh-CN" sz="1000">
                <a:ea typeface="宋体" pitchFamily="2" charset="-122"/>
              </a:rPr>
              <a:t>  </a:t>
            </a:r>
            <a:endParaRPr lang="en-US" altLang="zh-CN" sz="1800">
              <a:ea typeface="宋体" pitchFamily="2" charset="-122"/>
            </a:endParaRPr>
          </a:p>
        </p:txBody>
      </p:sp>
      <p:graphicFrame>
        <p:nvGraphicFramePr>
          <p:cNvPr id="694286" name="Object 14"/>
          <p:cNvGraphicFramePr>
            <a:graphicFrameLocks noChangeAspect="1"/>
          </p:cNvGraphicFramePr>
          <p:nvPr/>
        </p:nvGraphicFramePr>
        <p:xfrm>
          <a:off x="1354138" y="5811838"/>
          <a:ext cx="523398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0" name="Equation" r:id="rId9" imgW="2419430" imgH="152567" progId="Equation.DSMT4">
                  <p:embed/>
                </p:oleObj>
              </mc:Choice>
              <mc:Fallback>
                <p:oleObj name="Equation" r:id="rId9" imgW="2419430" imgH="152567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138" y="5811838"/>
                        <a:ext cx="5233987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1" name="Rectangle 15"/>
          <p:cNvSpPr>
            <a:spLocks noChangeArrowheads="1"/>
          </p:cNvSpPr>
          <p:nvPr/>
        </p:nvSpPr>
        <p:spPr bwMode="auto">
          <a:xfrm>
            <a:off x="1833563" y="5451475"/>
            <a:ext cx="17875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en-US" altLang="zh-CN" sz="1000">
                <a:ea typeface="宋体" pitchFamily="2" charset="-122"/>
              </a:rPr>
              <a:t>  </a:t>
            </a:r>
            <a:endParaRPr lang="en-US" altLang="zh-CN" sz="1800">
              <a:ea typeface="宋体" pitchFamily="2" charset="-122"/>
            </a:endParaRPr>
          </a:p>
        </p:txBody>
      </p:sp>
      <p:sp>
        <p:nvSpPr>
          <p:cNvPr id="38922" name="AutoShape 22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23" name="AutoShape 23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24" name="AutoShape 2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8925" name="AutoShape 25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9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9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9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69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7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CD5B25-6FB2-4391-A5EC-6E173AE8AF23}" type="slidenum">
              <a:rPr lang="en-US" altLang="zh-CN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623629" name="Rectangle 1037"/>
          <p:cNvSpPr>
            <a:spLocks noChangeArrowheads="1"/>
          </p:cNvSpPr>
          <p:nvPr/>
        </p:nvSpPr>
        <p:spPr bwMode="auto">
          <a:xfrm>
            <a:off x="139700" y="2143125"/>
            <a:ext cx="79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zh-CN" altLang="en-US">
                <a:solidFill>
                  <a:srgbClr val="FF7C80"/>
                </a:solidFill>
                <a:latin typeface="幼圆" pitchFamily="49" charset="-122"/>
                <a:ea typeface="幼圆" pitchFamily="49" charset="-122"/>
              </a:rPr>
              <a:t>解</a:t>
            </a:r>
            <a:endParaRPr lang="zh-CN" altLang="en-US">
              <a:solidFill>
                <a:schemeClr val="bg1"/>
              </a:solidFill>
              <a:latin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623630" name="Object 1038"/>
          <p:cNvGraphicFramePr>
            <a:graphicFrameLocks noChangeAspect="1"/>
          </p:cNvGraphicFramePr>
          <p:nvPr/>
        </p:nvGraphicFramePr>
        <p:xfrm>
          <a:off x="468313" y="4868863"/>
          <a:ext cx="8301037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9" name="Equation" r:id="rId3" imgW="3829028" imgH="304787" progId="Equation.DSMT4">
                  <p:embed/>
                </p:oleObj>
              </mc:Choice>
              <mc:Fallback>
                <p:oleObj name="Equation" r:id="rId3" imgW="3829028" imgH="304787" progId="Equation.DSMT4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868863"/>
                        <a:ext cx="8301037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Rectangle 1029"/>
          <p:cNvSpPr>
            <a:spLocks noChangeArrowheads="1"/>
          </p:cNvSpPr>
          <p:nvPr/>
        </p:nvSpPr>
        <p:spPr bwMode="auto">
          <a:xfrm>
            <a:off x="107950" y="476250"/>
            <a:ext cx="903605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zh-CN">
                <a:solidFill>
                  <a:srgbClr val="FF7C80"/>
                </a:solidFill>
                <a:ea typeface="幼圆" pitchFamily="49" charset="-122"/>
              </a:rPr>
              <a:t>     </a:t>
            </a:r>
            <a:r>
              <a:rPr lang="zh-CN" altLang="en-US">
                <a:solidFill>
                  <a:srgbClr val="FF7C80"/>
                </a:solidFill>
                <a:ea typeface="幼圆" pitchFamily="49" charset="-122"/>
              </a:rPr>
              <a:t>例</a:t>
            </a:r>
            <a:r>
              <a:rPr lang="zh-CN" altLang="en-US">
                <a:solidFill>
                  <a:schemeClr val="bg1"/>
                </a:solidFill>
                <a:ea typeface="幼圆" pitchFamily="49" charset="-122"/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均匀平面波的磁场强度的振幅为      </a:t>
            </a:r>
            <a:r>
              <a:rPr lang="en-US" altLang="zh-CN">
                <a:solidFill>
                  <a:schemeClr val="bg1"/>
                </a:solidFill>
              </a:rPr>
              <a:t>A/m</a:t>
            </a:r>
            <a:r>
              <a:rPr lang="zh-CN" altLang="en-US">
                <a:solidFill>
                  <a:schemeClr val="bg1"/>
                </a:solidFill>
              </a:rPr>
              <a:t>，以相位常数为</a:t>
            </a:r>
            <a:r>
              <a:rPr lang="en-US" altLang="zh-CN">
                <a:solidFill>
                  <a:schemeClr val="bg1"/>
                </a:solidFill>
              </a:rPr>
              <a:t>30 rad/m </a:t>
            </a:r>
            <a:r>
              <a:rPr lang="zh-CN" altLang="en-US">
                <a:solidFill>
                  <a:schemeClr val="bg1"/>
                </a:solidFill>
              </a:rPr>
              <a:t>在空气中沿        方向传播。当</a:t>
            </a:r>
            <a:r>
              <a:rPr lang="en-US" altLang="zh-CN" i="1">
                <a:solidFill>
                  <a:schemeClr val="bg1"/>
                </a:solidFill>
              </a:rPr>
              <a:t>t </a:t>
            </a:r>
            <a:r>
              <a:rPr lang="en-US" altLang="zh-CN">
                <a:solidFill>
                  <a:schemeClr val="bg1"/>
                </a:solidFill>
              </a:rPr>
              <a:t>= 0 </a:t>
            </a:r>
            <a:r>
              <a:rPr lang="zh-CN" altLang="en-US">
                <a:solidFill>
                  <a:schemeClr val="bg1"/>
                </a:solidFill>
              </a:rPr>
              <a:t>和 </a:t>
            </a:r>
            <a:r>
              <a:rPr lang="en-US" altLang="zh-CN" i="1">
                <a:solidFill>
                  <a:schemeClr val="bg1"/>
                </a:solidFill>
              </a:rPr>
              <a:t>z</a:t>
            </a:r>
            <a:r>
              <a:rPr lang="en-US" altLang="zh-CN">
                <a:solidFill>
                  <a:schemeClr val="bg1"/>
                </a:solidFill>
              </a:rPr>
              <a:t> = 0 </a:t>
            </a:r>
            <a:r>
              <a:rPr lang="zh-CN" altLang="en-US">
                <a:solidFill>
                  <a:schemeClr val="bg1"/>
                </a:solidFill>
              </a:rPr>
              <a:t>时 ，若     取向为        ，求频率和波长并写出     和     的瞬时表示式。 </a:t>
            </a:r>
          </a:p>
        </p:txBody>
      </p:sp>
      <p:graphicFrame>
        <p:nvGraphicFramePr>
          <p:cNvPr id="39942" name="Object 1031"/>
          <p:cNvGraphicFramePr>
            <a:graphicFrameLocks noChangeAspect="1"/>
          </p:cNvGraphicFramePr>
          <p:nvPr/>
        </p:nvGraphicFramePr>
        <p:xfrm>
          <a:off x="5486400" y="361950"/>
          <a:ext cx="4572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0" name="Equation" r:id="rId5" imgW="142973" imgH="304787" progId="Equation.DSMT4">
                  <p:embed/>
                </p:oleObj>
              </mc:Choice>
              <mc:Fallback>
                <p:oleObj name="Equation" r:id="rId5" imgW="142973" imgH="304787" progId="Equation.DSMT4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61950"/>
                        <a:ext cx="4572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1032"/>
          <p:cNvGraphicFramePr>
            <a:graphicFrameLocks noChangeAspect="1"/>
          </p:cNvGraphicFramePr>
          <p:nvPr/>
        </p:nvGraphicFramePr>
        <p:xfrm>
          <a:off x="2714625" y="1096963"/>
          <a:ext cx="5508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1" name="公式" r:id="rId7" imgW="209601" imgH="152567" progId="Equation.3">
                  <p:embed/>
                </p:oleObj>
              </mc:Choice>
              <mc:Fallback>
                <p:oleObj name="公式" r:id="rId7" imgW="209601" imgH="152567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1096963"/>
                        <a:ext cx="5508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1034"/>
          <p:cNvGraphicFramePr>
            <a:graphicFrameLocks noChangeAspect="1"/>
          </p:cNvGraphicFramePr>
          <p:nvPr/>
        </p:nvGraphicFramePr>
        <p:xfrm>
          <a:off x="539750" y="1628775"/>
          <a:ext cx="54292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2" name="公式" r:id="rId9" imgW="218970" imgH="181065" progId="Equation.3">
                  <p:embed/>
                </p:oleObj>
              </mc:Choice>
              <mc:Fallback>
                <p:oleObj name="公式" r:id="rId9" imgW="218970" imgH="181065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628775"/>
                        <a:ext cx="54292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1035"/>
          <p:cNvGraphicFramePr>
            <a:graphicFrameLocks noChangeAspect="1"/>
          </p:cNvGraphicFramePr>
          <p:nvPr/>
        </p:nvGraphicFramePr>
        <p:xfrm>
          <a:off x="4322763" y="1628775"/>
          <a:ext cx="32067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3" name="Equation" r:id="rId11" imgW="76345" imgH="133453" progId="Equation.DSMT4">
                  <p:embed/>
                </p:oleObj>
              </mc:Choice>
              <mc:Fallback>
                <p:oleObj name="Equation" r:id="rId11" imgW="76345" imgH="133453" progId="Equation.DSMT4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763" y="1628775"/>
                        <a:ext cx="32067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6" name="Object 1046"/>
          <p:cNvGraphicFramePr>
            <a:graphicFrameLocks noChangeAspect="1"/>
          </p:cNvGraphicFramePr>
          <p:nvPr/>
        </p:nvGraphicFramePr>
        <p:xfrm>
          <a:off x="4997450" y="1641475"/>
          <a:ext cx="360363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4" name="公式" r:id="rId13" imgW="114170" imgH="133453" progId="Equation.3">
                  <p:embed/>
                </p:oleObj>
              </mc:Choice>
              <mc:Fallback>
                <p:oleObj name="公式" r:id="rId13" imgW="114170" imgH="133453" progId="Equation.3">
                  <p:embed/>
                  <p:pic>
                    <p:nvPicPr>
                      <p:cNvPr id="0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450" y="1641475"/>
                        <a:ext cx="360363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7" name="Object 1048"/>
          <p:cNvGraphicFramePr>
            <a:graphicFrameLocks noChangeAspect="1"/>
          </p:cNvGraphicFramePr>
          <p:nvPr/>
        </p:nvGraphicFramePr>
        <p:xfrm>
          <a:off x="8001000" y="1125538"/>
          <a:ext cx="4175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5" name="公式" r:id="rId15" imgW="114170" imgH="133453" progId="Equation.3">
                  <p:embed/>
                </p:oleObj>
              </mc:Choice>
              <mc:Fallback>
                <p:oleObj name="公式" r:id="rId15" imgW="114170" imgH="133453" progId="Equation.3">
                  <p:embed/>
                  <p:pic>
                    <p:nvPicPr>
                      <p:cNvPr id="0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1125538"/>
                        <a:ext cx="41751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1" name="Object 1049"/>
          <p:cNvGraphicFramePr>
            <a:graphicFrameLocks/>
          </p:cNvGraphicFramePr>
          <p:nvPr/>
        </p:nvGraphicFramePr>
        <p:xfrm>
          <a:off x="395288" y="5734050"/>
          <a:ext cx="873283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6" name="Equation" r:id="rId17" imgW="4667084" imgH="171334" progId="Equation.DSMT4">
                  <p:embed/>
                </p:oleObj>
              </mc:Choice>
              <mc:Fallback>
                <p:oleObj name="Equation" r:id="rId17" imgW="4667084" imgH="171334" progId="Equation.DSMT4">
                  <p:embed/>
                  <p:pic>
                    <p:nvPicPr>
                      <p:cNvPr id="0" name="Object 1049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734050"/>
                        <a:ext cx="873283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5" name="Object 1053"/>
          <p:cNvGraphicFramePr>
            <a:graphicFrameLocks noChangeAspect="1"/>
          </p:cNvGraphicFramePr>
          <p:nvPr/>
        </p:nvGraphicFramePr>
        <p:xfrm>
          <a:off x="1187450" y="2011363"/>
          <a:ext cx="33274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7" name="Equation" r:id="rId19" imgW="1638286" imgH="304787" progId="Equation.DSMT4">
                  <p:embed/>
                </p:oleObj>
              </mc:Choice>
              <mc:Fallback>
                <p:oleObj name="Equation" r:id="rId19" imgW="1638286" imgH="304787" progId="Equation.DSMT4">
                  <p:embed/>
                  <p:pic>
                    <p:nvPicPr>
                      <p:cNvPr id="0" name="Object 1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011363"/>
                        <a:ext cx="332740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6" name="Object 1054"/>
          <p:cNvGraphicFramePr>
            <a:graphicFrameLocks noChangeAspect="1"/>
          </p:cNvGraphicFramePr>
          <p:nvPr/>
        </p:nvGraphicFramePr>
        <p:xfrm>
          <a:off x="1187450" y="2781300"/>
          <a:ext cx="4926013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8" name="Equation" r:id="rId21" imgW="2514513" imgH="333285" progId="Equation.DSMT4">
                  <p:embed/>
                </p:oleObj>
              </mc:Choice>
              <mc:Fallback>
                <p:oleObj name="Equation" r:id="rId21" imgW="2514513" imgH="333285" progId="Equation.DSMT4">
                  <p:embed/>
                  <p:pic>
                    <p:nvPicPr>
                      <p:cNvPr id="0" name="Object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781300"/>
                        <a:ext cx="4926013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1" name="AutoShape 1068">
            <a:hlinkClick r:id="rId2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2" name="AutoShape 10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3" name="AutoShape 107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954" name="AutoShape 107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3664" name="Rectangle 1072"/>
          <p:cNvSpPr>
            <a:spLocks noChangeArrowheads="1"/>
          </p:cNvSpPr>
          <p:nvPr/>
        </p:nvSpPr>
        <p:spPr bwMode="auto">
          <a:xfrm>
            <a:off x="107950" y="4267200"/>
            <a:ext cx="417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algn="just" eaLnBrk="1" hangingPunct="1">
              <a:spcBef>
                <a:spcPct val="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以余弦为基准，直接写出</a:t>
            </a:r>
            <a:endParaRPr lang="zh-CN" altLang="en-US">
              <a:solidFill>
                <a:schemeClr val="bg1"/>
              </a:solidFill>
              <a:latin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258888" y="3721100"/>
          <a:ext cx="46783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99" name="Equation" r:id="rId24" imgW="2381257" imgH="161951" progId="Equation.DSMT4">
                  <p:embed/>
                </p:oleObj>
              </mc:Choice>
              <mc:Fallback>
                <p:oleObj name="Equation" r:id="rId24" imgW="2381257" imgH="161951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721100"/>
                        <a:ext cx="467836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23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2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23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2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23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623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29" grpId="0"/>
      <p:bldP spid="62366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E13622-C694-4AB6-8EC8-3B2571E89C9F}" type="slidenum">
              <a:rPr lang="en-US" altLang="zh-CN"/>
              <a:pPr>
                <a:defRPr/>
              </a:pPr>
              <a:t>39</a:t>
            </a:fld>
            <a:endParaRPr lang="en-US" altLang="zh-CN"/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90488" y="430213"/>
            <a:ext cx="9053512" cy="1990725"/>
            <a:chOff x="49" y="226"/>
            <a:chExt cx="5703" cy="1254"/>
          </a:xfrm>
        </p:grpSpPr>
        <p:sp>
          <p:nvSpPr>
            <p:cNvPr id="40977" name="Rectangle 23"/>
            <p:cNvSpPr>
              <a:spLocks noChangeArrowheads="1"/>
            </p:cNvSpPr>
            <p:nvPr/>
          </p:nvSpPr>
          <p:spPr bwMode="auto">
            <a:xfrm>
              <a:off x="49" y="226"/>
              <a:ext cx="5703" cy="1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  <a:spcBef>
                  <a:spcPct val="0"/>
                </a:spcBef>
              </a:pPr>
              <a:r>
                <a:rPr lang="en-US" altLang="zh-CN">
                  <a:solidFill>
                    <a:srgbClr val="FF7C80"/>
                  </a:solidFill>
                  <a:ea typeface="幼圆" pitchFamily="49" charset="-122"/>
                </a:rPr>
                <a:t>      </a:t>
              </a:r>
              <a:r>
                <a:rPr lang="zh-CN" altLang="en-US">
                  <a:solidFill>
                    <a:srgbClr val="FF7C80"/>
                  </a:solidFill>
                  <a:ea typeface="幼圆" pitchFamily="49" charset="-122"/>
                </a:rPr>
                <a:t>例</a:t>
              </a:r>
              <a:r>
                <a:rPr lang="en-US" altLang="zh-CN">
                  <a:solidFill>
                    <a:srgbClr val="FF7C80"/>
                  </a:solidFill>
                  <a:ea typeface="幼圆" pitchFamily="49" charset="-122"/>
                </a:rPr>
                <a:t>5.1.3</a:t>
              </a:r>
              <a:r>
                <a:rPr lang="en-US" altLang="zh-CN">
                  <a:solidFill>
                    <a:schemeClr val="bg1"/>
                  </a:solidFill>
                  <a:ea typeface="幼圆" pitchFamily="49" charset="-122"/>
                </a:rPr>
                <a:t> </a:t>
              </a:r>
              <a:r>
                <a:rPr lang="zh-CN" altLang="en-US">
                  <a:solidFill>
                    <a:schemeClr val="bg1"/>
                  </a:solidFill>
                </a:rPr>
                <a:t>频率为</a:t>
              </a:r>
              <a:r>
                <a:rPr lang="en-US" altLang="zh-CN">
                  <a:solidFill>
                    <a:schemeClr val="bg1"/>
                  </a:solidFill>
                </a:rPr>
                <a:t>100MHz</a:t>
              </a:r>
              <a:r>
                <a:rPr lang="zh-CN" altLang="en-US">
                  <a:solidFill>
                    <a:schemeClr val="bg1"/>
                  </a:solidFill>
                </a:rPr>
                <a:t>的均匀电磁波，在一无耗媒质中沿 </a:t>
              </a:r>
              <a:r>
                <a:rPr lang="en-US" altLang="zh-CN">
                  <a:solidFill>
                    <a:schemeClr val="bg1"/>
                  </a:solidFill>
                </a:rPr>
                <a:t>+</a:t>
              </a:r>
              <a:r>
                <a:rPr lang="en-US" altLang="zh-CN" i="1">
                  <a:solidFill>
                    <a:schemeClr val="bg1"/>
                  </a:solidFill>
                </a:rPr>
                <a:t>z </a:t>
              </a:r>
              <a:r>
                <a:rPr lang="zh-CN" altLang="en-US">
                  <a:solidFill>
                    <a:schemeClr val="bg1"/>
                  </a:solidFill>
                </a:rPr>
                <a:t>方向传播，其电场             。已知该媒质的相对介电常数</a:t>
              </a:r>
              <a:r>
                <a:rPr lang="el-GR" altLang="zh-CN" i="1">
                  <a:solidFill>
                    <a:schemeClr val="bg1"/>
                  </a:solidFill>
                </a:rPr>
                <a:t>ε</a:t>
              </a:r>
              <a:r>
                <a:rPr lang="en-US" altLang="zh-CN" baseline="-25000">
                  <a:solidFill>
                    <a:schemeClr val="bg1"/>
                  </a:solidFill>
                </a:rPr>
                <a:t>r </a:t>
              </a:r>
              <a:r>
                <a:rPr lang="en-US" altLang="zh-CN">
                  <a:solidFill>
                    <a:schemeClr val="bg1"/>
                  </a:solidFill>
                </a:rPr>
                <a:t>= 4</a:t>
              </a:r>
              <a:r>
                <a:rPr lang="zh-CN" altLang="en-US">
                  <a:solidFill>
                    <a:schemeClr val="bg1"/>
                  </a:solidFill>
                </a:rPr>
                <a:t>、相对磁导率</a:t>
              </a:r>
              <a:r>
                <a:rPr lang="el-GR" altLang="zh-CN" i="1">
                  <a:solidFill>
                    <a:schemeClr val="bg1"/>
                  </a:solidFill>
                </a:rPr>
                <a:t>μ</a:t>
              </a:r>
              <a:r>
                <a:rPr lang="en-US" altLang="zh-CN" baseline="-25000">
                  <a:solidFill>
                    <a:schemeClr val="bg1"/>
                  </a:solidFill>
                </a:rPr>
                <a:t>r </a:t>
              </a:r>
              <a:r>
                <a:rPr lang="en-US" altLang="zh-CN">
                  <a:solidFill>
                    <a:schemeClr val="bg1"/>
                  </a:solidFill>
                </a:rPr>
                <a:t>=1 </a:t>
              </a:r>
              <a:r>
                <a:rPr lang="zh-CN" altLang="en-US">
                  <a:solidFill>
                    <a:schemeClr val="bg1"/>
                  </a:solidFill>
                </a:rPr>
                <a:t>，且当</a:t>
              </a:r>
              <a:r>
                <a:rPr lang="en-US" altLang="zh-CN" i="1">
                  <a:solidFill>
                    <a:schemeClr val="bg1"/>
                  </a:solidFill>
                </a:rPr>
                <a:t>t </a:t>
              </a:r>
              <a:r>
                <a:rPr lang="en-US" altLang="zh-CN">
                  <a:solidFill>
                    <a:schemeClr val="bg1"/>
                  </a:solidFill>
                </a:rPr>
                <a:t>= 0</a:t>
              </a:r>
              <a:r>
                <a:rPr lang="zh-CN" altLang="en-US">
                  <a:solidFill>
                    <a:schemeClr val="bg1"/>
                  </a:solidFill>
                </a:rPr>
                <a:t>、</a:t>
              </a:r>
              <a:r>
                <a:rPr lang="en-US" altLang="zh-CN" i="1">
                  <a:solidFill>
                    <a:schemeClr val="bg1"/>
                  </a:solidFill>
                </a:rPr>
                <a:t>z</a:t>
              </a:r>
              <a:r>
                <a:rPr lang="en-US" altLang="zh-CN">
                  <a:solidFill>
                    <a:schemeClr val="bg1"/>
                  </a:solidFill>
                </a:rPr>
                <a:t> =1/8 m </a:t>
              </a:r>
              <a:r>
                <a:rPr lang="zh-CN" altLang="en-US">
                  <a:solidFill>
                    <a:schemeClr val="bg1"/>
                  </a:solidFill>
                </a:rPr>
                <a:t>时，电场幅值为</a:t>
              </a:r>
              <a:r>
                <a:rPr lang="en-US" altLang="zh-CN">
                  <a:solidFill>
                    <a:schemeClr val="bg1"/>
                  </a:solidFill>
                </a:rPr>
                <a:t>10</a:t>
              </a:r>
              <a:r>
                <a:rPr lang="zh-CN" altLang="en-US" baseline="30000">
                  <a:solidFill>
                    <a:schemeClr val="bg1"/>
                  </a:solidFill>
                </a:rPr>
                <a:t>－</a:t>
              </a:r>
              <a:r>
                <a:rPr lang="en-US" altLang="zh-CN" baseline="30000">
                  <a:solidFill>
                    <a:schemeClr val="bg1"/>
                  </a:solidFill>
                </a:rPr>
                <a:t>4</a:t>
              </a:r>
              <a:r>
                <a:rPr lang="en-US" altLang="zh-CN">
                  <a:solidFill>
                    <a:schemeClr val="bg1"/>
                  </a:solidFill>
                </a:rPr>
                <a:t> V/m </a:t>
              </a:r>
              <a:r>
                <a:rPr lang="zh-CN" altLang="en-US">
                  <a:solidFill>
                    <a:schemeClr val="bg1"/>
                  </a:solidFill>
                </a:rPr>
                <a:t>。 试求电场强度和磁场强度的瞬时表示式。</a:t>
              </a:r>
              <a:endParaRPr lang="zh-CN" altLang="el-GR">
                <a:solidFill>
                  <a:schemeClr val="bg1"/>
                </a:solidFill>
              </a:endParaRPr>
            </a:p>
          </p:txBody>
        </p:sp>
        <p:graphicFrame>
          <p:nvGraphicFramePr>
            <p:cNvPr id="40978" name="Object 21"/>
            <p:cNvGraphicFramePr>
              <a:graphicFrameLocks noChangeAspect="1"/>
            </p:cNvGraphicFramePr>
            <p:nvPr/>
          </p:nvGraphicFramePr>
          <p:xfrm>
            <a:off x="1697" y="604"/>
            <a:ext cx="635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1" name="Equation" r:id="rId3" imgW="495199" imgH="171334" progId="Equation.DSMT4">
                    <p:embed/>
                  </p:oleObj>
                </mc:Choice>
                <mc:Fallback>
                  <p:oleObj name="Equation" r:id="rId3" imgW="495199" imgH="171334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7" y="604"/>
                          <a:ext cx="635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6912" name="Rectangle 32"/>
          <p:cNvSpPr>
            <a:spLocks noChangeArrowheads="1"/>
          </p:cNvSpPr>
          <p:nvPr/>
        </p:nvSpPr>
        <p:spPr bwMode="auto">
          <a:xfrm>
            <a:off x="250825" y="2420938"/>
            <a:ext cx="1081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8288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  <a:ea typeface="幼圆" pitchFamily="49" charset="-122"/>
              </a:rPr>
              <a:t>   </a:t>
            </a:r>
            <a:r>
              <a:rPr lang="zh-CN" altLang="en-US">
                <a:solidFill>
                  <a:srgbClr val="FF7C80"/>
                </a:solidFill>
                <a:ea typeface="幼圆" pitchFamily="49" charset="-122"/>
              </a:rPr>
              <a:t>解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506890" name="Object 10"/>
          <p:cNvGraphicFramePr>
            <a:graphicFrameLocks noChangeAspect="1"/>
          </p:cNvGraphicFramePr>
          <p:nvPr/>
        </p:nvGraphicFramePr>
        <p:xfrm>
          <a:off x="1403350" y="2374900"/>
          <a:ext cx="30956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2" name="Equation" r:id="rId5" imgW="1524116" imgH="190449" progId="Equation.DSMT4">
                  <p:embed/>
                </p:oleObj>
              </mc:Choice>
              <mc:Fallback>
                <p:oleObj name="Equation" r:id="rId5" imgW="1524116" imgH="19044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374900"/>
                        <a:ext cx="30956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89" name="Object 9"/>
          <p:cNvGraphicFramePr>
            <a:graphicFrameLocks noChangeAspect="1"/>
          </p:cNvGraphicFramePr>
          <p:nvPr/>
        </p:nvGraphicFramePr>
        <p:xfrm>
          <a:off x="1403350" y="2801938"/>
          <a:ext cx="591343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3" name="Equation" r:id="rId7" imgW="3000342" imgH="333285" progId="Equation.DSMT4">
                  <p:embed/>
                </p:oleObj>
              </mc:Choice>
              <mc:Fallback>
                <p:oleObj name="Equation" r:id="rId7" imgW="3000342" imgH="33328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801938"/>
                        <a:ext cx="5913438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6923" name="Text Box 43"/>
          <p:cNvSpPr txBox="1">
            <a:spLocks noChangeArrowheads="1"/>
          </p:cNvSpPr>
          <p:nvPr/>
        </p:nvSpPr>
        <p:spPr bwMode="auto">
          <a:xfrm>
            <a:off x="395288" y="5084763"/>
            <a:ext cx="8894762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bg1"/>
                </a:solidFill>
              </a:rPr>
              <a:t>      </a:t>
            </a:r>
            <a:r>
              <a:rPr lang="zh-CN" altLang="en-US">
                <a:solidFill>
                  <a:schemeClr val="bg1"/>
                </a:solidFill>
              </a:rPr>
              <a:t>对于余弦函数，当相角为零时达到幅值。考虑条件</a:t>
            </a:r>
            <a:r>
              <a:rPr lang="en-US" altLang="zh-CN" i="1">
                <a:solidFill>
                  <a:schemeClr val="bg1"/>
                </a:solidFill>
              </a:rPr>
              <a:t>t </a:t>
            </a:r>
            <a:r>
              <a:rPr lang="en-US" altLang="zh-CN">
                <a:solidFill>
                  <a:schemeClr val="bg1"/>
                </a:solidFill>
              </a:rPr>
              <a:t>= 0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en-US" altLang="zh-CN" i="1">
                <a:solidFill>
                  <a:schemeClr val="bg1"/>
                </a:solidFill>
              </a:rPr>
              <a:t>z</a:t>
            </a:r>
            <a:r>
              <a:rPr lang="en-US" altLang="zh-CN">
                <a:solidFill>
                  <a:schemeClr val="bg1"/>
                </a:solidFill>
              </a:rPr>
              <a:t> =1/8 m </a:t>
            </a:r>
            <a:r>
              <a:rPr lang="zh-CN" altLang="en-US">
                <a:solidFill>
                  <a:schemeClr val="bg1"/>
                </a:solidFill>
              </a:rPr>
              <a:t>时，电场达到幅值，得</a:t>
            </a:r>
            <a:endParaRPr kumimoji="1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506927" name="Object 47"/>
          <p:cNvGraphicFramePr>
            <a:graphicFrameLocks noChangeAspect="1"/>
          </p:cNvGraphicFramePr>
          <p:nvPr/>
        </p:nvGraphicFramePr>
        <p:xfrm>
          <a:off x="4910138" y="5516563"/>
          <a:ext cx="24701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4" name="Equation" r:id="rId9" imgW="1133370" imgH="304787" progId="Equation.DSMT4">
                  <p:embed/>
                </p:oleObj>
              </mc:Choice>
              <mc:Fallback>
                <p:oleObj name="Equation" r:id="rId9" imgW="1133370" imgH="304787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0138" y="5516563"/>
                        <a:ext cx="24701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AutoShape 54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970" name="AutoShape 5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971" name="AutoShape 5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0972" name="AutoShape 5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" name="Group 66"/>
          <p:cNvGrpSpPr>
            <a:grpSpLocks/>
          </p:cNvGrpSpPr>
          <p:nvPr/>
        </p:nvGrpSpPr>
        <p:grpSpPr bwMode="auto">
          <a:xfrm>
            <a:off x="611188" y="3500438"/>
            <a:ext cx="6481762" cy="1725612"/>
            <a:chOff x="385" y="2205"/>
            <a:chExt cx="4083" cy="1087"/>
          </a:xfrm>
        </p:grpSpPr>
        <p:graphicFrame>
          <p:nvGraphicFramePr>
            <p:cNvPr id="40974" name="Object 63"/>
            <p:cNvGraphicFramePr>
              <a:graphicFrameLocks noChangeAspect="1"/>
            </p:cNvGraphicFramePr>
            <p:nvPr/>
          </p:nvGraphicFramePr>
          <p:xfrm>
            <a:off x="1655" y="2840"/>
            <a:ext cx="2813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5" name="Equation" r:id="rId12" imgW="2451100" imgH="393700" progId="Equation.DSMT4">
                    <p:embed/>
                  </p:oleObj>
                </mc:Choice>
                <mc:Fallback>
                  <p:oleObj name="Equation" r:id="rId12" imgW="2451100" imgH="393700" progId="Equation.DSMT4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2840"/>
                          <a:ext cx="2813" cy="4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75" name="Object 64"/>
            <p:cNvGraphicFramePr>
              <a:graphicFrameLocks noChangeAspect="1"/>
            </p:cNvGraphicFramePr>
            <p:nvPr/>
          </p:nvGraphicFramePr>
          <p:xfrm>
            <a:off x="657" y="2523"/>
            <a:ext cx="2739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6" name="Equation" r:id="rId14" imgW="2286174" imgH="171334" progId="Equation.DSMT4">
                    <p:embed/>
                  </p:oleObj>
                </mc:Choice>
                <mc:Fallback>
                  <p:oleObj name="Equation" r:id="rId14" imgW="2286174" imgH="171334" progId="Equation.DSMT4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2523"/>
                          <a:ext cx="2739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6" name="Rectangle 65"/>
            <p:cNvSpPr>
              <a:spLocks noChangeArrowheads="1"/>
            </p:cNvSpPr>
            <p:nvPr/>
          </p:nvSpPr>
          <p:spPr bwMode="auto">
            <a:xfrm>
              <a:off x="385" y="2205"/>
              <a:ext cx="29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indent="268288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spcBef>
                  <a:spcPct val="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设电场强度的瞬时表示式为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0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0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50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50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506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50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912" grpId="0"/>
      <p:bldP spid="506923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93EF-5356-4A1B-B590-CC546E027B67}" type="slidenum">
              <a:rPr lang="en-US" altLang="zh-CN"/>
              <a:pPr>
                <a:defRPr/>
              </a:pPr>
              <a:t>40</a:t>
            </a:fld>
            <a:endParaRPr lang="en-US" altLang="zh-CN"/>
          </a:p>
        </p:txBody>
      </p:sp>
      <p:graphicFrame>
        <p:nvGraphicFramePr>
          <p:cNvPr id="690186" name="Object 10"/>
          <p:cNvGraphicFramePr>
            <a:graphicFrameLocks noChangeAspect="1"/>
          </p:cNvGraphicFramePr>
          <p:nvPr/>
        </p:nvGraphicFramePr>
        <p:xfrm>
          <a:off x="1547813" y="765175"/>
          <a:ext cx="490855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5" name="Equation" r:id="rId3" imgW="2390627" imgH="304787" progId="Equation.DSMT4">
                  <p:embed/>
                </p:oleObj>
              </mc:Choice>
              <mc:Fallback>
                <p:oleObj name="Equation" r:id="rId3" imgW="2390627" imgH="30478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765175"/>
                        <a:ext cx="4908550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5" name="Object 9"/>
          <p:cNvGraphicFramePr>
            <a:graphicFrameLocks noChangeAspect="1"/>
          </p:cNvGraphicFramePr>
          <p:nvPr/>
        </p:nvGraphicFramePr>
        <p:xfrm>
          <a:off x="2339975" y="1647825"/>
          <a:ext cx="55848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6" name="Equation" r:id="rId5" imgW="2514513" imgH="343016" progId="Equation.DSMT4">
                  <p:embed/>
                </p:oleObj>
              </mc:Choice>
              <mc:Fallback>
                <p:oleObj name="Equation" r:id="rId5" imgW="2514513" imgH="343016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647825"/>
                        <a:ext cx="5584825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2" name="Object 6"/>
          <p:cNvGraphicFramePr>
            <a:graphicFrameLocks noChangeAspect="1"/>
          </p:cNvGraphicFramePr>
          <p:nvPr/>
        </p:nvGraphicFramePr>
        <p:xfrm>
          <a:off x="1258888" y="3486150"/>
          <a:ext cx="7224712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7" name="Equation" r:id="rId7" imgW="3486172" imgH="561962" progId="Equation.DSMT4">
                  <p:embed/>
                </p:oleObj>
              </mc:Choice>
              <mc:Fallback>
                <p:oleObj name="Equation" r:id="rId7" imgW="3486172" imgH="56196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486150"/>
                        <a:ext cx="7224712" cy="131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79" name="Object 3"/>
          <p:cNvGraphicFramePr>
            <a:graphicFrameLocks noChangeAspect="1"/>
          </p:cNvGraphicFramePr>
          <p:nvPr/>
        </p:nvGraphicFramePr>
        <p:xfrm>
          <a:off x="2195513" y="4922838"/>
          <a:ext cx="523716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8" name="Equation" r:id="rId9" imgW="2552686" imgH="361783" progId="Equation.DSMT4">
                  <p:embed/>
                </p:oleObj>
              </mc:Choice>
              <mc:Fallback>
                <p:oleObj name="Equation" r:id="rId9" imgW="2552686" imgH="361783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922838"/>
                        <a:ext cx="523716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0196" name="Rectangle 20"/>
          <p:cNvSpPr>
            <a:spLocks noChangeArrowheads="1"/>
          </p:cNvSpPr>
          <p:nvPr/>
        </p:nvSpPr>
        <p:spPr bwMode="auto">
          <a:xfrm>
            <a:off x="538163" y="884238"/>
            <a:ext cx="1512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所以</a:t>
            </a:r>
          </a:p>
        </p:txBody>
      </p:sp>
      <p:sp>
        <p:nvSpPr>
          <p:cNvPr id="690197" name="Rectangle 21"/>
          <p:cNvSpPr>
            <a:spLocks noChangeArrowheads="1"/>
          </p:cNvSpPr>
          <p:nvPr/>
        </p:nvSpPr>
        <p:spPr bwMode="auto">
          <a:xfrm>
            <a:off x="539750" y="2900363"/>
            <a:ext cx="482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磁场强度的瞬时表示式为</a:t>
            </a:r>
          </a:p>
        </p:txBody>
      </p:sp>
      <p:sp>
        <p:nvSpPr>
          <p:cNvPr id="41993" name="AutoShape 28">
            <a:hlinkClick r:id="rId1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4" name="AutoShape 2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5" name="AutoShape 3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6" name="AutoShape 31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9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9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9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9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9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69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196" grpId="0"/>
      <p:bldP spid="69019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F07F51A-D30B-4108-858F-51C9F7E62024}" type="slidenum">
              <a:rPr lang="en-US" altLang="zh-CN"/>
              <a:pPr>
                <a:defRPr/>
              </a:pPr>
              <a:t>41</a:t>
            </a:fld>
            <a:endParaRPr lang="en-US" altLang="zh-CN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107950" y="2060575"/>
            <a:ext cx="7286625" cy="1836738"/>
            <a:chOff x="68" y="1298"/>
            <a:chExt cx="4590" cy="1157"/>
          </a:xfrm>
        </p:grpSpPr>
        <p:graphicFrame>
          <p:nvGraphicFramePr>
            <p:cNvPr id="43023" name="Object 5"/>
            <p:cNvGraphicFramePr>
              <a:graphicFrameLocks noChangeAspect="1"/>
            </p:cNvGraphicFramePr>
            <p:nvPr/>
          </p:nvGraphicFramePr>
          <p:xfrm>
            <a:off x="3120" y="1298"/>
            <a:ext cx="1529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87" name="Equation" r:id="rId3" imgW="1104914" imgH="171334" progId="Equation.DSMT4">
                    <p:embed/>
                  </p:oleObj>
                </mc:Choice>
                <mc:Fallback>
                  <p:oleObj name="Equation" r:id="rId3" imgW="1104914" imgH="171334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298"/>
                          <a:ext cx="1529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4" name="Rectangle 21"/>
            <p:cNvSpPr>
              <a:spLocks noChangeArrowheads="1"/>
            </p:cNvSpPr>
            <p:nvPr/>
          </p:nvSpPr>
          <p:spPr bwMode="auto">
            <a:xfrm>
              <a:off x="68" y="1298"/>
              <a:ext cx="36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bg1"/>
                  </a:solidFill>
                  <a:ea typeface="幼圆" pitchFamily="49" charset="-122"/>
                </a:rPr>
                <a:t>       </a:t>
              </a:r>
              <a:r>
                <a:rPr lang="zh-CN" altLang="en-US">
                  <a:solidFill>
                    <a:srgbClr val="FF99FF"/>
                  </a:solidFill>
                  <a:ea typeface="幼圆" pitchFamily="49" charset="-122"/>
                </a:rPr>
                <a:t>解   </a:t>
              </a:r>
              <a:r>
                <a:rPr lang="zh-CN" altLang="en-US">
                  <a:solidFill>
                    <a:schemeClr val="bg1"/>
                  </a:solidFill>
                </a:rPr>
                <a:t>电场强度的复数表示式为 </a:t>
              </a:r>
            </a:p>
          </p:txBody>
        </p:sp>
        <p:graphicFrame>
          <p:nvGraphicFramePr>
            <p:cNvPr id="43025" name="Object 3"/>
            <p:cNvGraphicFramePr>
              <a:graphicFrameLocks noChangeAspect="1"/>
            </p:cNvGraphicFramePr>
            <p:nvPr/>
          </p:nvGraphicFramePr>
          <p:xfrm>
            <a:off x="1129" y="1933"/>
            <a:ext cx="3529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088" name="Equation" r:id="rId5" imgW="2838284" imgH="343016" progId="Equation.DSMT4">
                    <p:embed/>
                  </p:oleObj>
                </mc:Choice>
                <mc:Fallback>
                  <p:oleObj name="Equation" r:id="rId5" imgW="2838284" imgH="343016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9" y="1933"/>
                          <a:ext cx="3529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26" name="Rectangle 23"/>
            <p:cNvSpPr>
              <a:spLocks noChangeArrowheads="1"/>
            </p:cNvSpPr>
            <p:nvPr/>
          </p:nvSpPr>
          <p:spPr bwMode="auto">
            <a:xfrm>
              <a:off x="793" y="1616"/>
              <a:ext cx="28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Arial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该平面波的磁场强度为</a:t>
              </a:r>
            </a:p>
          </p:txBody>
        </p:sp>
      </p:grpSp>
      <p:graphicFrame>
        <p:nvGraphicFramePr>
          <p:cNvPr id="691230" name="Object 30"/>
          <p:cNvGraphicFramePr>
            <a:graphicFrameLocks noChangeAspect="1"/>
          </p:cNvGraphicFramePr>
          <p:nvPr/>
        </p:nvGraphicFramePr>
        <p:xfrm>
          <a:off x="1619250" y="4365625"/>
          <a:ext cx="616902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89" name="Equation" r:id="rId7" imgW="3181487" imgH="304787" progId="Equation.DSMT4">
                  <p:embed/>
                </p:oleObj>
              </mc:Choice>
              <mc:Fallback>
                <p:oleObj name="Equation" r:id="rId7" imgW="3181487" imgH="304787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365625"/>
                        <a:ext cx="6169025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1226" name="Object 26"/>
          <p:cNvGraphicFramePr>
            <a:graphicFrameLocks noChangeAspect="1"/>
          </p:cNvGraphicFramePr>
          <p:nvPr/>
        </p:nvGraphicFramePr>
        <p:xfrm>
          <a:off x="1619250" y="5589588"/>
          <a:ext cx="62214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0" name="Equation" r:id="rId9" imgW="3314743" imgH="304787" progId="Equation.DSMT4">
                  <p:embed/>
                </p:oleObj>
              </mc:Choice>
              <mc:Fallback>
                <p:oleObj name="Equation" r:id="rId9" imgW="3314743" imgH="304787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589588"/>
                        <a:ext cx="622141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1238" name="Rectangle 38"/>
          <p:cNvSpPr>
            <a:spLocks noChangeArrowheads="1"/>
          </p:cNvSpPr>
          <p:nvPr/>
        </p:nvSpPr>
        <p:spPr bwMode="auto">
          <a:xfrm>
            <a:off x="1258888" y="3860800"/>
            <a:ext cx="3887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平均坡印廷矢量为</a:t>
            </a:r>
          </a:p>
        </p:txBody>
      </p:sp>
      <p:sp>
        <p:nvSpPr>
          <p:cNvPr id="691239" name="Rectangle 39"/>
          <p:cNvSpPr>
            <a:spLocks noChangeArrowheads="1"/>
          </p:cNvSpPr>
          <p:nvPr/>
        </p:nvSpPr>
        <p:spPr bwMode="auto">
          <a:xfrm>
            <a:off x="1260475" y="5203825"/>
            <a:ext cx="662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垂直穿过半径</a:t>
            </a:r>
            <a:r>
              <a:rPr lang="en-US" altLang="zh-CN" i="1">
                <a:solidFill>
                  <a:schemeClr val="bg1"/>
                </a:solidFill>
              </a:rPr>
              <a:t>R </a:t>
            </a:r>
            <a:r>
              <a:rPr lang="en-US" altLang="zh-CN">
                <a:solidFill>
                  <a:schemeClr val="bg1"/>
                </a:solidFill>
              </a:rPr>
              <a:t>= 2.5m </a:t>
            </a:r>
            <a:r>
              <a:rPr lang="zh-CN" altLang="en-US">
                <a:solidFill>
                  <a:schemeClr val="bg1"/>
                </a:solidFill>
              </a:rPr>
              <a:t>的圆平面的平均功率为</a:t>
            </a:r>
          </a:p>
        </p:txBody>
      </p:sp>
      <p:sp>
        <p:nvSpPr>
          <p:cNvPr id="691211" name="Rectangle 11"/>
          <p:cNvSpPr>
            <a:spLocks noChangeArrowheads="1"/>
          </p:cNvSpPr>
          <p:nvPr/>
        </p:nvSpPr>
        <p:spPr bwMode="auto">
          <a:xfrm>
            <a:off x="107950" y="476250"/>
            <a:ext cx="806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fontAlgn="ctr" hangingPunct="1">
              <a:spcBef>
                <a:spcPct val="0"/>
              </a:spcBef>
            </a:pPr>
            <a:r>
              <a:rPr lang="en-US" altLang="zh-CN">
                <a:solidFill>
                  <a:srgbClr val="FF7C80"/>
                </a:solidFill>
                <a:latin typeface="幼圆" pitchFamily="49" charset="-122"/>
                <a:ea typeface="幼圆" pitchFamily="49" charset="-122"/>
              </a:rPr>
              <a:t>    </a:t>
            </a:r>
            <a:r>
              <a:rPr lang="zh-CN" altLang="en-US">
                <a:solidFill>
                  <a:srgbClr val="FF99FF"/>
                </a:solidFill>
                <a:latin typeface="幼圆" pitchFamily="49" charset="-122"/>
                <a:ea typeface="幼圆" pitchFamily="49" charset="-122"/>
              </a:rPr>
              <a:t>例</a:t>
            </a:r>
            <a:r>
              <a:rPr lang="zh-CN" altLang="en-US">
                <a:solidFill>
                  <a:schemeClr val="bg1"/>
                </a:solidFill>
              </a:rPr>
              <a:t>   自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</a:rPr>
              <a:t>由空间中平面波的电场强度</a:t>
            </a:r>
          </a:p>
        </p:txBody>
      </p:sp>
      <p:graphicFrame>
        <p:nvGraphicFramePr>
          <p:cNvPr id="691210" name="Object 10"/>
          <p:cNvGraphicFramePr>
            <a:graphicFrameLocks noChangeAspect="1"/>
          </p:cNvGraphicFramePr>
          <p:nvPr/>
        </p:nvGraphicFramePr>
        <p:xfrm>
          <a:off x="2463800" y="938213"/>
          <a:ext cx="33321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91" name="Equation" r:id="rId11" imgW="1543202" imgH="171334" progId="Equation.DSMT4">
                  <p:embed/>
                </p:oleObj>
              </mc:Choice>
              <mc:Fallback>
                <p:oleObj name="Equation" r:id="rId11" imgW="1543202" imgH="171334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800" y="938213"/>
                        <a:ext cx="333216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1240" name="Rectangle 40"/>
          <p:cNvSpPr>
            <a:spLocks noChangeArrowheads="1"/>
          </p:cNvSpPr>
          <p:nvPr/>
        </p:nvSpPr>
        <p:spPr bwMode="auto">
          <a:xfrm>
            <a:off x="69850" y="1557338"/>
            <a:ext cx="8389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求在</a:t>
            </a:r>
            <a:r>
              <a:rPr lang="en-US" altLang="zh-CN" i="1">
                <a:solidFill>
                  <a:schemeClr val="bg1"/>
                </a:solidFill>
              </a:rPr>
              <a:t>z</a:t>
            </a:r>
            <a:r>
              <a:rPr lang="en-US" altLang="zh-CN">
                <a:solidFill>
                  <a:schemeClr val="bg1"/>
                </a:solidFill>
              </a:rPr>
              <a:t> = </a:t>
            </a:r>
            <a:r>
              <a:rPr lang="en-US" altLang="zh-CN" i="1">
                <a:solidFill>
                  <a:schemeClr val="bg1"/>
                </a:solidFill>
              </a:rPr>
              <a:t>z</a:t>
            </a:r>
            <a:r>
              <a:rPr lang="en-US" altLang="zh-CN" baseline="-25000">
                <a:solidFill>
                  <a:schemeClr val="bg1"/>
                </a:solidFill>
              </a:rPr>
              <a:t>0 </a:t>
            </a:r>
            <a:r>
              <a:rPr lang="zh-CN" altLang="en-US">
                <a:solidFill>
                  <a:schemeClr val="bg1"/>
                </a:solidFill>
              </a:rPr>
              <a:t>处垂直穿过半径</a:t>
            </a:r>
            <a:r>
              <a:rPr lang="en-US" altLang="zh-CN" i="1">
                <a:solidFill>
                  <a:schemeClr val="bg1"/>
                </a:solidFill>
              </a:rPr>
              <a:t>R</a:t>
            </a:r>
            <a:r>
              <a:rPr lang="en-US" altLang="zh-CN">
                <a:solidFill>
                  <a:schemeClr val="bg1"/>
                </a:solidFill>
              </a:rPr>
              <a:t> = 2.5m </a:t>
            </a:r>
            <a:r>
              <a:rPr lang="zh-CN" altLang="en-US">
                <a:solidFill>
                  <a:schemeClr val="bg1"/>
                </a:solidFill>
              </a:rPr>
              <a:t>的圆平面的平均功率。</a:t>
            </a:r>
          </a:p>
        </p:txBody>
      </p:sp>
      <p:sp>
        <p:nvSpPr>
          <p:cNvPr id="43019" name="AutoShape 49">
            <a:hlinkClick r:id="rId1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20" name="AutoShape 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21" name="AutoShape 5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22" name="AutoShape 52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9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69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69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9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69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69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69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238" grpId="0"/>
      <p:bldP spid="691239" grpId="0"/>
      <p:bldP spid="691211" grpId="0"/>
      <p:bldP spid="691240" grpId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9980</TotalTime>
  <Words>2109</Words>
  <Application>Microsoft Office PowerPoint</Application>
  <PresentationFormat>全屏显示(4:3)</PresentationFormat>
  <Paragraphs>307</Paragraphs>
  <Slides>41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45" baseType="lpstr">
      <vt:lpstr>1_默认设计模板</vt:lpstr>
      <vt:lpstr>Equation</vt:lpstr>
      <vt:lpstr>公式</vt:lpstr>
      <vt:lpstr>MathType 6.0 Equation</vt:lpstr>
      <vt:lpstr>4. 5    时谐电磁场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5.1  理想介质中的均匀平面波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China</cp:lastModifiedBy>
  <cp:revision>541</cp:revision>
  <dcterms:created xsi:type="dcterms:W3CDTF">2004-02-10T07:06:32Z</dcterms:created>
  <dcterms:modified xsi:type="dcterms:W3CDTF">2026-05-14T02:47:27Z</dcterms:modified>
</cp:coreProperties>
</file>