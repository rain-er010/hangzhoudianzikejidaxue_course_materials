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spc="6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KSO_TEMPLATE" hidden="1"/>
          <p:cNvSpPr/>
          <p:nvPr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u="none" strike="noStrike" kern="1200" cap="none" spc="3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6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>
            <p:custDataLst>
              <p:tags r:id="rId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KSO_TEMPLATE" hidden="1"/>
          <p:cNvSpPr/>
          <p:nvPr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KSO_TEMPLATE" hidden="1"/>
          <p:cNvSpPr/>
          <p:nvPr>
            <p:custDataLst>
              <p:tags r:id="rId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KSO_TEMPLATE" hidden="1"/>
          <p:cNvSpPr/>
          <p:nvPr>
            <p:custDataLst>
              <p:tags r:id="rId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>
            <p:custDataLst>
              <p:tags r:id="rId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KSO_TEMPLATE" hidden="1"/>
          <p:cNvSpPr/>
          <p:nvPr>
            <p:custDataLst>
              <p:tags r:id="rId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1" i="0" u="none" strike="noStrike" kern="1200" cap="none" spc="6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KSO_TEMPLATE" hidden="1"/>
          <p:cNvSpPr/>
          <p:nvPr>
            <p:custDataLst>
              <p:tags r:id="rId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6" Type="http://schemas.openxmlformats.org/officeDocument/2006/relationships/slideLayout" Target="../slideLayouts/slideLayout18.xml"/><Relationship Id="rId15" Type="http://schemas.openxmlformats.org/officeDocument/2006/relationships/tags" Target="../tags/tag85.xml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tags" Target="../tags/tag7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98.xml"/><Relationship Id="rId13" Type="http://schemas.openxmlformats.org/officeDocument/2006/relationships/image" Target="../media/image3.png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tags" Target="../tags/tag8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111.xml"/><Relationship Id="rId13" Type="http://schemas.openxmlformats.org/officeDocument/2006/relationships/image" Target="../media/image4.png"/><Relationship Id="rId12" Type="http://schemas.openxmlformats.org/officeDocument/2006/relationships/tags" Target="../tags/tag110.xml"/><Relationship Id="rId11" Type="http://schemas.openxmlformats.org/officeDocument/2006/relationships/tags" Target="../tags/tag109.xml"/><Relationship Id="rId10" Type="http://schemas.openxmlformats.org/officeDocument/2006/relationships/tags" Target="../tags/tag108.xml"/><Relationship Id="rId1" Type="http://schemas.openxmlformats.org/officeDocument/2006/relationships/tags" Target="../tags/tag9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124.xml"/><Relationship Id="rId13" Type="http://schemas.openxmlformats.org/officeDocument/2006/relationships/image" Target="../media/image5.png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tags" Target="../tags/tag11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137.xml"/><Relationship Id="rId13" Type="http://schemas.openxmlformats.org/officeDocument/2006/relationships/image" Target="../media/image6.png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tags" Target="../tags/tag12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46.xml"/><Relationship Id="rId8" Type="http://schemas.openxmlformats.org/officeDocument/2006/relationships/tags" Target="../tags/tag145.xml"/><Relationship Id="rId7" Type="http://schemas.openxmlformats.org/officeDocument/2006/relationships/tags" Target="../tags/tag144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150.xml"/><Relationship Id="rId13" Type="http://schemas.openxmlformats.org/officeDocument/2006/relationships/image" Target="../media/image7.png"/><Relationship Id="rId12" Type="http://schemas.openxmlformats.org/officeDocument/2006/relationships/tags" Target="../tags/tag149.xml"/><Relationship Id="rId11" Type="http://schemas.openxmlformats.org/officeDocument/2006/relationships/tags" Target="../tags/tag148.xml"/><Relationship Id="rId10" Type="http://schemas.openxmlformats.org/officeDocument/2006/relationships/tags" Target="../tags/tag147.xml"/><Relationship Id="rId1" Type="http://schemas.openxmlformats.org/officeDocument/2006/relationships/tags" Target="../tags/tag13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tags" Target="../tags/tag158.xml"/><Relationship Id="rId7" Type="http://schemas.openxmlformats.org/officeDocument/2006/relationships/tags" Target="../tags/tag157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6" Type="http://schemas.openxmlformats.org/officeDocument/2006/relationships/slideLayout" Target="../slideLayouts/slideLayout18.xml"/><Relationship Id="rId15" Type="http://schemas.openxmlformats.org/officeDocument/2006/relationships/tags" Target="../tags/tag163.xml"/><Relationship Id="rId14" Type="http://schemas.openxmlformats.org/officeDocument/2006/relationships/image" Target="../media/image9.png"/><Relationship Id="rId13" Type="http://schemas.openxmlformats.org/officeDocument/2006/relationships/image" Target="../media/image8.png"/><Relationship Id="rId12" Type="http://schemas.openxmlformats.org/officeDocument/2006/relationships/tags" Target="../tags/tag162.xml"/><Relationship Id="rId11" Type="http://schemas.openxmlformats.org/officeDocument/2006/relationships/tags" Target="../tags/tag161.xml"/><Relationship Id="rId10" Type="http://schemas.openxmlformats.org/officeDocument/2006/relationships/tags" Target="../tags/tag160.xml"/><Relationship Id="rId1" Type="http://schemas.openxmlformats.org/officeDocument/2006/relationships/tags" Target="../tags/tag15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72.xml"/><Relationship Id="rId8" Type="http://schemas.openxmlformats.org/officeDocument/2006/relationships/tags" Target="../tags/tag171.xml"/><Relationship Id="rId7" Type="http://schemas.openxmlformats.org/officeDocument/2006/relationships/tags" Target="../tags/tag170.xml"/><Relationship Id="rId6" Type="http://schemas.openxmlformats.org/officeDocument/2006/relationships/tags" Target="../tags/tag169.xml"/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176.xml"/><Relationship Id="rId13" Type="http://schemas.openxmlformats.org/officeDocument/2006/relationships/image" Target="../media/image10.png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tags" Target="../tags/tag173.xml"/><Relationship Id="rId1" Type="http://schemas.openxmlformats.org/officeDocument/2006/relationships/tags" Target="../tags/tag16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189.xml"/><Relationship Id="rId13" Type="http://schemas.openxmlformats.org/officeDocument/2006/relationships/image" Target="../media/image11.png"/><Relationship Id="rId12" Type="http://schemas.openxmlformats.org/officeDocument/2006/relationships/tags" Target="../tags/tag188.xml"/><Relationship Id="rId11" Type="http://schemas.openxmlformats.org/officeDocument/2006/relationships/tags" Target="../tags/tag187.xml"/><Relationship Id="rId10" Type="http://schemas.openxmlformats.org/officeDocument/2006/relationships/tags" Target="../tags/tag186.xml"/><Relationship Id="rId1" Type="http://schemas.openxmlformats.org/officeDocument/2006/relationships/tags" Target="../tags/tag17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98.xml"/><Relationship Id="rId8" Type="http://schemas.openxmlformats.org/officeDocument/2006/relationships/tags" Target="../tags/tag197.xml"/><Relationship Id="rId7" Type="http://schemas.openxmlformats.org/officeDocument/2006/relationships/tags" Target="../tags/tag196.xml"/><Relationship Id="rId6" Type="http://schemas.openxmlformats.org/officeDocument/2006/relationships/tags" Target="../tags/tag195.xml"/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6" Type="http://schemas.openxmlformats.org/officeDocument/2006/relationships/slideLayout" Target="../slideLayouts/slideLayout18.xml"/><Relationship Id="rId15" Type="http://schemas.openxmlformats.org/officeDocument/2006/relationships/tags" Target="../tags/tag202.xml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tags" Target="../tags/tag201.xml"/><Relationship Id="rId11" Type="http://schemas.openxmlformats.org/officeDocument/2006/relationships/tags" Target="../tags/tag200.xml"/><Relationship Id="rId10" Type="http://schemas.openxmlformats.org/officeDocument/2006/relationships/tags" Target="../tags/tag199.xml"/><Relationship Id="rId1" Type="http://schemas.openxmlformats.org/officeDocument/2006/relationships/tags" Target="../tags/tag19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11.xml"/><Relationship Id="rId8" Type="http://schemas.openxmlformats.org/officeDocument/2006/relationships/tags" Target="../tags/tag210.xml"/><Relationship Id="rId7" Type="http://schemas.openxmlformats.org/officeDocument/2006/relationships/tags" Target="../tags/tag209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6" Type="http://schemas.openxmlformats.org/officeDocument/2006/relationships/slideLayout" Target="../slideLayouts/slideLayout18.xml"/><Relationship Id="rId15" Type="http://schemas.openxmlformats.org/officeDocument/2006/relationships/tags" Target="../tags/tag215.xml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tags" Target="../tags/tag214.xml"/><Relationship Id="rId11" Type="http://schemas.openxmlformats.org/officeDocument/2006/relationships/tags" Target="../tags/tag213.xml"/><Relationship Id="rId10" Type="http://schemas.openxmlformats.org/officeDocument/2006/relationships/tags" Target="../tags/tag212.xml"/><Relationship Id="rId1" Type="http://schemas.openxmlformats.org/officeDocument/2006/relationships/tags" Target="../tags/tag20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24.xml"/><Relationship Id="rId8" Type="http://schemas.openxmlformats.org/officeDocument/2006/relationships/tags" Target="../tags/tag223.xml"/><Relationship Id="rId7" Type="http://schemas.openxmlformats.org/officeDocument/2006/relationships/tags" Target="../tags/tag222.xml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6" Type="http://schemas.openxmlformats.org/officeDocument/2006/relationships/slideLayout" Target="../slideLayouts/slideLayout18.xml"/><Relationship Id="rId15" Type="http://schemas.openxmlformats.org/officeDocument/2006/relationships/tags" Target="../tags/tag228.xml"/><Relationship Id="rId14" Type="http://schemas.openxmlformats.org/officeDocument/2006/relationships/image" Target="../media/image17.png"/><Relationship Id="rId13" Type="http://schemas.openxmlformats.org/officeDocument/2006/relationships/image" Target="../media/image16.png"/><Relationship Id="rId12" Type="http://schemas.openxmlformats.org/officeDocument/2006/relationships/tags" Target="../tags/tag227.xml"/><Relationship Id="rId11" Type="http://schemas.openxmlformats.org/officeDocument/2006/relationships/tags" Target="../tags/tag226.xml"/><Relationship Id="rId10" Type="http://schemas.openxmlformats.org/officeDocument/2006/relationships/tags" Target="../tags/tag225.xml"/><Relationship Id="rId1" Type="http://schemas.openxmlformats.org/officeDocument/2006/relationships/tags" Target="../tags/tag21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37.xml"/><Relationship Id="rId8" Type="http://schemas.openxmlformats.org/officeDocument/2006/relationships/tags" Target="../tags/tag236.xml"/><Relationship Id="rId7" Type="http://schemas.openxmlformats.org/officeDocument/2006/relationships/tags" Target="../tags/tag235.xml"/><Relationship Id="rId6" Type="http://schemas.openxmlformats.org/officeDocument/2006/relationships/tags" Target="../tags/tag234.xml"/><Relationship Id="rId5" Type="http://schemas.openxmlformats.org/officeDocument/2006/relationships/tags" Target="../tags/tag233.xml"/><Relationship Id="rId4" Type="http://schemas.openxmlformats.org/officeDocument/2006/relationships/tags" Target="../tags/tag232.xml"/><Relationship Id="rId3" Type="http://schemas.openxmlformats.org/officeDocument/2006/relationships/tags" Target="../tags/tag231.xml"/><Relationship Id="rId2" Type="http://schemas.openxmlformats.org/officeDocument/2006/relationships/tags" Target="../tags/tag230.xml"/><Relationship Id="rId16" Type="http://schemas.openxmlformats.org/officeDocument/2006/relationships/slideLayout" Target="../slideLayouts/slideLayout18.xml"/><Relationship Id="rId15" Type="http://schemas.openxmlformats.org/officeDocument/2006/relationships/tags" Target="../tags/tag241.xml"/><Relationship Id="rId14" Type="http://schemas.openxmlformats.org/officeDocument/2006/relationships/image" Target="../media/image19.png"/><Relationship Id="rId13" Type="http://schemas.openxmlformats.org/officeDocument/2006/relationships/image" Target="../media/image18.png"/><Relationship Id="rId12" Type="http://schemas.openxmlformats.org/officeDocument/2006/relationships/tags" Target="../tags/tag240.xml"/><Relationship Id="rId11" Type="http://schemas.openxmlformats.org/officeDocument/2006/relationships/tags" Target="../tags/tag239.xml"/><Relationship Id="rId10" Type="http://schemas.openxmlformats.org/officeDocument/2006/relationships/tags" Target="../tags/tag238.xml"/><Relationship Id="rId1" Type="http://schemas.openxmlformats.org/officeDocument/2006/relationships/tags" Target="../tags/tag229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50.xml"/><Relationship Id="rId8" Type="http://schemas.openxmlformats.org/officeDocument/2006/relationships/tags" Target="../tags/tag249.xml"/><Relationship Id="rId7" Type="http://schemas.openxmlformats.org/officeDocument/2006/relationships/tags" Target="../tags/tag248.xml"/><Relationship Id="rId6" Type="http://schemas.openxmlformats.org/officeDocument/2006/relationships/tags" Target="../tags/tag247.xml"/><Relationship Id="rId5" Type="http://schemas.openxmlformats.org/officeDocument/2006/relationships/tags" Target="../tags/tag246.xml"/><Relationship Id="rId4" Type="http://schemas.openxmlformats.org/officeDocument/2006/relationships/tags" Target="../tags/tag245.xml"/><Relationship Id="rId3" Type="http://schemas.openxmlformats.org/officeDocument/2006/relationships/tags" Target="../tags/tag244.xml"/><Relationship Id="rId2" Type="http://schemas.openxmlformats.org/officeDocument/2006/relationships/tags" Target="../tags/tag243.xml"/><Relationship Id="rId16" Type="http://schemas.openxmlformats.org/officeDocument/2006/relationships/slideLayout" Target="../slideLayouts/slideLayout18.xml"/><Relationship Id="rId15" Type="http://schemas.openxmlformats.org/officeDocument/2006/relationships/tags" Target="../tags/tag254.xml"/><Relationship Id="rId14" Type="http://schemas.openxmlformats.org/officeDocument/2006/relationships/image" Target="../media/image21.png"/><Relationship Id="rId13" Type="http://schemas.openxmlformats.org/officeDocument/2006/relationships/image" Target="../media/image20.png"/><Relationship Id="rId12" Type="http://schemas.openxmlformats.org/officeDocument/2006/relationships/tags" Target="../tags/tag253.xml"/><Relationship Id="rId11" Type="http://schemas.openxmlformats.org/officeDocument/2006/relationships/tags" Target="../tags/tag252.xml"/><Relationship Id="rId10" Type="http://schemas.openxmlformats.org/officeDocument/2006/relationships/tags" Target="../tags/tag251.xml"/><Relationship Id="rId1" Type="http://schemas.openxmlformats.org/officeDocument/2006/relationships/tags" Target="../tags/tag24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63.xml"/><Relationship Id="rId8" Type="http://schemas.openxmlformats.org/officeDocument/2006/relationships/tags" Target="../tags/tag262.xml"/><Relationship Id="rId7" Type="http://schemas.openxmlformats.org/officeDocument/2006/relationships/tags" Target="../tags/tag261.xml"/><Relationship Id="rId6" Type="http://schemas.openxmlformats.org/officeDocument/2006/relationships/tags" Target="../tags/tag260.xml"/><Relationship Id="rId5" Type="http://schemas.openxmlformats.org/officeDocument/2006/relationships/tags" Target="../tags/tag259.xml"/><Relationship Id="rId4" Type="http://schemas.openxmlformats.org/officeDocument/2006/relationships/tags" Target="../tags/tag258.xml"/><Relationship Id="rId3" Type="http://schemas.openxmlformats.org/officeDocument/2006/relationships/tags" Target="../tags/tag257.xml"/><Relationship Id="rId2" Type="http://schemas.openxmlformats.org/officeDocument/2006/relationships/tags" Target="../tags/tag256.xml"/><Relationship Id="rId16" Type="http://schemas.openxmlformats.org/officeDocument/2006/relationships/slideLayout" Target="../slideLayouts/slideLayout18.xml"/><Relationship Id="rId15" Type="http://schemas.openxmlformats.org/officeDocument/2006/relationships/tags" Target="../tags/tag267.xml"/><Relationship Id="rId14" Type="http://schemas.openxmlformats.org/officeDocument/2006/relationships/image" Target="../media/image23.png"/><Relationship Id="rId13" Type="http://schemas.openxmlformats.org/officeDocument/2006/relationships/image" Target="../media/image22.png"/><Relationship Id="rId12" Type="http://schemas.openxmlformats.org/officeDocument/2006/relationships/tags" Target="../tags/tag266.xml"/><Relationship Id="rId11" Type="http://schemas.openxmlformats.org/officeDocument/2006/relationships/tags" Target="../tags/tag265.xml"/><Relationship Id="rId10" Type="http://schemas.openxmlformats.org/officeDocument/2006/relationships/tags" Target="../tags/tag264.xml"/><Relationship Id="rId1" Type="http://schemas.openxmlformats.org/officeDocument/2006/relationships/tags" Target="../tags/tag255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76.xml"/><Relationship Id="rId8" Type="http://schemas.openxmlformats.org/officeDocument/2006/relationships/tags" Target="../tags/tag275.xml"/><Relationship Id="rId7" Type="http://schemas.openxmlformats.org/officeDocument/2006/relationships/tags" Target="../tags/tag274.xml"/><Relationship Id="rId6" Type="http://schemas.openxmlformats.org/officeDocument/2006/relationships/tags" Target="../tags/tag273.xml"/><Relationship Id="rId5" Type="http://schemas.openxmlformats.org/officeDocument/2006/relationships/tags" Target="../tags/tag272.xml"/><Relationship Id="rId4" Type="http://schemas.openxmlformats.org/officeDocument/2006/relationships/tags" Target="../tags/tag271.xml"/><Relationship Id="rId3" Type="http://schemas.openxmlformats.org/officeDocument/2006/relationships/tags" Target="../tags/tag270.xml"/><Relationship Id="rId2" Type="http://schemas.openxmlformats.org/officeDocument/2006/relationships/tags" Target="../tags/tag269.xml"/><Relationship Id="rId14" Type="http://schemas.openxmlformats.org/officeDocument/2006/relationships/slideLayout" Target="../slideLayouts/slideLayout18.xml"/><Relationship Id="rId13" Type="http://schemas.openxmlformats.org/officeDocument/2006/relationships/tags" Target="../tags/tag280.xml"/><Relationship Id="rId12" Type="http://schemas.openxmlformats.org/officeDocument/2006/relationships/tags" Target="../tags/tag279.xml"/><Relationship Id="rId11" Type="http://schemas.openxmlformats.org/officeDocument/2006/relationships/tags" Target="../tags/tag278.xml"/><Relationship Id="rId10" Type="http://schemas.openxmlformats.org/officeDocument/2006/relationships/tags" Target="../tags/tag277.xml"/><Relationship Id="rId1" Type="http://schemas.openxmlformats.org/officeDocument/2006/relationships/tags" Target="../tags/tag2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期中大物</a:t>
            </a:r>
            <a:r>
              <a:rPr lang="zh-CN" altLang="en-US"/>
              <a:t>下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/>
              <a:t>band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570095" y="339725"/>
            <a:ext cx="50812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简谐</a:t>
            </a:r>
            <a:r>
              <a:rPr lang="zh-CN" altLang="en-US" sz="6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振动</a:t>
            </a:r>
            <a:endParaRPr lang="zh-CN" altLang="en-US" sz="6000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725295" y="1591310"/>
                <a:ext cx="9081135" cy="34137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3600">
                    <a:solidFill>
                      <a:srgbClr val="FF0000"/>
                    </a:solidFill>
                  </a:rPr>
                  <a:t>题型</a:t>
                </a:r>
                <a:r>
                  <a:rPr lang="en-US" altLang="zh-CN" sz="3600">
                    <a:solidFill>
                      <a:srgbClr val="FF0000"/>
                    </a:solidFill>
                  </a:rPr>
                  <a:t>1.</a:t>
                </a:r>
                <a:r>
                  <a:rPr lang="zh-CN" altLang="en-US" sz="3600" b="1"/>
                  <a:t>证明该物体做简谐运动、求圆频率、周期</a:t>
                </a:r>
                <a:r>
                  <a:rPr lang="en-US" altLang="zh-CN" sz="3600" b="1"/>
                  <a:t>T</a:t>
                </a:r>
                <a:endParaRPr lang="en-US" altLang="zh-CN" sz="3600" b="1"/>
              </a:p>
              <a:p>
                <a:endParaRPr lang="en-US" altLang="zh-CN" sz="3600"/>
              </a:p>
              <a:p>
                <a:r>
                  <a:rPr lang="en-US" altLang="zh-CN" sz="2800"/>
                  <a:t>1.</a:t>
                </a:r>
                <a:r>
                  <a:rPr lang="zh-CN" altLang="en-US" sz="2800"/>
                  <a:t>利用好核心公式：</a:t>
                </a:r>
                <a:r>
                  <a:rPr lang="en-US" altLang="zh-CN" sz="2800">
                    <a:solidFill>
                      <a:srgbClr val="00B0F0"/>
                    </a:solidFill>
                  </a:rPr>
                  <a:t>F=-kx</a:t>
                </a:r>
                <a:r>
                  <a:rPr lang="zh-CN" altLang="en-US" sz="2800"/>
                  <a:t>（</a:t>
                </a:r>
                <a:r>
                  <a:rPr lang="en-US" altLang="zh-CN" sz="2800"/>
                  <a:t>x</a:t>
                </a:r>
                <a:r>
                  <a:rPr lang="zh-CN" altLang="en-US" sz="2800"/>
                  <a:t>为到平衡点的位移）</a:t>
                </a:r>
                <a:endParaRPr lang="zh-CN" altLang="en-US" sz="2800"/>
              </a:p>
              <a:p>
                <a:r>
                  <a:rPr lang="en-US" altLang="zh-CN" sz="2800"/>
                  <a:t>2.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𝜔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r>
                      <a:rPr lang="en-US" altLang="zh-CN" sz="2800" i="1">
                        <a:solidFill>
                          <a:srgbClr val="00B0F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zh-CN" altLang="en-US" sz="2800">
                    <a:latin typeface="Cambria Math" panose="02040503050406030204" charset="0"/>
                    <a:cs typeface="Cambria Math" panose="02040503050406030204" charset="0"/>
                  </a:rPr>
                  <a:t>，求出圆频率（推导过程在书上，值得一看）</a:t>
                </a:r>
                <a:endParaRPr lang="zh-CN" altLang="en-US" sz="28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 sz="2800">
                    <a:latin typeface="Cambria Math" panose="02040503050406030204" charset="0"/>
                    <a:cs typeface="Cambria Math" panose="02040503050406030204" charset="0"/>
                  </a:rPr>
                  <a:t>3.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charset="0"/>
                        <a:cs typeface="Cambria Math" panose="02040503050406030204" charset="0"/>
                      </a:rPr>
                      <m:t>𝑇</m:t>
                    </m:r>
                    <m:r>
                      <a:rPr lang="en-US" altLang="zh-CN" sz="2800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𝜔</m:t>
                        </m:r>
                      </m:den>
                    </m:f>
                  </m:oMath>
                </a14:m>
                <a:endParaRPr lang="en-US" altLang="zh-CN" sz="2800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295" y="1591310"/>
                <a:ext cx="9081135" cy="341376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603375" y="5005070"/>
                <a:ext cx="9170035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>
                    <a:solidFill>
                      <a:schemeClr val="accent2"/>
                    </a:solidFill>
                  </a:rPr>
                  <a:t>题目：如图，一质量为</a:t>
                </a:r>
                <a:r>
                  <a:rPr lang="en-US" altLang="zh-CN">
                    <a:solidFill>
                      <a:schemeClr val="accent2"/>
                    </a:solidFill>
                  </a:rPr>
                  <a:t>m</a:t>
                </a:r>
                <a:r>
                  <a:rPr lang="zh-CN" altLang="en-US">
                    <a:solidFill>
                      <a:schemeClr val="accent2"/>
                    </a:solidFill>
                  </a:rPr>
                  <a:t>的小球悬挂在劲度系数为</a:t>
                </a:r>
                <a:r>
                  <a:rPr lang="en-US" altLang="zh-CN">
                    <a:solidFill>
                      <a:schemeClr val="accent2"/>
                    </a:solidFill>
                  </a:rPr>
                  <a:t>k</a:t>
                </a:r>
                <a:r>
                  <a:rPr lang="zh-CN" altLang="en-US">
                    <a:solidFill>
                      <a:schemeClr val="accent2"/>
                    </a:solidFill>
                  </a:rPr>
                  <a:t>的轻弹簧下端，弹簧上端固定，小球在竖直方向运动。已知小球静止时弹簧的伸长量为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chemeClr val="accent2"/>
                    </a:solidFill>
                  </a:rPr>
                  <a:t>，以小球静止位置为坐标原点</a:t>
                </a:r>
                <a:r>
                  <a:rPr lang="en-US" altLang="zh-CN">
                    <a:solidFill>
                      <a:schemeClr val="accent2"/>
                    </a:solidFill>
                  </a:rPr>
                  <a:t>O</a:t>
                </a:r>
                <a:r>
                  <a:rPr lang="zh-CN" altLang="en-US">
                    <a:solidFill>
                      <a:schemeClr val="accent2"/>
                    </a:solidFill>
                  </a:rPr>
                  <a:t>，建立竖直向下的坐标轴</a:t>
                </a:r>
                <a:r>
                  <a:rPr lang="en-US" altLang="zh-CN">
                    <a:solidFill>
                      <a:schemeClr val="accent2"/>
                    </a:solidFill>
                  </a:rPr>
                  <a:t>x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3375" y="5005070"/>
                <a:ext cx="9170035" cy="922020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629410" y="1087755"/>
                <a:ext cx="9273540" cy="3359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3200">
                    <a:solidFill>
                      <a:srgbClr val="FF0000"/>
                    </a:solidFill>
                  </a:rPr>
                  <a:t>题型</a:t>
                </a:r>
                <a:r>
                  <a:rPr lang="en-US" altLang="zh-CN" sz="3200">
                    <a:solidFill>
                      <a:srgbClr val="FF0000"/>
                    </a:solidFill>
                  </a:rPr>
                  <a:t>2.</a:t>
                </a:r>
                <a:r>
                  <a:rPr lang="zh-CN" altLang="en-US" sz="3200"/>
                  <a:t>写简谐运动方程表达式，求速度，加速度</a:t>
                </a:r>
                <a:endParaRPr lang="zh-CN" altLang="en-US" sz="320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𝐴𝑐𝑜𝑠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𝜔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𝜑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sz="28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1.</a:t>
                </a:r>
                <a:r>
                  <a:rPr lang="zh-CN" altLang="en-US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瞪眼蹬出</a:t>
                </a:r>
                <a:r>
                  <a:rPr lang="en-US" altLang="zh-CN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A</a:t>
                </a:r>
                <a:r>
                  <a:rPr lang="zh-CN" altLang="en-US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（一眼丁真）</a:t>
                </a:r>
                <a:endParaRPr lang="en-US" altLang="zh-CN" sz="2800">
                  <a:latin typeface="微软雅黑" panose="020B0503020204020204" charset="-122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r>
                  <a:rPr lang="en-US" altLang="zh-CN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2.</a:t>
                </a:r>
                <a:r>
                  <a:rPr lang="zh-CN" altLang="en-US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用周期</a:t>
                </a:r>
                <a:r>
                  <a:rPr lang="en-US" altLang="zh-CN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T</a:t>
                </a:r>
                <a:r>
                  <a:rPr lang="zh-CN" altLang="en-US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求出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charset="0"/>
                        <a:cs typeface="Cambria Math" panose="02040503050406030204" charset="0"/>
                      </a:rPr>
                      <m:t>𝜔</m:t>
                    </m:r>
                  </m:oMath>
                </a14:m>
                <a:r>
                  <a:rPr lang="zh-CN" altLang="en-US" sz="2800">
                    <a:latin typeface="Cambria Math" panose="02040503050406030204" charset="0"/>
                    <a:cs typeface="Cambria Math" panose="02040503050406030204" charset="0"/>
                  </a:rPr>
                  <a:t>，周期可用波长除以速度得到（机械波），或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B0F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𝜔</m:t>
                    </m:r>
                    <m:r>
                      <a:rPr lang="en-US" altLang="zh-CN" sz="2800" i="1">
                        <a:solidFill>
                          <a:srgbClr val="00B0F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00B0F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B0F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00B0F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r>
                          <a:rPr lang="en-US" altLang="zh-CN" sz="280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den>
                    </m:f>
                  </m:oMath>
                </a14:m>
                <a:endParaRPr lang="en-US" altLang="zh-CN" sz="28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 sz="2800">
                    <a:latin typeface="Cambria Math" panose="02040503050406030204" charset="0"/>
                    <a:cs typeface="Cambria Math" panose="02040503050406030204" charset="0"/>
                  </a:rPr>
                  <a:t>3.</a:t>
                </a:r>
                <a:r>
                  <a:rPr lang="zh-CN" altLang="en-US" sz="2800">
                    <a:latin typeface="Cambria Math" panose="02040503050406030204" charset="0"/>
                    <a:cs typeface="Cambria Math" panose="02040503050406030204" charset="0"/>
                  </a:rPr>
                  <a:t>用好</a:t>
                </a:r>
                <a:r>
                  <a:rPr lang="zh-CN" altLang="en-US" sz="2800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旋转矢量法</a:t>
                </a:r>
                <a:r>
                  <a:rPr lang="zh-CN" altLang="en-US" sz="2800">
                    <a:latin typeface="Cambria Math" panose="02040503050406030204" charset="0"/>
                    <a:cs typeface="Cambria Math" panose="02040503050406030204" charset="0"/>
                  </a:rPr>
                  <a:t>，判断初相</a:t>
                </a:r>
                <a:endParaRPr lang="zh-CN" altLang="en-US" sz="28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 sz="2800">
                    <a:latin typeface="Cambria Math" panose="02040503050406030204" charset="0"/>
                    <a:cs typeface="Cambria Math" panose="02040503050406030204" charset="0"/>
                  </a:rPr>
                  <a:t>4.</a:t>
                </a:r>
                <a:r>
                  <a:rPr lang="zh-CN" altLang="en-US" sz="2800">
                    <a:latin typeface="Cambria Math" panose="02040503050406030204" charset="0"/>
                    <a:cs typeface="Cambria Math" panose="02040503050406030204" charset="0"/>
                  </a:rPr>
                  <a:t>求导，即得速度表达式，求二阶导，加速度表达式</a:t>
                </a:r>
                <a:endParaRPr lang="zh-CN" altLang="en-US" sz="2800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410" y="1087755"/>
                <a:ext cx="9273540" cy="3359785"/>
              </a:xfrm>
              <a:prstGeom prst="rect">
                <a:avLst/>
              </a:prstGeom>
              <a:blipFill rotWithShape="1">
                <a:blip r:embed="rId13"/>
                <a:stretch>
                  <a:fillRect r="-11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791970" y="932180"/>
                <a:ext cx="9014460" cy="4157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3200">
                    <a:solidFill>
                      <a:srgbClr val="FF0000"/>
                    </a:solidFill>
                  </a:rPr>
                  <a:t>题型</a:t>
                </a:r>
                <a:r>
                  <a:rPr lang="en-US" altLang="zh-CN" sz="3200">
                    <a:solidFill>
                      <a:srgbClr val="FF0000"/>
                    </a:solidFill>
                  </a:rPr>
                  <a:t>3.</a:t>
                </a:r>
                <a:r>
                  <a:rPr lang="zh-CN" altLang="en-US" sz="3200"/>
                  <a:t>简谐振动的能量问题（想到</a:t>
                </a:r>
                <a:r>
                  <a:rPr lang="zh-CN" altLang="en-US" sz="3200"/>
                  <a:t>弹簧）</a:t>
                </a:r>
                <a:endParaRPr lang="zh-CN" altLang="en-US" sz="3200"/>
              </a:p>
              <a:p>
                <a:endParaRPr lang="zh-CN" altLang="en-US" sz="3200"/>
              </a:p>
              <a:p>
                <a:r>
                  <a:rPr lang="zh-CN" altLang="en-US" sz="3200"/>
                  <a:t>考的比较散，但牢记下面的东西就行</a:t>
                </a:r>
                <a:endParaRPr lang="zh-CN" altLang="en-US" sz="3200"/>
              </a:p>
              <a:p>
                <a:r>
                  <a:rPr lang="en-US" altLang="zh-CN" sz="3200"/>
                  <a:t>1.</a:t>
                </a:r>
                <a:r>
                  <a:rPr lang="zh-CN" altLang="en-US" sz="3200"/>
                  <a:t>动能：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𝑚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𝜔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𝑠𝑖𝑛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𝜔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 sz="32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 sz="3200"/>
                  <a:t>2.</a:t>
                </a:r>
                <a:r>
                  <a:rPr lang="zh-CN" altLang="en-US" sz="3200"/>
                  <a:t>势能：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𝑚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𝜔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𝑐𝑜𝑠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𝜔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 sz="32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 sz="3200"/>
                  <a:t>3.E</a:t>
                </a:r>
                <a:r>
                  <a:rPr lang="zh-CN" altLang="en-US" sz="3200"/>
                  <a:t>总</a:t>
                </a:r>
                <a:r>
                  <a:rPr lang="en-US" altLang="zh-CN" sz="3200"/>
                  <a:t>=</a:t>
                </a:r>
                <a:r>
                  <a:rPr lang="zh-CN" altLang="en-US" sz="3200"/>
                  <a:t>动</a:t>
                </a:r>
                <a:r>
                  <a:rPr lang="en-US" altLang="zh-CN" sz="3200"/>
                  <a:t>+</a:t>
                </a:r>
                <a:r>
                  <a:rPr lang="zh-CN" altLang="en-US" sz="3200"/>
                  <a:t>势</a:t>
                </a:r>
                <a:r>
                  <a:rPr lang="en-US" altLang="zh-CN" sz="320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32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 sz="3200">
                    <a:solidFill>
                      <a:srgbClr val="FF0000"/>
                    </a:solidFill>
                  </a:rPr>
                  <a:t>4.</a:t>
                </a:r>
                <a:r>
                  <a:rPr lang="zh-CN" altLang="en-US" sz="3200">
                    <a:solidFill>
                      <a:srgbClr val="FF0000"/>
                    </a:solidFill>
                  </a:rPr>
                  <a:t>在平衡点，动能最大、势能最小</a:t>
                </a:r>
                <a:endParaRPr lang="zh-CN" altLang="en-US" sz="32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970" y="932180"/>
                <a:ext cx="9014460" cy="415798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954530" y="1532255"/>
                <a:ext cx="9325610" cy="35769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3200">
                    <a:solidFill>
                      <a:srgbClr val="FF0000"/>
                    </a:solidFill>
                  </a:rPr>
                  <a:t>题型</a:t>
                </a:r>
                <a:r>
                  <a:rPr lang="en-US" altLang="zh-CN" sz="3200">
                    <a:solidFill>
                      <a:srgbClr val="FF0000"/>
                    </a:solidFill>
                  </a:rPr>
                  <a:t>4.</a:t>
                </a:r>
                <a:r>
                  <a:rPr lang="zh-CN" altLang="en-US" sz="3200"/>
                  <a:t>简谐振动的叠加</a:t>
                </a:r>
                <a:endParaRPr lang="zh-CN" altLang="en-US" sz="3200"/>
              </a:p>
              <a:p>
                <a:r>
                  <a:rPr lang="zh-CN" altLang="en-US" sz="3200"/>
                  <a:t>不怎么考，但是</a:t>
                </a:r>
                <a:r>
                  <a:rPr lang="zh-CN" altLang="en-US" sz="3200"/>
                  <a:t>基本功</a:t>
                </a:r>
                <a:endParaRPr lang="zh-CN" altLang="en-US" sz="320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>
                          <a:latin typeface="Cambria Math" panose="02040503050406030204" charset="0"/>
                          <a:cs typeface="Cambria Math" panose="02040503050406030204" charset="0"/>
                        </a:rPr>
                        <m:t>𝐴</m:t>
                      </m:r>
                      <m:r>
                        <a:rPr lang="en-US" altLang="zh-CN" sz="32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𝑐𝑜𝑠</m:t>
                          </m:r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</m:rad>
                    </m:oMath>
                  </m:oMathPara>
                </a14:m>
                <a:endParaRPr lang="en-US" altLang="zh-CN" sz="32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>
                          <a:latin typeface="Cambria Math" panose="02040503050406030204" charset="0"/>
                          <a:cs typeface="Cambria Math" panose="02040503050406030204" charset="0"/>
                        </a:rPr>
                        <m:t>𝜑</m:t>
                      </m:r>
                      <m:r>
                        <a:rPr lang="en-US" altLang="zh-CN" sz="32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3200" i="1">
                          <a:latin typeface="Cambria Math" panose="02040503050406030204" charset="0"/>
                          <a:cs typeface="Cambria Math" panose="02040503050406030204" charset="0"/>
                        </a:rPr>
                        <m:t>𝑎𝑟𝑐𝑡𝑎𝑛</m:t>
                      </m:r>
                      <m:f>
                        <m:fPr>
                          <m:ctrlP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𝑠𝑖𝑛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𝑠𝑖𝑛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𝑐𝑜𝑠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𝑐𝑜𝑠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32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zh-CN" altLang="en-US" sz="3200"/>
                  <a:t>特别的，我们发现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2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sz="32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sz="32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𝜋</m:t>
                    </m:r>
                    <m:r>
                      <a:rPr lang="zh-CN" altLang="en-US" sz="32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时</m:t>
                    </m:r>
                  </m:oMath>
                </a14:m>
                <a:r>
                  <a:rPr lang="en-US" altLang="zh-CN" sz="3200">
                    <a:latin typeface="Cambria Math" panose="02040503050406030204" charset="0"/>
                    <a:ea typeface="MS Mincho" charset="0"/>
                    <a:cs typeface="Cambria Math" panose="02040503050406030204" charset="0"/>
                  </a:rPr>
                  <a:t>A=A1+A2</a:t>
                </a:r>
                <a:endParaRPr lang="en-US" altLang="zh-CN" sz="3200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530" y="1532255"/>
                <a:ext cx="9325610" cy="357695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051935" y="339725"/>
            <a:ext cx="87553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0">
                <a:solidFill>
                  <a:srgbClr val="00B0F0"/>
                </a:solidFill>
              </a:rPr>
              <a:t>平面简谐波</a:t>
            </a:r>
            <a:endParaRPr lang="zh-CN" altLang="en-US" sz="6000">
              <a:solidFill>
                <a:srgbClr val="00B0F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314450" y="1257935"/>
                <a:ext cx="9392285" cy="3881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3200">
                    <a:solidFill>
                      <a:srgbClr val="FF0000"/>
                    </a:solidFill>
                  </a:rPr>
                  <a:t>题型</a:t>
                </a:r>
                <a:r>
                  <a:rPr lang="en-US" altLang="zh-CN" sz="3200">
                    <a:solidFill>
                      <a:srgbClr val="FF0000"/>
                    </a:solidFill>
                  </a:rPr>
                  <a:t>1.</a:t>
                </a:r>
                <a:r>
                  <a:rPr lang="zh-CN" altLang="en-US" sz="3200"/>
                  <a:t>求波动方程、求一个点的振动方程、求一个时刻的平面方程</a:t>
                </a:r>
                <a:endParaRPr lang="zh-CN" altLang="en-US" sz="320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𝑦</m:t>
                      </m:r>
                      <m:r>
                        <a:rPr lang="en-US" altLang="zh-CN" sz="3200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3200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sz="3200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3200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sz="3200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sz="3200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𝐴𝑐𝑜𝑠</m:t>
                      </m:r>
                      <m:r>
                        <a:rPr lang="en-US" altLang="zh-CN" sz="3200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[</m:t>
                      </m:r>
                      <m:r>
                        <a:rPr lang="en-US" altLang="zh-CN" sz="3200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𝜔</m:t>
                      </m:r>
                      <m:r>
                        <a:rPr lang="en-US" altLang="zh-CN" sz="3200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3200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sz="3200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32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32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zh-CN" sz="32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𝑢</m:t>
                          </m:r>
                        </m:den>
                      </m:f>
                      <m:r>
                        <a:rPr lang="en-US" altLang="zh-CN" sz="3200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)+</m:t>
                      </m:r>
                      <m:r>
                        <a:rPr lang="en-US" altLang="zh-CN" sz="3200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𝜑</m:t>
                      </m:r>
                      <m:r>
                        <a:rPr lang="en-US" altLang="zh-CN" sz="3200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]</m:t>
                      </m:r>
                    </m:oMath>
                  </m:oMathPara>
                </a14:m>
                <a:endParaRPr lang="en-US" altLang="zh-CN" sz="3200" i="1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 sz="32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1.</a:t>
                </a:r>
                <a:r>
                  <a:rPr lang="zh-CN" altLang="en-US" sz="32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用之前的方法，求出原点</a:t>
                </a:r>
                <a:r>
                  <a:rPr lang="en-US" altLang="zh-CN" sz="32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O</a:t>
                </a:r>
                <a:r>
                  <a:rPr lang="zh-CN" altLang="en-US" sz="32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的振动方程</a:t>
                </a:r>
                <a:endParaRPr lang="zh-CN" altLang="en-US" sz="3200">
                  <a:latin typeface="微软雅黑" panose="020B0503020204020204" charset="-122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r>
                  <a:rPr lang="en-US" altLang="zh-CN" sz="32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2.</a:t>
                </a:r>
                <a:r>
                  <a:rPr lang="zh-CN" altLang="en-US" sz="32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看一眼速度</a:t>
                </a:r>
                <a:r>
                  <a:rPr lang="en-US" altLang="zh-CN" sz="32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u</a:t>
                </a:r>
                <a:r>
                  <a:rPr lang="zh-CN" altLang="en-US" sz="32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和速度方向，写下波动方程</a:t>
                </a:r>
                <a:endParaRPr lang="zh-CN" altLang="en-US" sz="3200">
                  <a:latin typeface="微软雅黑" panose="020B0503020204020204" charset="-122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r>
                  <a:rPr lang="en-US" altLang="zh-CN" sz="32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3.x</a:t>
                </a:r>
                <a:r>
                  <a:rPr lang="zh-CN" altLang="en-US" sz="32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给定值就是一个点的方程</a:t>
                </a:r>
                <a:endParaRPr lang="zh-CN" altLang="en-US" sz="3200">
                  <a:latin typeface="微软雅黑" panose="020B0503020204020204" charset="-122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r>
                  <a:rPr lang="en-US" altLang="zh-CN" sz="32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4.t</a:t>
                </a:r>
                <a:r>
                  <a:rPr lang="zh-CN" altLang="en-US" sz="32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给定值就是按下快门拍照</a:t>
                </a:r>
                <a:endParaRPr lang="zh-CN" altLang="en-US" sz="3200">
                  <a:latin typeface="微软雅黑" panose="020B0503020204020204" charset="-122"/>
                  <a:ea typeface="微软雅黑" panose="020B0503020204020204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450" y="1257935"/>
                <a:ext cx="9392285" cy="388175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563370" y="1021080"/>
                <a:ext cx="9606280" cy="3254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3200">
                    <a:solidFill>
                      <a:srgbClr val="FF0000"/>
                    </a:solidFill>
                  </a:rPr>
                  <a:t>题型</a:t>
                </a:r>
                <a:r>
                  <a:rPr lang="en-US" altLang="zh-CN" sz="3200">
                    <a:solidFill>
                      <a:srgbClr val="FF0000"/>
                    </a:solidFill>
                  </a:rPr>
                  <a:t>2.</a:t>
                </a:r>
                <a:r>
                  <a:rPr lang="zh-CN" altLang="en-US" sz="3200"/>
                  <a:t>波的能量（想</a:t>
                </a:r>
                <a:r>
                  <a:rPr lang="zh-CN" altLang="en-US" sz="3200"/>
                  <a:t>绳子）</a:t>
                </a:r>
                <a:endParaRPr lang="zh-CN" altLang="en-US" sz="3200"/>
              </a:p>
              <a:p>
                <a:r>
                  <a:rPr lang="zh-CN" altLang="en-US" sz="3200"/>
                  <a:t>一样，但注意与之前的</a:t>
                </a:r>
                <a:r>
                  <a:rPr lang="zh-CN" altLang="en-US" sz="3200"/>
                  <a:t>区分</a:t>
                </a:r>
                <a:endParaRPr lang="zh-CN" altLang="en-US" sz="3200"/>
              </a:p>
              <a:p>
                <a:r>
                  <a:rPr lang="en-US" altLang="zh-CN" sz="3200"/>
                  <a:t>1.</a:t>
                </a:r>
                <a:r>
                  <a:rPr lang="zh-CN" altLang="en-US" sz="3200">
                    <a:solidFill>
                      <a:srgbClr val="FF0000"/>
                    </a:solidFill>
                  </a:rPr>
                  <a:t>线元势能</a:t>
                </a:r>
                <a:r>
                  <a:rPr lang="en-US" altLang="zh-CN" sz="3200">
                    <a:solidFill>
                      <a:srgbClr val="FF0000"/>
                    </a:solidFill>
                  </a:rPr>
                  <a:t>=</a:t>
                </a:r>
                <a:r>
                  <a:rPr lang="zh-CN" altLang="en-US" sz="3200">
                    <a:solidFill>
                      <a:srgbClr val="FF0000"/>
                    </a:solidFill>
                  </a:rPr>
                  <a:t>线元动能</a:t>
                </a:r>
                <a:r>
                  <a:rPr lang="en-US" altLang="zh-CN" sz="320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𝛥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𝑚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𝜔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𝑠𝑖𝑛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[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𝜔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𝑢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)+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]</m:t>
                    </m:r>
                  </m:oMath>
                </a14:m>
                <a:endParaRPr lang="en-US" altLang="zh-CN" sz="32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 sz="3200"/>
                  <a:t>2.</a:t>
                </a:r>
                <a:r>
                  <a:rPr lang="zh-CN" altLang="en-US" sz="3200">
                    <a:solidFill>
                      <a:srgbClr val="FF0000"/>
                    </a:solidFill>
                  </a:rPr>
                  <a:t>平衡点，形变最大，动能和势能都最大</a:t>
                </a:r>
                <a:endParaRPr lang="zh-CN" altLang="en-US" sz="3200">
                  <a:solidFill>
                    <a:srgbClr val="FF0000"/>
                  </a:solidFill>
                </a:endParaRPr>
              </a:p>
              <a:p>
                <a:r>
                  <a:rPr lang="en-US" altLang="zh-CN" sz="3200"/>
                  <a:t>3.</a:t>
                </a:r>
                <a:r>
                  <a:rPr lang="zh-CN" altLang="en-US" sz="3200"/>
                  <a:t>对于一个线元，它的能量并不守恒，从相邻的质元获取</a:t>
                </a:r>
                <a:r>
                  <a:rPr lang="zh-CN" altLang="en-US" sz="3200"/>
                  <a:t>能量</a:t>
                </a:r>
                <a:endParaRPr lang="zh-CN" altLang="en-US" sz="320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370" y="1021080"/>
                <a:ext cx="9606280" cy="325437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621790" y="1088390"/>
                <a:ext cx="8970010" cy="2811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800">
                    <a:solidFill>
                      <a:srgbClr val="FF0000"/>
                    </a:solidFill>
                  </a:rPr>
                  <a:t>题型</a:t>
                </a:r>
                <a:r>
                  <a:rPr lang="en-US" altLang="zh-CN" sz="2800">
                    <a:solidFill>
                      <a:srgbClr val="FF0000"/>
                    </a:solidFill>
                  </a:rPr>
                  <a:t>3.</a:t>
                </a:r>
                <a:r>
                  <a:rPr lang="zh-CN" altLang="en-US" sz="2800"/>
                  <a:t>平面波的干涉（高中记忆开始攻击我）</a:t>
                </a:r>
                <a:endParaRPr lang="zh-CN" altLang="en-US" sz="2800"/>
              </a:p>
              <a:p>
                <a:r>
                  <a:rPr lang="en-US" altLang="zh-CN"/>
                  <a:t>1.</a:t>
                </a:r>
                <a:r>
                  <a:rPr lang="zh-CN" altLang="en-US"/>
                  <a:t>一般会让你先求两列波的方程，用上之前的</a:t>
                </a:r>
                <a:r>
                  <a:rPr lang="zh-CN" altLang="en-US"/>
                  <a:t>知识</a:t>
                </a:r>
                <a:endParaRPr lang="zh-CN" altLang="en-US"/>
              </a:p>
              <a:p>
                <a:r>
                  <a:rPr lang="en-US" altLang="zh-CN"/>
                  <a:t>2.</a:t>
                </a:r>
                <a:r>
                  <a:rPr lang="zh-CN" altLang="en-US"/>
                  <a:t>计算波程</a:t>
                </a:r>
                <a:r>
                  <a:rPr lang="zh-CN" altLang="en-US"/>
                  <a:t>差</a:t>
                </a:r>
                <a:endParaRPr lang="zh-CN" altLang="en-US"/>
              </a:p>
              <a:p>
                <a:r>
                  <a:rPr lang="en-US" altLang="zh-CN"/>
                  <a:t>3.</a:t>
                </a:r>
                <a:r>
                  <a:rPr lang="zh-CN" altLang="en-US"/>
                  <a:t>看看两列波是不是相位</a:t>
                </a:r>
                <a:r>
                  <a:rPr lang="zh-CN" altLang="en-US"/>
                  <a:t>相等</a:t>
                </a:r>
                <a:endParaRPr lang="zh-CN" altLang="en-US"/>
              </a:p>
              <a:p>
                <a:r>
                  <a:rPr lang="en-US" altLang="zh-CN"/>
                  <a:t>4.</a:t>
                </a:r>
                <a:r>
                  <a:rPr lang="zh-CN" altLang="en-US"/>
                  <a:t>相等则轻松很多，</a:t>
                </a:r>
                <a:r>
                  <a:rPr lang="zh-CN" altLang="en-US"/>
                  <a:t>距离差</a:t>
                </a:r>
                <a:r>
                  <a:rPr lang="en-US" altLang="zh-CN"/>
                  <a:t>=k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𝜆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则强，差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=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（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𝜆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则弱</a:t>
                </a:r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5.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不相等则麻烦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很多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6.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强：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𝜋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𝜆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𝜋</m:t>
                    </m:r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7.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弱：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𝜋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𝜆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𝜋</m:t>
                    </m:r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790" y="1088390"/>
                <a:ext cx="8970010" cy="281178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9275" y="4070985"/>
            <a:ext cx="9781540" cy="2239010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253490" y="1014095"/>
                <a:ext cx="9533255" cy="4559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800">
                    <a:solidFill>
                      <a:srgbClr val="FF0000"/>
                    </a:solidFill>
                  </a:rPr>
                  <a:t>题型</a:t>
                </a:r>
                <a:r>
                  <a:rPr lang="en-US" altLang="zh-CN" sz="2800">
                    <a:solidFill>
                      <a:srgbClr val="FF0000"/>
                    </a:solidFill>
                  </a:rPr>
                  <a:t>4.</a:t>
                </a:r>
                <a:r>
                  <a:rPr lang="zh-CN" altLang="en-US" sz="2800"/>
                  <a:t>驻波函数、驻波相的关系、驻波能量、驻波波节</a:t>
                </a:r>
                <a:endParaRPr lang="zh-CN" altLang="en-US" sz="280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𝑦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𝐴𝑐𝑜𝑠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𝜋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𝜆</m:t>
                          </m:r>
                        </m:den>
                      </m:f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𝑐𝑜𝑠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𝜋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𝑣𝑡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sz="28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1.</a:t>
                </a:r>
                <a:r>
                  <a:rPr lang="zh-CN" altLang="en-US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求反射波函数（方向变换</a:t>
                </a:r>
                <a:r>
                  <a:rPr lang="en-US" altLang="zh-CN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+</a:t>
                </a:r>
                <a:r>
                  <a:rPr lang="zh-CN" altLang="en-US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半波损失</a:t>
                </a:r>
                <a:r>
                  <a:rPr lang="en-US" altLang="zh-CN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+</a:t>
                </a:r>
                <a:r>
                  <a:rPr lang="zh-CN" altLang="en-US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坐标</a:t>
                </a:r>
                <a:r>
                  <a:rPr lang="zh-CN" altLang="en-US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变换）</a:t>
                </a:r>
                <a:endParaRPr lang="zh-CN" altLang="en-US" sz="2800">
                  <a:latin typeface="微软雅黑" panose="020B0503020204020204" charset="-122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r>
                  <a:rPr lang="en-US" altLang="zh-CN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2.</a:t>
                </a:r>
                <a:r>
                  <a:rPr lang="zh-CN" altLang="en-US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用和差化积求出驻波</a:t>
                </a:r>
                <a:r>
                  <a:rPr lang="zh-CN" altLang="en-US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表达式</a:t>
                </a:r>
                <a:endParaRPr lang="zh-CN" altLang="en-US" sz="2800">
                  <a:latin typeface="微软雅黑" panose="020B0503020204020204" charset="-122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r>
                  <a:rPr lang="en-US" altLang="zh-CN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3.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𝜋</m:t>
                    </m:r>
                    <m:f>
                      <m:f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𝜆</m:t>
                        </m:r>
                      </m:den>
                    </m:f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=</a:t>
                </a:r>
                <a:r>
                  <a:rPr lang="zh-CN" altLang="en-US" sz="280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（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𝑘</m:t>
                    </m:r>
                  </m:oMath>
                </a14:m>
                <a:r>
                  <a:rPr lang="zh-CN" altLang="en-US" sz="280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𝜋</m:t>
                    </m:r>
                  </m:oMath>
                </a14:m>
                <a:r>
                  <a:rPr lang="en-US" altLang="zh-CN" sz="280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 </a:t>
                </a:r>
                <a:r>
                  <a:rPr lang="en-US" altLang="zh-CN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---</a:t>
                </a:r>
                <a:r>
                  <a:rPr lang="zh-CN" altLang="en-US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求出波</a:t>
                </a:r>
                <a:r>
                  <a:rPr lang="zh-CN" altLang="en-US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节</a:t>
                </a:r>
                <a:endParaRPr lang="zh-CN" altLang="en-US" sz="2800">
                  <a:latin typeface="微软雅黑" panose="020B0503020204020204" charset="-122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r>
                  <a:rPr lang="en-US" altLang="zh-CN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1.</a:t>
                </a:r>
                <a:r>
                  <a:rPr lang="zh-CN" altLang="en-US" sz="280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相邻两节点之间各点振动的相一致，一个节点两侧相反</a:t>
                </a:r>
                <a:endParaRPr lang="zh-CN" altLang="en-US" sz="280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𝛥𝜑</m:t>
                      </m:r>
                      <m:r>
                        <a:rPr lang="en-US" altLang="zh-CN" sz="2800" i="1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800" i="1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𝜋</m:t>
                      </m:r>
                    </m:oMath>
                  </m:oMathPara>
                </a14:m>
                <a:endParaRPr lang="en-US" altLang="zh-CN" sz="2800" i="1">
                  <a:solidFill>
                    <a:srgbClr val="FF0000"/>
                  </a:solidFill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r>
                  <a:rPr lang="en-US" altLang="zh-CN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2.</a:t>
                </a:r>
                <a:r>
                  <a:rPr lang="zh-CN" altLang="en-US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驻波的能量禁锢在两波节</a:t>
                </a:r>
                <a:r>
                  <a:rPr lang="zh-CN" altLang="en-US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之间</a:t>
                </a:r>
                <a:endParaRPr lang="zh-CN" altLang="en-US" sz="2800">
                  <a:latin typeface="微软雅黑" panose="020B0503020204020204" charset="-122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r>
                  <a:rPr lang="zh-CN" altLang="en-US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各点都在平衡位移处，无势能，波节动能为</a:t>
                </a:r>
                <a:r>
                  <a:rPr lang="en-US" altLang="zh-CN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0</a:t>
                </a:r>
                <a:r>
                  <a:rPr lang="zh-CN" altLang="en-US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，波腹</a:t>
                </a:r>
                <a:r>
                  <a:rPr lang="zh-CN" altLang="en-US" sz="28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最大</a:t>
                </a:r>
                <a:endParaRPr lang="zh-CN" altLang="en-US" sz="2800">
                  <a:latin typeface="微软雅黑" panose="020B0503020204020204" charset="-122"/>
                  <a:ea typeface="微软雅黑" panose="020B0503020204020204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490" y="1014095"/>
                <a:ext cx="9533255" cy="455930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435" y="1398905"/>
            <a:ext cx="10296525" cy="1171575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627370" y="339725"/>
            <a:ext cx="67868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0">
                <a:solidFill>
                  <a:srgbClr val="00B0F0"/>
                </a:solidFill>
              </a:rPr>
              <a:t>光的干涉</a:t>
            </a:r>
            <a:endParaRPr lang="zh-CN" altLang="en-US" sz="6000">
              <a:solidFill>
                <a:srgbClr val="00B0F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417955" y="1156335"/>
                <a:ext cx="8976995" cy="2751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>
                    <a:solidFill>
                      <a:srgbClr val="FF0000"/>
                    </a:solidFill>
                  </a:rPr>
                  <a:t>题型</a:t>
                </a:r>
                <a:r>
                  <a:rPr lang="en-US" altLang="zh-CN" sz="2400">
                    <a:solidFill>
                      <a:srgbClr val="FF0000"/>
                    </a:solidFill>
                  </a:rPr>
                  <a:t>1.</a:t>
                </a:r>
                <a:r>
                  <a:rPr lang="zh-CN" altLang="en-US" sz="2400"/>
                  <a:t>杨氏双缝干涉</a:t>
                </a:r>
                <a:endParaRPr lang="zh-CN" altLang="en-US"/>
              </a:p>
              <a:p>
                <a:r>
                  <a:rPr lang="zh-CN" altLang="en-US"/>
                  <a:t>分两种，一种高中学的普通情况，一种加了小道具的特殊</a:t>
                </a:r>
                <a:r>
                  <a:rPr lang="zh-CN" altLang="en-US"/>
                  <a:t>情况</a:t>
                </a:r>
                <a:endParaRPr lang="zh-CN" altLang="en-US"/>
              </a:p>
              <a:p>
                <a:r>
                  <a:rPr lang="en-US" altLang="zh-CN"/>
                  <a:t>1.</a:t>
                </a:r>
                <a:r>
                  <a:rPr lang="zh-CN" altLang="en-US"/>
                  <a:t>亮条纹：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𝜆</m:t>
                    </m:r>
                    <m:f>
                      <m:f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altLang="zh-CN"/>
                  <a:t> ,L</a:t>
                </a:r>
                <a:r>
                  <a:rPr lang="zh-CN" altLang="en-US"/>
                  <a:t>是双缝到光屏的距离，</a:t>
                </a:r>
                <a:r>
                  <a:rPr lang="en-US" altLang="zh-CN"/>
                  <a:t>d</a:t>
                </a:r>
                <a:r>
                  <a:rPr lang="zh-CN" altLang="en-US"/>
                  <a:t>是双缝的</a:t>
                </a:r>
                <a:r>
                  <a:rPr lang="zh-CN" altLang="en-US"/>
                  <a:t>间距</a:t>
                </a:r>
                <a:endParaRPr lang="zh-CN" altLang="en-US"/>
              </a:p>
              <a:p>
                <a:r>
                  <a:rPr lang="zh-CN" altLang="en-US"/>
                  <a:t>速记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𝜆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𝐿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𝑥𝑑</m:t>
                    </m:r>
                  </m:oMath>
                </a14:m>
                <a:r>
                  <a:rPr lang="en-US" altLang="zh-CN"/>
                  <a:t>,</a:t>
                </a:r>
                <a:r>
                  <a:rPr lang="zh-CN" altLang="en-US"/>
                  <a:t>（入了，</a:t>
                </a:r>
                <a:r>
                  <a:rPr lang="zh-CN" altLang="en-US"/>
                  <a:t>兄弟）</a:t>
                </a:r>
                <a:endParaRPr lang="zh-CN" altLang="en-US"/>
              </a:p>
              <a:p>
                <a:r>
                  <a:rPr lang="en-US" altLang="zh-CN"/>
                  <a:t>2.</a:t>
                </a:r>
                <a:r>
                  <a:rPr lang="zh-CN" altLang="en-US"/>
                  <a:t>将一块神秘玻璃放到一条缝后，这时候就要用到</a:t>
                </a:r>
                <a:r>
                  <a:rPr lang="zh-CN" altLang="en-US"/>
                  <a:t>光程</a:t>
                </a:r>
                <a:endParaRPr lang="zh-CN" altLang="en-US"/>
              </a:p>
              <a:p>
                <a:r>
                  <a:rPr lang="zh-CN" altLang="en-US"/>
                  <a:t>当光程差等于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𝜆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,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干涉相长，等于（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𝜆</m:t>
                    </m:r>
                  </m:oMath>
                </a14:m>
                <a:r>
                  <a:rPr lang="en-US" altLang="zh-CN"/>
                  <a:t>,</a:t>
                </a:r>
                <a:r>
                  <a:rPr lang="zh-CN" altLang="en-US"/>
                  <a:t>相消</a:t>
                </a:r>
                <a:endParaRPr lang="zh-CN" altLang="en-US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δ</m:t>
                    </m:r>
                    <m:r>
                      <a:rPr lang="en-US" altLang="zh-CN">
                        <a:latin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𝑛𝑒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𝐿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𝑛𝑒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𝜆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将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x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解出即可</a:t>
                </a:r>
                <a:endParaRPr lang="zh-CN" altLang="en-US"/>
              </a:p>
              <a:p>
                <a:endParaRPr lang="zh-CN" altLang="en-US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955" y="1156335"/>
                <a:ext cx="8976995" cy="275145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9275" y="3902075"/>
            <a:ext cx="10925175" cy="2695575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410460" y="893445"/>
                <a:ext cx="8056245" cy="1750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800">
                    <a:solidFill>
                      <a:srgbClr val="FF0000"/>
                    </a:solidFill>
                  </a:rPr>
                  <a:t>题型</a:t>
                </a:r>
                <a:r>
                  <a:rPr lang="en-US" altLang="zh-CN" sz="2800">
                    <a:solidFill>
                      <a:srgbClr val="FF0000"/>
                    </a:solidFill>
                  </a:rPr>
                  <a:t>2.</a:t>
                </a:r>
                <a:r>
                  <a:rPr lang="zh-CN" altLang="en-US" sz="2800"/>
                  <a:t>薄膜干涉、空气劈尖</a:t>
                </a:r>
                <a:endParaRPr lang="zh-CN" altLang="en-US" sz="2800"/>
              </a:p>
              <a:p>
                <a:r>
                  <a:rPr lang="zh-CN" altLang="en-US"/>
                  <a:t>比较简单，搞懂原理列方程非常</a:t>
                </a:r>
                <a:r>
                  <a:rPr lang="zh-CN" altLang="en-US"/>
                  <a:t>轻松</a:t>
                </a:r>
                <a:endParaRPr lang="zh-CN" altLang="en-US"/>
              </a:p>
              <a:p>
                <a:r>
                  <a:rPr lang="en-US" altLang="zh-CN"/>
                  <a:t>1.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𝜆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𝜆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为亮条纹（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k=0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是第一条亮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条纹）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2.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会考选择题，当上面玻璃向上平移，条纹如何变化？改变倾角又如何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变化？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利用好上面的公式，别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死记硬背！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460" y="893445"/>
                <a:ext cx="8056245" cy="175006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2515" y="2748280"/>
            <a:ext cx="9365615" cy="3199765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915795" y="732790"/>
            <a:ext cx="87483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</a:rPr>
              <a:t>题型</a:t>
            </a:r>
            <a:r>
              <a:rPr lang="en-US" altLang="zh-CN" sz="2400">
                <a:solidFill>
                  <a:srgbClr val="FF0000"/>
                </a:solidFill>
              </a:rPr>
              <a:t>3.</a:t>
            </a:r>
            <a:r>
              <a:rPr lang="zh-CN" altLang="en-US" sz="2400"/>
              <a:t>牛顿环、等厚</a:t>
            </a:r>
            <a:r>
              <a:rPr lang="zh-CN" altLang="en-US" sz="2400"/>
              <a:t>干涉</a:t>
            </a:r>
            <a:endParaRPr lang="zh-CN" altLang="en-US" sz="2400"/>
          </a:p>
          <a:p>
            <a:r>
              <a:rPr lang="zh-CN" altLang="en-US"/>
              <a:t>本质跟上面那个其实差不多，要学会</a:t>
            </a:r>
            <a:r>
              <a:rPr lang="zh-CN" altLang="en-US"/>
              <a:t>理解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78965" y="1470025"/>
            <a:ext cx="6176645" cy="28924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915795" y="4436110"/>
                <a:ext cx="6967855" cy="927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亮环半径：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𝑟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f>
                          <m:f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𝑅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/>
                  <a:t>(n</a:t>
                </a:r>
                <a:r>
                  <a:rPr lang="zh-CN" altLang="en-US"/>
                  <a:t>在空气取</a:t>
                </a:r>
                <a:r>
                  <a:rPr lang="en-US" altLang="zh-CN"/>
                  <a:t>1)</a:t>
                </a:r>
                <a:r>
                  <a:rPr lang="zh-CN" altLang="en-US"/>
                  <a:t>别去记，</a:t>
                </a:r>
                <a:r>
                  <a:rPr lang="zh-CN" altLang="en-US"/>
                  <a:t>记不住的</a:t>
                </a:r>
                <a:endParaRPr lang="zh-CN" altLang="en-US"/>
              </a:p>
              <a:p>
                <a:r>
                  <a:rPr lang="zh-CN" altLang="en-US"/>
                  <a:t>中心处为暗纹，条纹内疏外</a:t>
                </a:r>
                <a:r>
                  <a:rPr lang="zh-CN" altLang="en-US"/>
                  <a:t>密</a:t>
                </a:r>
                <a:endParaRPr lang="zh-CN" altLang="en-US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795" y="4436110"/>
                <a:ext cx="6967855" cy="927100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214495" y="510540"/>
            <a:ext cx="67951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0">
                <a:solidFill>
                  <a:srgbClr val="00B0F0"/>
                </a:solidFill>
              </a:rPr>
              <a:t>光的衍射</a:t>
            </a:r>
            <a:endParaRPr lang="zh-CN" altLang="en-US" sz="6000">
              <a:solidFill>
                <a:srgbClr val="00B0F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693545" y="1474470"/>
                <a:ext cx="9044940" cy="1842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>
                    <a:solidFill>
                      <a:srgbClr val="FF0000"/>
                    </a:solidFill>
                  </a:rPr>
                  <a:t>题型</a:t>
                </a:r>
                <a:r>
                  <a:rPr lang="en-US" altLang="zh-CN">
                    <a:solidFill>
                      <a:srgbClr val="FF0000"/>
                    </a:solidFill>
                  </a:rPr>
                  <a:t>1.</a:t>
                </a:r>
                <a:r>
                  <a:rPr lang="zh-CN" altLang="en-US"/>
                  <a:t>判断衍射明暗条纹、条纹宽度（</a:t>
                </a:r>
                <a:r>
                  <a:rPr lang="en-US" altLang="zh-CN"/>
                  <a:t>f</a:t>
                </a:r>
                <a:r>
                  <a:rPr lang="zh-CN" altLang="en-US"/>
                  <a:t>为焦距，</a:t>
                </a:r>
                <a:r>
                  <a:rPr lang="en-US" altLang="zh-CN"/>
                  <a:t>a</a:t>
                </a:r>
                <a:r>
                  <a:rPr lang="zh-CN" altLang="en-US"/>
                  <a:t>为单缝</a:t>
                </a:r>
                <a:r>
                  <a:rPr lang="zh-CN" altLang="en-US"/>
                  <a:t>距离）</a:t>
                </a:r>
                <a:endParaRPr lang="zh-CN" altLang="en-US"/>
              </a:p>
              <a:p>
                <a:r>
                  <a:rPr lang="en-US" altLang="zh-CN"/>
                  <a:t>1.</a:t>
                </a:r>
                <a:r>
                  <a:rPr lang="zh-CN" altLang="en-US"/>
                  <a:t>暗条纹：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𝑎𝑠𝑖𝑛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𝜆</m:t>
                    </m:r>
                  </m:oMath>
                </a14:m>
                <a:endParaRPr lang="en-US" altLang="zh-CN" i="1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2.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暗条纹位置：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𝑓𝑠𝑖𝑛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𝑓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𝑎</m:t>
                        </m:r>
                      </m:den>
                    </m:f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𝜆</m:t>
                    </m:r>
                  </m:oMath>
                </a14:m>
                <a:endParaRPr lang="en-US" altLang="zh-CN" i="1">
                  <a:solidFill>
                    <a:srgbClr val="FF0000"/>
                  </a:solidFill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3.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每个暗条纹的间距（可利用来求明条纹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间距）：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𝑓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𝑎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𝜆</m:t>
                    </m:r>
                  </m:oMath>
                </a14:m>
                <a:endParaRPr lang="en-US" altLang="zh-CN" i="1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4.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中央亮条纹宽度：</a:t>
                </a: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2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𝑓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𝑎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𝜆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，是其他人的</a:t>
                </a:r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两倍</a:t>
                </a:r>
                <a:endParaRPr lang="zh-CN" altLang="en-US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545" y="1474470"/>
                <a:ext cx="9044940" cy="184277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3435" y="3321050"/>
            <a:ext cx="7342505" cy="3429000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646555" y="1198245"/>
                <a:ext cx="9694545" cy="2275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3200">
                    <a:solidFill>
                      <a:srgbClr val="FF0000"/>
                    </a:solidFill>
                  </a:rPr>
                  <a:t>题型</a:t>
                </a:r>
                <a:r>
                  <a:rPr lang="en-US" altLang="zh-CN" sz="3200">
                    <a:solidFill>
                      <a:srgbClr val="FF0000"/>
                    </a:solidFill>
                  </a:rPr>
                  <a:t>2.</a:t>
                </a:r>
                <a:r>
                  <a:rPr lang="zh-CN" altLang="en-US" sz="3200"/>
                  <a:t>圆孔衍射（单缝变圆孔）</a:t>
                </a:r>
                <a:endParaRPr lang="zh-CN" altLang="en-US" sz="3200"/>
              </a:p>
              <a:p>
                <a:r>
                  <a:rPr lang="zh-CN" altLang="en-US" sz="3200"/>
                  <a:t>记一个东西就行</a:t>
                </a:r>
                <a:endParaRPr lang="zh-CN" altLang="en-US" sz="3200"/>
              </a:p>
              <a:p>
                <a:r>
                  <a:rPr lang="zh-CN" altLang="en-US" sz="3200"/>
                  <a:t>中央是超大亮斑，叫爱里斑</a:t>
                </a:r>
                <a:endParaRPr lang="zh-CN" altLang="en-US" sz="320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𝜃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≈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𝑠𝑖𝑛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𝜃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sz="3200" i="1">
                        <a:latin typeface="Cambria Math" panose="02040503050406030204" charset="0"/>
                        <a:cs typeface="Cambria Math" panose="02040503050406030204" charset="0"/>
                      </a:rPr>
                      <m:t>22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𝜆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lang="en-US" altLang="zh-CN" sz="3200"/>
                  <a:t>(D</a:t>
                </a:r>
                <a:r>
                  <a:rPr lang="zh-CN" altLang="en-US" sz="3200"/>
                  <a:t>为圆孔直径</a:t>
                </a:r>
                <a:r>
                  <a:rPr lang="en-US" altLang="zh-CN" sz="3200"/>
                  <a:t>)</a:t>
                </a:r>
                <a:endParaRPr lang="en-US" altLang="zh-CN" sz="320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555" y="1198245"/>
                <a:ext cx="9694545" cy="227520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33525" y="3473450"/>
            <a:ext cx="6987540" cy="2745740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397000" y="640080"/>
                <a:ext cx="9007475" cy="2144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3600">
                    <a:solidFill>
                      <a:srgbClr val="FF0000"/>
                    </a:solidFill>
                  </a:rPr>
                  <a:t>题型</a:t>
                </a:r>
                <a:r>
                  <a:rPr lang="en-US" altLang="zh-CN" sz="3600">
                    <a:solidFill>
                      <a:srgbClr val="FF0000"/>
                    </a:solidFill>
                  </a:rPr>
                  <a:t>3.</a:t>
                </a:r>
                <a:r>
                  <a:rPr lang="zh-CN" altLang="en-US" sz="3600"/>
                  <a:t>光栅衍射综合题</a:t>
                </a:r>
                <a:endParaRPr lang="zh-CN" altLang="en-US" sz="3600"/>
              </a:p>
              <a:p>
                <a:r>
                  <a:rPr lang="zh-CN" altLang="en-US" sz="2000"/>
                  <a:t>光栅的题比较特殊，既有衍射也有干涉</a:t>
                </a:r>
                <a:endParaRPr lang="zh-CN" altLang="en-US" sz="2000"/>
              </a:p>
              <a:p>
                <a:r>
                  <a:rPr lang="zh-CN" altLang="en-US" sz="2000"/>
                  <a:t>亮条纹：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𝑑𝑠𝑖𝑛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𝜆</m:t>
                    </m:r>
                  </m:oMath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zh-CN" altLang="en-US" sz="2000"/>
                  <a:t>暗条纹</a:t>
                </a:r>
                <a:r>
                  <a:rPr lang="en-US" altLang="zh-CN" sz="2000"/>
                  <a:t>: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𝑑𝑠𝑖𝑛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=(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</m:den>
                    </m:f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𝜆</m:t>
                    </m:r>
                  </m:oMath>
                </a14:m>
                <a:r>
                  <a:rPr lang="en-US" altLang="zh-CN" sz="2000" i="1">
                    <a:latin typeface="Cambria Math" panose="02040503050406030204" charset="0"/>
                    <a:cs typeface="Cambria Math" panose="02040503050406030204" charset="0"/>
                  </a:rPr>
                  <a:t>,N</a:t>
                </a:r>
                <a:r>
                  <a:rPr lang="zh-CN" altLang="en-US" sz="2000" i="1">
                    <a:latin typeface="Cambria Math" panose="02040503050406030204" charset="0"/>
                    <a:cs typeface="Cambria Math" panose="02040503050406030204" charset="0"/>
                  </a:rPr>
                  <a:t>为光栅总数，</a:t>
                </a:r>
                <a:r>
                  <a:rPr lang="en-US" altLang="zh-CN" sz="2000" i="1">
                    <a:latin typeface="Cambria Math" panose="02040503050406030204" charset="0"/>
                    <a:cs typeface="Cambria Math" panose="02040503050406030204" charset="0"/>
                  </a:rPr>
                  <a:t>n=1</a:t>
                </a:r>
                <a:r>
                  <a:rPr lang="zh-CN" altLang="en-US" sz="2000" i="1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:r>
                  <a:rPr lang="en-US" altLang="zh-CN" sz="2000" i="1">
                    <a:latin typeface="Cambria Math" panose="02040503050406030204" charset="0"/>
                    <a:cs typeface="Cambria Math" panose="02040503050406030204" charset="0"/>
                  </a:rPr>
                  <a:t>2</a:t>
                </a:r>
                <a:r>
                  <a:rPr lang="zh-CN" altLang="en-US" sz="2000" i="1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:r>
                  <a:rPr lang="en-US" altLang="zh-CN" sz="2000" i="1">
                    <a:latin typeface="Cambria Math" panose="02040503050406030204" charset="0"/>
                    <a:cs typeface="Cambria Math" panose="02040503050406030204" charset="0"/>
                  </a:rPr>
                  <a:t>3……N-1</a:t>
                </a:r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zh-CN" altLang="en-US" sz="2000"/>
                  <a:t>缺级：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𝑏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den>
                    </m:f>
                    <m:sSup>
                      <m:sSupPr>
                        <m:ctrlP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’</m:t>
                        </m:r>
                      </m:sup>
                    </m:sSup>
                  </m:oMath>
                </a14:m>
                <a:endParaRPr lang="zh-CN" altLang="en-US" sz="200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640080"/>
                <a:ext cx="9007475" cy="214439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16660" y="2858770"/>
            <a:ext cx="7930515" cy="3411855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FFB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670050" y="2045970"/>
            <a:ext cx="90932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000"/>
              <a:t>             </a:t>
            </a:r>
            <a:r>
              <a:rPr lang="zh-CN" altLang="en-US" sz="6000">
                <a:latin typeface="华文行楷" panose="02010800040101010101" charset="-122"/>
                <a:ea typeface="华文行楷" panose="02010800040101010101" charset="-122"/>
              </a:rPr>
              <a:t>感谢聆听</a:t>
            </a:r>
            <a:endParaRPr lang="zh-CN" altLang="en-US" sz="6000">
              <a:latin typeface="华文行楷" panose="02010800040101010101" charset="-122"/>
              <a:ea typeface="华文行楷" panose="02010800040101010101" charset="-122"/>
            </a:endParaRPr>
          </a:p>
          <a:p>
            <a:r>
              <a:rPr lang="zh-CN" altLang="en-US" sz="6000">
                <a:solidFill>
                  <a:srgbClr val="FF0000"/>
                </a:solidFill>
                <a:latin typeface="华文行楷" panose="02010800040101010101" charset="-122"/>
                <a:ea typeface="华文行楷" panose="02010800040101010101" charset="-122"/>
              </a:rPr>
              <a:t>祝大家期中考取得好成绩</a:t>
            </a:r>
            <a:endParaRPr lang="zh-CN" altLang="en-US" sz="6000">
              <a:solidFill>
                <a:srgbClr val="FF0000"/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1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UNIT_COLOR_SCHEME_SHAPE_ID" val="2"/>
  <p:tag name="KSO_WM_UNIT_COLOR_SCHEME_PARENT_PAGE" val="2_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UNIT_COLOR_SCHEME_SHAPE_ID" val="3"/>
  <p:tag name="KSO_WM_UNIT_COLOR_SCHEME_PARENT_PAGE" val="2_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UNIT_COLOR_SCHEME_SHAPE_ID" val="16"/>
  <p:tag name="KSO_WM_UNIT_COLOR_SCHEME_PARENT_PAGE" val="2_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UNIT_COLOR_SCHEME_SHAPE_ID" val="17"/>
  <p:tag name="KSO_WM_UNIT_COLOR_SCHEME_PARENT_PAGE" val="2_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UNIT_COLOR_SCHEME_SHAPE_ID" val="18"/>
  <p:tag name="KSO_WM_UNIT_COLOR_SCHEME_PARENT_PAGE" val="2_1"/>
</p:tagLst>
</file>

<file path=ppt/tags/tag6.xml><?xml version="1.0" encoding="utf-8"?>
<p:tagLst xmlns:p="http://schemas.openxmlformats.org/presentationml/2006/main">
  <p:tag name="KSO_WM_SLIDE_COLORSCHEME_VERSION" val="3.2"/>
  <p:tag name="KSO_WM_UNIT_COLOR_SCHEME_SHAPE_ID" val="4"/>
  <p:tag name="KSO_WM_UNIT_COLOR_SCHEME_PARENT_PAGE" val="2_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KSO_WM_UNIT_COLOR_SCHEME_SHAPE_ID" val="2"/>
  <p:tag name="KSO_WM_UNIT_COLOR_SCHEME_PARENT_PAGE" val="2_2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KSO_WM_UNIT_COLOR_SCHEME_SHAPE_ID" val="3"/>
  <p:tag name="KSO_WM_UNIT_COLOR_SCHEME_PARENT_PAGE" val="2_2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KSO_WM_UNIT_COLOR_SCHEME_SHAPE_ID" val="4"/>
  <p:tag name="KSO_WM_UNIT_COLOR_SCHEME_PARENT_PAGE" val="2_2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KSO_WM_UNIT_COLOR_SCHEME_SHAPE_ID" val="5"/>
  <p:tag name="KSO_WM_UNIT_COLOR_SCHEME_PARENT_PAGE" val="2_2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KSO_WM_UNIT_COLOR_SCHEME_SHAPE_ID" val="6"/>
  <p:tag name="KSO_WM_UNIT_COLOR_SCHEME_PARENT_PAGE" val="2_2"/>
</p:tagLst>
</file>

<file path=ppt/tags/tag12.xml><?xml version="1.0" encoding="utf-8"?>
<p:tagLst xmlns:p="http://schemas.openxmlformats.org/presentationml/2006/main">
  <p:tag name="KSO_WM_SLIDE_COLORSCHEME_VERSION" val="3.2"/>
  <p:tag name="KSO_WM_UNIT_COLOR_SCHEME_SHAPE_ID" val="7"/>
  <p:tag name="KSO_WM_UNIT_COLOR_SCHEME_PARENT_PAGE" val="2_2"/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KSO_WM_UNIT_COLOR_SCHEME_SHAPE_ID" val="2"/>
  <p:tag name="KSO_WM_UNIT_COLOR_SCHEME_PARENT_PAGE" val="2_3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KSO_WM_UNIT_COLOR_SCHEME_SHAPE_ID" val="3"/>
  <p:tag name="KSO_WM_UNIT_COLOR_SCHEME_PARENT_PAGE" val="2_3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KSO_WM_UNIT_COLOR_SCHEME_SHAPE_ID" val="4"/>
  <p:tag name="KSO_WM_UNIT_COLOR_SCHEME_PARENT_PAGE" val="2_3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KSO_WM_UNIT_COLOR_SCHEME_SHAPE_ID" val="5"/>
  <p:tag name="KSO_WM_UNIT_COLOR_SCHEME_PARENT_PAGE" val="2_3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KSO_WM_UNIT_COLOR_SCHEME_SHAPE_ID" val="6"/>
  <p:tag name="KSO_WM_UNIT_COLOR_SCHEME_PARENT_PAGE" val="2_3"/>
</p:tagLst>
</file>

<file path=ppt/tags/tag18.xml><?xml version="1.0" encoding="utf-8"?>
<p:tagLst xmlns:p="http://schemas.openxmlformats.org/presentationml/2006/main">
  <p:tag name="KSO_WM_SLIDE_COLORSCHEME_VERSION" val="3.2"/>
  <p:tag name="KSO_WM_UNIT_COLOR_SCHEME_SHAPE_ID" val="7"/>
  <p:tag name="KSO_WM_UNIT_COLOR_SCHEME_PARENT_PAGE" val="2_3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KSO_WM_UNIT_COLOR_SCHEME_SHAPE_ID" val="2"/>
  <p:tag name="KSO_WM_UNIT_COLOR_SCHEME_PARENT_PAGE" val="2_4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KSO_WM_UNIT_COLOR_SCHEME_SHAPE_ID" val="3"/>
  <p:tag name="KSO_WM_UNIT_COLOR_SCHEME_PARENT_PAGE" val="2_4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KSO_WM_UNIT_COLOR_SCHEME_SHAPE_ID" val="4"/>
  <p:tag name="KSO_WM_UNIT_COLOR_SCHEME_PARENT_PAGE" val="2_4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KSO_WM_UNIT_COLOR_SCHEME_SHAPE_ID" val="5"/>
  <p:tag name="KSO_WM_UNIT_COLOR_SCHEME_PARENT_PAGE" val="2_4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KSO_WM_UNIT_COLOR_SCHEME_SHAPE_ID" val="6"/>
  <p:tag name="KSO_WM_UNIT_COLOR_SCHEME_PARENT_PAGE" val="2_4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KSO_WM_UNIT_COLOR_SCHEME_SHAPE_ID" val="7"/>
  <p:tag name="KSO_WM_UNIT_COLOR_SCHEME_PARENT_PAGE" val="2_4"/>
</p:tagLst>
</file>

<file path=ppt/tags/tag25.xml><?xml version="1.0" encoding="utf-8"?>
<p:tagLst xmlns:p="http://schemas.openxmlformats.org/presentationml/2006/main">
  <p:tag name="KSO_WM_SLIDE_COLORSCHEME_VERSION" val="3.2"/>
  <p:tag name="KSO_WM_UNIT_COLOR_SCHEME_SHAPE_ID" val="8"/>
  <p:tag name="KSO_WM_UNIT_COLOR_SCHEME_PARENT_PAGE" val="2_4"/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KSO_WM_UNIT_COLOR_SCHEME_SHAPE_ID" val="2"/>
  <p:tag name="KSO_WM_UNIT_COLOR_SCHEME_PARENT_PAGE" val="2_5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KSO_WM_UNIT_COLOR_SCHEME_SHAPE_ID" val="3"/>
  <p:tag name="KSO_WM_UNIT_COLOR_SCHEME_PARENT_PAGE" val="2_5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KSO_WM_UNIT_COLOR_SCHEME_SHAPE_ID" val="4"/>
  <p:tag name="KSO_WM_UNIT_COLOR_SCHEME_PARENT_PAGE" val="2_5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KSO_WM_UNIT_COLOR_SCHEME_SHAPE_ID" val="5"/>
  <p:tag name="KSO_WM_UNIT_COLOR_SCHEME_PARENT_PAGE" val="2_5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KSO_WM_UNIT_COLOR_SCHEME_SHAPE_ID" val="6"/>
  <p:tag name="KSO_WM_UNIT_COLOR_SCHEME_PARENT_PAGE" val="2_5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KSO_WM_UNIT_COLOR_SCHEME_SHAPE_ID" val="7"/>
  <p:tag name="KSO_WM_UNIT_COLOR_SCHEME_PARENT_PAGE" val="2_5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KSO_WM_UNIT_COLOR_SCHEME_SHAPE_ID" val="8"/>
  <p:tag name="KSO_WM_UNIT_COLOR_SCHEME_PARENT_PAGE" val="2_5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KSO_WM_UNIT_COLOR_SCHEME_SHAPE_ID" val="9"/>
  <p:tag name="KSO_WM_UNIT_COLOR_SCHEME_PARENT_PAGE" val="2_5"/>
</p:tagLst>
</file>

<file path=ppt/tags/tag34.xml><?xml version="1.0" encoding="utf-8"?>
<p:tagLst xmlns:p="http://schemas.openxmlformats.org/presentationml/2006/main">
  <p:tag name="KSO_WM_SLIDE_COLORSCHEME_VERSION" val="3.2"/>
  <p:tag name="KSO_WM_UNIT_COLOR_SCHEME_SHAPE_ID" val="10"/>
  <p:tag name="KSO_WM_UNIT_COLOR_SCHEME_PARENT_PAGE" val="2_5"/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COLOR_SCHEME_SHAPE_ID" val="2"/>
  <p:tag name="KSO_WM_UNIT_COLOR_SCHEME_PARENT_PAGE" val="2_6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COLOR_SCHEME_SHAPE_ID" val="3"/>
  <p:tag name="KSO_WM_UNIT_COLOR_SCHEME_PARENT_PAGE" val="2_6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COLOR_SCHEME_SHAPE_ID" val="4"/>
  <p:tag name="KSO_WM_UNIT_COLOR_SCHEME_PARENT_PAGE" val="2_6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COLOR_SCHEME_SHAPE_ID" val="5"/>
  <p:tag name="KSO_WM_UNIT_COLOR_SCHEME_PARENT_PAGE" val="2_6"/>
</p:tagLst>
</file>

<file path=ppt/tags/tag39.xml><?xml version="1.0" encoding="utf-8"?>
<p:tagLst xmlns:p="http://schemas.openxmlformats.org/presentationml/2006/main">
  <p:tag name="KSO_WM_SLIDE_COLORSCHEME_VERSION" val="3.2"/>
  <p:tag name="KSO_WM_UNIT_COLOR_SCHEME_SHAPE_ID" val="6"/>
  <p:tag name="KSO_WM_UNIT_COLOR_SCHEME_PARENT_PAGE" val="2_6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  <p:tag name="KSO_WM_UNIT_COLOR_SCHEME_SHAPE_ID" val="2"/>
  <p:tag name="KSO_WM_UNIT_COLOR_SCHEME_PARENT_PAGE" val="2_7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  <p:tag name="KSO_WM_UNIT_COLOR_SCHEME_SHAPE_ID" val="3"/>
  <p:tag name="KSO_WM_UNIT_COLOR_SCHEME_PARENT_PAGE" val="2_7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  <p:tag name="KSO_WM_UNIT_COLOR_SCHEME_SHAPE_ID" val="4"/>
  <p:tag name="KSO_WM_UNIT_COLOR_SCHEME_PARENT_PAGE" val="2_7"/>
</p:tagLst>
</file>

<file path=ppt/tags/tag43.xml><?xml version="1.0" encoding="utf-8"?>
<p:tagLst xmlns:p="http://schemas.openxmlformats.org/presentationml/2006/main">
  <p:tag name="KSO_WM_SLIDE_COLORSCHEME_VERSION" val="3.2"/>
  <p:tag name="KSO_WM_UNIT_COLOR_SCHEME_SHAPE_ID" val="5"/>
  <p:tag name="KSO_WM_UNIT_COLOR_SCHEME_PARENT_PAGE" val="2_7"/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  <p:tag name="KSO_WM_UNIT_COLOR_SCHEME_SHAPE_ID" val="2"/>
  <p:tag name="KSO_WM_UNIT_COLOR_SCHEME_PARENT_PAGE" val="2_8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  <p:tag name="KSO_WM_UNIT_COLOR_SCHEME_SHAPE_ID" val="3"/>
  <p:tag name="KSO_WM_UNIT_COLOR_SCHEME_PARENT_PAGE" val="2_8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  <p:tag name="KSO_WM_UNIT_COLOR_SCHEME_SHAPE_ID" val="4"/>
  <p:tag name="KSO_WM_UNIT_COLOR_SCHEME_PARENT_PAGE" val="2_8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  <p:tag name="KSO_WM_UNIT_COLOR_SCHEME_SHAPE_ID" val="5"/>
  <p:tag name="KSO_WM_UNIT_COLOR_SCHEME_PARENT_PAGE" val="2_8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  <p:tag name="KSO_WM_UNIT_COLOR_SCHEME_SHAPE_ID" val="6"/>
  <p:tag name="KSO_WM_UNIT_COLOR_SCHEME_PARENT_PAGE" val="2_8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  <p:tag name="KSO_WM_UNIT_COLOR_SCHEME_SHAPE_ID" val="7"/>
  <p:tag name="KSO_WM_UNIT_COLOR_SCHEME_PARENT_PAGE" val="2_8"/>
</p:tagLst>
</file>

<file path=ppt/tags/tag50.xml><?xml version="1.0" encoding="utf-8"?>
<p:tagLst xmlns:p="http://schemas.openxmlformats.org/presentationml/2006/main">
  <p:tag name="KSO_WM_SLIDE_COLORSCHEME_VERSION" val="3.2"/>
  <p:tag name="KSO_WM_UNIT_COLOR_SCHEME_SHAPE_ID" val="8"/>
  <p:tag name="KSO_WM_UNIT_COLOR_SCHEME_PARENT_PAGE" val="2_8"/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UNIT_COLOR_SCHEME_SHAPE_ID" val="2"/>
  <p:tag name="KSO_WM_UNIT_COLOR_SCHEME_PARENT_PAGE" val="2_9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UNIT_COLOR_SCHEME_SHAPE_ID" val="3"/>
  <p:tag name="KSO_WM_UNIT_COLOR_SCHEME_PARENT_PAGE" val="2_9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UNIT_COLOR_SCHEME_SHAPE_ID" val="4"/>
  <p:tag name="KSO_WM_UNIT_COLOR_SCHEME_PARENT_PAGE" val="2_9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UNIT_COLOR_SCHEME_SHAPE_ID" val="5"/>
  <p:tag name="KSO_WM_UNIT_COLOR_SCHEME_PARENT_PAGE" val="2_9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UNIT_COLOR_SCHEME_SHAPE_ID" val="6"/>
  <p:tag name="KSO_WM_UNIT_COLOR_SCHEME_PARENT_PAGE" val="2_9"/>
</p:tagLst>
</file>

<file path=ppt/tags/tag56.xml><?xml version="1.0" encoding="utf-8"?>
<p:tagLst xmlns:p="http://schemas.openxmlformats.org/presentationml/2006/main">
  <p:tag name="KSO_WM_SLIDE_COLORSCHEME_VERSION" val="3.2"/>
  <p:tag name="KSO_WM_UNIT_COLOR_SCHEME_SHAPE_ID" val="7"/>
  <p:tag name="KSO_WM_UNIT_COLOR_SCHEME_PARENT_PAGE" val="2_9"/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UNIT_COLOR_SCHEME_SHAPE_ID" val="3"/>
  <p:tag name="KSO_WM_UNIT_COLOR_SCHEME_PARENT_PAGE" val="2_10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UNIT_COLOR_SCHEME_SHAPE_ID" val="4"/>
  <p:tag name="KSO_WM_UNIT_COLOR_SCHEME_PARENT_PAGE" val="2_10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UNIT_COLOR_SCHEME_SHAPE_ID" val="5"/>
  <p:tag name="KSO_WM_UNIT_COLOR_SCHEME_PARENT_PAGE" val="2_10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UNIT_COLOR_SCHEME_SHAPE_ID" val="7"/>
  <p:tag name="KSO_WM_UNIT_COLOR_SCHEME_PARENT_PAGE" val="2_10"/>
</p:tagLst>
</file>

<file path=ppt/tags/tag61.xml><?xml version="1.0" encoding="utf-8"?>
<p:tagLst xmlns:p="http://schemas.openxmlformats.org/presentationml/2006/main">
  <p:tag name="KSO_WM_SLIDE_COLORSCHEME_VERSION" val="3.2"/>
  <p:tag name="KSO_WM_UNIT_COLOR_SCHEME_SHAPE_ID" val="2"/>
  <p:tag name="KSO_WM_UNIT_COLOR_SCHEME_PARENT_PAGE" val="2_10"/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COLOR_SCHEME_SHAPE_ID" val="2"/>
  <p:tag name="KSO_WM_UNIT_COLOR_SCHEME_PARENT_PAGE" val="2_1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COLOR_SCHEME_SHAPE_ID" val="3"/>
  <p:tag name="KSO_WM_UNIT_COLOR_SCHEME_PARENT_PAGE" val="2_1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COLOR_SCHEME_SHAPE_ID" val="4"/>
  <p:tag name="KSO_WM_UNIT_COLOR_SCHEME_PARENT_PAGE" val="2_1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COLOR_SCHEME_SHAPE_ID" val="5"/>
  <p:tag name="KSO_WM_UNIT_COLOR_SCHEME_PARENT_PAGE" val="2_11"/>
</p:tagLst>
</file>

<file path=ppt/tags/tag66.xml><?xml version="1.0" encoding="utf-8"?>
<p:tagLst xmlns:p="http://schemas.openxmlformats.org/presentationml/2006/main">
  <p:tag name="KSO_WM_SLIDE_COLORSCHEME_VERSION" val="3.2"/>
  <p:tag name="KSO_WM_UNIT_COLOR_SCHEME_SHAPE_ID" val="6"/>
  <p:tag name="KSO_WM_UNIT_COLOR_SCHEME_PARENT_PAGE" val="2_11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UNIT_COLOR_SCHEME_SHAPE_ID" val="2"/>
  <p:tag name="KSO_WM_UNIT_COLOR_SCHEME_PARENT_PAGE" val="1_1"/>
  <p:tag name="KSO_WM_TEMPLATE_CATEGORY" val="diagram"/>
  <p:tag name="KSO_WM_TEMPLATE_INDEX" val="20194814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UNIT_COLOR_SCHEME_SHAPE_ID" val="3"/>
  <p:tag name="KSO_WM_UNIT_COLOR_SCHEME_PARENT_PAGE" val="1_1"/>
  <p:tag name="KSO_WM_TEMPLATE_CATEGORY" val="diagram"/>
  <p:tag name="KSO_WM_TEMPLATE_INDEX" val="20194814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UNIT_COLOR_SCHEME_SHAPE_ID" val="4"/>
  <p:tag name="KSO_WM_UNIT_COLOR_SCHEME_PARENT_PAGE" val="1_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UNIT_COLOR_SCHEME_SHAPE_ID" val="5"/>
  <p:tag name="KSO_WM_UNIT_COLOR_SCHEME_PARENT_PAGE" val="1_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UNIT_COLOR_SCHEME_SHAPE_ID" val="6"/>
  <p:tag name="KSO_WM_UNIT_COLOR_SCHEME_PARENT_PAGE" val="1_1"/>
</p:tagLst>
</file>

<file path=ppt/tags/tag72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94814"/>
  <p:tag name="KSO_WM_SLIDE_COLORSCHEME_VERSION" val="3.2"/>
  <p:tag name="KSO_WM_UNIT_COLOR_SCHEME_SHAPE_ID" val="7"/>
  <p:tag name="KSO_WM_UNIT_COLOR_SCHEME_PARENT_PAGE" val="1_1"/>
  <p:tag name="KSO_WM_TEMPLATE_SUBCATEGORY" val="0"/>
  <p:tag name="KSO_WM_TEMPLATE_MASTER_TYPE" val="0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nhrz4lls">
      <a:dk1>
        <a:srgbClr val="000000"/>
      </a:dk1>
      <a:lt1>
        <a:srgbClr val="FFFFFF"/>
      </a:lt1>
      <a:dk2>
        <a:srgbClr val="808080"/>
      </a:dk2>
      <a:lt2>
        <a:srgbClr val="FFFFFF"/>
      </a:lt2>
      <a:accent1>
        <a:srgbClr val="FFBD00"/>
      </a:accent1>
      <a:accent2>
        <a:srgbClr val="B5715B"/>
      </a:accent2>
      <a:accent3>
        <a:srgbClr val="6C26B6"/>
      </a:accent3>
      <a:accent4>
        <a:srgbClr val="4700E4"/>
      </a:accent4>
      <a:accent5>
        <a:srgbClr val="1C99CD"/>
      </a:accent5>
      <a:accent6>
        <a:srgbClr val="00FFBD"/>
      </a:accent6>
      <a:hlink>
        <a:srgbClr val="3B3F42"/>
      </a:hlink>
      <a:folHlink>
        <a:srgbClr val="43343C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2221</Words>
  <Application>WPS 演示</Application>
  <PresentationFormat>宽屏</PresentationFormat>
  <Paragraphs>114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Cambria Math</vt:lpstr>
      <vt:lpstr>MS Mincho</vt:lpstr>
      <vt:lpstr>Segoe Print</vt:lpstr>
      <vt:lpstr>Calibri</vt:lpstr>
      <vt:lpstr>Arial Unicode MS</vt:lpstr>
      <vt:lpstr>Ms.Luce</vt:lpstr>
      <vt:lpstr>华文行楷</vt:lpstr>
      <vt:lpstr>WPS</vt:lpstr>
      <vt:lpstr>1_Office 主题​​</vt:lpstr>
      <vt:lpstr>期中大物下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HS</dc:creator>
  <cp:lastModifiedBy>Miss</cp:lastModifiedBy>
  <cp:revision>8</cp:revision>
  <dcterms:created xsi:type="dcterms:W3CDTF">2023-08-09T12:44:00Z</dcterms:created>
  <dcterms:modified xsi:type="dcterms:W3CDTF">2025-11-09T02:18:25Z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C1B4E90C4D954E57920500B655303C56_12</vt:lpwstr>
  </property>
</Properties>
</file>